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5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Hva8lsV2nTk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hoenixnap.com/kb/linux-ls-command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1B69-4788-4025-8D30-0198F8AA2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of Virtual Box and Ubuntu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EB55E-DD23-4829-9AFF-B1B44BCC9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Ubuntu 24.04 LTS in VirtualBox</a:t>
            </a:r>
          </a:p>
          <a:p>
            <a:pPr marL="0" indent="0">
              <a:buNone/>
            </a:pPr>
            <a:r>
              <a:rPr lang="en-US" b="1" i="0" dirty="0">
                <a:solidFill>
                  <a:srgbClr val="0F0F0F"/>
                </a:solidFill>
                <a:effectLst/>
                <a:latin typeface="Roboto" panose="02000000000000000000" pitchFamily="2" charset="0"/>
                <a:hlinkClick r:id="rId2"/>
              </a:rPr>
              <a:t>https://www.youtube.com/watch?v=Hva8lsV2nTk</a:t>
            </a:r>
            <a:endParaRPr lang="en-US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n-US" b="1" i="0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024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28A4-B60D-4AE1-9B21-E775F42D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 err="1">
                <a:solidFill>
                  <a:srgbClr val="242424"/>
                </a:solidFill>
                <a:effectLst/>
                <a:latin typeface="sohne"/>
              </a:rPr>
              <a:t>pwd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19F92-A369-44A0-9B73-2E1D3E765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What is the ‘</a:t>
            </a:r>
            <a:r>
              <a:rPr lang="en-US" b="1" i="0" dirty="0" err="1">
                <a:solidFill>
                  <a:srgbClr val="242424"/>
                </a:solidFill>
                <a:effectLst/>
                <a:latin typeface="sohne"/>
              </a:rPr>
              <a:t>pwd</a:t>
            </a: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’ Command? </a:t>
            </a:r>
          </a:p>
          <a:p>
            <a:pPr algn="l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‘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pwd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’ command stands for “print working directory.” </a:t>
            </a:r>
          </a:p>
          <a:p>
            <a:pPr algn="l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It’s a fundamental command in Unix-like operating systems used to display the current working directory — the directory you are currently in.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8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7D54-19B3-455A-B0C7-EC241B46E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Simplest Form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A41AC-4695-4D74-B3C7-E8A3AFFE0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 its most basic, you can use ‘</a:t>
            </a:r>
            <a:r>
              <a:rPr lang="en-US" dirty="0" err="1"/>
              <a:t>pwd</a:t>
            </a:r>
            <a:r>
              <a:rPr lang="en-US" dirty="0"/>
              <a:t>’ without any options: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FF0000"/>
                </a:solidFill>
              </a:rPr>
              <a:t>pwd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This will display the absolute path of the current working directory. </a:t>
            </a:r>
          </a:p>
          <a:p>
            <a:r>
              <a:rPr lang="en-US" dirty="0"/>
              <a:t>For example: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     </a:t>
            </a:r>
            <a:r>
              <a:rPr lang="en-US" dirty="0">
                <a:solidFill>
                  <a:srgbClr val="00B050"/>
                </a:solidFill>
              </a:rPr>
              <a:t>/home/username</a:t>
            </a:r>
          </a:p>
        </p:txBody>
      </p:sp>
    </p:spTree>
    <p:extLst>
      <p:ext uri="{BB962C8B-B14F-4D97-AF65-F5344CB8AC3E}">
        <p14:creationId xmlns:p14="http://schemas.microsoft.com/office/powerpoint/2010/main" val="2071910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F75FE-59BA-4397-834F-7871AD2D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ohne"/>
              </a:rPr>
              <a:t>Common Options</a:t>
            </a:r>
            <a:br>
              <a:rPr lang="en-IN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E6521-615C-43F5-AF33-A69F9D3F0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-L: Display the logical current working directory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00B050"/>
                </a:solidFill>
              </a:rPr>
              <a:t>pwd</a:t>
            </a:r>
            <a:r>
              <a:rPr lang="en-US" dirty="0">
                <a:solidFill>
                  <a:srgbClr val="00B050"/>
                </a:solidFill>
              </a:rPr>
              <a:t> -L</a:t>
            </a:r>
          </a:p>
          <a:p>
            <a:r>
              <a:rPr lang="en-US" dirty="0"/>
              <a:t>This shows the path as you navigated it, including any symbolic links.</a:t>
            </a:r>
          </a:p>
          <a:p>
            <a:endParaRPr lang="en-US" dirty="0"/>
          </a:p>
          <a:p>
            <a:r>
              <a:rPr lang="en-US" dirty="0"/>
              <a:t>-P: Display the physical current working directory (resolving symbolic links)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00B050"/>
                </a:solidFill>
              </a:rPr>
              <a:t>pwd</a:t>
            </a:r>
            <a:r>
              <a:rPr lang="en-US" dirty="0">
                <a:solidFill>
                  <a:srgbClr val="00B050"/>
                </a:solidFill>
              </a:rPr>
              <a:t> -P</a:t>
            </a:r>
          </a:p>
          <a:p>
            <a:r>
              <a:rPr lang="en-US" dirty="0"/>
              <a:t>This shows the actual physical path, resolving any symbolic links to their real locations.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816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E503-A7C4-46B7-954A-D58E32703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effectLst/>
                <a:latin typeface="Trebuchet MS" panose="020B0603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Create</a:t>
            </a:r>
            <a:r>
              <a:rPr lang="en-US" sz="2400" b="1" spc="-230" dirty="0">
                <a:effectLst/>
                <a:latin typeface="Trebuchet MS" panose="020B0603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400" b="1" dirty="0">
                <a:effectLst/>
                <a:latin typeface="Trebuchet MS" panose="020B0603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n-US" sz="2400" b="1" spc="-230" dirty="0">
                <a:effectLst/>
                <a:latin typeface="Trebuchet MS" panose="020B0603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400" b="1" dirty="0">
                <a:effectLst/>
                <a:latin typeface="Trebuchet MS" panose="020B0603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Directory</a:t>
            </a:r>
            <a:r>
              <a:rPr lang="en-US" sz="2400" b="1" spc="-230" dirty="0">
                <a:effectLst/>
                <a:latin typeface="Trebuchet MS" panose="020B0603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400" b="1" dirty="0">
                <a:effectLst/>
                <a:latin typeface="Trebuchet MS" panose="020B0603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in</a:t>
            </a:r>
            <a:r>
              <a:rPr lang="en-US" sz="2400" b="1" spc="-230" dirty="0">
                <a:effectLst/>
                <a:latin typeface="Trebuchet MS" panose="020B0603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400" b="1" dirty="0">
                <a:effectLst/>
                <a:latin typeface="Trebuchet MS" panose="020B0603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Linux</a:t>
            </a:r>
            <a:r>
              <a:rPr lang="en-US" sz="2400" b="1" spc="-230" dirty="0">
                <a:effectLst/>
                <a:latin typeface="Trebuchet MS" panose="020B0603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400" b="1" dirty="0">
                <a:effectLst/>
                <a:latin typeface="Trebuchet MS" panose="020B0603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via</a:t>
            </a:r>
            <a:r>
              <a:rPr lang="en-US" sz="2400" b="1" spc="-230" dirty="0">
                <a:effectLst/>
                <a:latin typeface="Trebuchet MS" panose="020B0603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400" b="1" dirty="0" err="1">
                <a:effectLst/>
                <a:latin typeface="Trebuchet MS" panose="020B0603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mkdir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B8E2F-5DB5-4A48-AB66-654FF2A9B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624" y="1363046"/>
            <a:ext cx="10515600" cy="4351338"/>
          </a:xfrm>
        </p:spPr>
        <p:txBody>
          <a:bodyPr/>
          <a:lstStyle/>
          <a:p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create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directory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using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terminal,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pass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desired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directory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name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 </a:t>
            </a:r>
            <a:r>
              <a:rPr lang="en-US" sz="1800" dirty="0" err="1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mkdir</a:t>
            </a:r>
            <a:endParaRPr lang="en-US" sz="1800" dirty="0">
              <a:solidFill>
                <a:srgbClr val="FF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sz="18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914400" lvl="2" indent="0">
              <a:buNone/>
            </a:pPr>
            <a:r>
              <a:rPr lang="en-US" sz="18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mkdir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 [options] </a:t>
            </a:r>
            <a:r>
              <a:rPr lang="en-US" sz="1800" spc="-1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dir_name</a:t>
            </a:r>
            <a:endParaRPr lang="en-IN" sz="1800" dirty="0">
              <a:solidFill>
                <a:srgbClr val="FF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914400" lvl="2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en-IN" dirty="0" err="1">
                <a:solidFill>
                  <a:srgbClr val="FF0000"/>
                </a:solidFill>
              </a:rPr>
              <a:t>Eg</a:t>
            </a:r>
            <a:r>
              <a:rPr lang="en-IN" dirty="0">
                <a:solidFill>
                  <a:srgbClr val="FF0000"/>
                </a:solidFill>
              </a:rPr>
              <a:t>: </a:t>
            </a:r>
            <a:r>
              <a:rPr lang="en-US" sz="1800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mkdir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spc="-1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Linux</a:t>
            </a:r>
            <a:endParaRPr lang="en-IN" sz="1800" spc="-10" dirty="0">
              <a:solidFill>
                <a:srgbClr val="FF0000"/>
              </a:solidFill>
              <a:effectLst/>
              <a:latin typeface="Consolas" panose="020B0609020204030204" pitchFamily="49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914400" lvl="2" indent="0">
              <a:buNone/>
            </a:pPr>
            <a:endParaRPr lang="en-IN" sz="1800" spc="-1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If</a:t>
            </a:r>
            <a:r>
              <a:rPr lang="en-US" sz="1800" spc="-7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n-US" sz="1800" spc="-7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n-US" sz="1800" spc="-7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</a:t>
            </a:r>
            <a:r>
              <a:rPr lang="en-US" sz="1800" spc="-7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successful,</a:t>
            </a:r>
            <a:r>
              <a:rPr lang="en-US" sz="1800" spc="-7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n-US" sz="1800" spc="-7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terminal</a:t>
            </a:r>
            <a:r>
              <a:rPr lang="en-US" sz="1800" spc="-7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returns</a:t>
            </a:r>
            <a:r>
              <a:rPr lang="en-US" sz="1800" spc="-7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</a:t>
            </a:r>
            <a:r>
              <a:rPr lang="en-US" sz="1800" spc="-7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empty</a:t>
            </a:r>
            <a:r>
              <a:rPr lang="en-US" sz="1800" spc="-7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line.</a:t>
            </a:r>
            <a:r>
              <a:rPr lang="en-US" sz="1800" spc="-7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</a:t>
            </a:r>
            <a:r>
              <a:rPr lang="en-US" sz="1800" spc="-7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verify</a:t>
            </a:r>
            <a:r>
              <a:rPr lang="en-US" sz="1800" spc="-7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n-US" sz="1800" spc="-7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directory's creation, use the </a:t>
            </a:r>
            <a:r>
              <a:rPr lang="en-US" sz="1800" b="1" u="sng" dirty="0">
                <a:solidFill>
                  <a:srgbClr val="091C33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ls command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endParaRPr lang="en-IN" sz="180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914400" lvl="2" indent="0">
              <a:buNone/>
            </a:pP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ls -</a:t>
            </a:r>
            <a:r>
              <a:rPr lang="en-US" sz="1800" spc="-5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l</a:t>
            </a:r>
            <a:endParaRPr lang="en-IN" sz="1800" dirty="0">
              <a:solidFill>
                <a:srgbClr val="00B05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914400" lvl="2" indent="0">
              <a:buNone/>
            </a:pPr>
            <a:endParaRPr lang="en-IN" sz="1800" spc="-10" dirty="0">
              <a:solidFill>
                <a:srgbClr val="FF0000"/>
              </a:solidFill>
              <a:latin typeface="Consolas" panose="020B0609020204030204" pitchFamily="49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Image 42" descr="Creating a new directory in Linux using mkdir.">
            <a:extLst>
              <a:ext uri="{FF2B5EF4-FFF2-40B4-BE49-F238E27FC236}">
                <a16:creationId xmlns:a16="http://schemas.microsoft.com/office/drawing/2014/main" id="{1226E363-FE92-4D73-86FD-221FCDC5A93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89324" y="4198620"/>
            <a:ext cx="6463665" cy="229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47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485E2-464E-47D8-A46F-B5DEB730D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Create</a:t>
            </a:r>
            <a:r>
              <a:rPr lang="en-US" sz="2400" b="1" spc="-25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sz="2400" b="1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Directory</a:t>
            </a:r>
            <a:r>
              <a:rPr lang="en-US" sz="2400" b="1" spc="-30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sz="2400" b="1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in</a:t>
            </a:r>
            <a:r>
              <a:rPr lang="en-US" sz="2400" b="1" spc="-30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sz="2400" b="1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Specific</a:t>
            </a:r>
            <a:r>
              <a:rPr lang="en-US" sz="2400" b="1" spc="-25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sz="2400" b="1" spc="-10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Location</a:t>
            </a:r>
            <a:br>
              <a:rPr lang="en-IN" sz="2400" b="1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</a:b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DB5EB-9C9F-4E76-8B0A-DDBEF51E6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</a:t>
            </a:r>
            <a:r>
              <a:rPr lang="en-US" sz="1800" spc="-7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create</a:t>
            </a:r>
            <a:r>
              <a:rPr lang="en-US" sz="1800" spc="-7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n-US" sz="1800" spc="-7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directory</a:t>
            </a:r>
            <a:r>
              <a:rPr lang="en-US" sz="1800" spc="-7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</a:t>
            </a:r>
            <a:r>
              <a:rPr lang="en-US" sz="1800" spc="-7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directories</a:t>
            </a:r>
            <a:r>
              <a:rPr lang="en-US" sz="1800" spc="-7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</a:t>
            </a:r>
            <a:r>
              <a:rPr lang="en-US" sz="1800" spc="-7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n-US" sz="1800" spc="-7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specific</a:t>
            </a:r>
            <a:r>
              <a:rPr lang="en-US" sz="1800" spc="-7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location</a:t>
            </a:r>
            <a:r>
              <a:rPr lang="en-US" sz="1800" spc="-7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other</a:t>
            </a:r>
            <a:r>
              <a:rPr lang="en-US" sz="1800" spc="-7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</a:t>
            </a:r>
            <a:r>
              <a:rPr lang="en-US" sz="1800" spc="-7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</a:t>
            </a:r>
            <a:r>
              <a:rPr lang="en-US" sz="1800" spc="-7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current</a:t>
            </a:r>
            <a:r>
              <a:rPr lang="en-US" sz="1800" spc="-7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working directory, specify the full directory path. </a:t>
            </a:r>
          </a:p>
          <a:p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example:</a:t>
            </a:r>
            <a:endParaRPr lang="en-US" sz="1800" dirty="0">
              <a:solidFill>
                <a:srgbClr val="A3A3A0"/>
              </a:solidFill>
              <a:effectLst/>
              <a:latin typeface="Consolas" panose="020B0609020204030204" pitchFamily="49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A3A3A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         </a:t>
            </a:r>
            <a:r>
              <a:rPr lang="en-US" sz="1800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mkdir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spc="-1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/Linux/example</a:t>
            </a:r>
            <a:endParaRPr lang="en-IN" sz="1800" dirty="0">
              <a:solidFill>
                <a:srgbClr val="00B05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command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creates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directory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i="1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example</a:t>
            </a:r>
            <a:r>
              <a:rPr lang="en-US" sz="1800" i="1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specified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location.</a:t>
            </a:r>
            <a:r>
              <a:rPr lang="en-US" sz="1800" spc="-65" dirty="0">
                <a:solidFill>
                  <a:srgbClr val="2128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r>
              <a:rPr lang="en-US" sz="1800" spc="-65" dirty="0">
                <a:solidFill>
                  <a:srgbClr val="21282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 verify, change to Linux folder and use ls command</a:t>
            </a:r>
            <a:endParaRPr lang="en-IN" sz="1600" dirty="0">
              <a:solidFill>
                <a:srgbClr val="00B05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371600" lvl="3" indent="0">
              <a:spcBef>
                <a:spcPts val="395"/>
              </a:spcBef>
              <a:buNone/>
            </a:pPr>
            <a:r>
              <a:rPr lang="en-US" sz="16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ls -</a:t>
            </a:r>
            <a:r>
              <a:rPr lang="en-US" sz="1600" spc="-5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l</a:t>
            </a:r>
            <a:endParaRPr lang="en-IN" sz="1600" dirty="0">
              <a:solidFill>
                <a:srgbClr val="00B05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2226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70F52-7C1C-4AEE-84FD-7C742B4D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Create</a:t>
            </a:r>
            <a:r>
              <a:rPr lang="en-US" sz="2800" spc="-2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Multiple</a:t>
            </a:r>
            <a:r>
              <a:rPr lang="en-US" sz="2800" spc="-2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800" spc="-1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Directories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839F7-F1BC-4933-A215-266B2EDF9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While it is possible to create directories one by one with </a:t>
            </a:r>
            <a:r>
              <a:rPr lang="en-US" dirty="0" err="1"/>
              <a:t>mkdir</a:t>
            </a:r>
            <a:r>
              <a:rPr lang="en-US" dirty="0"/>
              <a:t>, it can be time-consuming when you need to create more than a few. </a:t>
            </a:r>
          </a:p>
          <a:p>
            <a:r>
              <a:rPr lang="en-US" dirty="0"/>
              <a:t>To avoid that, run a single directory names separated by a space.</a:t>
            </a:r>
            <a:endParaRPr lang="en-IN" dirty="0"/>
          </a:p>
          <a:p>
            <a:pPr lvl="1"/>
            <a:r>
              <a:rPr lang="en-IN" dirty="0" err="1"/>
              <a:t>Eg</a:t>
            </a:r>
            <a:r>
              <a:rPr lang="en-IN" sz="3200" dirty="0"/>
              <a:t>: </a:t>
            </a:r>
            <a:r>
              <a:rPr lang="en-US" sz="1800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mkdir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 dir1 dir2 </a:t>
            </a:r>
            <a:r>
              <a:rPr lang="en-US" sz="1800" spc="-2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dir3</a:t>
            </a:r>
            <a:endParaRPr lang="en-IN" sz="1800" dirty="0">
              <a:solidFill>
                <a:srgbClr val="00B05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/>
              <a:t>You can also use with curly brackets to create multiple directories. </a:t>
            </a:r>
          </a:p>
          <a:p>
            <a:r>
              <a:rPr lang="en-US" dirty="0"/>
              <a:t>For example, to create several directories, list them within curly brackets, without spaces:</a:t>
            </a:r>
          </a:p>
          <a:p>
            <a:r>
              <a:rPr lang="en-IN" dirty="0"/>
              <a:t> </a:t>
            </a:r>
            <a:r>
              <a:rPr lang="en-US" sz="2400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mkdir</a:t>
            </a:r>
            <a:r>
              <a:rPr lang="en-US" sz="24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400" spc="-1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{test1,test2,test3}</a:t>
            </a:r>
            <a:endParaRPr lang="en-IN" sz="1800" dirty="0">
              <a:solidFill>
                <a:srgbClr val="00B05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7879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70F52-7C1C-4AEE-84FD-7C742B4D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Create</a:t>
            </a:r>
            <a:r>
              <a:rPr lang="en-US" sz="2800" spc="-2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Multiple</a:t>
            </a:r>
            <a:r>
              <a:rPr lang="en-US" sz="2800" spc="-2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800" spc="-1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Directories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839F7-F1BC-4933-A215-266B2EDF9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10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You can also create a batch of directories starting with the same pattern. Prepend the curly brackets with the pattern and use the brackets to specify the number of directories. For example: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           </a:t>
            </a:r>
            <a:r>
              <a:rPr lang="en-US" sz="2400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mkdir</a:t>
            </a:r>
            <a:r>
              <a:rPr lang="en-US" sz="24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dir</a:t>
            </a:r>
            <a:r>
              <a:rPr lang="en-US" sz="2400" spc="-1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{1..15}</a:t>
            </a:r>
            <a:endParaRPr lang="en-US" dirty="0"/>
          </a:p>
          <a:p>
            <a:r>
              <a:rPr lang="en-US" dirty="0"/>
              <a:t>The command above creates 15 directories, from dir1 to dir15.</a:t>
            </a:r>
          </a:p>
          <a:p>
            <a:endParaRPr lang="en-IN" dirty="0"/>
          </a:p>
        </p:txBody>
      </p:sp>
      <p:pic>
        <p:nvPicPr>
          <p:cNvPr id="4" name="Image 81" descr="Creating directories in batch with mkdir.">
            <a:extLst>
              <a:ext uri="{FF2B5EF4-FFF2-40B4-BE49-F238E27FC236}">
                <a16:creationId xmlns:a16="http://schemas.microsoft.com/office/drawing/2014/main" id="{E72C5D69-DF6D-4EFC-AEC2-7CE8C4DBE8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9929" y="3624776"/>
            <a:ext cx="6456680" cy="297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644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2C0C9-9FD5-4305-88E8-538EFB1E2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How</a:t>
            </a:r>
            <a:r>
              <a:rPr lang="en-US" sz="1800" b="1" spc="-20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sz="1800" b="1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to</a:t>
            </a:r>
            <a:r>
              <a:rPr lang="en-US" sz="1800" b="1" spc="-25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sz="1800" b="1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Make</a:t>
            </a:r>
            <a:r>
              <a:rPr lang="en-US" sz="1800" b="1" spc="-25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sz="1800" b="1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Parent</a:t>
            </a:r>
            <a:r>
              <a:rPr lang="en-US" sz="1800" b="1" spc="-20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sz="1800" b="1" spc="-10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Directories</a:t>
            </a:r>
            <a:br>
              <a:rPr lang="en-IN" sz="1800" b="1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DDC82-6734-4838-A380-106217E47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Building a structure with multiple subdirectories using </a:t>
            </a:r>
            <a:r>
              <a:rPr lang="en-US" dirty="0" err="1">
                <a:solidFill>
                  <a:srgbClr val="00B050"/>
                </a:solidFill>
              </a:rPr>
              <a:t>mkdir</a:t>
            </a:r>
            <a:r>
              <a:rPr lang="en-US" dirty="0">
                <a:solidFill>
                  <a:srgbClr val="00B050"/>
                </a:solidFill>
              </a:rPr>
              <a:t> requires adding the –p option.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ensures that </a:t>
            </a:r>
            <a:r>
              <a:rPr lang="en-US" dirty="0" err="1">
                <a:solidFill>
                  <a:srgbClr val="00B050"/>
                </a:solidFill>
              </a:rPr>
              <a:t>mkdir</a:t>
            </a:r>
            <a:r>
              <a:rPr lang="en-US" dirty="0"/>
              <a:t> adds any missing parent directories in the process.</a:t>
            </a:r>
          </a:p>
          <a:p>
            <a:pPr marL="0" indent="0">
              <a:buNone/>
            </a:pPr>
            <a:r>
              <a:rPr lang="en-IN" sz="3600" dirty="0">
                <a:solidFill>
                  <a:srgbClr val="C00000"/>
                </a:solidFill>
              </a:rPr>
              <a:t>                 </a:t>
            </a:r>
            <a:r>
              <a:rPr lang="en-US" sz="2400" dirty="0" err="1">
                <a:solidFill>
                  <a:srgbClr val="C0000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mkdir</a:t>
            </a:r>
            <a:r>
              <a:rPr lang="en-US" sz="2400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 –p </a:t>
            </a:r>
            <a:r>
              <a:rPr lang="en-US" sz="2400" spc="-10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Linux/dirtest1/dirtest2</a:t>
            </a:r>
            <a:endParaRPr lang="en-IN" sz="2400" dirty="0">
              <a:solidFill>
                <a:srgbClr val="C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4519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808F7-E98F-4D61-A509-56A914783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How to Set Permissions When Making a </a:t>
            </a:r>
            <a:r>
              <a:rPr lang="en-US" sz="2800" b="1" spc="-10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Directory</a:t>
            </a:r>
            <a:br>
              <a:rPr lang="en-IN" sz="2800" b="1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</a:b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9F95A-82E6-4ED3-98AA-D0266DEB5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593" y="13630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mkdir</a:t>
            </a:r>
            <a:r>
              <a:rPr lang="en-US" dirty="0"/>
              <a:t> command gives </a:t>
            </a:r>
            <a:r>
              <a:rPr lang="en-US" dirty="0" err="1">
                <a:solidFill>
                  <a:srgbClr val="00B050"/>
                </a:solidFill>
              </a:rPr>
              <a:t>rwx</a:t>
            </a:r>
            <a:r>
              <a:rPr lang="en-US" dirty="0"/>
              <a:t> (read, write, and execute) permissions for the current user only by default.</a:t>
            </a:r>
          </a:p>
          <a:p>
            <a:r>
              <a:rPr lang="en-US" dirty="0"/>
              <a:t>To add all the permissions for all users, specify the </a:t>
            </a:r>
            <a:r>
              <a:rPr lang="en-US" dirty="0">
                <a:solidFill>
                  <a:srgbClr val="00B050"/>
                </a:solidFill>
              </a:rPr>
              <a:t>–m </a:t>
            </a:r>
            <a:r>
              <a:rPr lang="en-US" dirty="0"/>
              <a:t>option with the user </a:t>
            </a:r>
            <a:r>
              <a:rPr lang="en-US" dirty="0">
                <a:solidFill>
                  <a:srgbClr val="00B050"/>
                </a:solidFill>
              </a:rPr>
              <a:t>777</a:t>
            </a:r>
            <a:r>
              <a:rPr lang="en-US" dirty="0"/>
              <a:t> when creating a directory.</a:t>
            </a:r>
          </a:p>
          <a:p>
            <a:r>
              <a:rPr lang="en-US" dirty="0" err="1"/>
              <a:t>Eg</a:t>
            </a:r>
            <a:r>
              <a:rPr lang="en-US" dirty="0"/>
              <a:t>: Run the following command to create a directory </a:t>
            </a:r>
            <a:r>
              <a:rPr lang="en-US" dirty="0" err="1"/>
              <a:t>DirM</a:t>
            </a:r>
            <a:r>
              <a:rPr lang="en-US" dirty="0"/>
              <a:t> with </a:t>
            </a:r>
            <a:r>
              <a:rPr lang="en-US" dirty="0" err="1"/>
              <a:t>rwx</a:t>
            </a:r>
            <a:r>
              <a:rPr lang="en-US" dirty="0"/>
              <a:t> permissions: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             </a:t>
            </a:r>
            <a:r>
              <a:rPr lang="en-US" sz="2400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mkdir</a:t>
            </a:r>
            <a:r>
              <a:rPr lang="en-US" sz="24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 –m777 </a:t>
            </a:r>
            <a:r>
              <a:rPr lang="en-US" sz="2400" spc="-20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rPr>
              <a:t>DirM</a:t>
            </a:r>
            <a:endParaRPr lang="en-IN" sz="2400" dirty="0">
              <a:solidFill>
                <a:srgbClr val="00B05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3" name="Image 120" descr="Using mkdir to set directory permissions.">
            <a:extLst>
              <a:ext uri="{FF2B5EF4-FFF2-40B4-BE49-F238E27FC236}">
                <a16:creationId xmlns:a16="http://schemas.microsoft.com/office/drawing/2014/main" id="{7DE961D5-7D6D-4D32-A429-ACE31F1899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4552" y="4695190"/>
            <a:ext cx="6459855" cy="179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569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D8747-F782-4F39-B1F6-94B899DD3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</a:t>
            </a:r>
            <a:r>
              <a:rPr lang="en-US" sz="3200" spc="-95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</a:t>
            </a:r>
            <a:r>
              <a:rPr lang="en-US" sz="3200" spc="-95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Verify</a:t>
            </a:r>
            <a:r>
              <a:rPr lang="en-US" sz="3200" spc="-95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spc="-1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Directories?</a:t>
            </a:r>
            <a:endParaRPr lang="en-IN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2D60C-F8EC-4448-8C8F-67DAE7434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executing </a:t>
            </a:r>
            <a:r>
              <a:rPr lang="en-US" b="1" dirty="0" err="1">
                <a:solidFill>
                  <a:srgbClr val="00B050"/>
                </a:solidFill>
              </a:rPr>
              <a:t>mkdir</a:t>
            </a:r>
            <a:r>
              <a:rPr lang="en-US" dirty="0"/>
              <a:t> commands, there is no feedback for successful operations. </a:t>
            </a:r>
          </a:p>
          <a:p>
            <a:r>
              <a:rPr lang="en-US" dirty="0"/>
              <a:t>To see the details of the </a:t>
            </a:r>
            <a:r>
              <a:rPr lang="en-US" dirty="0" err="1"/>
              <a:t>mkdir</a:t>
            </a:r>
            <a:r>
              <a:rPr lang="en-US" dirty="0"/>
              <a:t> process, append the </a:t>
            </a:r>
            <a:r>
              <a:rPr lang="en-US" b="1" dirty="0">
                <a:solidFill>
                  <a:srgbClr val="00B050"/>
                </a:solidFill>
              </a:rPr>
              <a:t>–v </a:t>
            </a:r>
            <a:r>
              <a:rPr lang="en-US" dirty="0"/>
              <a:t>option to the command.</a:t>
            </a:r>
          </a:p>
          <a:p>
            <a:r>
              <a:rPr lang="en-US" dirty="0"/>
              <a:t>By getting the feedback from the process, you do not have to run the </a:t>
            </a:r>
            <a:r>
              <a:rPr lang="en-US" dirty="0">
                <a:solidFill>
                  <a:srgbClr val="00B050"/>
                </a:solidFill>
              </a:rPr>
              <a:t>ls</a:t>
            </a:r>
            <a:r>
              <a:rPr lang="en-US" dirty="0"/>
              <a:t> command to verify  directory was created.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91B820-B7B3-482F-B56F-ACB4BA9FD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760" y="4831236"/>
            <a:ext cx="9658951" cy="79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196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622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Consolas</vt:lpstr>
      <vt:lpstr>Roboto</vt:lpstr>
      <vt:lpstr>sohne</vt:lpstr>
      <vt:lpstr>source-serif-pro</vt:lpstr>
      <vt:lpstr>Trebuchet MS</vt:lpstr>
      <vt:lpstr>Office Theme</vt:lpstr>
      <vt:lpstr>Installation of Virtual Box and Ubuntu</vt:lpstr>
      <vt:lpstr>pwd</vt:lpstr>
      <vt:lpstr>The Simplest Form </vt:lpstr>
      <vt:lpstr>Common Options </vt:lpstr>
      <vt:lpstr>Create a Directory in Linux via mkdir</vt:lpstr>
      <vt:lpstr>Create Directory in Specific Location </vt:lpstr>
      <vt:lpstr>Create Multiple Directories</vt:lpstr>
      <vt:lpstr>Create Multiple Directories</vt:lpstr>
      <vt:lpstr>How to Make Parent Directories </vt:lpstr>
      <vt:lpstr>How to Set Permissions When Making a Directory </vt:lpstr>
      <vt:lpstr>How to Verify Directories?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admin</cp:lastModifiedBy>
  <cp:revision>11</cp:revision>
  <dcterms:created xsi:type="dcterms:W3CDTF">2025-06-11T05:44:31Z</dcterms:created>
  <dcterms:modified xsi:type="dcterms:W3CDTF">2025-06-12T07:22:27Z</dcterms:modified>
</cp:coreProperties>
</file>