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4" r:id="rId16"/>
    <p:sldId id="270" r:id="rId17"/>
    <p:sldId id="271" r:id="rId18"/>
    <p:sldId id="272" r:id="rId19"/>
    <p:sldId id="275" r:id="rId20"/>
    <p:sldId id="276" r:id="rId21"/>
    <p:sldId id="277" r:id="rId22"/>
    <p:sldId id="278" r:id="rId23"/>
    <p:sldId id="290" r:id="rId24"/>
    <p:sldId id="292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Noto Sans Symbols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6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hM0HSx1fHyk4qsaDoC+14QvbSX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0B20C-BB05-4826-9B70-CC1F26684CA2}">
  <a:tblStyle styleId="{B620B20C-BB05-4826-9B70-CC1F26684C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776" y="144"/>
      </p:cViewPr>
      <p:guideLst>
        <p:guide orient="horz" pos="20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5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45970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932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0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0" rIns="190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23" name="Google Shape;323;p20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0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277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2898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6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6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46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9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1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body" idx="2"/>
          </p:nvPr>
        </p:nvSpPr>
        <p:spPr>
          <a:xfrm>
            <a:off x="4663440" y="1845735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3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3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body" idx="1"/>
          </p:nvPr>
        </p:nvSpPr>
        <p:spPr>
          <a:xfrm>
            <a:off x="3600450" y="731520"/>
            <a:ext cx="486918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3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4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4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>
            <a:spLocks noGrp="1"/>
          </p:cNvSpPr>
          <p:nvPr>
            <p:ph type="pic" idx="2"/>
          </p:nvPr>
        </p:nvSpPr>
        <p:spPr>
          <a:xfrm>
            <a:off x="12" y="0"/>
            <a:ext cx="9143989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85" name="Google Shape;85;p54"/>
          <p:cNvSpPr txBox="1">
            <a:spLocks noGrp="1"/>
          </p:cNvSpPr>
          <p:nvPr>
            <p:ph type="body" idx="1"/>
          </p:nvPr>
        </p:nvSpPr>
        <p:spPr>
          <a:xfrm>
            <a:off x="822960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5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body" idx="1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2" name="Google Shape;92;p5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6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6"/>
          <p:cNvSpPr txBox="1">
            <a:spLocks noGrp="1"/>
          </p:cNvSpPr>
          <p:nvPr>
            <p:ph type="title"/>
          </p:nvPr>
        </p:nvSpPr>
        <p:spPr>
          <a:xfrm rot="5400000">
            <a:off x="4649564" y="2306414"/>
            <a:ext cx="575989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6"/>
          <p:cNvSpPr txBox="1">
            <a:spLocks noGrp="1"/>
          </p:cNvSpPr>
          <p:nvPr>
            <p:ph type="body" idx="1"/>
          </p:nvPr>
        </p:nvSpPr>
        <p:spPr>
          <a:xfrm rot="5400000">
            <a:off x="649064" y="391889"/>
            <a:ext cx="575989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0" name="Google Shape;100;p5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45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4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4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45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45"/>
          <p:cNvCxnSpPr/>
          <p:nvPr/>
        </p:nvCxnSpPr>
        <p:spPr>
          <a:xfrm>
            <a:off x="125413" y="6216650"/>
            <a:ext cx="8866187" cy="0"/>
          </a:xfrm>
          <a:prstGeom prst="straightConnector1">
            <a:avLst/>
          </a:prstGeom>
          <a:noFill/>
          <a:ln w="38100" cap="flat" cmpd="sng">
            <a:solidFill>
              <a:srgbClr val="0069D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Google Shape;19;p45" descr="http://qph.is.quoracdn.net/main-qimg-0ef34275011386d874f3041b3b96de08?convert_to_webp=true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43800" y="5689600"/>
            <a:ext cx="1600200" cy="11684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hyperlink" Target="http://www.amazon.com/exec/obidos/subst/home/redirect.html/ref=nh_gateway/002-7972088-5679262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685800" y="3048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lang="en-US"/>
              <a:t>Database Concepts</a:t>
            </a:r>
            <a:endParaRPr/>
          </a:p>
        </p:txBody>
      </p:sp>
      <p:pic>
        <p:nvPicPr>
          <p:cNvPr id="108" name="Google Shape;108;p1" descr="http://blog.hackerrank.com/wp-content/uploads/2015/05/databas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9473" y="4495800"/>
            <a:ext cx="2716254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 descr="http://www.bcpiweb.com/_imagery/database-search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0"/>
            <a:ext cx="3048000" cy="2170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Databases that you may use…..</a:t>
            </a:r>
            <a:endParaRPr/>
          </a:p>
        </p:txBody>
      </p:sp>
      <p:pic>
        <p:nvPicPr>
          <p:cNvPr id="115" name="Google Shape;115;p2" descr="logo-no-border(1)">
            <a:hlinkClick r:id="rId3"/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239000" y="5086107"/>
            <a:ext cx="140970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 descr="Image result for mobile apps"/>
          <p:cNvSpPr/>
          <p:nvPr/>
        </p:nvSpPr>
        <p:spPr>
          <a:xfrm>
            <a:off x="4541838" y="-152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5150" y="2076450"/>
            <a:ext cx="16192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91829" y="2076450"/>
            <a:ext cx="1370934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8828" y="1872343"/>
            <a:ext cx="1493265" cy="111850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 descr="Indian Railway Catering and Tourism Corporation - Wikipedia"/>
          <p:cNvSpPr/>
          <p:nvPr/>
        </p:nvSpPr>
        <p:spPr>
          <a:xfrm>
            <a:off x="4694238" y="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4238" y="4495801"/>
            <a:ext cx="797591" cy="987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4267200"/>
            <a:ext cx="2743522" cy="1471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19638" y="2076450"/>
            <a:ext cx="2122200" cy="197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18497" y="3451783"/>
            <a:ext cx="1762218" cy="539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01508" y="4519855"/>
            <a:ext cx="1069967" cy="771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30174" y="3404215"/>
            <a:ext cx="936579" cy="634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132" name="Google Shape;132;p3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Data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A necessity for almost any enterprise to carry out its business. Consists of raw facts, and when organized may be transformed into information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Database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A collection of data organized to meet users’ needs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Database management system (DBMS)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A group of programs that manipulate the database and provide an interface between the database and the user of the database or other application programs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DBMS ‘Discussion’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686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91440" lvl="0" indent="-914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 dirty="0"/>
              <a:t> A collection of programs that enables you to store, modify, and extract information from a database. There are many different types   of DBMSs, ranging from small systems that run on personal computers to huge systems that run on mainframes. </a:t>
            </a:r>
          </a:p>
          <a:p>
            <a:pPr marL="91440" lvl="0" indent="-914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lang="en-US" sz="2400" dirty="0"/>
          </a:p>
          <a:p>
            <a:pPr marL="91440" lvl="0" indent="-914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 dirty="0"/>
              <a:t>Examples:</a:t>
            </a:r>
            <a:endParaRPr sz="2400" dirty="0"/>
          </a:p>
          <a:p>
            <a:pPr marL="384048" lvl="1" indent="-18288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2000" dirty="0"/>
              <a:t>      computerized library systems </a:t>
            </a:r>
            <a:endParaRPr dirty="0"/>
          </a:p>
          <a:p>
            <a:pPr marL="384048" lvl="1" indent="-1828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 dirty="0"/>
              <a:t>      automated teller machines </a:t>
            </a:r>
            <a:endParaRPr dirty="0"/>
          </a:p>
          <a:p>
            <a:pPr marL="384048" lvl="1" indent="-1828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 dirty="0"/>
              <a:t>      flight reservation systems </a:t>
            </a:r>
            <a:endParaRPr dirty="0"/>
          </a:p>
          <a:p>
            <a:pPr marL="384048" lvl="1" indent="-1828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 dirty="0"/>
              <a:t>      computerized parts inventory systems </a:t>
            </a:r>
            <a:endParaRPr dirty="0"/>
          </a:p>
          <a:p>
            <a:pPr marL="91440" lvl="0" indent="-9144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sz="2400" dirty="0"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 dirty="0"/>
              <a:t>  </a:t>
            </a:r>
            <a:endParaRPr dirty="0"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 dirty="0"/>
              <a:t>  </a:t>
            </a:r>
            <a:endParaRPr dirty="0"/>
          </a:p>
        </p:txBody>
      </p:sp>
      <p:pic>
        <p:nvPicPr>
          <p:cNvPr id="139" name="Google Shape;139;p4" descr="Image result for Data 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7000" y="3886200"/>
            <a:ext cx="19812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609600" y="2438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Hierarchy of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1066800" y="609600"/>
            <a:ext cx="7848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00" b="1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2"/>
                </a:solidFill>
              </a:rPr>
              <a:t>Basics of Data Arrangement and Access</a:t>
            </a:r>
            <a:endParaRPr sz="4000">
              <a:solidFill>
                <a:schemeClr val="lt2"/>
              </a:solidFill>
            </a:endParaRPr>
          </a:p>
        </p:txBody>
      </p:sp>
      <p:sp>
        <p:nvSpPr>
          <p:cNvPr id="151" name="Google Shape;151;p6"/>
          <p:cNvSpPr txBox="1">
            <a:spLocks noGrp="1"/>
          </p:cNvSpPr>
          <p:nvPr>
            <p:ph type="body" idx="1"/>
          </p:nvPr>
        </p:nvSpPr>
        <p:spPr>
          <a:xfrm>
            <a:off x="1219200" y="2057400"/>
            <a:ext cx="7924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The Data Hierarchy</a:t>
            </a:r>
            <a:endParaRPr/>
          </a:p>
          <a:p>
            <a:pPr marL="384048" lvl="1" indent="-182880" algn="l" rtl="0">
              <a:lnSpc>
                <a:spcPct val="95000"/>
              </a:lnSpc>
              <a:spcBef>
                <a:spcPts val="47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Recall…8 bits =&gt; 1 byte =&gt; 1 character</a:t>
            </a:r>
            <a:endParaRPr/>
          </a:p>
          <a:p>
            <a:pPr marL="384048" lvl="1" indent="-182880" algn="l" rtl="0">
              <a:lnSpc>
                <a:spcPct val="95000"/>
              </a:lnSpc>
              <a:spcBef>
                <a:spcPts val="670"/>
              </a:spcBef>
              <a:spcAft>
                <a:spcPts val="0"/>
              </a:spcAft>
              <a:buSzPts val="1800"/>
              <a:buChar char="◦"/>
            </a:pPr>
            <a:r>
              <a:rPr lang="en-US" b="1"/>
              <a:t>Field</a:t>
            </a:r>
            <a:r>
              <a:rPr lang="en-US"/>
              <a:t> - a logical grouping of characters into a word, a small group of words, or a complete number</a:t>
            </a:r>
            <a:endParaRPr/>
          </a:p>
          <a:p>
            <a:pPr marL="384048" lvl="1" indent="-182880" algn="l" rtl="0">
              <a:lnSpc>
                <a:spcPct val="95000"/>
              </a:lnSpc>
              <a:spcBef>
                <a:spcPts val="670"/>
              </a:spcBef>
              <a:spcAft>
                <a:spcPts val="0"/>
              </a:spcAft>
              <a:buSzPts val="1800"/>
              <a:buChar char="◦"/>
            </a:pPr>
            <a:r>
              <a:rPr lang="en-US" b="1"/>
              <a:t>Record</a:t>
            </a:r>
            <a:r>
              <a:rPr lang="en-US"/>
              <a:t>  - a logical grouping of related fields</a:t>
            </a:r>
            <a:endParaRPr/>
          </a:p>
          <a:p>
            <a:pPr marL="384048" lvl="1" indent="-182880" algn="l" rtl="0">
              <a:lnSpc>
                <a:spcPct val="95000"/>
              </a:lnSpc>
              <a:spcBef>
                <a:spcPts val="670"/>
              </a:spcBef>
              <a:spcAft>
                <a:spcPts val="0"/>
              </a:spcAft>
              <a:buSzPts val="1800"/>
              <a:buChar char="◦"/>
            </a:pPr>
            <a:r>
              <a:rPr lang="en-US" b="1"/>
              <a:t>File</a:t>
            </a:r>
            <a:r>
              <a:rPr lang="en-US"/>
              <a:t> - a logical grouping of related records</a:t>
            </a:r>
            <a:endParaRPr/>
          </a:p>
          <a:p>
            <a:pPr marL="384048" lvl="1" indent="-182880" algn="l" rtl="0">
              <a:lnSpc>
                <a:spcPct val="95000"/>
              </a:lnSpc>
              <a:spcBef>
                <a:spcPts val="670"/>
              </a:spcBef>
              <a:spcAft>
                <a:spcPts val="0"/>
              </a:spcAft>
              <a:buSzPts val="1800"/>
              <a:buChar char="◦"/>
            </a:pPr>
            <a:r>
              <a:rPr lang="en-US" b="1"/>
              <a:t>Database</a:t>
            </a:r>
            <a:r>
              <a:rPr lang="en-US"/>
              <a:t> - a logical grouping of related files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7" descr="C:\NortonSlides\art16\Fig 03.jpg"/>
          <p:cNvPicPr preferRelativeResize="0"/>
          <p:nvPr/>
        </p:nvPicPr>
        <p:blipFill rotWithShape="1">
          <a:blip r:embed="rId3">
            <a:alphaModFix/>
          </a:blip>
          <a:srcRect b="18219"/>
          <a:stretch/>
        </p:blipFill>
        <p:spPr>
          <a:xfrm>
            <a:off x="152400" y="885825"/>
            <a:ext cx="8763000" cy="37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7"/>
          <p:cNvGrpSpPr/>
          <p:nvPr/>
        </p:nvGrpSpPr>
        <p:grpSpPr>
          <a:xfrm>
            <a:off x="1431925" y="457200"/>
            <a:ext cx="5210175" cy="3011488"/>
            <a:chOff x="902" y="1968"/>
            <a:chExt cx="3282" cy="1897"/>
          </a:xfrm>
        </p:grpSpPr>
        <p:pic>
          <p:nvPicPr>
            <p:cNvPr id="158" name="Google Shape;158;p7" descr="C:\NortonSlides\art16\Fig 03.jpg"/>
            <p:cNvPicPr preferRelativeResize="0"/>
            <p:nvPr/>
          </p:nvPicPr>
          <p:blipFill rotWithShape="1">
            <a:blip r:embed="rId3">
              <a:alphaModFix/>
            </a:blip>
            <a:srcRect l="30435" t="6372" r="49419" b="72877"/>
            <a:stretch/>
          </p:blipFill>
          <p:spPr>
            <a:xfrm>
              <a:off x="1824" y="1968"/>
              <a:ext cx="2360" cy="1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7"/>
            <p:cNvSpPr txBox="1"/>
            <p:nvPr/>
          </p:nvSpPr>
          <p:spPr>
            <a:xfrm>
              <a:off x="902" y="3577"/>
              <a:ext cx="56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Field</a:t>
              </a:r>
              <a:endParaRPr/>
            </a:p>
          </p:txBody>
        </p:sp>
        <p:cxnSp>
          <p:nvCxnSpPr>
            <p:cNvPr id="160" name="Google Shape;160;p7"/>
            <p:cNvCxnSpPr/>
            <p:nvPr/>
          </p:nvCxnSpPr>
          <p:spPr>
            <a:xfrm rot="10800000" flipH="1">
              <a:off x="1440" y="2976"/>
              <a:ext cx="1152" cy="768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61" name="Google Shape;161;p7"/>
          <p:cNvGrpSpPr/>
          <p:nvPr/>
        </p:nvGrpSpPr>
        <p:grpSpPr>
          <a:xfrm>
            <a:off x="1355725" y="4391025"/>
            <a:ext cx="5197475" cy="1933575"/>
            <a:chOff x="854" y="1968"/>
            <a:chExt cx="3274" cy="1218"/>
          </a:xfrm>
        </p:grpSpPr>
        <p:pic>
          <p:nvPicPr>
            <p:cNvPr id="162" name="Google Shape;162;p7" descr="C:\NortonSlides\art16\Fig 03.jpg"/>
            <p:cNvPicPr preferRelativeResize="0"/>
            <p:nvPr/>
          </p:nvPicPr>
          <p:blipFill rotWithShape="1">
            <a:blip r:embed="rId3">
              <a:alphaModFix/>
            </a:blip>
            <a:srcRect l="30435" t="6406" r="49419" b="72878"/>
            <a:stretch/>
          </p:blipFill>
          <p:spPr>
            <a:xfrm>
              <a:off x="1872" y="1968"/>
              <a:ext cx="2256" cy="1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7"/>
            <p:cNvSpPr txBox="1"/>
            <p:nvPr/>
          </p:nvSpPr>
          <p:spPr>
            <a:xfrm>
              <a:off x="854" y="2424"/>
              <a:ext cx="77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Record</a:t>
              </a: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1600" y="1976"/>
              <a:ext cx="288" cy="1200"/>
            </a:xfrm>
            <a:prstGeom prst="leftBrace">
              <a:avLst>
                <a:gd name="adj1" fmla="val 34722"/>
                <a:gd name="adj2" fmla="val 50000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8"/>
          <p:cNvGrpSpPr/>
          <p:nvPr/>
        </p:nvGrpSpPr>
        <p:grpSpPr>
          <a:xfrm>
            <a:off x="2165350" y="990600"/>
            <a:ext cx="4768850" cy="5181600"/>
            <a:chOff x="1364" y="432"/>
            <a:chExt cx="3148" cy="3552"/>
          </a:xfrm>
        </p:grpSpPr>
        <p:grpSp>
          <p:nvGrpSpPr>
            <p:cNvPr id="170" name="Google Shape;170;p8"/>
            <p:cNvGrpSpPr/>
            <p:nvPr/>
          </p:nvGrpSpPr>
          <p:grpSpPr>
            <a:xfrm>
              <a:off x="1364" y="432"/>
              <a:ext cx="3148" cy="3552"/>
              <a:chOff x="3744" y="816"/>
              <a:chExt cx="1872" cy="2112"/>
            </a:xfrm>
          </p:grpSpPr>
          <p:pic>
            <p:nvPicPr>
              <p:cNvPr id="171" name="Google Shape;171;p8" descr="C:\NortonSlides\art16\Fig 03.jpg"/>
              <p:cNvPicPr preferRelativeResize="0"/>
              <p:nvPr/>
            </p:nvPicPr>
            <p:blipFill rotWithShape="1">
              <a:blip r:embed="rId3">
                <a:alphaModFix/>
              </a:blip>
              <a:srcRect l="66957" t="8904" b="18218"/>
              <a:stretch/>
            </p:blipFill>
            <p:spPr>
              <a:xfrm>
                <a:off x="3792" y="816"/>
                <a:ext cx="1824" cy="21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" name="Google Shape;172;p8"/>
              <p:cNvSpPr/>
              <p:nvPr/>
            </p:nvSpPr>
            <p:spPr>
              <a:xfrm>
                <a:off x="3744" y="2208"/>
                <a:ext cx="1056" cy="57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73" name="Google Shape;173;p8"/>
            <p:cNvSpPr txBox="1"/>
            <p:nvPr/>
          </p:nvSpPr>
          <p:spPr>
            <a:xfrm>
              <a:off x="2167" y="2857"/>
              <a:ext cx="100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File/Table</a:t>
              </a:r>
              <a:endParaRPr/>
            </a:p>
          </p:txBody>
        </p:sp>
      </p:grpSp>
      <p:sp>
        <p:nvSpPr>
          <p:cNvPr id="174" name="Google Shape;174;p8"/>
          <p:cNvSpPr txBox="1"/>
          <p:nvPr/>
        </p:nvSpPr>
        <p:spPr>
          <a:xfrm>
            <a:off x="2286000" y="533400"/>
            <a:ext cx="433863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ADDRESS BOOK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/>
        </p:nvSpPr>
        <p:spPr>
          <a:xfrm>
            <a:off x="152400" y="762000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Hierarchy of data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2667000" y="762000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33400" y="1219200"/>
            <a:ext cx="1828800" cy="1371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rgbClr val="F3ECE9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33400" y="2819400"/>
            <a:ext cx="1828800" cy="8382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rgbClr val="F3ECE9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33400" y="3962400"/>
            <a:ext cx="1828800" cy="5334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rgbClr val="F3ECE9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Records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33400" y="4800600"/>
            <a:ext cx="1828800" cy="5334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rgbClr val="F3ECE9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533400" y="5638800"/>
            <a:ext cx="1828800" cy="6858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rgbClr val="F3ECE9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Characters</a:t>
            </a:r>
            <a:b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(bytes)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2819400" y="1295400"/>
            <a:ext cx="1981200" cy="346075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Personel file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2819400" y="1752600"/>
            <a:ext cx="1981200" cy="346075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file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2819400" y="2209800"/>
            <a:ext cx="1981200" cy="346075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 file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6629400" y="1736725"/>
            <a:ext cx="1828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(Project database)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2819400" y="2871788"/>
            <a:ext cx="3505200" cy="785812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005-10-6321 Johns Francine 10-7-65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549-77-1001 Buckley Bill 2-17-79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098-40-1370 Fiske Steven 1-5-85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6629400" y="2979738"/>
            <a:ext cx="190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(Personnel file)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2819400" y="4043363"/>
            <a:ext cx="3505200" cy="346075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098-40-1370 Fiske Steven 1-5-85 598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6629400" y="3962400"/>
            <a:ext cx="1828800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(Record containing SSN, last name, first name, date of hire)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2819400" y="4881563"/>
            <a:ext cx="762000" cy="346075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Fiske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4114800" y="4876800"/>
            <a:ext cx="190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(Last name field)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2743200" y="5867400"/>
            <a:ext cx="1143000" cy="346075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1000100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4114800" y="5867400"/>
            <a:ext cx="2590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(Letter ‘F’ in ASCII)</a:t>
            </a:r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title" idx="4294967295"/>
          </p:nvPr>
        </p:nvSpPr>
        <p:spPr>
          <a:xfrm>
            <a:off x="0" y="76200"/>
            <a:ext cx="77724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 sz="3200" b="1"/>
              <a:t>The Hierarchy of Data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8610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 Entities, Attributes, and Keys</a:t>
            </a: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Entity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A generalized class of people, places, or things (objects) for which data are collected, stored, and maintained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E.g., Customer, Employee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Attribute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A characteristic of an entity; something the entity is identified by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E.g., Customer name, Employee name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Keys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A field or set of fields in a record that is used to identify the record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E.g, A  field or set of fields that uniquely identifies the record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Keys and Attributes 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1447800" y="5334000"/>
            <a:ext cx="1455738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6283" y="0"/>
                </a:moveTo>
                <a:close/>
                <a:lnTo>
                  <a:pt x="-6283" y="120000"/>
                </a:lnTo>
              </a:path>
              <a:path w="120000" h="120000" fill="none" extrusionOk="0">
                <a:moveTo>
                  <a:pt x="-6283" y="30000"/>
                </a:moveTo>
                <a:lnTo>
                  <a:pt x="-13739" y="30000"/>
                </a:lnTo>
                <a:lnTo>
                  <a:pt x="-21594" y="-105416"/>
                </a:lnTo>
              </a:path>
            </a:pathLst>
          </a:custGeom>
          <a:solidFill>
            <a:srgbClr val="B7DBFF"/>
          </a:solidFill>
          <a:ln w="38100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field</a:t>
            </a:r>
            <a:endParaRPr/>
          </a:p>
        </p:txBody>
      </p:sp>
      <p:cxnSp>
        <p:nvCxnSpPr>
          <p:cNvPr id="211" name="Google Shape;211;p11"/>
          <p:cNvCxnSpPr/>
          <p:nvPr/>
        </p:nvCxnSpPr>
        <p:spPr>
          <a:xfrm>
            <a:off x="914400" y="4953000"/>
            <a:ext cx="1371600" cy="0"/>
          </a:xfrm>
          <a:prstGeom prst="straightConnector1">
            <a:avLst/>
          </a:prstGeom>
          <a:noFill/>
          <a:ln w="762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11"/>
          <p:cNvCxnSpPr/>
          <p:nvPr/>
        </p:nvCxnSpPr>
        <p:spPr>
          <a:xfrm>
            <a:off x="914400" y="4800600"/>
            <a:ext cx="7315200" cy="0"/>
          </a:xfrm>
          <a:prstGeom prst="straightConnector1">
            <a:avLst/>
          </a:prstGeom>
          <a:noFill/>
          <a:ln w="762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" name="Google Shape;213;p11"/>
          <p:cNvSpPr/>
          <p:nvPr/>
        </p:nvSpPr>
        <p:spPr>
          <a:xfrm>
            <a:off x="3843338" y="5410200"/>
            <a:ext cx="2405062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3800" y="0"/>
                </a:moveTo>
                <a:close/>
                <a:lnTo>
                  <a:pt x="-3800" y="120000"/>
                </a:lnTo>
              </a:path>
              <a:path w="120000" h="120000" fill="none" extrusionOk="0">
                <a:moveTo>
                  <a:pt x="-3800" y="30000"/>
                </a:moveTo>
                <a:lnTo>
                  <a:pt x="-12038" y="30000"/>
                </a:lnTo>
                <a:lnTo>
                  <a:pt x="-20672" y="-154166"/>
                </a:lnTo>
              </a:path>
            </a:pathLst>
          </a:custGeom>
          <a:solidFill>
            <a:srgbClr val="B7DBFF"/>
          </a:solidFill>
          <a:ln w="38100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 (fields)</a:t>
            </a:r>
            <a:endParaRPr/>
          </a:p>
        </p:txBody>
      </p:sp>
      <p:cxnSp>
        <p:nvCxnSpPr>
          <p:cNvPr id="214" name="Google Shape;214;p11"/>
          <p:cNvCxnSpPr/>
          <p:nvPr/>
        </p:nvCxnSpPr>
        <p:spPr>
          <a:xfrm>
            <a:off x="8610600" y="2895600"/>
            <a:ext cx="0" cy="1828800"/>
          </a:xfrm>
          <a:prstGeom prst="straightConnector1">
            <a:avLst/>
          </a:prstGeom>
          <a:noFill/>
          <a:ln w="762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11"/>
          <p:cNvSpPr/>
          <p:nvPr/>
        </p:nvSpPr>
        <p:spPr>
          <a:xfrm>
            <a:off x="6934200" y="5253038"/>
            <a:ext cx="1201738" cy="69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27612" y="0"/>
                </a:moveTo>
                <a:close/>
                <a:lnTo>
                  <a:pt x="127612" y="120000"/>
                </a:lnTo>
              </a:path>
              <a:path w="120000" h="120000" fill="none" extrusionOk="0">
                <a:moveTo>
                  <a:pt x="127612" y="19861"/>
                </a:moveTo>
                <a:lnTo>
                  <a:pt x="147583" y="19861"/>
                </a:lnTo>
                <a:lnTo>
                  <a:pt x="168188" y="-91861"/>
                </a:lnTo>
              </a:path>
            </a:pathLst>
          </a:custGeom>
          <a:solidFill>
            <a:srgbClr val="B7DBFF"/>
          </a:solidFill>
          <a:ln w="38100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Entities</a:t>
            </a:r>
            <a:b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(records)</a:t>
            </a:r>
            <a:endParaRPr/>
          </a:p>
        </p:txBody>
      </p:sp>
      <p:graphicFrame>
        <p:nvGraphicFramePr>
          <p:cNvPr id="216" name="Google Shape;216;p11"/>
          <p:cNvGraphicFramePr/>
          <p:nvPr/>
        </p:nvGraphicFramePr>
        <p:xfrm>
          <a:off x="838200" y="2222500"/>
          <a:ext cx="7620000" cy="2501900"/>
        </p:xfrm>
        <a:graphic>
          <a:graphicData uri="http://schemas.openxmlformats.org/drawingml/2006/table">
            <a:tbl>
              <a:tblPr>
                <a:noFill/>
                <a:tableStyleId>{B620B20C-BB05-4826-9B70-CC1F26684CA2}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Employee #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Last  name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name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Hire date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Dept. #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005-10-6321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Johns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Francine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10-7-65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257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549-77-1001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Buckley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2-17-79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650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098-40-1370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Fiske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Steven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1-5-85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598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The Traditional Approach </a:t>
            </a:r>
            <a:endParaRPr/>
          </a:p>
        </p:txBody>
      </p:sp>
      <p:sp>
        <p:nvSpPr>
          <p:cNvPr id="222" name="Google Shape;222;p1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955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80"/>
              <a:buChar char=" "/>
            </a:pPr>
            <a:r>
              <a:rPr lang="en-US" sz="2800"/>
              <a:t>The traditional approach…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80"/>
              <a:buChar char="◦"/>
            </a:pPr>
            <a:r>
              <a:rPr lang="en-US"/>
              <a:t>Separate files are created and stored for each application program</a:t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5791200" y="5075264"/>
            <a:ext cx="2057400" cy="762000"/>
          </a:xfrm>
          <a:prstGeom prst="rightArrow">
            <a:avLst>
              <a:gd name="adj1" fmla="val 53750"/>
              <a:gd name="adj2" fmla="val 33538"/>
            </a:avLst>
          </a:prstGeom>
          <a:solidFill>
            <a:srgbClr val="DDEE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Schematic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279AD3-42CF-4412-ABD0-57B3D0E4D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9259"/>
            <a:ext cx="9144000" cy="37194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dirty="0"/>
              <a:t>Drawbacks</a:t>
            </a:r>
            <a:endParaRPr dirty="0"/>
          </a:p>
        </p:txBody>
      </p:sp>
      <p:sp>
        <p:nvSpPr>
          <p:cNvPr id="313" name="Google Shape;313;p18"/>
          <p:cNvSpPr txBox="1">
            <a:spLocks noGrp="1"/>
          </p:cNvSpPr>
          <p:nvPr>
            <p:ph type="body" idx="1"/>
          </p:nvPr>
        </p:nvSpPr>
        <p:spPr>
          <a:xfrm>
            <a:off x="762000" y="1782146"/>
            <a:ext cx="7021513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US" sz="1800" b="1" dirty="0"/>
              <a:t>Data redundancy</a:t>
            </a:r>
            <a:endParaRPr dirty="0"/>
          </a:p>
          <a:p>
            <a:pPr marL="841248" lvl="2" indent="-182880">
              <a:spcBef>
                <a:spcPts val="600"/>
              </a:spcBef>
            </a:pPr>
            <a:r>
              <a:rPr lang="en-US" b="1" dirty="0"/>
              <a:t>The same data may be stored in multiple files, wasting storage space.</a:t>
            </a: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 b="1" dirty="0"/>
              <a:t>Data inconsistency</a:t>
            </a:r>
          </a:p>
          <a:p>
            <a:pPr marL="841248" lvl="2" indent="-182880">
              <a:spcBef>
                <a:spcPts val="600"/>
              </a:spcBef>
            </a:pPr>
            <a:r>
              <a:rPr lang="en-US" b="1" dirty="0"/>
              <a:t>When duplicate data is updated in one file but not in others, inconsistent information results.</a:t>
            </a: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 b="1" dirty="0"/>
              <a:t>Difficulty in accessing data </a:t>
            </a:r>
            <a:endParaRPr dirty="0"/>
          </a:p>
          <a:p>
            <a:pPr marL="669798" lvl="2" indent="-182880">
              <a:spcBef>
                <a:spcPts val="600"/>
              </a:spcBef>
            </a:pPr>
            <a:r>
              <a:rPr lang="en-US" b="1" dirty="0"/>
              <a:t>Retrieving specific information often requires writing a separate program. </a:t>
            </a:r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 b="1" dirty="0"/>
              <a:t>Data isolation</a:t>
            </a:r>
          </a:p>
          <a:p>
            <a:pPr marL="669798" lvl="2" indent="-182880">
              <a:spcBef>
                <a:spcPts val="600"/>
              </a:spcBef>
            </a:pPr>
            <a:r>
              <a:rPr lang="en-US" b="1" dirty="0"/>
              <a:t>Data is scattered across different files and formats, making it difficult to retrieve combined information</a:t>
            </a:r>
            <a:endParaRPr b="1"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 b="1" dirty="0"/>
              <a:t>Integrity problems</a:t>
            </a:r>
            <a:endParaRPr dirty="0"/>
          </a:p>
          <a:p>
            <a:pPr marL="669798" lvl="2" indent="-182880">
              <a:spcBef>
                <a:spcPts val="600"/>
              </a:spcBef>
            </a:pPr>
            <a:r>
              <a:rPr lang="en-US" b="1" dirty="0"/>
              <a:t>File systems do not automatically enforce rules to maintain correct data.</a:t>
            </a:r>
          </a:p>
          <a:p>
            <a:pPr marL="669798" lvl="2" indent="-182880">
              <a:spcBef>
                <a:spcPts val="600"/>
              </a:spcBef>
            </a:pPr>
            <a:r>
              <a:rPr lang="en-US" b="1" dirty="0"/>
              <a:t>Integrity constraints  (e.g. account balance &gt; 0) become “buried” in program code rather than being stated explicitly</a:t>
            </a:r>
            <a:endParaRPr b="1" dirty="0"/>
          </a:p>
          <a:p>
            <a:pPr marL="669798" lvl="2" indent="-182880">
              <a:spcBef>
                <a:spcPts val="600"/>
              </a:spcBef>
            </a:pPr>
            <a:r>
              <a:rPr lang="en-US" b="1" dirty="0"/>
              <a:t>Hard to add new constraints or change existing ones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298370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 sz="3600"/>
              <a:t>Drawbacks of using file systems (cont.) </a:t>
            </a:r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body" idx="1"/>
          </p:nvPr>
        </p:nvSpPr>
        <p:spPr>
          <a:xfrm>
            <a:off x="531812" y="1772816"/>
            <a:ext cx="8080375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 b="1" dirty="0"/>
              <a:t>Concurrent access by multiple users</a:t>
            </a:r>
            <a:endParaRPr dirty="0"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b="1" dirty="0"/>
              <a:t>Multiple users accessing the same file simultaneously may overwrite each other's changes.</a:t>
            </a:r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b="1" dirty="0"/>
              <a:t>Uncontrolled concurrent accesses can lead to inconsistencies</a:t>
            </a:r>
            <a:endParaRPr b="1"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 b="1" dirty="0"/>
              <a:t>Security problems</a:t>
            </a:r>
            <a:endParaRPr dirty="0"/>
          </a:p>
          <a:p>
            <a:pPr marL="566928" lvl="2" indent="-182880">
              <a:spcBef>
                <a:spcPts val="600"/>
              </a:spcBef>
            </a:pPr>
            <a:r>
              <a:rPr lang="en-US" b="1" dirty="0"/>
              <a:t>File systems provide limited access control, making unauthorized access easier.</a:t>
            </a:r>
          </a:p>
          <a:p>
            <a:pPr marL="566928" lvl="2" indent="-182880">
              <a:spcBef>
                <a:spcPts val="600"/>
              </a:spcBef>
            </a:pPr>
            <a:r>
              <a:rPr lang="en-US" b="1" dirty="0"/>
              <a:t>Hard to provide user access to some, but not all, data</a:t>
            </a:r>
            <a:endParaRPr b="1" dirty="0"/>
          </a:p>
          <a:p>
            <a:pPr marL="384048" lvl="1" indent="-182880"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Program–Data Dependence</a:t>
            </a:r>
          </a:p>
          <a:p>
            <a:pPr marL="841248" lvl="2" indent="-182880"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Changes to the file structure require changes in all application programs using that file.</a:t>
            </a:r>
          </a:p>
          <a:p>
            <a:pPr marL="384048" lvl="1" indent="-182880"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No Backup and Recovery Mechanism</a:t>
            </a:r>
          </a:p>
          <a:p>
            <a:pPr marL="566928" lvl="2" indent="-182880">
              <a:spcBef>
                <a:spcPts val="600"/>
              </a:spcBef>
            </a:pPr>
            <a:r>
              <a:rPr lang="en-US" b="1" dirty="0"/>
              <a:t>Recovering lost data after a system crash is difficult.</a:t>
            </a:r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Char char=" "/>
            </a:pPr>
            <a:r>
              <a:rPr lang="en-US" sz="1800" b="1" dirty="0">
                <a:solidFill>
                  <a:srgbClr val="FF0000"/>
                </a:solidFill>
              </a:rPr>
              <a:t>Database systems offer solutions to all the above problems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5959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5" descr="Image result for Data 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114800"/>
            <a:ext cx="19431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Database Approach</a:t>
            </a:r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The database approach…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A pool of related data is shared by multiple application programs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Rather than having separate data files, each application uses a collection of data that is either joined or related in the database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6705600" y="4876800"/>
            <a:ext cx="2057400" cy="762000"/>
          </a:xfrm>
          <a:prstGeom prst="rightArrow">
            <a:avLst>
              <a:gd name="adj1" fmla="val 53750"/>
              <a:gd name="adj2" fmla="val 33538"/>
            </a:avLst>
          </a:prstGeom>
          <a:solidFill>
            <a:srgbClr val="DDEE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Schematic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9F32DE-737D-4A25-846F-09605DC9D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2148"/>
            <a:ext cx="9144000" cy="28396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7" descr="Image result for Data 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0875" y="228600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 txBox="1">
            <a:spLocks noGrp="1"/>
          </p:cNvSpPr>
          <p:nvPr>
            <p:ph type="title"/>
          </p:nvPr>
        </p:nvSpPr>
        <p:spPr>
          <a:xfrm>
            <a:off x="598990" y="800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 sz="3200"/>
              <a:t>Database Management System (DBMS)</a:t>
            </a:r>
            <a:endParaRPr/>
          </a:p>
        </p:txBody>
      </p:sp>
      <p:sp>
        <p:nvSpPr>
          <p:cNvPr id="307" name="Google Shape;307;p17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 b="1"/>
              <a:t>DBMS contains information about a particular enterprise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Collection of interrelated data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Set of programs to access the data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An environment that is both </a:t>
            </a:r>
            <a:r>
              <a:rPr lang="en-US" sz="1800" i="1"/>
              <a:t>convenient</a:t>
            </a:r>
            <a:r>
              <a:rPr lang="en-US" sz="1800"/>
              <a:t> and </a:t>
            </a:r>
            <a:r>
              <a:rPr lang="en-US" sz="1800" i="1"/>
              <a:t>efficient</a:t>
            </a:r>
            <a:r>
              <a:rPr lang="en-US" sz="1800"/>
              <a:t> to use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Char char=" "/>
            </a:pPr>
            <a:r>
              <a:rPr lang="en-US" sz="1800" b="1"/>
              <a:t>Database Applications: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Banking: all transactions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Airlines: reservations, schedules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Universities:  registration, grades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Sales: customers, products, purchases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Online retailers: order tracking, customized recommendations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Manufacturing: production, inventory, orders, supply chain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 sz="1800"/>
              <a:t>Human resources:  employee records, salaries, tax deductions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Char char=" "/>
            </a:pPr>
            <a:r>
              <a:rPr lang="en-US" sz="1800" b="1" i="1"/>
              <a:t>Databases touch all aspects of our lives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2362200" y="308658"/>
            <a:ext cx="49530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Why Use a DBMS?</a:t>
            </a:r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body" idx="1"/>
          </p:nvPr>
        </p:nvSpPr>
        <p:spPr>
          <a:xfrm>
            <a:off x="838200" y="2514600"/>
            <a:ext cx="77724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solidFill>
                  <a:srgbClr val="002060"/>
                </a:solidFill>
              </a:rPr>
              <a:t>Data independence and efficient access.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solidFill>
                  <a:srgbClr val="002060"/>
                </a:solidFill>
              </a:rPr>
              <a:t>Reduced application development time.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solidFill>
                  <a:srgbClr val="002060"/>
                </a:solidFill>
              </a:rPr>
              <a:t>Data integrity and security.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solidFill>
                  <a:srgbClr val="002060"/>
                </a:solidFill>
              </a:rPr>
              <a:t>Uniform data administration.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solidFill>
                  <a:srgbClr val="002060"/>
                </a:solidFill>
              </a:rPr>
              <a:t>Concurrent access, recovery from crashes.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406400" y="4835525"/>
            <a:ext cx="20320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3" name="Google Shape;333;p20"/>
          <p:cNvGraphicFramePr/>
          <p:nvPr/>
        </p:nvGraphicFramePr>
        <p:xfrm>
          <a:off x="7467600" y="304800"/>
          <a:ext cx="915988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4" imgW="915988" imgH="2120900" progId="MS_ClipArt_Gallery.5">
                  <p:embed/>
                </p:oleObj>
              </mc:Choice>
              <mc:Fallback>
                <p:oleObj r:id="rId4" imgW="915988" imgH="2120900" progId="MS_ClipArt_Gallery.5">
                  <p:embed/>
                  <p:pic>
                    <p:nvPicPr>
                      <p:cNvPr id="333" name="Google Shape;333;p2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467600" y="304800"/>
                        <a:ext cx="915988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4" name="Google Shape;334;p20" descr="Image result for Data bas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15240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 sz="3600"/>
              <a:t>Levels of Abstraction</a:t>
            </a:r>
            <a:endParaRPr/>
          </a:p>
        </p:txBody>
      </p:sp>
      <p:sp>
        <p:nvSpPr>
          <p:cNvPr id="340" name="Google Shape;340;p21"/>
          <p:cNvSpPr txBox="1">
            <a:spLocks noGrp="1"/>
          </p:cNvSpPr>
          <p:nvPr>
            <p:ph type="body" idx="1"/>
          </p:nvPr>
        </p:nvSpPr>
        <p:spPr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dirty="0">
                <a:solidFill>
                  <a:schemeClr val="dk2"/>
                </a:solidFill>
              </a:rPr>
              <a:t>Physical level:</a:t>
            </a:r>
            <a:r>
              <a:rPr lang="en-US" sz="2000" dirty="0"/>
              <a:t> describes how a record  is stored.</a:t>
            </a: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dirty="0">
                <a:solidFill>
                  <a:schemeClr val="dk2"/>
                </a:solidFill>
              </a:rPr>
              <a:t>Logical level:</a:t>
            </a:r>
            <a:r>
              <a:rPr lang="en-US" sz="2000" dirty="0"/>
              <a:t> describes data stored in database, and the relationships among the data.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 dirty="0"/>
              <a:t>	type</a:t>
            </a:r>
            <a:r>
              <a:rPr lang="en-US" sz="2000" dirty="0"/>
              <a:t> </a:t>
            </a:r>
            <a:r>
              <a:rPr lang="en-US" sz="2000" i="1" dirty="0"/>
              <a:t>customer</a:t>
            </a:r>
            <a:r>
              <a:rPr lang="en-US" sz="2000" dirty="0"/>
              <a:t> = </a:t>
            </a:r>
            <a:r>
              <a:rPr lang="en-US" sz="2000" b="1" dirty="0"/>
              <a:t>record</a:t>
            </a:r>
            <a:endParaRPr sz="2000"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rPr lang="en-US" sz="2000" dirty="0"/>
              <a:t>		</a:t>
            </a:r>
            <a:r>
              <a:rPr lang="en-US" sz="2000" i="1" dirty="0" err="1"/>
              <a:t>customer_id</a:t>
            </a:r>
            <a:r>
              <a:rPr lang="en-US" sz="2000" dirty="0"/>
              <a:t> : string; 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i="1" dirty="0" err="1"/>
              <a:t>customer_name</a:t>
            </a:r>
            <a:r>
              <a:rPr lang="en-US" sz="2000" dirty="0"/>
              <a:t> : string;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i="1" dirty="0" err="1"/>
              <a:t>customer</a:t>
            </a:r>
            <a:r>
              <a:rPr lang="en-US" sz="2000" dirty="0" err="1"/>
              <a:t>_</a:t>
            </a:r>
            <a:r>
              <a:rPr lang="en-US" sz="2000" i="1" dirty="0" err="1"/>
              <a:t>street</a:t>
            </a:r>
            <a:r>
              <a:rPr lang="en-US" sz="2000" dirty="0"/>
              <a:t> : string;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i="1" dirty="0" err="1"/>
              <a:t>customer_city</a:t>
            </a:r>
            <a:r>
              <a:rPr lang="en-US" sz="2000" dirty="0"/>
              <a:t> : integer;</a:t>
            </a:r>
            <a:endParaRPr dirty="0"/>
          </a:p>
          <a:p>
            <a:pPr marL="932688" lvl="4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 b="1" dirty="0"/>
              <a:t>end</a:t>
            </a:r>
            <a:r>
              <a:rPr lang="en-US" dirty="0"/>
              <a:t>;</a:t>
            </a: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 dirty="0">
                <a:solidFill>
                  <a:schemeClr val="dk2"/>
                </a:solidFill>
              </a:rPr>
              <a:t>View level:</a:t>
            </a:r>
            <a:r>
              <a:rPr lang="en-US" sz="2000" dirty="0"/>
              <a:t> application programs hide details of data types.  Views can also hide information (such as an employee’s salary) for security purposes.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View of Data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762000" y="1371600"/>
            <a:ext cx="45243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architecture for a database system </a:t>
            </a:r>
            <a:endParaRPr/>
          </a:p>
        </p:txBody>
      </p:sp>
      <p:pic>
        <p:nvPicPr>
          <p:cNvPr id="347" name="Google Shape;347;p22"/>
          <p:cNvPicPr preferRelativeResize="0"/>
          <p:nvPr/>
        </p:nvPicPr>
        <p:blipFill rotWithShape="1">
          <a:blip r:embed="rId3">
            <a:alphaModFix/>
          </a:blip>
          <a:srcRect l="3358" t="14328" r="1120" b="10448"/>
          <a:stretch/>
        </p:blipFill>
        <p:spPr>
          <a:xfrm>
            <a:off x="1035050" y="1927225"/>
            <a:ext cx="6127750" cy="3619500"/>
          </a:xfrm>
          <a:prstGeom prst="rect">
            <a:avLst/>
          </a:prstGeom>
          <a:noFill/>
          <a:ln w="38100" cap="flat" cmpd="dbl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Instances and Schemas</a:t>
            </a:r>
            <a:endParaRPr/>
          </a:p>
        </p:txBody>
      </p: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9248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 "/>
            </a:pPr>
            <a:r>
              <a:rPr lang="en-US" sz="1600" dirty="0"/>
              <a:t>Similar to types and variables in programming languages</a:t>
            </a:r>
            <a:endParaRPr dirty="0"/>
          </a:p>
          <a:p>
            <a:pPr marL="91440" lvl="0" indent="-1016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Char char=" "/>
            </a:pPr>
            <a:r>
              <a:rPr lang="en-US" sz="1600" b="1" dirty="0">
                <a:solidFill>
                  <a:schemeClr val="dk2"/>
                </a:solidFill>
              </a:rPr>
              <a:t>Schema</a:t>
            </a:r>
            <a:r>
              <a:rPr lang="en-US" sz="1600" dirty="0"/>
              <a:t> – the logical structure of the database 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</a:pPr>
            <a:r>
              <a:rPr lang="en-US" sz="1600" dirty="0"/>
              <a:t>Example: The database consists of information about a set of customers and accounts and the relationship between them)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 sz="1600" dirty="0"/>
              <a:t>Analogous to type information of a variable in a program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 sz="1600" b="1" dirty="0"/>
              <a:t>Physical schema</a:t>
            </a:r>
            <a:r>
              <a:rPr lang="en-US" sz="1600" dirty="0"/>
              <a:t>: database design at the physical level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 sz="1600" b="1" dirty="0"/>
              <a:t>Logical schema</a:t>
            </a:r>
            <a:r>
              <a:rPr lang="en-US" sz="1600" dirty="0"/>
              <a:t>: database design at the logical level</a:t>
            </a:r>
            <a:endParaRPr dirty="0"/>
          </a:p>
          <a:p>
            <a:pPr marL="91440" lvl="0" indent="-101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600"/>
              <a:buChar char=" "/>
            </a:pPr>
            <a:r>
              <a:rPr lang="en-US" sz="1600" b="1" dirty="0">
                <a:solidFill>
                  <a:schemeClr val="dk2"/>
                </a:solidFill>
              </a:rPr>
              <a:t>Instance</a:t>
            </a:r>
            <a:r>
              <a:rPr lang="en-US" sz="1600" dirty="0"/>
              <a:t> – the actual content of the database at a particular point in time 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</a:pPr>
            <a:r>
              <a:rPr lang="en-US" sz="1600" dirty="0"/>
              <a:t>Analogous to the value of a variable</a:t>
            </a:r>
            <a:endParaRPr dirty="0"/>
          </a:p>
          <a:p>
            <a:pPr marL="91440" lvl="0" indent="-101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600"/>
              <a:buChar char=" "/>
            </a:pPr>
            <a:r>
              <a:rPr lang="en-US" sz="1600" b="1" dirty="0">
                <a:solidFill>
                  <a:schemeClr val="dk2"/>
                </a:solidFill>
              </a:rPr>
              <a:t>Physical Data Independence</a:t>
            </a:r>
            <a:r>
              <a:rPr lang="en-US" sz="1600" dirty="0"/>
              <a:t> – the ability to modify the physical schema without changing the logical schema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</a:pPr>
            <a:r>
              <a:rPr lang="en-US" sz="1600" dirty="0"/>
              <a:t>Applications depend on the logical schema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Database Users</a:t>
            </a:r>
            <a:endParaRPr/>
          </a:p>
        </p:txBody>
      </p:sp>
      <p:sp>
        <p:nvSpPr>
          <p:cNvPr id="432" name="Google Shape;432;p35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78764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>
                <a:solidFill>
                  <a:schemeClr val="dk2"/>
                </a:solidFill>
              </a:rPr>
              <a:t>Users </a:t>
            </a:r>
            <a:r>
              <a:rPr lang="en-US" sz="2000"/>
              <a:t>are differentiated by the way they expect to interact with the system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>
                <a:solidFill>
                  <a:srgbClr val="00B050"/>
                </a:solidFill>
              </a:rPr>
              <a:t>Database Administrators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>
                <a:solidFill>
                  <a:srgbClr val="00B050"/>
                </a:solidFill>
              </a:rPr>
              <a:t>Application programmers</a:t>
            </a:r>
            <a:r>
              <a:rPr lang="en-US" sz="2000">
                <a:solidFill>
                  <a:srgbClr val="00B050"/>
                </a:solidFill>
              </a:rPr>
              <a:t> </a:t>
            </a:r>
            <a:r>
              <a:rPr lang="en-US" sz="2000"/>
              <a:t>– interact with system through DML calls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>
                <a:solidFill>
                  <a:srgbClr val="00B050"/>
                </a:solidFill>
              </a:rPr>
              <a:t>Sophisticated users</a:t>
            </a:r>
            <a:r>
              <a:rPr lang="en-US" sz="2000">
                <a:solidFill>
                  <a:srgbClr val="00B050"/>
                </a:solidFill>
              </a:rPr>
              <a:t> </a:t>
            </a:r>
            <a:r>
              <a:rPr lang="en-US" sz="2000"/>
              <a:t>– form requests in a database query language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>
                <a:solidFill>
                  <a:srgbClr val="00B050"/>
                </a:solidFill>
              </a:rPr>
              <a:t>Naïve users</a:t>
            </a:r>
            <a:r>
              <a:rPr lang="en-US" sz="2000">
                <a:solidFill>
                  <a:srgbClr val="00B050"/>
                </a:solidFill>
              </a:rPr>
              <a:t> </a:t>
            </a:r>
            <a:r>
              <a:rPr lang="en-US" sz="2000"/>
              <a:t>– invoke one of the permanent application programs that have been written previously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Examples, people accessing database over the web, bank tellers, clerical staff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76532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 txBox="1">
            <a:spLocks noGrp="1"/>
          </p:cNvSpPr>
          <p:nvPr>
            <p:ph type="title"/>
          </p:nvPr>
        </p:nvSpPr>
        <p:spPr>
          <a:xfrm>
            <a:off x="609599" y="6858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Database Administrator</a:t>
            </a:r>
            <a:endParaRPr/>
          </a:p>
        </p:txBody>
      </p:sp>
      <p:sp>
        <p:nvSpPr>
          <p:cNvPr id="445" name="Google Shape;445;p37"/>
          <p:cNvSpPr txBox="1">
            <a:spLocks noGrp="1"/>
          </p:cNvSpPr>
          <p:nvPr>
            <p:ph type="body" idx="1"/>
          </p:nvPr>
        </p:nvSpPr>
        <p:spPr>
          <a:xfrm>
            <a:off x="798512" y="1981200"/>
            <a:ext cx="8116888" cy="413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Coordinates all the activities of the database system; the database administrator has a good understanding of the enterprise’s information resources and needs.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2000" b="1"/>
              <a:t>Database administrator's duties include: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Schema definition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Storage structure and access method definition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Schema and physical organization modification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Granting user authority to access the database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Specifying integrity constraints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Acting as liaison with users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Monitoring performance and responding to changes in requirements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1100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 Models</a:t>
            </a:r>
            <a:endParaRPr/>
          </a:p>
        </p:txBody>
      </p:sp>
      <p:sp>
        <p:nvSpPr>
          <p:cNvPr id="365" name="Google Shape;365;p25"/>
          <p:cNvSpPr txBox="1">
            <a:spLocks noGrp="1"/>
          </p:cNvSpPr>
          <p:nvPr>
            <p:ph type="body" idx="1"/>
          </p:nvPr>
        </p:nvSpPr>
        <p:spPr>
          <a:xfrm>
            <a:off x="990600" y="1828800"/>
            <a:ext cx="6688138" cy="454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91440" lvl="0" indent="-1174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2000"/>
              <a:t>A collection of tools for describing 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Data 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Data relationships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Data semantics</a:t>
            </a:r>
            <a:endParaRPr/>
          </a:p>
          <a:p>
            <a:pPr marL="384048" lvl="1" indent="-18288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Data constraints</a:t>
            </a:r>
            <a:endParaRPr/>
          </a:p>
          <a:p>
            <a:pPr marL="91440" lvl="0" indent="-117475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2000" b="1" i="1">
                <a:solidFill>
                  <a:srgbClr val="00B050"/>
                </a:solidFill>
              </a:rPr>
              <a:t>Relational model</a:t>
            </a:r>
            <a:endParaRPr/>
          </a:p>
          <a:p>
            <a:pPr marL="91440" lvl="0" indent="-1174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 b="1" i="1">
                <a:solidFill>
                  <a:srgbClr val="00B050"/>
                </a:solidFill>
              </a:rPr>
              <a:t>Entity-Relationship data model (mainly for database design) </a:t>
            </a:r>
            <a:endParaRPr/>
          </a:p>
          <a:p>
            <a:pPr marL="91440" lvl="0" indent="-1174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b="1">
                <a:solidFill>
                  <a:schemeClr val="dk1"/>
                </a:solidFill>
              </a:rPr>
              <a:t>Other models</a:t>
            </a:r>
            <a:endParaRPr b="1">
              <a:solidFill>
                <a:schemeClr val="dk1"/>
              </a:solidFill>
            </a:endParaRPr>
          </a:p>
          <a:p>
            <a:pPr marL="91440" lvl="0" indent="-99853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700" i="1"/>
              <a:t>Object-based data models (Object-oriented and Object-relational)</a:t>
            </a:r>
            <a:endParaRPr/>
          </a:p>
          <a:p>
            <a:pPr marL="91440" lvl="0" indent="-99853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700" i="1"/>
              <a:t>Semi-structured data model  (XML)</a:t>
            </a:r>
            <a:endParaRPr/>
          </a:p>
          <a:p>
            <a:pPr marL="91440" lvl="0" indent="-1174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 b="1">
                <a:solidFill>
                  <a:schemeClr val="dk1"/>
                </a:solidFill>
              </a:rPr>
              <a:t>Other older models:-</a:t>
            </a:r>
            <a:endParaRPr/>
          </a:p>
          <a:p>
            <a:pPr marL="91440" lvl="0" indent="-99853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700" i="1"/>
              <a:t>Network Model</a:t>
            </a:r>
            <a:endParaRPr/>
          </a:p>
          <a:p>
            <a:pPr marL="91440" lvl="0" indent="-99853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1700" i="1"/>
              <a:t>Hierarchical Model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000" i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Database Languages</a:t>
            </a:r>
            <a:endParaRPr/>
          </a:p>
        </p:txBody>
      </p:sp>
      <p:sp>
        <p:nvSpPr>
          <p:cNvPr id="371" name="Google Shape;371;p26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/>
              <a:t>Data Definition Language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/>
              <a:t>Data Manipulation Language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/>
              <a:t>Data Control Language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"/>
          <p:cNvSpPr txBox="1">
            <a:spLocks noGrp="1"/>
          </p:cNvSpPr>
          <p:nvPr>
            <p:ph type="title"/>
          </p:nvPr>
        </p:nvSpPr>
        <p:spPr>
          <a:xfrm>
            <a:off x="732440" y="9144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 sz="3600"/>
              <a:t>Data Definition Language (DDL)</a:t>
            </a:r>
            <a:endParaRPr/>
          </a:p>
        </p:txBody>
      </p:sp>
      <p:sp>
        <p:nvSpPr>
          <p:cNvPr id="377" name="Google Shape;377;p27"/>
          <p:cNvSpPr txBox="1">
            <a:spLocks noGrp="1"/>
          </p:cNvSpPr>
          <p:nvPr>
            <p:ph type="body" idx="1"/>
          </p:nvPr>
        </p:nvSpPr>
        <p:spPr>
          <a:xfrm>
            <a:off x="914401" y="1828800"/>
            <a:ext cx="7239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91440" lvl="0" indent="-1174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2000"/>
              <a:t>Specification notation for defining the database schema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en-US" sz="2000"/>
              <a:t>Example:	</a:t>
            </a:r>
            <a:r>
              <a:rPr lang="en-US" sz="2000" b="1"/>
              <a:t>create table</a:t>
            </a:r>
            <a:r>
              <a:rPr lang="en-US" sz="2000"/>
              <a:t> </a:t>
            </a:r>
            <a:r>
              <a:rPr lang="en-US" sz="2000" i="1"/>
              <a:t>account</a:t>
            </a:r>
            <a:r>
              <a:rPr lang="en-US" sz="2000"/>
              <a:t> (</a:t>
            </a:r>
            <a:br>
              <a:rPr lang="en-US" sz="2000"/>
            </a:br>
            <a:r>
              <a:rPr lang="en-US" sz="2000"/>
              <a:t>                             </a:t>
            </a:r>
            <a:r>
              <a:rPr lang="en-US" sz="2000" i="1"/>
              <a:t>account-number</a:t>
            </a:r>
            <a:r>
              <a:rPr lang="en-US" sz="2000"/>
              <a:t>    </a:t>
            </a:r>
            <a:r>
              <a:rPr lang="en-US" sz="2000" b="1"/>
              <a:t>char</a:t>
            </a:r>
            <a:r>
              <a:rPr lang="en-US" sz="2000"/>
              <a:t>(10),</a:t>
            </a:r>
            <a:br>
              <a:rPr lang="en-US" sz="2000"/>
            </a:br>
            <a:r>
              <a:rPr lang="en-US" sz="2000"/>
              <a:t>                             </a:t>
            </a:r>
            <a:r>
              <a:rPr lang="en-US" sz="2000" i="1"/>
              <a:t>balance</a:t>
            </a:r>
            <a:r>
              <a:rPr lang="en-US" sz="2000"/>
              <a:t>                 </a:t>
            </a:r>
            <a:r>
              <a:rPr lang="en-US" sz="2000" b="1"/>
              <a:t>integer</a:t>
            </a:r>
            <a:r>
              <a:rPr lang="en-US" sz="2000"/>
              <a:t>)</a:t>
            </a:r>
            <a:endParaRPr/>
          </a:p>
          <a:p>
            <a:pPr marL="91440" lvl="0" indent="-117475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2000"/>
              <a:t>DDL compiler generates a set of tables stored in a </a:t>
            </a:r>
            <a:r>
              <a:rPr lang="en-US" sz="2000" i="1"/>
              <a:t>data dictionary</a:t>
            </a:r>
            <a:endParaRPr/>
          </a:p>
          <a:p>
            <a:pPr marL="91440" lvl="0" indent="-1174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000"/>
              <a:t>Data dictionary contains metadata (i.e., data about data)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Database schema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Data </a:t>
            </a:r>
            <a:r>
              <a:rPr lang="en-US" sz="2000" i="1"/>
              <a:t>storage and definition</a:t>
            </a:r>
            <a:r>
              <a:rPr lang="en-US" sz="2000"/>
              <a:t> language 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Specifies the storage structure and access methods used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Integrity constraints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Domain constraints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Referential integrity (</a:t>
            </a:r>
            <a:r>
              <a:rPr lang="en-US" sz="2000" b="1"/>
              <a:t>references</a:t>
            </a:r>
            <a:r>
              <a:rPr lang="en-US" sz="2000"/>
              <a:t> constraint in SQL)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000"/>
              <a:t>Authorization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US" sz="3600"/>
              <a:t>Data Manipulation Language (DML</a:t>
            </a:r>
            <a:r>
              <a:rPr lang="en-US" sz="3200"/>
              <a:t>)</a:t>
            </a:r>
            <a:endParaRPr/>
          </a:p>
        </p:txBody>
      </p:sp>
      <p:sp>
        <p:nvSpPr>
          <p:cNvPr id="383" name="Google Shape;383;p28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/>
          </a:bodyPr>
          <a:lstStyle/>
          <a:p>
            <a:pPr marL="91440" lvl="0" indent="-1409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2400"/>
              <a:t>Language for accessing and manipulating the data organized by the appropriate data model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2400"/>
              <a:t>DML also known as query language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2400"/>
              <a:t>Two classes of languages </a:t>
            </a:r>
            <a:endParaRPr/>
          </a:p>
          <a:p>
            <a:pPr marL="384048" lvl="1" indent="-18288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2400" b="1">
                <a:solidFill>
                  <a:schemeClr val="dk2"/>
                </a:solidFill>
              </a:rPr>
              <a:t>Declarative (nonprocedural) </a:t>
            </a:r>
            <a:r>
              <a:rPr lang="en-US" sz="2400"/>
              <a:t>– </a:t>
            </a:r>
            <a:r>
              <a:rPr lang="en-US" sz="2000"/>
              <a:t>user specifies what data is required without specifying how to get those data, expresses the logic of a computation without describing its control flow. It attempts to minimize or eliminate side effects by describing what the program should accomplish, rather than describing how to go about accomplishing it.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2400" b="1">
                <a:solidFill>
                  <a:schemeClr val="dk2"/>
                </a:solidFill>
              </a:rPr>
              <a:t>Procedural </a:t>
            </a:r>
            <a:r>
              <a:rPr lang="en-US" sz="2400"/>
              <a:t>– </a:t>
            </a:r>
            <a:r>
              <a:rPr lang="en-US" sz="1800"/>
              <a:t>user specifies what data is required and how to get those data 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2400"/>
              <a:t>SQL is the most widely used query language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Relational Model</a:t>
            </a:r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661275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Example of tabular data in the relational model</a:t>
            </a:r>
            <a:endParaRPr/>
          </a:p>
        </p:txBody>
      </p:sp>
      <p:cxnSp>
        <p:nvCxnSpPr>
          <p:cNvPr id="390" name="Google Shape;390;p29"/>
          <p:cNvCxnSpPr/>
          <p:nvPr/>
        </p:nvCxnSpPr>
        <p:spPr>
          <a:xfrm flipH="1">
            <a:off x="7315200" y="2362200"/>
            <a:ext cx="857250" cy="6381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" name="Google Shape;391;p29"/>
          <p:cNvSpPr txBox="1"/>
          <p:nvPr/>
        </p:nvSpPr>
        <p:spPr>
          <a:xfrm>
            <a:off x="7543800" y="1905000"/>
            <a:ext cx="104298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</a:t>
            </a:r>
            <a:endParaRPr/>
          </a:p>
        </p:txBody>
      </p:sp>
      <p:cxnSp>
        <p:nvCxnSpPr>
          <p:cNvPr id="392" name="Google Shape;392;p29"/>
          <p:cNvCxnSpPr/>
          <p:nvPr/>
        </p:nvCxnSpPr>
        <p:spPr>
          <a:xfrm flipH="1">
            <a:off x="6172200" y="2286000"/>
            <a:ext cx="1509713" cy="6238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93" name="Google Shape;393;p29"/>
          <p:cNvPicPr preferRelativeResize="0"/>
          <p:nvPr/>
        </p:nvPicPr>
        <p:blipFill rotWithShape="1">
          <a:blip r:embed="rId3">
            <a:alphaModFix/>
          </a:blip>
          <a:srcRect l="467" t="31174" r="467" b="31798"/>
          <a:stretch/>
        </p:blipFill>
        <p:spPr>
          <a:xfrm>
            <a:off x="762000" y="2971800"/>
            <a:ext cx="7559675" cy="2119313"/>
          </a:xfrm>
          <a:prstGeom prst="rect">
            <a:avLst/>
          </a:prstGeom>
          <a:noFill/>
          <a:ln w="38100" cap="flat" cmpd="dbl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"/>
          <p:cNvSpPr txBox="1">
            <a:spLocks noGrp="1"/>
          </p:cNvSpPr>
          <p:nvPr>
            <p:ph type="title" idx="4294967295"/>
          </p:nvPr>
        </p:nvSpPr>
        <p:spPr>
          <a:xfrm>
            <a:off x="0" y="304800"/>
            <a:ext cx="693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 sz="2800"/>
              <a:t>A Sample Relational Database</a:t>
            </a:r>
            <a:endParaRPr/>
          </a:p>
        </p:txBody>
      </p:sp>
      <p:pic>
        <p:nvPicPr>
          <p:cNvPr id="399" name="Google Shape;399;p30"/>
          <p:cNvPicPr preferRelativeResize="0"/>
          <p:nvPr/>
        </p:nvPicPr>
        <p:blipFill rotWithShape="1">
          <a:blip r:embed="rId3">
            <a:alphaModFix/>
          </a:blip>
          <a:srcRect l="20091" t="787" r="20092" b="1314"/>
          <a:stretch/>
        </p:blipFill>
        <p:spPr>
          <a:xfrm>
            <a:off x="2438400" y="1066800"/>
            <a:ext cx="3910013" cy="4800600"/>
          </a:xfrm>
          <a:prstGeom prst="rect">
            <a:avLst/>
          </a:prstGeom>
          <a:noFill/>
          <a:ln w="38100" cap="flat" cmpd="dbl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"/>
          <p:cNvSpPr txBox="1">
            <a:spLocks noGrp="1"/>
          </p:cNvSpPr>
          <p:nvPr>
            <p:ph type="title"/>
          </p:nvPr>
        </p:nvSpPr>
        <p:spPr>
          <a:xfrm>
            <a:off x="685800" y="8382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/>
              <a:t>SQL</a:t>
            </a:r>
            <a:endParaRPr/>
          </a:p>
        </p:txBody>
      </p:sp>
      <p:sp>
        <p:nvSpPr>
          <p:cNvPr id="405" name="Google Shape;405;p31"/>
          <p:cNvSpPr txBox="1">
            <a:spLocks noGrp="1"/>
          </p:cNvSpPr>
          <p:nvPr>
            <p:ph type="body" idx="1"/>
          </p:nvPr>
        </p:nvSpPr>
        <p:spPr>
          <a:xfrm>
            <a:off x="381000" y="1905000"/>
            <a:ext cx="81534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 b="1">
                <a:solidFill>
                  <a:schemeClr val="dk2"/>
                </a:solidFill>
              </a:rPr>
              <a:t>SQL</a:t>
            </a:r>
            <a:r>
              <a:rPr lang="en-US" sz="2000"/>
              <a:t>: widely used non-procedural language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Example: Find the name of the customer with customer-id 192-83-7465</a:t>
            </a:r>
            <a:br>
              <a:rPr lang="en-US" sz="2000"/>
            </a:br>
            <a:r>
              <a:rPr lang="en-US" sz="2000"/>
              <a:t>	</a:t>
            </a:r>
            <a:r>
              <a:rPr lang="en-US" sz="2000" b="1"/>
              <a:t>select	</a:t>
            </a:r>
            <a:r>
              <a:rPr lang="en-US" sz="2000" i="1"/>
              <a:t>customer.customer_name</a:t>
            </a:r>
            <a:br>
              <a:rPr lang="en-US" sz="2000"/>
            </a:br>
            <a:r>
              <a:rPr lang="en-US" sz="2000"/>
              <a:t>	</a:t>
            </a:r>
            <a:r>
              <a:rPr lang="en-US" sz="2000" b="1"/>
              <a:t>from	</a:t>
            </a:r>
            <a:r>
              <a:rPr lang="en-US" sz="2000" i="1"/>
              <a:t>customer</a:t>
            </a:r>
            <a:br>
              <a:rPr lang="en-US" sz="2000"/>
            </a:br>
            <a:r>
              <a:rPr lang="en-US" sz="2000"/>
              <a:t>	</a:t>
            </a:r>
            <a:r>
              <a:rPr lang="en-US" sz="2000" b="1"/>
              <a:t>where</a:t>
            </a:r>
            <a:r>
              <a:rPr lang="en-US" sz="2000"/>
              <a:t>	</a:t>
            </a:r>
            <a:r>
              <a:rPr lang="en-US" sz="2000" i="1"/>
              <a:t>customer.customer_id</a:t>
            </a:r>
            <a:r>
              <a:rPr lang="en-US" sz="2000"/>
              <a:t> = ‘192-83-7465’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 sz="2000"/>
              <a:t>Application programs generally access databases through one of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Language extensions to allow embedded SQL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Application program interface (e.g., ODBC/JDBC) which allow SQL queries to be sent to a database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 sz="2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1531</Words>
  <Application>Microsoft Office PowerPoint</Application>
  <PresentationFormat>On-screen Show (4:3)</PresentationFormat>
  <Paragraphs>227</Paragraphs>
  <Slides>31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Times New Roman</vt:lpstr>
      <vt:lpstr>Calibri</vt:lpstr>
      <vt:lpstr>Noto Sans Symbols</vt:lpstr>
      <vt:lpstr>Retrospect</vt:lpstr>
      <vt:lpstr>MS_ClipArt_Gallery.5</vt:lpstr>
      <vt:lpstr>Database Concepts</vt:lpstr>
      <vt:lpstr>Databases that you may use…..</vt:lpstr>
      <vt:lpstr>Data</vt:lpstr>
      <vt:lpstr>DBMS ‘Discussion’</vt:lpstr>
      <vt:lpstr>Hierarchy of Data</vt:lpstr>
      <vt:lpstr>Basics of Data Arrangement and Access</vt:lpstr>
      <vt:lpstr>PowerPoint Presentation</vt:lpstr>
      <vt:lpstr>PowerPoint Presentation</vt:lpstr>
      <vt:lpstr>The Hierarchy of Data</vt:lpstr>
      <vt:lpstr>Data Entities, Attributes, and Keys</vt:lpstr>
      <vt:lpstr>Keys and Attributes </vt:lpstr>
      <vt:lpstr>The Traditional Approach </vt:lpstr>
      <vt:lpstr>PowerPoint Presentation</vt:lpstr>
      <vt:lpstr>Drawbacks</vt:lpstr>
      <vt:lpstr>Drawbacks of using file systems (cont.) </vt:lpstr>
      <vt:lpstr>Database Approach</vt:lpstr>
      <vt:lpstr>PowerPoint Presentation</vt:lpstr>
      <vt:lpstr>Database Management System (DBMS)</vt:lpstr>
      <vt:lpstr>Why Use a DBMS?</vt:lpstr>
      <vt:lpstr>Levels of Abstraction</vt:lpstr>
      <vt:lpstr>View of Data</vt:lpstr>
      <vt:lpstr>Instances and Schemas</vt:lpstr>
      <vt:lpstr>Database Users</vt:lpstr>
      <vt:lpstr>Database Administrator</vt:lpstr>
      <vt:lpstr>Data Models</vt:lpstr>
      <vt:lpstr>Database Languages</vt:lpstr>
      <vt:lpstr>Data Definition Language (DDL)</vt:lpstr>
      <vt:lpstr>Data Manipulation Language (DML)</vt:lpstr>
      <vt:lpstr>Relational Model</vt:lpstr>
      <vt:lpstr>A Sample Relational Database</vt:lpstr>
      <vt:lpstr>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Concepts</dc:title>
  <dc:creator>Ian Scott MacKenzie</dc:creator>
  <cp:lastModifiedBy>sunu abraham</cp:lastModifiedBy>
  <cp:revision>9</cp:revision>
  <dcterms:created xsi:type="dcterms:W3CDTF">1999-12-23T23:02:29Z</dcterms:created>
  <dcterms:modified xsi:type="dcterms:W3CDTF">2026-07-08T05:21:36Z</dcterms:modified>
</cp:coreProperties>
</file>