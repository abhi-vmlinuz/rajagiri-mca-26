
<file path=[Content_Types].xml><?xml version="1.0" encoding="utf-8"?>
<Types xmlns="http://schemas.openxmlformats.org/package/2006/content-types">
  <Default Extension="bin" ContentType="application/vnd.openxmlformats-officedocument.oleObject"/>
  <Default Extension="fntdata" ContentType="application/x-fontdata"/>
  <Default Extension="jp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356" r:id="rId44"/>
    <p:sldId id="298" r:id="rId45"/>
    <p:sldId id="357" r:id="rId46"/>
    <p:sldId id="358" r:id="rId47"/>
    <p:sldId id="359" r:id="rId48"/>
  </p:sldIdLst>
  <p:sldSz cx="12192000" cy="6858000"/>
  <p:notesSz cx="6858000" cy="9144000"/>
  <p:embeddedFontLst>
    <p:embeddedFont>
      <p:font typeface="Arimo" panose="020B0604020202020204" charset="0"/>
      <p:regular r:id="rId50"/>
      <p:bold r:id="rId51"/>
      <p:italic r:id="rId52"/>
      <p:boldItalic r:id="rId53"/>
    </p:embeddedFont>
    <p:embeddedFont>
      <p:font typeface="Calibri" panose="020F0502020204030204" pitchFamily="34" charset="0"/>
      <p:regular r:id="rId54"/>
      <p:bold r:id="rId55"/>
      <p:italic r:id="rId56"/>
      <p:boldItalic r:id="rId57"/>
    </p:embeddedFont>
    <p:embeddedFont>
      <p:font typeface="Noto Sans Symbols" panose="020B0604020202020204" charset="0"/>
      <p:regular r:id="rId58"/>
      <p:bold r:id="rId5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0" roundtripDataSignature="AMtx7mjGe2RDLwHqxuX+t6qHSvVYTLS2m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AEFD402-7BAA-4683-8AB4-5E6667C64626}">
  <a:tblStyle styleId="{CAEFD402-7BAA-4683-8AB4-5E6667C64626}"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AECE6"/>
          </a:solidFill>
        </a:fill>
      </a:tcStyle>
    </a:wholeTbl>
    <a:band1H>
      <a:tcTxStyle/>
      <a:tcStyle>
        <a:tcBdr/>
        <a:fill>
          <a:solidFill>
            <a:srgbClr val="F5D8CA"/>
          </a:solidFill>
        </a:fill>
      </a:tcStyle>
    </a:band1H>
    <a:band2H>
      <a:tcTxStyle/>
      <a:tcStyle>
        <a:tcBdr/>
      </a:tcStyle>
    </a:band2H>
    <a:band1V>
      <a:tcTxStyle/>
      <a:tcStyle>
        <a:tcBdr/>
        <a:fill>
          <a:solidFill>
            <a:srgbClr val="F5D8CA"/>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33702F71-532A-4730-8346-7AAFA88D0ED1}"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79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font" Target="fonts/font1.fntdata"/><Relationship Id="rId55" Type="http://schemas.openxmlformats.org/officeDocument/2006/relationships/font" Target="fonts/font6.fntdata"/><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4.fntdata"/><Relationship Id="rId58" Type="http://schemas.openxmlformats.org/officeDocument/2006/relationships/font" Target="fonts/font9.fntdata"/><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7.fntdata"/><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2.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10.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5.fntdata"/><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57" Type="http://schemas.openxmlformats.org/officeDocument/2006/relationships/font" Target="fonts/font8.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3.fntdata"/><Relationship Id="rId60"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15.png"/><Relationship Id="rId4" Type="http://schemas.openxmlformats.org/officeDocument/2006/relationships/image" Target="../media/image18.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 name="Google Shape;10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3" name="Google Shape;11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3:notes"/>
          <p:cNvSpPr/>
          <p:nvPr/>
        </p:nvSpPr>
        <p:spPr>
          <a:xfrm>
            <a:off x="3971925" y="0"/>
            <a:ext cx="3038475" cy="46513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120" name="Google Shape;120;p3:notes"/>
          <p:cNvSpPr/>
          <p:nvPr/>
        </p:nvSpPr>
        <p:spPr>
          <a:xfrm>
            <a:off x="3971925" y="8831263"/>
            <a:ext cx="3038475" cy="465137"/>
          </a:xfrm>
          <a:prstGeom prst="rect">
            <a:avLst/>
          </a:prstGeom>
          <a:noFill/>
          <a:ln>
            <a:noFill/>
          </a:ln>
        </p:spPr>
        <p:txBody>
          <a:bodyPr spcFirstLastPara="1" wrap="square" lIns="19050" tIns="0" rIns="19050" bIns="0" anchor="b" anchorCtr="0">
            <a:noAutofit/>
          </a:bodyPr>
          <a:lstStyle/>
          <a:p>
            <a:pPr marL="0" marR="0" lvl="0" indent="0" algn="r" rtl="0">
              <a:spcBef>
                <a:spcPts val="0"/>
              </a:spcBef>
              <a:spcAft>
                <a:spcPts val="0"/>
              </a:spcAft>
              <a:buNone/>
            </a:pPr>
            <a:r>
              <a:rPr lang="en-US" sz="1000" b="0" i="1" u="none" strike="noStrike" cap="none">
                <a:solidFill>
                  <a:schemeClr val="dk1"/>
                </a:solidFill>
                <a:latin typeface="Times New Roman"/>
                <a:ea typeface="Times New Roman"/>
                <a:cs typeface="Times New Roman"/>
                <a:sym typeface="Times New Roman"/>
              </a:rPr>
              <a:t>16</a:t>
            </a:r>
            <a:endParaRPr/>
          </a:p>
        </p:txBody>
      </p:sp>
      <p:sp>
        <p:nvSpPr>
          <p:cNvPr id="121" name="Google Shape;121;p3:notes"/>
          <p:cNvSpPr/>
          <p:nvPr/>
        </p:nvSpPr>
        <p:spPr>
          <a:xfrm>
            <a:off x="0" y="8831263"/>
            <a:ext cx="3038475" cy="465137"/>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122" name="Google Shape;122;p3:notes"/>
          <p:cNvSpPr/>
          <p:nvPr/>
        </p:nvSpPr>
        <p:spPr>
          <a:xfrm>
            <a:off x="0" y="0"/>
            <a:ext cx="3038475" cy="46513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123" name="Google Shape;12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4" name="Google Shape;124;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4:notes"/>
          <p:cNvSpPr/>
          <p:nvPr/>
        </p:nvSpPr>
        <p:spPr>
          <a:xfrm>
            <a:off x="3971925" y="0"/>
            <a:ext cx="3038475" cy="46513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135" name="Google Shape;135;p4:notes"/>
          <p:cNvSpPr/>
          <p:nvPr/>
        </p:nvSpPr>
        <p:spPr>
          <a:xfrm>
            <a:off x="3971925" y="8831263"/>
            <a:ext cx="3038475" cy="465137"/>
          </a:xfrm>
          <a:prstGeom prst="rect">
            <a:avLst/>
          </a:prstGeom>
          <a:noFill/>
          <a:ln>
            <a:noFill/>
          </a:ln>
        </p:spPr>
        <p:txBody>
          <a:bodyPr spcFirstLastPara="1" wrap="square" lIns="19050" tIns="0" rIns="19050" bIns="0" anchor="b" anchorCtr="0">
            <a:noAutofit/>
          </a:bodyPr>
          <a:lstStyle/>
          <a:p>
            <a:pPr marL="0" marR="0" lvl="0" indent="0" algn="r" rtl="0">
              <a:spcBef>
                <a:spcPts val="0"/>
              </a:spcBef>
              <a:spcAft>
                <a:spcPts val="0"/>
              </a:spcAft>
              <a:buNone/>
            </a:pPr>
            <a:r>
              <a:rPr lang="en-US" sz="1000" b="0" i="1" u="none" strike="noStrike" cap="none">
                <a:solidFill>
                  <a:schemeClr val="dk1"/>
                </a:solidFill>
                <a:latin typeface="Times New Roman"/>
                <a:ea typeface="Times New Roman"/>
                <a:cs typeface="Times New Roman"/>
                <a:sym typeface="Times New Roman"/>
              </a:rPr>
              <a:t>17</a:t>
            </a:r>
            <a:endParaRPr/>
          </a:p>
        </p:txBody>
      </p:sp>
      <p:sp>
        <p:nvSpPr>
          <p:cNvPr id="136" name="Google Shape;136;p4:notes"/>
          <p:cNvSpPr/>
          <p:nvPr/>
        </p:nvSpPr>
        <p:spPr>
          <a:xfrm>
            <a:off x="0" y="8831263"/>
            <a:ext cx="3038475" cy="465137"/>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137" name="Google Shape;137;p4:notes"/>
          <p:cNvSpPr/>
          <p:nvPr/>
        </p:nvSpPr>
        <p:spPr>
          <a:xfrm>
            <a:off x="0" y="0"/>
            <a:ext cx="3038475" cy="46513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138" name="Google Shape;13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9" name="Google Shape;139;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0" name="Google Shape;150;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6:notes"/>
          <p:cNvSpPr/>
          <p:nvPr/>
        </p:nvSpPr>
        <p:spPr>
          <a:xfrm>
            <a:off x="3971925" y="0"/>
            <a:ext cx="3038475" cy="46513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u="none">
              <a:solidFill>
                <a:schemeClr val="dk1"/>
              </a:solidFill>
              <a:latin typeface="Times New Roman"/>
              <a:ea typeface="Times New Roman"/>
              <a:cs typeface="Times New Roman"/>
              <a:sym typeface="Times New Roman"/>
            </a:endParaRPr>
          </a:p>
        </p:txBody>
      </p:sp>
      <p:sp>
        <p:nvSpPr>
          <p:cNvPr id="160" name="Google Shape;160;p6:notes"/>
          <p:cNvSpPr/>
          <p:nvPr/>
        </p:nvSpPr>
        <p:spPr>
          <a:xfrm>
            <a:off x="3971925" y="8831263"/>
            <a:ext cx="3038475" cy="465137"/>
          </a:xfrm>
          <a:prstGeom prst="rect">
            <a:avLst/>
          </a:prstGeom>
          <a:noFill/>
          <a:ln>
            <a:noFill/>
          </a:ln>
        </p:spPr>
        <p:txBody>
          <a:bodyPr spcFirstLastPara="1" wrap="square" lIns="19050" tIns="0" rIns="19050" bIns="0" anchor="b" anchorCtr="0">
            <a:noAutofit/>
          </a:bodyPr>
          <a:lstStyle/>
          <a:p>
            <a:pPr marL="0" marR="0" lvl="0" indent="0" algn="r" rtl="0">
              <a:spcBef>
                <a:spcPts val="0"/>
              </a:spcBef>
              <a:spcAft>
                <a:spcPts val="0"/>
              </a:spcAft>
              <a:buNone/>
            </a:pPr>
            <a:r>
              <a:rPr lang="en-US" sz="1000" b="0" i="1" u="none">
                <a:solidFill>
                  <a:schemeClr val="dk1"/>
                </a:solidFill>
                <a:latin typeface="Times New Roman"/>
                <a:ea typeface="Times New Roman"/>
                <a:cs typeface="Times New Roman"/>
                <a:sym typeface="Times New Roman"/>
              </a:rPr>
              <a:t>19</a:t>
            </a:r>
            <a:endParaRPr/>
          </a:p>
        </p:txBody>
      </p:sp>
      <p:sp>
        <p:nvSpPr>
          <p:cNvPr id="161" name="Google Shape;161;p6:notes"/>
          <p:cNvSpPr/>
          <p:nvPr/>
        </p:nvSpPr>
        <p:spPr>
          <a:xfrm>
            <a:off x="0" y="8831263"/>
            <a:ext cx="3038475" cy="465137"/>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u="none">
              <a:solidFill>
                <a:schemeClr val="dk1"/>
              </a:solidFill>
              <a:latin typeface="Times New Roman"/>
              <a:ea typeface="Times New Roman"/>
              <a:cs typeface="Times New Roman"/>
              <a:sym typeface="Times New Roman"/>
            </a:endParaRPr>
          </a:p>
        </p:txBody>
      </p:sp>
      <p:sp>
        <p:nvSpPr>
          <p:cNvPr id="162" name="Google Shape;162;p6:notes"/>
          <p:cNvSpPr/>
          <p:nvPr/>
        </p:nvSpPr>
        <p:spPr>
          <a:xfrm>
            <a:off x="0" y="0"/>
            <a:ext cx="3038475" cy="46513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u="none">
              <a:solidFill>
                <a:schemeClr val="dk1"/>
              </a:solidFill>
              <a:latin typeface="Times New Roman"/>
              <a:ea typeface="Times New Roman"/>
              <a:cs typeface="Times New Roman"/>
              <a:sym typeface="Times New Roman"/>
            </a:endParaRPr>
          </a:p>
        </p:txBody>
      </p:sp>
      <p:sp>
        <p:nvSpPr>
          <p:cNvPr id="163" name="Google Shape;163;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4" name="Google Shape;164;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4" name="Google Shape;18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1" name="Google Shape;191;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7" name="Google Shape;197;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4" name="Google Shape;204;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9" name="Google Shape;209;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2:notes"/>
          <p:cNvSpPr/>
          <p:nvPr/>
        </p:nvSpPr>
        <p:spPr>
          <a:xfrm>
            <a:off x="3971925" y="0"/>
            <a:ext cx="3038475" cy="46513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215" name="Google Shape;215;p12:notes"/>
          <p:cNvSpPr/>
          <p:nvPr/>
        </p:nvSpPr>
        <p:spPr>
          <a:xfrm>
            <a:off x="3971925" y="8831263"/>
            <a:ext cx="3038475" cy="465137"/>
          </a:xfrm>
          <a:prstGeom prst="rect">
            <a:avLst/>
          </a:prstGeom>
          <a:noFill/>
          <a:ln>
            <a:noFill/>
          </a:ln>
        </p:spPr>
        <p:txBody>
          <a:bodyPr spcFirstLastPara="1" wrap="square" lIns="19050" tIns="0" rIns="19050" bIns="0" anchor="b" anchorCtr="0">
            <a:noAutofit/>
          </a:bodyPr>
          <a:lstStyle/>
          <a:p>
            <a:pPr marL="0" marR="0" lvl="0" indent="0" algn="r" rtl="0">
              <a:spcBef>
                <a:spcPts val="0"/>
              </a:spcBef>
              <a:spcAft>
                <a:spcPts val="0"/>
              </a:spcAft>
              <a:buNone/>
            </a:pPr>
            <a:r>
              <a:rPr lang="en-US" sz="1000" i="1">
                <a:solidFill>
                  <a:schemeClr val="dk1"/>
                </a:solidFill>
                <a:latin typeface="Times New Roman"/>
                <a:ea typeface="Times New Roman"/>
                <a:cs typeface="Times New Roman"/>
                <a:sym typeface="Times New Roman"/>
              </a:rPr>
              <a:t>22</a:t>
            </a:r>
            <a:endParaRPr/>
          </a:p>
        </p:txBody>
      </p:sp>
      <p:sp>
        <p:nvSpPr>
          <p:cNvPr id="216" name="Google Shape;216;p12:notes"/>
          <p:cNvSpPr/>
          <p:nvPr/>
        </p:nvSpPr>
        <p:spPr>
          <a:xfrm>
            <a:off x="0" y="8831263"/>
            <a:ext cx="3038475" cy="465137"/>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217" name="Google Shape;217;p12:notes"/>
          <p:cNvSpPr/>
          <p:nvPr/>
        </p:nvSpPr>
        <p:spPr>
          <a:xfrm>
            <a:off x="0" y="0"/>
            <a:ext cx="3038475" cy="46513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218" name="Google Shape;218;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9" name="Google Shape;219;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13:notes"/>
          <p:cNvSpPr txBox="1">
            <a:spLocks noGrp="1"/>
          </p:cNvSpPr>
          <p:nvPr>
            <p:ph type="sldNum" idx="12"/>
          </p:nvPr>
        </p:nvSpPr>
        <p:spPr>
          <a:xfrm>
            <a:off x="3970338" y="8829675"/>
            <a:ext cx="3038475" cy="465138"/>
          </a:xfrm>
          <a:prstGeom prst="rect">
            <a:avLst/>
          </a:prstGeom>
          <a:noFill/>
          <a:ln>
            <a:noFill/>
          </a:ln>
        </p:spPr>
        <p:txBody>
          <a:bodyPr spcFirstLastPara="1" wrap="square" lIns="93175" tIns="46575" rIns="93175" bIns="46575" anchor="b" anchorCtr="0">
            <a:noAutofit/>
          </a:bodyPr>
          <a:lstStyle/>
          <a:p>
            <a:pPr marL="0" lvl="0" indent="0" algn="r" rtl="0">
              <a:spcBef>
                <a:spcPts val="0"/>
              </a:spcBef>
              <a:spcAft>
                <a:spcPts val="0"/>
              </a:spcAft>
              <a:buNone/>
            </a:pPr>
            <a:fld id="{00000000-1234-1234-1234-123412341234}" type="slidenum">
              <a:rPr lang="en-US" sz="2400">
                <a:solidFill>
                  <a:schemeClr val="dk1"/>
                </a:solidFill>
                <a:latin typeface="Times New Roman"/>
                <a:ea typeface="Times New Roman"/>
                <a:cs typeface="Times New Roman"/>
                <a:sym typeface="Times New Roman"/>
              </a:rPr>
              <a:t>13</a:t>
            </a:fld>
            <a:endParaRPr sz="2400">
              <a:solidFill>
                <a:schemeClr val="dk1"/>
              </a:solidFill>
              <a:latin typeface="Times New Roman"/>
              <a:ea typeface="Times New Roman"/>
              <a:cs typeface="Times New Roman"/>
              <a:sym typeface="Times New Roman"/>
            </a:endParaRPr>
          </a:p>
        </p:txBody>
      </p:sp>
      <p:sp>
        <p:nvSpPr>
          <p:cNvPr id="227" name="Google Shape;227;p13:notes"/>
          <p:cNvSpPr>
            <a:spLocks noGrp="1" noRot="1" noChangeAspect="1"/>
          </p:cNvSpPr>
          <p:nvPr>
            <p:ph type="sldImg" idx="2"/>
          </p:nvPr>
        </p:nvSpPr>
        <p:spPr>
          <a:xfrm>
            <a:off x="3438525" y="2406650"/>
            <a:ext cx="0" cy="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228" name="Google Shape;228;p13:notes"/>
          <p:cNvSpPr txBox="1">
            <a:spLocks noGrp="1"/>
          </p:cNvSpPr>
          <p:nvPr>
            <p:ph type="body" idx="1"/>
          </p:nvPr>
        </p:nvSpPr>
        <p:spPr>
          <a:xfrm>
            <a:off x="685800" y="4400550"/>
            <a:ext cx="5486400" cy="360045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91600" tIns="45800" rIns="91600" bIns="458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sldNum" idx="12"/>
          </p:nvPr>
        </p:nvSpPr>
        <p:spPr>
          <a:xfrm>
            <a:off x="3970338" y="8829675"/>
            <a:ext cx="3038475" cy="465138"/>
          </a:xfrm>
          <a:prstGeom prst="rect">
            <a:avLst/>
          </a:prstGeom>
          <a:noFill/>
          <a:ln>
            <a:noFill/>
          </a:ln>
        </p:spPr>
        <p:txBody>
          <a:bodyPr spcFirstLastPara="1" wrap="square" lIns="93175" tIns="46575" rIns="93175" bIns="46575" anchor="b" anchorCtr="0">
            <a:noAutofit/>
          </a:bodyPr>
          <a:lstStyle/>
          <a:p>
            <a:pPr marL="0" lvl="0" indent="0" algn="r" rtl="0">
              <a:spcBef>
                <a:spcPts val="0"/>
              </a:spcBef>
              <a:spcAft>
                <a:spcPts val="0"/>
              </a:spcAft>
              <a:buNone/>
            </a:pPr>
            <a:fld id="{00000000-1234-1234-1234-123412341234}" type="slidenum">
              <a:rPr lang="en-US" sz="2400">
                <a:solidFill>
                  <a:schemeClr val="dk1"/>
                </a:solidFill>
                <a:latin typeface="Times New Roman"/>
                <a:ea typeface="Times New Roman"/>
                <a:cs typeface="Times New Roman"/>
                <a:sym typeface="Times New Roman"/>
              </a:rPr>
              <a:t>14</a:t>
            </a:fld>
            <a:endParaRPr sz="2400">
              <a:solidFill>
                <a:schemeClr val="dk1"/>
              </a:solidFill>
              <a:latin typeface="Times New Roman"/>
              <a:ea typeface="Times New Roman"/>
              <a:cs typeface="Times New Roman"/>
              <a:sym typeface="Times New Roman"/>
            </a:endParaRPr>
          </a:p>
        </p:txBody>
      </p:sp>
      <p:sp>
        <p:nvSpPr>
          <p:cNvPr id="235" name="Google Shape;235;p14:notes"/>
          <p:cNvSpPr>
            <a:spLocks noGrp="1" noRot="1" noChangeAspect="1"/>
          </p:cNvSpPr>
          <p:nvPr>
            <p:ph type="sldImg" idx="2"/>
          </p:nvPr>
        </p:nvSpPr>
        <p:spPr>
          <a:xfrm>
            <a:off x="3438525" y="2406650"/>
            <a:ext cx="0" cy="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236" name="Google Shape;236;p14:notes"/>
          <p:cNvSpPr txBox="1">
            <a:spLocks noGrp="1"/>
          </p:cNvSpPr>
          <p:nvPr>
            <p:ph type="body" idx="1"/>
          </p:nvPr>
        </p:nvSpPr>
        <p:spPr>
          <a:xfrm>
            <a:off x="685800" y="4400550"/>
            <a:ext cx="5486400" cy="360045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91600" tIns="45800" rIns="91600" bIns="45800" anchor="t" anchorCtr="0">
            <a:noAutofit/>
          </a:bodyPr>
          <a:lstStyle/>
          <a:p>
            <a:pPr marL="0" lvl="0" indent="0" algn="just" rtl="0">
              <a:spcBef>
                <a:spcPts val="0"/>
              </a:spcBef>
              <a:spcAft>
                <a:spcPts val="0"/>
              </a:spcAft>
              <a:buNone/>
            </a:pPr>
            <a:r>
              <a:rPr lang="en-US">
                <a:latin typeface="Arimo"/>
                <a:ea typeface="Arimo"/>
                <a:cs typeface="Arimo"/>
                <a:sym typeface="Arimo"/>
              </a:rPr>
              <a:t>Having scalar values also means that all instances of a record type must contain the same number of fields.</a:t>
            </a:r>
            <a:endParaRPr/>
          </a:p>
          <a:p>
            <a:pPr marL="0" lvl="0" indent="0" algn="just" rtl="0">
              <a:spcBef>
                <a:spcPts val="0"/>
              </a:spcBef>
              <a:spcAft>
                <a:spcPts val="0"/>
              </a:spcAft>
              <a:buNone/>
            </a:pPr>
            <a:r>
              <a:rPr lang="en-US">
                <a:latin typeface="Arimo"/>
                <a:ea typeface="Arimo"/>
                <a:cs typeface="Arimo"/>
                <a:sym typeface="Arimo"/>
              </a:rPr>
              <a:t>A table not in first normal form is called un normalized</a:t>
            </a:r>
            <a:endParaRPr/>
          </a:p>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p15:notes"/>
          <p:cNvSpPr txBox="1">
            <a:spLocks noGrp="1"/>
          </p:cNvSpPr>
          <p:nvPr>
            <p:ph type="sldNum" idx="12"/>
          </p:nvPr>
        </p:nvSpPr>
        <p:spPr>
          <a:xfrm>
            <a:off x="3970338" y="8829675"/>
            <a:ext cx="3038475" cy="465138"/>
          </a:xfrm>
          <a:prstGeom prst="rect">
            <a:avLst/>
          </a:prstGeom>
          <a:noFill/>
          <a:ln>
            <a:noFill/>
          </a:ln>
        </p:spPr>
        <p:txBody>
          <a:bodyPr spcFirstLastPara="1" wrap="square" lIns="93175" tIns="46575" rIns="93175" bIns="46575" anchor="b" anchorCtr="0">
            <a:noAutofit/>
          </a:bodyPr>
          <a:lstStyle/>
          <a:p>
            <a:pPr marL="0" lvl="0" indent="0" algn="r" rtl="0">
              <a:spcBef>
                <a:spcPts val="0"/>
              </a:spcBef>
              <a:spcAft>
                <a:spcPts val="0"/>
              </a:spcAft>
              <a:buNone/>
            </a:pPr>
            <a:fld id="{00000000-1234-1234-1234-123412341234}" type="slidenum">
              <a:rPr lang="en-US" sz="2400">
                <a:solidFill>
                  <a:schemeClr val="dk1"/>
                </a:solidFill>
                <a:latin typeface="Times New Roman"/>
                <a:ea typeface="Times New Roman"/>
                <a:cs typeface="Times New Roman"/>
                <a:sym typeface="Times New Roman"/>
              </a:rPr>
              <a:t>15</a:t>
            </a:fld>
            <a:endParaRPr sz="2400">
              <a:solidFill>
                <a:schemeClr val="dk1"/>
              </a:solidFill>
              <a:latin typeface="Times New Roman"/>
              <a:ea typeface="Times New Roman"/>
              <a:cs typeface="Times New Roman"/>
              <a:sym typeface="Times New Roman"/>
            </a:endParaRPr>
          </a:p>
        </p:txBody>
      </p:sp>
      <p:sp>
        <p:nvSpPr>
          <p:cNvPr id="348" name="Google Shape;348;p15:notes"/>
          <p:cNvSpPr>
            <a:spLocks noGrp="1" noRot="1" noChangeAspect="1"/>
          </p:cNvSpPr>
          <p:nvPr>
            <p:ph type="sldImg" idx="2"/>
          </p:nvPr>
        </p:nvSpPr>
        <p:spPr>
          <a:xfrm>
            <a:off x="3438525" y="2406650"/>
            <a:ext cx="0" cy="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349" name="Google Shape;349;p15:notes"/>
          <p:cNvSpPr txBox="1">
            <a:spLocks noGrp="1"/>
          </p:cNvSpPr>
          <p:nvPr>
            <p:ph type="body" idx="1"/>
          </p:nvPr>
        </p:nvSpPr>
        <p:spPr>
          <a:xfrm>
            <a:off x="685800" y="4400550"/>
            <a:ext cx="5486400" cy="360045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91600" tIns="45800" rIns="91600" bIns="45800" anchor="t" anchorCtr="0">
            <a:noAutofit/>
          </a:bodyPr>
          <a:lstStyle/>
          <a:p>
            <a:pPr marL="0" lvl="0" indent="0" algn="just" rtl="0">
              <a:spcBef>
                <a:spcPts val="0"/>
              </a:spcBef>
              <a:spcAft>
                <a:spcPts val="0"/>
              </a:spcAft>
              <a:buNone/>
            </a:pPr>
            <a:r>
              <a:rPr lang="en-US">
                <a:latin typeface="Arimo"/>
                <a:ea typeface="Arimo"/>
                <a:cs typeface="Arimo"/>
                <a:sym typeface="Arimo"/>
              </a:rPr>
              <a:t>1.</a:t>
            </a:r>
            <a:r>
              <a:rPr lang="en-US"/>
              <a:t> The designated key</a:t>
            </a:r>
            <a:r>
              <a:rPr lang="en-US">
                <a:latin typeface="Arimo"/>
                <a:ea typeface="Arimo"/>
                <a:cs typeface="Arimo"/>
                <a:sym typeface="Arimo"/>
              </a:rPr>
              <a:t> will be the primary key of the original table concatenated with one or more data items from the new table.</a:t>
            </a:r>
            <a:endParaRPr/>
          </a:p>
          <a:p>
            <a:pPr marL="0" lvl="0" indent="-76200" algn="just" rtl="0">
              <a:spcBef>
                <a:spcPts val="0"/>
              </a:spcBef>
              <a:spcAft>
                <a:spcPts val="0"/>
              </a:spcAft>
              <a:buClr>
                <a:schemeClr val="dk1"/>
              </a:buClr>
              <a:buSzPts val="1200"/>
              <a:buFont typeface="Arimo"/>
              <a:buChar char="•"/>
            </a:pPr>
            <a:r>
              <a:rPr lang="en-US">
                <a:latin typeface="Arimo"/>
                <a:ea typeface="Arimo"/>
                <a:cs typeface="Arimo"/>
                <a:sym typeface="Arimo"/>
              </a:rPr>
              <a:t>For the first table the primary key is ISBN</a:t>
            </a:r>
            <a:endParaRPr/>
          </a:p>
          <a:p>
            <a:pPr marL="0" lvl="0" indent="-76200" algn="just" rtl="0">
              <a:spcBef>
                <a:spcPts val="0"/>
              </a:spcBef>
              <a:spcAft>
                <a:spcPts val="0"/>
              </a:spcAft>
              <a:buClr>
                <a:schemeClr val="dk1"/>
              </a:buClr>
              <a:buSzPts val="1200"/>
              <a:buFont typeface="Arimo"/>
              <a:buChar char="•"/>
            </a:pPr>
            <a:r>
              <a:rPr lang="en-US">
                <a:latin typeface="Arimo"/>
                <a:ea typeface="Arimo"/>
                <a:cs typeface="Arimo"/>
                <a:sym typeface="Arimo"/>
              </a:rPr>
              <a:t>For the second table the primary key is ISBN + Author Name</a:t>
            </a:r>
            <a:endParaRPr/>
          </a:p>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p16:notes"/>
          <p:cNvSpPr txBox="1">
            <a:spLocks noGrp="1"/>
          </p:cNvSpPr>
          <p:nvPr>
            <p:ph type="sldNum" idx="12"/>
          </p:nvPr>
        </p:nvSpPr>
        <p:spPr>
          <a:xfrm>
            <a:off x="3970338" y="8829675"/>
            <a:ext cx="3038475" cy="465138"/>
          </a:xfrm>
          <a:prstGeom prst="rect">
            <a:avLst/>
          </a:prstGeom>
          <a:noFill/>
          <a:ln>
            <a:noFill/>
          </a:ln>
        </p:spPr>
        <p:txBody>
          <a:bodyPr spcFirstLastPara="1" wrap="square" lIns="93175" tIns="46575" rIns="93175" bIns="46575" anchor="b" anchorCtr="0">
            <a:noAutofit/>
          </a:bodyPr>
          <a:lstStyle/>
          <a:p>
            <a:pPr marL="0" lvl="0" indent="0" algn="r" rtl="0">
              <a:spcBef>
                <a:spcPts val="0"/>
              </a:spcBef>
              <a:spcAft>
                <a:spcPts val="0"/>
              </a:spcAft>
              <a:buNone/>
            </a:pPr>
            <a:fld id="{00000000-1234-1234-1234-123412341234}" type="slidenum">
              <a:rPr lang="en-US" sz="2400">
                <a:solidFill>
                  <a:schemeClr val="dk1"/>
                </a:solidFill>
                <a:latin typeface="Times New Roman"/>
                <a:ea typeface="Times New Roman"/>
                <a:cs typeface="Times New Roman"/>
                <a:sym typeface="Times New Roman"/>
              </a:rPr>
              <a:t>16</a:t>
            </a:fld>
            <a:endParaRPr sz="2400">
              <a:solidFill>
                <a:schemeClr val="dk1"/>
              </a:solidFill>
              <a:latin typeface="Times New Roman"/>
              <a:ea typeface="Times New Roman"/>
              <a:cs typeface="Times New Roman"/>
              <a:sym typeface="Times New Roman"/>
            </a:endParaRPr>
          </a:p>
        </p:txBody>
      </p:sp>
      <p:sp>
        <p:nvSpPr>
          <p:cNvPr id="502" name="Google Shape;502;p16:notes"/>
          <p:cNvSpPr>
            <a:spLocks noGrp="1" noRot="1" noChangeAspect="1"/>
          </p:cNvSpPr>
          <p:nvPr>
            <p:ph type="sldImg" idx="2"/>
          </p:nvPr>
        </p:nvSpPr>
        <p:spPr>
          <a:xfrm>
            <a:off x="3438525" y="2406650"/>
            <a:ext cx="0" cy="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503" name="Google Shape;503;p16:notes"/>
          <p:cNvSpPr txBox="1">
            <a:spLocks noGrp="1"/>
          </p:cNvSpPr>
          <p:nvPr>
            <p:ph type="body" idx="1"/>
          </p:nvPr>
        </p:nvSpPr>
        <p:spPr>
          <a:xfrm>
            <a:off x="685800" y="4400550"/>
            <a:ext cx="5486400" cy="360045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91600" tIns="45800" rIns="91600" bIns="458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p:cNvGrpSpPr/>
        <p:nvPr/>
      </p:nvGrpSpPr>
      <p:grpSpPr>
        <a:xfrm>
          <a:off x="0" y="0"/>
          <a:ext cx="0" cy="0"/>
          <a:chOff x="0" y="0"/>
          <a:chExt cx="0" cy="0"/>
        </a:xfrm>
      </p:grpSpPr>
      <p:sp>
        <p:nvSpPr>
          <p:cNvPr id="508" name="Google Shape;508;p17:notes"/>
          <p:cNvSpPr txBox="1">
            <a:spLocks noGrp="1"/>
          </p:cNvSpPr>
          <p:nvPr>
            <p:ph type="sldNum" idx="12"/>
          </p:nvPr>
        </p:nvSpPr>
        <p:spPr>
          <a:xfrm>
            <a:off x="3970338" y="8829675"/>
            <a:ext cx="3038475" cy="465138"/>
          </a:xfrm>
          <a:prstGeom prst="rect">
            <a:avLst/>
          </a:prstGeom>
          <a:noFill/>
          <a:ln>
            <a:noFill/>
          </a:ln>
        </p:spPr>
        <p:txBody>
          <a:bodyPr spcFirstLastPara="1" wrap="square" lIns="93175" tIns="46575" rIns="93175" bIns="46575" anchor="b" anchorCtr="0">
            <a:noAutofit/>
          </a:bodyPr>
          <a:lstStyle/>
          <a:p>
            <a:pPr marL="0" lvl="0" indent="0" algn="r" rtl="0">
              <a:spcBef>
                <a:spcPts val="0"/>
              </a:spcBef>
              <a:spcAft>
                <a:spcPts val="0"/>
              </a:spcAft>
              <a:buNone/>
            </a:pPr>
            <a:fld id="{00000000-1234-1234-1234-123412341234}" type="slidenum">
              <a:rPr lang="en-US" sz="2400">
                <a:solidFill>
                  <a:schemeClr val="dk1"/>
                </a:solidFill>
                <a:latin typeface="Times New Roman"/>
                <a:ea typeface="Times New Roman"/>
                <a:cs typeface="Times New Roman"/>
                <a:sym typeface="Times New Roman"/>
              </a:rPr>
              <a:t>17</a:t>
            </a:fld>
            <a:endParaRPr sz="2400">
              <a:solidFill>
                <a:schemeClr val="dk1"/>
              </a:solidFill>
              <a:latin typeface="Times New Roman"/>
              <a:ea typeface="Times New Roman"/>
              <a:cs typeface="Times New Roman"/>
              <a:sym typeface="Times New Roman"/>
            </a:endParaRPr>
          </a:p>
        </p:txBody>
      </p:sp>
      <p:sp>
        <p:nvSpPr>
          <p:cNvPr id="509" name="Google Shape;509;p17:notes"/>
          <p:cNvSpPr>
            <a:spLocks noGrp="1" noRot="1" noChangeAspect="1"/>
          </p:cNvSpPr>
          <p:nvPr>
            <p:ph type="sldImg" idx="2"/>
          </p:nvPr>
        </p:nvSpPr>
        <p:spPr>
          <a:xfrm>
            <a:off x="3438525" y="2406650"/>
            <a:ext cx="0" cy="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510" name="Google Shape;510;p17:notes"/>
          <p:cNvSpPr txBox="1">
            <a:spLocks noGrp="1"/>
          </p:cNvSpPr>
          <p:nvPr>
            <p:ph type="body" idx="1"/>
          </p:nvPr>
        </p:nvSpPr>
        <p:spPr>
          <a:xfrm>
            <a:off x="685800" y="4400550"/>
            <a:ext cx="5486400" cy="360045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91600" tIns="45800" rIns="91600" bIns="45800" anchor="t" anchorCtr="0">
            <a:noAutofit/>
          </a:bodyPr>
          <a:lstStyle/>
          <a:p>
            <a:pPr marL="231775" lvl="0" indent="-231775" algn="just" rtl="0">
              <a:spcBef>
                <a:spcPts val="0"/>
              </a:spcBef>
              <a:spcAft>
                <a:spcPts val="0"/>
              </a:spcAft>
              <a:buNone/>
            </a:pPr>
            <a:r>
              <a:rPr lang="en-US">
                <a:latin typeface="Arimo"/>
                <a:ea typeface="Arimo"/>
                <a:cs typeface="Arimo"/>
                <a:sym typeface="Arimo"/>
              </a:rPr>
              <a:t>Let us consider the problems with the movie studio database:</a:t>
            </a:r>
            <a:endParaRPr/>
          </a:p>
          <a:p>
            <a:pPr marL="231775" lvl="0" indent="-231775" algn="just" rtl="0">
              <a:spcBef>
                <a:spcPts val="0"/>
              </a:spcBef>
              <a:spcAft>
                <a:spcPts val="0"/>
              </a:spcAft>
              <a:buClr>
                <a:schemeClr val="dk1"/>
              </a:buClr>
              <a:buSzPts val="1200"/>
              <a:buFont typeface="Calibri"/>
              <a:buAutoNum type="arabicPeriod"/>
            </a:pPr>
            <a:r>
              <a:rPr lang="en-US"/>
              <a:t>Redundancy – City Population is repeated many times</a:t>
            </a:r>
            <a:endParaRPr/>
          </a:p>
          <a:p>
            <a:pPr marL="231775" lvl="0" indent="-231775" algn="just" rtl="0">
              <a:spcBef>
                <a:spcPts val="0"/>
              </a:spcBef>
              <a:spcAft>
                <a:spcPts val="0"/>
              </a:spcAft>
              <a:buClr>
                <a:schemeClr val="dk1"/>
              </a:buClr>
              <a:buSzPts val="1200"/>
              <a:buFont typeface="Calibri"/>
              <a:buAutoNum type="arabicPeriod"/>
            </a:pPr>
            <a:r>
              <a:rPr lang="en-US"/>
              <a:t>Insertion anomaly – Whenever we add a new record we have to add unnecessary information. We can not add record until we know information about the city population</a:t>
            </a:r>
            <a:endParaRPr/>
          </a:p>
          <a:p>
            <a:pPr marL="231775" lvl="0" indent="-231775" algn="just" rtl="0">
              <a:spcBef>
                <a:spcPts val="0"/>
              </a:spcBef>
              <a:spcAft>
                <a:spcPts val="0"/>
              </a:spcAft>
              <a:buClr>
                <a:schemeClr val="dk1"/>
              </a:buClr>
              <a:buSzPts val="1200"/>
              <a:buFont typeface="Calibri"/>
              <a:buAutoNum type="arabicPeriod"/>
            </a:pPr>
            <a:r>
              <a:rPr lang="en-US"/>
              <a:t>Deletion anomaly – Whenever we delete a record, useful information is deleted.</a:t>
            </a:r>
            <a:endParaRPr/>
          </a:p>
          <a:p>
            <a:pPr marL="231775" lvl="0" indent="-231775" algn="just" rtl="0">
              <a:spcBef>
                <a:spcPts val="0"/>
              </a:spcBef>
              <a:spcAft>
                <a:spcPts val="0"/>
              </a:spcAft>
              <a:buNone/>
            </a:pPr>
            <a:r>
              <a:rPr lang="en-US"/>
              <a:t>Update anomaly – The City Population needs to be updated in more than one location if it changes.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p:cNvGrpSpPr/>
        <p:nvPr/>
      </p:nvGrpSpPr>
      <p:grpSpPr>
        <a:xfrm>
          <a:off x="0" y="0"/>
          <a:ext cx="0" cy="0"/>
          <a:chOff x="0" y="0"/>
          <a:chExt cx="0" cy="0"/>
        </a:xfrm>
      </p:grpSpPr>
      <p:sp>
        <p:nvSpPr>
          <p:cNvPr id="515" name="Google Shape;515;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6" name="Google Shape;516;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2"/>
        <p:cNvGrpSpPr/>
        <p:nvPr/>
      </p:nvGrpSpPr>
      <p:grpSpPr>
        <a:xfrm>
          <a:off x="0" y="0"/>
          <a:ext cx="0" cy="0"/>
          <a:chOff x="0" y="0"/>
          <a:chExt cx="0" cy="0"/>
        </a:xfrm>
      </p:grpSpPr>
      <p:sp>
        <p:nvSpPr>
          <p:cNvPr id="523" name="Google Shape;523;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4" name="Google Shape;524;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0" name="Google Shape;530;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6" name="Google Shape;536;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6" name="Google Shape;596;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0"/>
        <p:cNvGrpSpPr/>
        <p:nvPr/>
      </p:nvGrpSpPr>
      <p:grpSpPr>
        <a:xfrm>
          <a:off x="0" y="0"/>
          <a:ext cx="0" cy="0"/>
          <a:chOff x="0" y="0"/>
          <a:chExt cx="0" cy="0"/>
        </a:xfrm>
      </p:grpSpPr>
      <p:sp>
        <p:nvSpPr>
          <p:cNvPr id="601" name="Google Shape;601;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2" name="Google Shape;602;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8"/>
        <p:cNvGrpSpPr/>
        <p:nvPr/>
      </p:nvGrpSpPr>
      <p:grpSpPr>
        <a:xfrm>
          <a:off x="0" y="0"/>
          <a:ext cx="0" cy="0"/>
          <a:chOff x="0" y="0"/>
          <a:chExt cx="0" cy="0"/>
        </a:xfrm>
      </p:grpSpPr>
      <p:sp>
        <p:nvSpPr>
          <p:cNvPr id="609" name="Google Shape;609;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0" name="Google Shape;610;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4"/>
        <p:cNvGrpSpPr/>
        <p:nvPr/>
      </p:nvGrpSpPr>
      <p:grpSpPr>
        <a:xfrm>
          <a:off x="0" y="0"/>
          <a:ext cx="0" cy="0"/>
          <a:chOff x="0" y="0"/>
          <a:chExt cx="0" cy="0"/>
        </a:xfrm>
      </p:grpSpPr>
      <p:sp>
        <p:nvSpPr>
          <p:cNvPr id="615" name="Google Shape;615;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6" name="Google Shape;616;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2"/>
        <p:cNvGrpSpPr/>
        <p:nvPr/>
      </p:nvGrpSpPr>
      <p:grpSpPr>
        <a:xfrm>
          <a:off x="0" y="0"/>
          <a:ext cx="0" cy="0"/>
          <a:chOff x="0" y="0"/>
          <a:chExt cx="0" cy="0"/>
        </a:xfrm>
      </p:grpSpPr>
      <p:sp>
        <p:nvSpPr>
          <p:cNvPr id="623" name="Google Shape;623;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4" name="Google Shape;624;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1"/>
        <p:cNvGrpSpPr/>
        <p:nvPr/>
      </p:nvGrpSpPr>
      <p:grpSpPr>
        <a:xfrm>
          <a:off x="0" y="0"/>
          <a:ext cx="0" cy="0"/>
          <a:chOff x="0" y="0"/>
          <a:chExt cx="0" cy="0"/>
        </a:xfrm>
      </p:grpSpPr>
      <p:sp>
        <p:nvSpPr>
          <p:cNvPr id="632" name="Google Shape;632;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33" name="Google Shape;633;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7"/>
        <p:cNvGrpSpPr/>
        <p:nvPr/>
      </p:nvGrpSpPr>
      <p:grpSpPr>
        <a:xfrm>
          <a:off x="0" y="0"/>
          <a:ext cx="0" cy="0"/>
          <a:chOff x="0" y="0"/>
          <a:chExt cx="0" cy="0"/>
        </a:xfrm>
      </p:grpSpPr>
      <p:sp>
        <p:nvSpPr>
          <p:cNvPr id="638" name="Google Shape;638;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39" name="Google Shape;639;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3"/>
        <p:cNvGrpSpPr/>
        <p:nvPr/>
      </p:nvGrpSpPr>
      <p:grpSpPr>
        <a:xfrm>
          <a:off x="0" y="0"/>
          <a:ext cx="0" cy="0"/>
          <a:chOff x="0" y="0"/>
          <a:chExt cx="0" cy="0"/>
        </a:xfrm>
      </p:grpSpPr>
      <p:sp>
        <p:nvSpPr>
          <p:cNvPr id="644" name="Google Shape;644;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5" name="Google Shape;645;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Google Shape;650;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51" name="Google Shape;651;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5"/>
        <p:cNvGrpSpPr/>
        <p:nvPr/>
      </p:nvGrpSpPr>
      <p:grpSpPr>
        <a:xfrm>
          <a:off x="0" y="0"/>
          <a:ext cx="0" cy="0"/>
          <a:chOff x="0" y="0"/>
          <a:chExt cx="0" cy="0"/>
        </a:xfrm>
      </p:grpSpPr>
      <p:sp>
        <p:nvSpPr>
          <p:cNvPr id="656" name="Google Shape;656;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57" name="Google Shape;657;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6"/>
        <p:cNvGrpSpPr/>
        <p:nvPr/>
      </p:nvGrpSpPr>
      <p:grpSpPr>
        <a:xfrm>
          <a:off x="0" y="0"/>
          <a:ext cx="0" cy="0"/>
          <a:chOff x="0" y="0"/>
          <a:chExt cx="0" cy="0"/>
        </a:xfrm>
      </p:grpSpPr>
      <p:sp>
        <p:nvSpPr>
          <p:cNvPr id="667" name="Google Shape;667;p32:notes"/>
          <p:cNvSpPr/>
          <p:nvPr/>
        </p:nvSpPr>
        <p:spPr>
          <a:xfrm>
            <a:off x="3971925" y="0"/>
            <a:ext cx="3038475" cy="46513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668" name="Google Shape;668;p32:notes"/>
          <p:cNvSpPr/>
          <p:nvPr/>
        </p:nvSpPr>
        <p:spPr>
          <a:xfrm>
            <a:off x="3971925" y="8831263"/>
            <a:ext cx="3038475" cy="465137"/>
          </a:xfrm>
          <a:prstGeom prst="rect">
            <a:avLst/>
          </a:prstGeom>
          <a:noFill/>
          <a:ln>
            <a:noFill/>
          </a:ln>
        </p:spPr>
        <p:txBody>
          <a:bodyPr spcFirstLastPara="1" wrap="square" lIns="19050" tIns="0" rIns="19050" bIns="0" anchor="b" anchorCtr="0">
            <a:noAutofit/>
          </a:bodyPr>
          <a:lstStyle/>
          <a:p>
            <a:pPr marL="0" marR="0" lvl="0" indent="0" algn="r" rtl="0">
              <a:spcBef>
                <a:spcPts val="0"/>
              </a:spcBef>
              <a:spcAft>
                <a:spcPts val="0"/>
              </a:spcAft>
              <a:buNone/>
            </a:pPr>
            <a:r>
              <a:rPr lang="en-US" sz="1000" i="1">
                <a:solidFill>
                  <a:schemeClr val="dk1"/>
                </a:solidFill>
                <a:latin typeface="Times New Roman"/>
                <a:ea typeface="Times New Roman"/>
                <a:cs typeface="Times New Roman"/>
                <a:sym typeface="Times New Roman"/>
              </a:rPr>
              <a:t>26</a:t>
            </a:r>
            <a:endParaRPr/>
          </a:p>
        </p:txBody>
      </p:sp>
      <p:sp>
        <p:nvSpPr>
          <p:cNvPr id="669" name="Google Shape;669;p32:notes"/>
          <p:cNvSpPr/>
          <p:nvPr/>
        </p:nvSpPr>
        <p:spPr>
          <a:xfrm>
            <a:off x="0" y="8831263"/>
            <a:ext cx="3038475" cy="465137"/>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670" name="Google Shape;670;p32:notes"/>
          <p:cNvSpPr/>
          <p:nvPr/>
        </p:nvSpPr>
        <p:spPr>
          <a:xfrm>
            <a:off x="0" y="0"/>
            <a:ext cx="3038475" cy="46513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671" name="Google Shape;671;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72" name="Google Shape;672;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1" name="Google Shape;681;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5"/>
        <p:cNvGrpSpPr/>
        <p:nvPr/>
      </p:nvGrpSpPr>
      <p:grpSpPr>
        <a:xfrm>
          <a:off x="0" y="0"/>
          <a:ext cx="0" cy="0"/>
          <a:chOff x="0" y="0"/>
          <a:chExt cx="0" cy="0"/>
        </a:xfrm>
      </p:grpSpPr>
      <p:sp>
        <p:nvSpPr>
          <p:cNvPr id="686" name="Google Shape;686;p34:notes"/>
          <p:cNvSpPr/>
          <p:nvPr/>
        </p:nvSpPr>
        <p:spPr>
          <a:xfrm>
            <a:off x="3971925" y="0"/>
            <a:ext cx="3038475" cy="46513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687" name="Google Shape;687;p34:notes"/>
          <p:cNvSpPr/>
          <p:nvPr/>
        </p:nvSpPr>
        <p:spPr>
          <a:xfrm>
            <a:off x="3971925" y="8831263"/>
            <a:ext cx="3038475" cy="465137"/>
          </a:xfrm>
          <a:prstGeom prst="rect">
            <a:avLst/>
          </a:prstGeom>
          <a:noFill/>
          <a:ln>
            <a:noFill/>
          </a:ln>
        </p:spPr>
        <p:txBody>
          <a:bodyPr spcFirstLastPara="1" wrap="square" lIns="19050" tIns="0" rIns="19050" bIns="0" anchor="b" anchorCtr="0">
            <a:noAutofit/>
          </a:bodyPr>
          <a:lstStyle/>
          <a:p>
            <a:pPr marL="0" marR="0" lvl="0" indent="0" algn="r" rtl="0">
              <a:spcBef>
                <a:spcPts val="0"/>
              </a:spcBef>
              <a:spcAft>
                <a:spcPts val="0"/>
              </a:spcAft>
              <a:buNone/>
            </a:pPr>
            <a:r>
              <a:rPr lang="en-US" sz="1000" i="1">
                <a:solidFill>
                  <a:schemeClr val="dk1"/>
                </a:solidFill>
                <a:latin typeface="Times New Roman"/>
                <a:ea typeface="Times New Roman"/>
                <a:cs typeface="Times New Roman"/>
                <a:sym typeface="Times New Roman"/>
              </a:rPr>
              <a:t>29</a:t>
            </a:r>
            <a:endParaRPr/>
          </a:p>
        </p:txBody>
      </p:sp>
      <p:sp>
        <p:nvSpPr>
          <p:cNvPr id="688" name="Google Shape;688;p34:notes"/>
          <p:cNvSpPr/>
          <p:nvPr/>
        </p:nvSpPr>
        <p:spPr>
          <a:xfrm>
            <a:off x="0" y="8831263"/>
            <a:ext cx="3038475" cy="465137"/>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689" name="Google Shape;689;p34:notes"/>
          <p:cNvSpPr/>
          <p:nvPr/>
        </p:nvSpPr>
        <p:spPr>
          <a:xfrm>
            <a:off x="0" y="0"/>
            <a:ext cx="3038475" cy="46513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690" name="Google Shape;690;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91" name="Google Shape;691;p3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4"/>
        <p:cNvGrpSpPr/>
        <p:nvPr/>
      </p:nvGrpSpPr>
      <p:grpSpPr>
        <a:xfrm>
          <a:off x="0" y="0"/>
          <a:ext cx="0" cy="0"/>
          <a:chOff x="0" y="0"/>
          <a:chExt cx="0" cy="0"/>
        </a:xfrm>
      </p:grpSpPr>
      <p:sp>
        <p:nvSpPr>
          <p:cNvPr id="705" name="Google Shape;705;p35:notes"/>
          <p:cNvSpPr/>
          <p:nvPr/>
        </p:nvSpPr>
        <p:spPr>
          <a:xfrm>
            <a:off x="3971925" y="0"/>
            <a:ext cx="3038475" cy="46513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706" name="Google Shape;706;p35:notes"/>
          <p:cNvSpPr/>
          <p:nvPr/>
        </p:nvSpPr>
        <p:spPr>
          <a:xfrm>
            <a:off x="3971925" y="8831263"/>
            <a:ext cx="3038475" cy="465137"/>
          </a:xfrm>
          <a:prstGeom prst="rect">
            <a:avLst/>
          </a:prstGeom>
          <a:noFill/>
          <a:ln>
            <a:noFill/>
          </a:ln>
        </p:spPr>
        <p:txBody>
          <a:bodyPr spcFirstLastPara="1" wrap="square" lIns="19050" tIns="0" rIns="19050" bIns="0" anchor="b" anchorCtr="0">
            <a:noAutofit/>
          </a:bodyPr>
          <a:lstStyle/>
          <a:p>
            <a:pPr marL="0" marR="0" lvl="0" indent="0" algn="r" rtl="0">
              <a:spcBef>
                <a:spcPts val="0"/>
              </a:spcBef>
              <a:spcAft>
                <a:spcPts val="0"/>
              </a:spcAft>
              <a:buNone/>
            </a:pPr>
            <a:r>
              <a:rPr lang="en-US" sz="1000" i="1">
                <a:solidFill>
                  <a:schemeClr val="dk1"/>
                </a:solidFill>
                <a:latin typeface="Times New Roman"/>
                <a:ea typeface="Times New Roman"/>
                <a:cs typeface="Times New Roman"/>
                <a:sym typeface="Times New Roman"/>
              </a:rPr>
              <a:t>30</a:t>
            </a:r>
            <a:endParaRPr/>
          </a:p>
        </p:txBody>
      </p:sp>
      <p:sp>
        <p:nvSpPr>
          <p:cNvPr id="707" name="Google Shape;707;p35:notes"/>
          <p:cNvSpPr/>
          <p:nvPr/>
        </p:nvSpPr>
        <p:spPr>
          <a:xfrm>
            <a:off x="0" y="8831263"/>
            <a:ext cx="3038475" cy="465137"/>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708" name="Google Shape;708;p35:notes"/>
          <p:cNvSpPr/>
          <p:nvPr/>
        </p:nvSpPr>
        <p:spPr>
          <a:xfrm>
            <a:off x="0" y="0"/>
            <a:ext cx="3038475" cy="46513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709" name="Google Shape;709;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10" name="Google Shape;710;p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7"/>
        <p:cNvGrpSpPr/>
        <p:nvPr/>
      </p:nvGrpSpPr>
      <p:grpSpPr>
        <a:xfrm>
          <a:off x="0" y="0"/>
          <a:ext cx="0" cy="0"/>
          <a:chOff x="0" y="0"/>
          <a:chExt cx="0" cy="0"/>
        </a:xfrm>
      </p:grpSpPr>
      <p:sp>
        <p:nvSpPr>
          <p:cNvPr id="728" name="Google Shape;728;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29" name="Google Shape;729;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p:cNvGrpSpPr/>
        <p:nvPr/>
      </p:nvGrpSpPr>
      <p:grpSpPr>
        <a:xfrm>
          <a:off x="0" y="0"/>
          <a:ext cx="0" cy="0"/>
          <a:chOff x="0" y="0"/>
          <a:chExt cx="0" cy="0"/>
        </a:xfrm>
      </p:grpSpPr>
      <p:sp>
        <p:nvSpPr>
          <p:cNvPr id="734" name="Google Shape;734;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35" name="Google Shape;735;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9"/>
        <p:cNvGrpSpPr/>
        <p:nvPr/>
      </p:nvGrpSpPr>
      <p:grpSpPr>
        <a:xfrm>
          <a:off x="0" y="0"/>
          <a:ext cx="0" cy="0"/>
          <a:chOff x="0" y="0"/>
          <a:chExt cx="0" cy="0"/>
        </a:xfrm>
      </p:grpSpPr>
      <p:sp>
        <p:nvSpPr>
          <p:cNvPr id="740" name="Google Shape;740;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41" name="Google Shape;741;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5"/>
        <p:cNvGrpSpPr/>
        <p:nvPr/>
      </p:nvGrpSpPr>
      <p:grpSpPr>
        <a:xfrm>
          <a:off x="0" y="0"/>
          <a:ext cx="0" cy="0"/>
          <a:chOff x="0" y="0"/>
          <a:chExt cx="0" cy="0"/>
        </a:xfrm>
      </p:grpSpPr>
      <p:sp>
        <p:nvSpPr>
          <p:cNvPr id="746" name="Google Shape;746;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47" name="Google Shape;747;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1"/>
        <p:cNvGrpSpPr/>
        <p:nvPr/>
      </p:nvGrpSpPr>
      <p:grpSpPr>
        <a:xfrm>
          <a:off x="0" y="0"/>
          <a:ext cx="0" cy="0"/>
          <a:chOff x="0" y="0"/>
          <a:chExt cx="0" cy="0"/>
        </a:xfrm>
      </p:grpSpPr>
      <p:sp>
        <p:nvSpPr>
          <p:cNvPr id="752" name="Google Shape;752;p4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3" name="Google Shape;753;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8"/>
        <p:cNvGrpSpPr/>
        <p:nvPr/>
      </p:nvGrpSpPr>
      <p:grpSpPr>
        <a:xfrm>
          <a:off x="0" y="0"/>
          <a:ext cx="0" cy="0"/>
          <a:chOff x="0" y="0"/>
          <a:chExt cx="0" cy="0"/>
        </a:xfrm>
      </p:grpSpPr>
      <p:sp>
        <p:nvSpPr>
          <p:cNvPr id="759" name="Google Shape;759;p4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0" name="Google Shape;760;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8"/>
        <p:cNvGrpSpPr/>
        <p:nvPr/>
      </p:nvGrpSpPr>
      <p:grpSpPr>
        <a:xfrm>
          <a:off x="0" y="0"/>
          <a:ext cx="0" cy="0"/>
          <a:chOff x="0" y="0"/>
          <a:chExt cx="0" cy="0"/>
        </a:xfrm>
      </p:grpSpPr>
      <p:sp>
        <p:nvSpPr>
          <p:cNvPr id="19" name="Google Shape;19;p43"/>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43"/>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43"/>
          <p:cNvSpPr txBox="1">
            <a:spLocks noGrp="1"/>
          </p:cNvSpPr>
          <p:nvPr>
            <p:ph type="ctrTitle"/>
          </p:nvPr>
        </p:nvSpPr>
        <p:spPr>
          <a:xfrm>
            <a:off x="1097280" y="758952"/>
            <a:ext cx="10058400" cy="356616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262626"/>
              </a:buClr>
              <a:buSzPts val="8000"/>
              <a:buFont typeface="Calibri"/>
              <a:buNone/>
              <a:defRPr sz="80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43"/>
          <p:cNvSpPr txBox="1">
            <a:spLocks noGrp="1"/>
          </p:cNvSpPr>
          <p:nvPr>
            <p:ph type="subTitle" idx="1"/>
          </p:nvPr>
        </p:nvSpPr>
        <p:spPr>
          <a:xfrm>
            <a:off x="1100051" y="4455620"/>
            <a:ext cx="10058400" cy="11430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lvl="1" algn="ctr">
              <a:lnSpc>
                <a:spcPct val="90000"/>
              </a:lnSpc>
              <a:spcBef>
                <a:spcPts val="200"/>
              </a:spcBef>
              <a:spcAft>
                <a:spcPts val="0"/>
              </a:spcAft>
              <a:buSzPts val="2400"/>
              <a:buNone/>
              <a:defRPr sz="2400"/>
            </a:lvl2pPr>
            <a:lvl3pPr lvl="2" algn="ctr">
              <a:lnSpc>
                <a:spcPct val="90000"/>
              </a:lnSpc>
              <a:spcBef>
                <a:spcPts val="400"/>
              </a:spcBef>
              <a:spcAft>
                <a:spcPts val="0"/>
              </a:spcAft>
              <a:buSzPts val="2400"/>
              <a:buNone/>
              <a:defRPr sz="2400"/>
            </a:lvl3pPr>
            <a:lvl4pPr lvl="3" algn="ctr">
              <a:lnSpc>
                <a:spcPct val="90000"/>
              </a:lnSpc>
              <a:spcBef>
                <a:spcPts val="400"/>
              </a:spcBef>
              <a:spcAft>
                <a:spcPts val="0"/>
              </a:spcAft>
              <a:buSzPts val="2000"/>
              <a:buNone/>
              <a:defRPr sz="2000"/>
            </a:lvl4pPr>
            <a:lvl5pPr lvl="4" algn="ctr">
              <a:lnSpc>
                <a:spcPct val="9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a:endParaRPr/>
          </a:p>
        </p:txBody>
      </p:sp>
      <p:sp>
        <p:nvSpPr>
          <p:cNvPr id="23" name="Google Shape;23;p43"/>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43"/>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3"/>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26" name="Google Shape;26;p43"/>
          <p:cNvCxnSpPr/>
          <p:nvPr/>
        </p:nvCxnSpPr>
        <p:spPr>
          <a:xfrm>
            <a:off x="1207658" y="4343400"/>
            <a:ext cx="9875520" cy="0"/>
          </a:xfrm>
          <a:prstGeom prst="straightConnector1">
            <a:avLst/>
          </a:prstGeom>
          <a:noFill/>
          <a:ln w="9525" cap="flat" cmpd="sng">
            <a:solidFill>
              <a:srgbClr val="7F7F7F"/>
            </a:solidFill>
            <a:prstDash val="solid"/>
            <a:round/>
            <a:headEnd type="none" w="sm" len="sm"/>
            <a:tailEnd type="none" w="sm" len="sm"/>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44"/>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48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44"/>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30" name="Google Shape;30;p44"/>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44"/>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44"/>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Text and Clip Art" type="txAndClipArt">
  <p:cSld name="TEXT_AND_CLIPART">
    <p:spTree>
      <p:nvGrpSpPr>
        <p:cNvPr id="1" name="Shape 33"/>
        <p:cNvGrpSpPr/>
        <p:nvPr/>
      </p:nvGrpSpPr>
      <p:grpSpPr>
        <a:xfrm>
          <a:off x="0" y="0"/>
          <a:ext cx="0" cy="0"/>
          <a:chOff x="0" y="0"/>
          <a:chExt cx="0" cy="0"/>
        </a:xfrm>
      </p:grpSpPr>
      <p:sp>
        <p:nvSpPr>
          <p:cNvPr id="34" name="Google Shape;34;p45"/>
          <p:cNvSpPr txBox="1">
            <a:spLocks noGrp="1"/>
          </p:cNvSpPr>
          <p:nvPr>
            <p:ph type="title"/>
          </p:nvPr>
        </p:nvSpPr>
        <p:spPr>
          <a:xfrm>
            <a:off x="508000" y="228600"/>
            <a:ext cx="10363200" cy="11049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45"/>
          <p:cNvSpPr txBox="1">
            <a:spLocks noGrp="1"/>
          </p:cNvSpPr>
          <p:nvPr>
            <p:ph type="body" idx="1"/>
          </p:nvPr>
        </p:nvSpPr>
        <p:spPr>
          <a:xfrm>
            <a:off x="1117600" y="1981200"/>
            <a:ext cx="5080000" cy="40767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36" name="Google Shape;36;p45"/>
          <p:cNvSpPr>
            <a:spLocks noGrp="1"/>
          </p:cNvSpPr>
          <p:nvPr>
            <p:ph type="clipArt" idx="2"/>
          </p:nvPr>
        </p:nvSpPr>
        <p:spPr>
          <a:xfrm>
            <a:off x="6400800" y="1981200"/>
            <a:ext cx="5080000" cy="4076700"/>
          </a:xfrm>
          <a:prstGeom prst="rect">
            <a:avLst/>
          </a:prstGeom>
          <a:noFill/>
          <a:ln>
            <a:no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37"/>
        <p:cNvGrpSpPr/>
        <p:nvPr/>
      </p:nvGrpSpPr>
      <p:grpSpPr>
        <a:xfrm>
          <a:off x="0" y="0"/>
          <a:ext cx="0" cy="0"/>
          <a:chOff x="0" y="0"/>
          <a:chExt cx="0" cy="0"/>
        </a:xfrm>
      </p:grpSpPr>
      <p:sp>
        <p:nvSpPr>
          <p:cNvPr id="38" name="Google Shape;38;p46"/>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46"/>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46"/>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46"/>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46"/>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bg>
      <p:bgPr>
        <a:solidFill>
          <a:schemeClr val="lt1"/>
        </a:solidFill>
        <a:effectLst/>
      </p:bgPr>
    </p:bg>
    <p:spTree>
      <p:nvGrpSpPr>
        <p:cNvPr id="1" name="Shape 43"/>
        <p:cNvGrpSpPr/>
        <p:nvPr/>
      </p:nvGrpSpPr>
      <p:grpSpPr>
        <a:xfrm>
          <a:off x="0" y="0"/>
          <a:ext cx="0" cy="0"/>
          <a:chOff x="0" y="0"/>
          <a:chExt cx="0" cy="0"/>
        </a:xfrm>
      </p:grpSpPr>
      <p:sp>
        <p:nvSpPr>
          <p:cNvPr id="44" name="Google Shape;44;p47"/>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47"/>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47"/>
          <p:cNvSpPr txBox="1">
            <a:spLocks noGrp="1"/>
          </p:cNvSpPr>
          <p:nvPr>
            <p:ph type="title"/>
          </p:nvPr>
        </p:nvSpPr>
        <p:spPr>
          <a:xfrm>
            <a:off x="1097280" y="758952"/>
            <a:ext cx="10058400" cy="356616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262626"/>
              </a:buClr>
              <a:buSzPts val="8000"/>
              <a:buFont typeface="Calibri"/>
              <a:buNone/>
              <a:defRPr sz="8000" b="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47"/>
          <p:cNvSpPr txBox="1">
            <a:spLocks noGrp="1"/>
          </p:cNvSpPr>
          <p:nvPr>
            <p:ph type="body" idx="1"/>
          </p:nvPr>
        </p:nvSpPr>
        <p:spPr>
          <a:xfrm>
            <a:off x="1097280" y="4453128"/>
            <a:ext cx="10058400" cy="11430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marL="914400" lvl="1" indent="-228600" algn="l">
              <a:lnSpc>
                <a:spcPct val="90000"/>
              </a:lnSpc>
              <a:spcBef>
                <a:spcPts val="200"/>
              </a:spcBef>
              <a:spcAft>
                <a:spcPts val="0"/>
              </a:spcAft>
              <a:buSzPts val="1800"/>
              <a:buNone/>
              <a:defRPr sz="1800">
                <a:solidFill>
                  <a:srgbClr val="888888"/>
                </a:solidFill>
              </a:defRPr>
            </a:lvl2pPr>
            <a:lvl3pPr marL="1371600" lvl="2" indent="-228600" algn="l">
              <a:lnSpc>
                <a:spcPct val="90000"/>
              </a:lnSpc>
              <a:spcBef>
                <a:spcPts val="400"/>
              </a:spcBef>
              <a:spcAft>
                <a:spcPts val="0"/>
              </a:spcAft>
              <a:buSzPts val="1600"/>
              <a:buNone/>
              <a:defRPr sz="1600">
                <a:solidFill>
                  <a:srgbClr val="888888"/>
                </a:solidFill>
              </a:defRPr>
            </a:lvl3pPr>
            <a:lvl4pPr marL="1828800" lvl="3" indent="-228600" algn="l">
              <a:lnSpc>
                <a:spcPct val="90000"/>
              </a:lnSpc>
              <a:spcBef>
                <a:spcPts val="400"/>
              </a:spcBef>
              <a:spcAft>
                <a:spcPts val="0"/>
              </a:spcAft>
              <a:buSzPts val="1400"/>
              <a:buNone/>
              <a:defRPr sz="1400">
                <a:solidFill>
                  <a:srgbClr val="888888"/>
                </a:solidFill>
              </a:defRPr>
            </a:lvl4pPr>
            <a:lvl5pPr marL="2286000" lvl="4" indent="-228600" algn="l">
              <a:lnSpc>
                <a:spcPct val="90000"/>
              </a:lnSpc>
              <a:spcBef>
                <a:spcPts val="400"/>
              </a:spcBef>
              <a:spcAft>
                <a:spcPts val="0"/>
              </a:spcAft>
              <a:buSzPts val="1400"/>
              <a:buNone/>
              <a:defRPr sz="1400">
                <a:solidFill>
                  <a:srgbClr val="888888"/>
                </a:solidFill>
              </a:defRPr>
            </a:lvl5pPr>
            <a:lvl6pPr marL="2743200" lvl="5" indent="-228600" algn="l">
              <a:lnSpc>
                <a:spcPct val="90000"/>
              </a:lnSpc>
              <a:spcBef>
                <a:spcPts val="400"/>
              </a:spcBef>
              <a:spcAft>
                <a:spcPts val="0"/>
              </a:spcAft>
              <a:buSzPts val="1400"/>
              <a:buNone/>
              <a:defRPr sz="1400">
                <a:solidFill>
                  <a:srgbClr val="888888"/>
                </a:solidFill>
              </a:defRPr>
            </a:lvl6pPr>
            <a:lvl7pPr marL="3200400" lvl="6" indent="-228600" algn="l">
              <a:lnSpc>
                <a:spcPct val="90000"/>
              </a:lnSpc>
              <a:spcBef>
                <a:spcPts val="400"/>
              </a:spcBef>
              <a:spcAft>
                <a:spcPts val="0"/>
              </a:spcAft>
              <a:buSzPts val="1400"/>
              <a:buNone/>
              <a:defRPr sz="1400">
                <a:solidFill>
                  <a:srgbClr val="888888"/>
                </a:solidFill>
              </a:defRPr>
            </a:lvl7pPr>
            <a:lvl8pPr marL="3657600" lvl="7" indent="-228600" algn="l">
              <a:lnSpc>
                <a:spcPct val="90000"/>
              </a:lnSpc>
              <a:spcBef>
                <a:spcPts val="400"/>
              </a:spcBef>
              <a:spcAft>
                <a:spcPts val="0"/>
              </a:spcAft>
              <a:buSzPts val="1400"/>
              <a:buNone/>
              <a:defRPr sz="1400">
                <a:solidFill>
                  <a:srgbClr val="888888"/>
                </a:solidFill>
              </a:defRPr>
            </a:lvl8pPr>
            <a:lvl9pPr marL="4114800" lvl="8" indent="-228600" algn="l">
              <a:lnSpc>
                <a:spcPct val="90000"/>
              </a:lnSpc>
              <a:spcBef>
                <a:spcPts val="400"/>
              </a:spcBef>
              <a:spcAft>
                <a:spcPts val="400"/>
              </a:spcAft>
              <a:buSzPts val="1400"/>
              <a:buNone/>
              <a:defRPr sz="1400">
                <a:solidFill>
                  <a:srgbClr val="888888"/>
                </a:solidFill>
              </a:defRPr>
            </a:lvl9pPr>
          </a:lstStyle>
          <a:p>
            <a:endParaRPr/>
          </a:p>
        </p:txBody>
      </p:sp>
      <p:sp>
        <p:nvSpPr>
          <p:cNvPr id="48" name="Google Shape;48;p47"/>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47"/>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47"/>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51" name="Google Shape;51;p47"/>
          <p:cNvCxnSpPr/>
          <p:nvPr/>
        </p:nvCxnSpPr>
        <p:spPr>
          <a:xfrm>
            <a:off x="1207658" y="4343400"/>
            <a:ext cx="9875520" cy="0"/>
          </a:xfrm>
          <a:prstGeom prst="straightConnector1">
            <a:avLst/>
          </a:prstGeom>
          <a:noFill/>
          <a:ln w="9525" cap="flat" cmpd="sng">
            <a:solidFill>
              <a:srgbClr val="7F7F7F"/>
            </a:solidFill>
            <a:prstDash val="solid"/>
            <a:round/>
            <a:headEnd type="none" w="sm" len="sm"/>
            <a:tailEnd type="none" w="sm" len="sm"/>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2"/>
        <p:cNvGrpSpPr/>
        <p:nvPr/>
      </p:nvGrpSpPr>
      <p:grpSpPr>
        <a:xfrm>
          <a:off x="0" y="0"/>
          <a:ext cx="0" cy="0"/>
          <a:chOff x="0" y="0"/>
          <a:chExt cx="0" cy="0"/>
        </a:xfrm>
      </p:grpSpPr>
      <p:sp>
        <p:nvSpPr>
          <p:cNvPr id="53" name="Google Shape;53;p48"/>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4" name="Google Shape;54;p48"/>
          <p:cNvSpPr txBox="1">
            <a:spLocks noGrp="1"/>
          </p:cNvSpPr>
          <p:nvPr>
            <p:ph type="body" idx="1"/>
          </p:nvPr>
        </p:nvSpPr>
        <p:spPr>
          <a:xfrm>
            <a:off x="1097279" y="1845734"/>
            <a:ext cx="493776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55" name="Google Shape;55;p48"/>
          <p:cNvSpPr txBox="1">
            <a:spLocks noGrp="1"/>
          </p:cNvSpPr>
          <p:nvPr>
            <p:ph type="body" idx="2"/>
          </p:nvPr>
        </p:nvSpPr>
        <p:spPr>
          <a:xfrm>
            <a:off x="6217920" y="1845735"/>
            <a:ext cx="493776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56" name="Google Shape;56;p48"/>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48"/>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48"/>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9"/>
        <p:cNvGrpSpPr/>
        <p:nvPr/>
      </p:nvGrpSpPr>
      <p:grpSpPr>
        <a:xfrm>
          <a:off x="0" y="0"/>
          <a:ext cx="0" cy="0"/>
          <a:chOff x="0" y="0"/>
          <a:chExt cx="0" cy="0"/>
        </a:xfrm>
      </p:grpSpPr>
      <p:sp>
        <p:nvSpPr>
          <p:cNvPr id="60" name="Google Shape;60;p49"/>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 name="Google Shape;61;p49"/>
          <p:cNvSpPr txBox="1">
            <a:spLocks noGrp="1"/>
          </p:cNvSpPr>
          <p:nvPr>
            <p:ph type="body" idx="1"/>
          </p:nvPr>
        </p:nvSpPr>
        <p:spPr>
          <a:xfrm>
            <a:off x="1097280" y="1846052"/>
            <a:ext cx="4937760" cy="736282"/>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200"/>
              </a:spcBef>
              <a:spcAft>
                <a:spcPts val="0"/>
              </a:spcAft>
              <a:buSzPts val="2000"/>
              <a:buNone/>
              <a:defRPr sz="2000" b="0" cap="none">
                <a:solidFill>
                  <a:schemeClr val="dk2"/>
                </a:solidFill>
              </a:defRPr>
            </a:lvl1pPr>
            <a:lvl2pPr marL="914400" lvl="1" indent="-228600" algn="l">
              <a:lnSpc>
                <a:spcPct val="90000"/>
              </a:lnSpc>
              <a:spcBef>
                <a:spcPts val="200"/>
              </a:spcBef>
              <a:spcAft>
                <a:spcPts val="0"/>
              </a:spcAft>
              <a:buSzPts val="2000"/>
              <a:buNone/>
              <a:defRPr sz="2000" b="1"/>
            </a:lvl2pPr>
            <a:lvl3pPr marL="1371600" lvl="2" indent="-228600" algn="l">
              <a:lnSpc>
                <a:spcPct val="90000"/>
              </a:lnSpc>
              <a:spcBef>
                <a:spcPts val="400"/>
              </a:spcBef>
              <a:spcAft>
                <a:spcPts val="0"/>
              </a:spcAft>
              <a:buSzPts val="1800"/>
              <a:buNone/>
              <a:defRPr sz="1800" b="1"/>
            </a:lvl3pPr>
            <a:lvl4pPr marL="1828800" lvl="3" indent="-228600" algn="l">
              <a:lnSpc>
                <a:spcPct val="90000"/>
              </a:lnSpc>
              <a:spcBef>
                <a:spcPts val="400"/>
              </a:spcBef>
              <a:spcAft>
                <a:spcPts val="0"/>
              </a:spcAft>
              <a:buSzPts val="1600"/>
              <a:buNone/>
              <a:defRPr sz="1600" b="1"/>
            </a:lvl4pPr>
            <a:lvl5pPr marL="2286000" lvl="4" indent="-228600" algn="l">
              <a:lnSpc>
                <a:spcPct val="90000"/>
              </a:lnSpc>
              <a:spcBef>
                <a:spcPts val="400"/>
              </a:spcBef>
              <a:spcAft>
                <a:spcPts val="0"/>
              </a:spcAft>
              <a:buSzPts val="1600"/>
              <a:buNone/>
              <a:defRPr sz="1600" b="1"/>
            </a:lvl5pPr>
            <a:lvl6pPr marL="2743200" lvl="5" indent="-228600" algn="l">
              <a:lnSpc>
                <a:spcPct val="90000"/>
              </a:lnSpc>
              <a:spcBef>
                <a:spcPts val="400"/>
              </a:spcBef>
              <a:spcAft>
                <a:spcPts val="0"/>
              </a:spcAft>
              <a:buSzPts val="1600"/>
              <a:buNone/>
              <a:defRPr sz="1600" b="1"/>
            </a:lvl6pPr>
            <a:lvl7pPr marL="3200400" lvl="6" indent="-228600" algn="l">
              <a:lnSpc>
                <a:spcPct val="90000"/>
              </a:lnSpc>
              <a:spcBef>
                <a:spcPts val="400"/>
              </a:spcBef>
              <a:spcAft>
                <a:spcPts val="0"/>
              </a:spcAft>
              <a:buSzPts val="1600"/>
              <a:buNone/>
              <a:defRPr sz="1600" b="1"/>
            </a:lvl7pPr>
            <a:lvl8pPr marL="3657600" lvl="7" indent="-228600" algn="l">
              <a:lnSpc>
                <a:spcPct val="90000"/>
              </a:lnSpc>
              <a:spcBef>
                <a:spcPts val="400"/>
              </a:spcBef>
              <a:spcAft>
                <a:spcPts val="0"/>
              </a:spcAft>
              <a:buSzPts val="1600"/>
              <a:buNone/>
              <a:defRPr sz="1600" b="1"/>
            </a:lvl8pPr>
            <a:lvl9pPr marL="4114800" lvl="8" indent="-228600" algn="l">
              <a:lnSpc>
                <a:spcPct val="90000"/>
              </a:lnSpc>
              <a:spcBef>
                <a:spcPts val="400"/>
              </a:spcBef>
              <a:spcAft>
                <a:spcPts val="400"/>
              </a:spcAft>
              <a:buSzPts val="1600"/>
              <a:buNone/>
              <a:defRPr sz="1600" b="1"/>
            </a:lvl9pPr>
          </a:lstStyle>
          <a:p>
            <a:endParaRPr/>
          </a:p>
        </p:txBody>
      </p:sp>
      <p:sp>
        <p:nvSpPr>
          <p:cNvPr id="62" name="Google Shape;62;p49"/>
          <p:cNvSpPr txBox="1">
            <a:spLocks noGrp="1"/>
          </p:cNvSpPr>
          <p:nvPr>
            <p:ph type="body" idx="2"/>
          </p:nvPr>
        </p:nvSpPr>
        <p:spPr>
          <a:xfrm>
            <a:off x="1097280" y="2582334"/>
            <a:ext cx="4937760" cy="33782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63" name="Google Shape;63;p49"/>
          <p:cNvSpPr txBox="1">
            <a:spLocks noGrp="1"/>
          </p:cNvSpPr>
          <p:nvPr>
            <p:ph type="body" idx="3"/>
          </p:nvPr>
        </p:nvSpPr>
        <p:spPr>
          <a:xfrm>
            <a:off x="6217920" y="1846052"/>
            <a:ext cx="4937760" cy="736282"/>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200"/>
              </a:spcBef>
              <a:spcAft>
                <a:spcPts val="0"/>
              </a:spcAft>
              <a:buSzPts val="2000"/>
              <a:buNone/>
              <a:defRPr sz="2000" b="0" cap="none">
                <a:solidFill>
                  <a:schemeClr val="dk2"/>
                </a:solidFill>
              </a:defRPr>
            </a:lvl1pPr>
            <a:lvl2pPr marL="914400" lvl="1" indent="-228600" algn="l">
              <a:lnSpc>
                <a:spcPct val="90000"/>
              </a:lnSpc>
              <a:spcBef>
                <a:spcPts val="200"/>
              </a:spcBef>
              <a:spcAft>
                <a:spcPts val="0"/>
              </a:spcAft>
              <a:buSzPts val="2000"/>
              <a:buNone/>
              <a:defRPr sz="2000" b="1"/>
            </a:lvl2pPr>
            <a:lvl3pPr marL="1371600" lvl="2" indent="-228600" algn="l">
              <a:lnSpc>
                <a:spcPct val="90000"/>
              </a:lnSpc>
              <a:spcBef>
                <a:spcPts val="400"/>
              </a:spcBef>
              <a:spcAft>
                <a:spcPts val="0"/>
              </a:spcAft>
              <a:buSzPts val="1800"/>
              <a:buNone/>
              <a:defRPr sz="1800" b="1"/>
            </a:lvl3pPr>
            <a:lvl4pPr marL="1828800" lvl="3" indent="-228600" algn="l">
              <a:lnSpc>
                <a:spcPct val="90000"/>
              </a:lnSpc>
              <a:spcBef>
                <a:spcPts val="400"/>
              </a:spcBef>
              <a:spcAft>
                <a:spcPts val="0"/>
              </a:spcAft>
              <a:buSzPts val="1600"/>
              <a:buNone/>
              <a:defRPr sz="1600" b="1"/>
            </a:lvl4pPr>
            <a:lvl5pPr marL="2286000" lvl="4" indent="-228600" algn="l">
              <a:lnSpc>
                <a:spcPct val="90000"/>
              </a:lnSpc>
              <a:spcBef>
                <a:spcPts val="400"/>
              </a:spcBef>
              <a:spcAft>
                <a:spcPts val="0"/>
              </a:spcAft>
              <a:buSzPts val="1600"/>
              <a:buNone/>
              <a:defRPr sz="1600" b="1"/>
            </a:lvl5pPr>
            <a:lvl6pPr marL="2743200" lvl="5" indent="-228600" algn="l">
              <a:lnSpc>
                <a:spcPct val="90000"/>
              </a:lnSpc>
              <a:spcBef>
                <a:spcPts val="400"/>
              </a:spcBef>
              <a:spcAft>
                <a:spcPts val="0"/>
              </a:spcAft>
              <a:buSzPts val="1600"/>
              <a:buNone/>
              <a:defRPr sz="1600" b="1"/>
            </a:lvl6pPr>
            <a:lvl7pPr marL="3200400" lvl="6" indent="-228600" algn="l">
              <a:lnSpc>
                <a:spcPct val="90000"/>
              </a:lnSpc>
              <a:spcBef>
                <a:spcPts val="400"/>
              </a:spcBef>
              <a:spcAft>
                <a:spcPts val="0"/>
              </a:spcAft>
              <a:buSzPts val="1600"/>
              <a:buNone/>
              <a:defRPr sz="1600" b="1"/>
            </a:lvl7pPr>
            <a:lvl8pPr marL="3657600" lvl="7" indent="-228600" algn="l">
              <a:lnSpc>
                <a:spcPct val="90000"/>
              </a:lnSpc>
              <a:spcBef>
                <a:spcPts val="400"/>
              </a:spcBef>
              <a:spcAft>
                <a:spcPts val="0"/>
              </a:spcAft>
              <a:buSzPts val="1600"/>
              <a:buNone/>
              <a:defRPr sz="1600" b="1"/>
            </a:lvl8pPr>
            <a:lvl9pPr marL="4114800" lvl="8" indent="-228600" algn="l">
              <a:lnSpc>
                <a:spcPct val="90000"/>
              </a:lnSpc>
              <a:spcBef>
                <a:spcPts val="400"/>
              </a:spcBef>
              <a:spcAft>
                <a:spcPts val="400"/>
              </a:spcAft>
              <a:buSzPts val="1600"/>
              <a:buNone/>
              <a:defRPr sz="1600" b="1"/>
            </a:lvl9pPr>
          </a:lstStyle>
          <a:p>
            <a:endParaRPr/>
          </a:p>
        </p:txBody>
      </p:sp>
      <p:sp>
        <p:nvSpPr>
          <p:cNvPr id="64" name="Google Shape;64;p49"/>
          <p:cNvSpPr txBox="1">
            <a:spLocks noGrp="1"/>
          </p:cNvSpPr>
          <p:nvPr>
            <p:ph type="body" idx="4"/>
          </p:nvPr>
        </p:nvSpPr>
        <p:spPr>
          <a:xfrm>
            <a:off x="6217920" y="2582334"/>
            <a:ext cx="4937760" cy="33782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65" name="Google Shape;65;p49"/>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49"/>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49"/>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8"/>
        <p:cNvGrpSpPr/>
        <p:nvPr/>
      </p:nvGrpSpPr>
      <p:grpSpPr>
        <a:xfrm>
          <a:off x="0" y="0"/>
          <a:ext cx="0" cy="0"/>
          <a:chOff x="0" y="0"/>
          <a:chExt cx="0" cy="0"/>
        </a:xfrm>
      </p:grpSpPr>
      <p:sp>
        <p:nvSpPr>
          <p:cNvPr id="69" name="Google Shape;69;p50"/>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50"/>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50"/>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50"/>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73"/>
        <p:cNvGrpSpPr/>
        <p:nvPr/>
      </p:nvGrpSpPr>
      <p:grpSpPr>
        <a:xfrm>
          <a:off x="0" y="0"/>
          <a:ext cx="0" cy="0"/>
          <a:chOff x="0" y="0"/>
          <a:chExt cx="0" cy="0"/>
        </a:xfrm>
      </p:grpSpPr>
      <p:sp>
        <p:nvSpPr>
          <p:cNvPr id="74" name="Google Shape;74;p51"/>
          <p:cNvSpPr/>
          <p:nvPr/>
        </p:nvSpPr>
        <p:spPr>
          <a:xfrm>
            <a:off x="16" y="0"/>
            <a:ext cx="4050791" cy="68580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51"/>
          <p:cNvSpPr/>
          <p:nvPr/>
        </p:nvSpPr>
        <p:spPr>
          <a:xfrm>
            <a:off x="4040071" y="0"/>
            <a:ext cx="64008" cy="6858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51"/>
          <p:cNvSpPr txBox="1">
            <a:spLocks noGrp="1"/>
          </p:cNvSpPr>
          <p:nvPr>
            <p:ph type="title"/>
          </p:nvPr>
        </p:nvSpPr>
        <p:spPr>
          <a:xfrm>
            <a:off x="457200" y="594359"/>
            <a:ext cx="3200400" cy="22860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FFFFFF"/>
              </a:buClr>
              <a:buSzPts val="3600"/>
              <a:buFont typeface="Calibri"/>
              <a:buNone/>
              <a:defRPr sz="3600" b="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 name="Google Shape;77;p51"/>
          <p:cNvSpPr txBox="1">
            <a:spLocks noGrp="1"/>
          </p:cNvSpPr>
          <p:nvPr>
            <p:ph type="body" idx="1"/>
          </p:nvPr>
        </p:nvSpPr>
        <p:spPr>
          <a:xfrm>
            <a:off x="4800600" y="731520"/>
            <a:ext cx="6492240" cy="52578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78" name="Google Shape;78;p51"/>
          <p:cNvSpPr txBox="1">
            <a:spLocks noGrp="1"/>
          </p:cNvSpPr>
          <p:nvPr>
            <p:ph type="body" idx="2"/>
          </p:nvPr>
        </p:nvSpPr>
        <p:spPr>
          <a:xfrm>
            <a:off x="457200" y="2926080"/>
            <a:ext cx="3200400" cy="3379124"/>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SzPts val="1500"/>
              <a:buNone/>
              <a:defRPr sz="1500">
                <a:solidFill>
                  <a:srgbClr val="FFFFFF"/>
                </a:solidFill>
              </a:defRPr>
            </a:lvl1pPr>
            <a:lvl2pPr marL="914400" lvl="1" indent="-228600" algn="l">
              <a:lnSpc>
                <a:spcPct val="90000"/>
              </a:lnSpc>
              <a:spcBef>
                <a:spcPts val="200"/>
              </a:spcBef>
              <a:spcAft>
                <a:spcPts val="0"/>
              </a:spcAft>
              <a:buSzPts val="1200"/>
              <a:buNone/>
              <a:defRPr sz="1200"/>
            </a:lvl2pPr>
            <a:lvl3pPr marL="1371600" lvl="2" indent="-228600" algn="l">
              <a:lnSpc>
                <a:spcPct val="90000"/>
              </a:lnSpc>
              <a:spcBef>
                <a:spcPts val="400"/>
              </a:spcBef>
              <a:spcAft>
                <a:spcPts val="0"/>
              </a:spcAft>
              <a:buSzPts val="1000"/>
              <a:buNone/>
              <a:defRPr sz="1000"/>
            </a:lvl3pPr>
            <a:lvl4pPr marL="1828800" lvl="3" indent="-228600" algn="l">
              <a:lnSpc>
                <a:spcPct val="90000"/>
              </a:lnSpc>
              <a:spcBef>
                <a:spcPts val="400"/>
              </a:spcBef>
              <a:spcAft>
                <a:spcPts val="0"/>
              </a:spcAft>
              <a:buSzPts val="900"/>
              <a:buNone/>
              <a:defRPr sz="900"/>
            </a:lvl4pPr>
            <a:lvl5pPr marL="2286000" lvl="4" indent="-228600" algn="l">
              <a:lnSpc>
                <a:spcPct val="90000"/>
              </a:lnSpc>
              <a:spcBef>
                <a:spcPts val="400"/>
              </a:spcBef>
              <a:spcAft>
                <a:spcPts val="0"/>
              </a:spcAft>
              <a:buSzPts val="900"/>
              <a:buNone/>
              <a:defRPr sz="900"/>
            </a:lvl5pPr>
            <a:lvl6pPr marL="2743200" lvl="5" indent="-228600" algn="l">
              <a:lnSpc>
                <a:spcPct val="90000"/>
              </a:lnSpc>
              <a:spcBef>
                <a:spcPts val="400"/>
              </a:spcBef>
              <a:spcAft>
                <a:spcPts val="0"/>
              </a:spcAft>
              <a:buSzPts val="900"/>
              <a:buNone/>
              <a:defRPr sz="900"/>
            </a:lvl6pPr>
            <a:lvl7pPr marL="3200400" lvl="6" indent="-228600" algn="l">
              <a:lnSpc>
                <a:spcPct val="90000"/>
              </a:lnSpc>
              <a:spcBef>
                <a:spcPts val="400"/>
              </a:spcBef>
              <a:spcAft>
                <a:spcPts val="0"/>
              </a:spcAft>
              <a:buSzPts val="900"/>
              <a:buNone/>
              <a:defRPr sz="900"/>
            </a:lvl7pPr>
            <a:lvl8pPr marL="3657600" lvl="7" indent="-228600" algn="l">
              <a:lnSpc>
                <a:spcPct val="90000"/>
              </a:lnSpc>
              <a:spcBef>
                <a:spcPts val="400"/>
              </a:spcBef>
              <a:spcAft>
                <a:spcPts val="0"/>
              </a:spcAft>
              <a:buSzPts val="900"/>
              <a:buNone/>
              <a:defRPr sz="900"/>
            </a:lvl8pPr>
            <a:lvl9pPr marL="4114800" lvl="8" indent="-228600" algn="l">
              <a:lnSpc>
                <a:spcPct val="90000"/>
              </a:lnSpc>
              <a:spcBef>
                <a:spcPts val="400"/>
              </a:spcBef>
              <a:spcAft>
                <a:spcPts val="400"/>
              </a:spcAft>
              <a:buSzPts val="900"/>
              <a:buNone/>
              <a:defRPr sz="900"/>
            </a:lvl9pPr>
          </a:lstStyle>
          <a:p>
            <a:endParaRPr/>
          </a:p>
        </p:txBody>
      </p:sp>
      <p:sp>
        <p:nvSpPr>
          <p:cNvPr id="79" name="Google Shape;79;p51"/>
          <p:cNvSpPr txBox="1">
            <a:spLocks noGrp="1"/>
          </p:cNvSpPr>
          <p:nvPr>
            <p:ph type="dt" idx="10"/>
          </p:nvPr>
        </p:nvSpPr>
        <p:spPr>
          <a:xfrm>
            <a:off x="465512" y="6459785"/>
            <a:ext cx="26185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51"/>
          <p:cNvSpPr txBox="1">
            <a:spLocks noGrp="1"/>
          </p:cNvSpPr>
          <p:nvPr>
            <p:ph type="ftr" idx="11"/>
          </p:nvPr>
        </p:nvSpPr>
        <p:spPr>
          <a:xfrm>
            <a:off x="4800600" y="6459785"/>
            <a:ext cx="4648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51"/>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050">
                <a:solidFill>
                  <a:schemeClr val="dk2"/>
                </a:solidFill>
                <a:latin typeface="Calibri"/>
                <a:ea typeface="Calibri"/>
                <a:cs typeface="Calibri"/>
                <a:sym typeface="Calibri"/>
              </a:defRPr>
            </a:lvl1pPr>
            <a:lvl2pPr marL="0" lvl="1" indent="0" algn="r">
              <a:spcBef>
                <a:spcPts val="0"/>
              </a:spcBef>
              <a:buNone/>
              <a:defRPr sz="1050">
                <a:solidFill>
                  <a:schemeClr val="dk2"/>
                </a:solidFill>
                <a:latin typeface="Calibri"/>
                <a:ea typeface="Calibri"/>
                <a:cs typeface="Calibri"/>
                <a:sym typeface="Calibri"/>
              </a:defRPr>
            </a:lvl2pPr>
            <a:lvl3pPr marL="0" lvl="2" indent="0" algn="r">
              <a:spcBef>
                <a:spcPts val="0"/>
              </a:spcBef>
              <a:buNone/>
              <a:defRPr sz="1050">
                <a:solidFill>
                  <a:schemeClr val="dk2"/>
                </a:solidFill>
                <a:latin typeface="Calibri"/>
                <a:ea typeface="Calibri"/>
                <a:cs typeface="Calibri"/>
                <a:sym typeface="Calibri"/>
              </a:defRPr>
            </a:lvl3pPr>
            <a:lvl4pPr marL="0" lvl="3" indent="0" algn="r">
              <a:spcBef>
                <a:spcPts val="0"/>
              </a:spcBef>
              <a:buNone/>
              <a:defRPr sz="1050">
                <a:solidFill>
                  <a:schemeClr val="dk2"/>
                </a:solidFill>
                <a:latin typeface="Calibri"/>
                <a:ea typeface="Calibri"/>
                <a:cs typeface="Calibri"/>
                <a:sym typeface="Calibri"/>
              </a:defRPr>
            </a:lvl4pPr>
            <a:lvl5pPr marL="0" lvl="4" indent="0" algn="r">
              <a:spcBef>
                <a:spcPts val="0"/>
              </a:spcBef>
              <a:buNone/>
              <a:defRPr sz="1050">
                <a:solidFill>
                  <a:schemeClr val="dk2"/>
                </a:solidFill>
                <a:latin typeface="Calibri"/>
                <a:ea typeface="Calibri"/>
                <a:cs typeface="Calibri"/>
                <a:sym typeface="Calibri"/>
              </a:defRPr>
            </a:lvl5pPr>
            <a:lvl6pPr marL="0" lvl="5" indent="0" algn="r">
              <a:spcBef>
                <a:spcPts val="0"/>
              </a:spcBef>
              <a:buNone/>
              <a:defRPr sz="1050">
                <a:solidFill>
                  <a:schemeClr val="dk2"/>
                </a:solidFill>
                <a:latin typeface="Calibri"/>
                <a:ea typeface="Calibri"/>
                <a:cs typeface="Calibri"/>
                <a:sym typeface="Calibri"/>
              </a:defRPr>
            </a:lvl6pPr>
            <a:lvl7pPr marL="0" lvl="6" indent="0" algn="r">
              <a:spcBef>
                <a:spcPts val="0"/>
              </a:spcBef>
              <a:buNone/>
              <a:defRPr sz="1050">
                <a:solidFill>
                  <a:schemeClr val="dk2"/>
                </a:solidFill>
                <a:latin typeface="Calibri"/>
                <a:ea typeface="Calibri"/>
                <a:cs typeface="Calibri"/>
                <a:sym typeface="Calibri"/>
              </a:defRPr>
            </a:lvl7pPr>
            <a:lvl8pPr marL="0" lvl="7" indent="0" algn="r">
              <a:spcBef>
                <a:spcPts val="0"/>
              </a:spcBef>
              <a:buNone/>
              <a:defRPr sz="1050">
                <a:solidFill>
                  <a:schemeClr val="dk2"/>
                </a:solidFill>
                <a:latin typeface="Calibri"/>
                <a:ea typeface="Calibri"/>
                <a:cs typeface="Calibri"/>
                <a:sym typeface="Calibri"/>
              </a:defRPr>
            </a:lvl8pPr>
            <a:lvl9pPr marL="0" lvl="8" indent="0" algn="r">
              <a:spcBef>
                <a:spcPts val="0"/>
              </a:spcBef>
              <a:buNone/>
              <a:defRPr sz="1050">
                <a:solidFill>
                  <a:schemeClr val="dk2"/>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82"/>
        <p:cNvGrpSpPr/>
        <p:nvPr/>
      </p:nvGrpSpPr>
      <p:grpSpPr>
        <a:xfrm>
          <a:off x="0" y="0"/>
          <a:ext cx="0" cy="0"/>
          <a:chOff x="0" y="0"/>
          <a:chExt cx="0" cy="0"/>
        </a:xfrm>
      </p:grpSpPr>
      <p:sp>
        <p:nvSpPr>
          <p:cNvPr id="83" name="Google Shape;83;p52"/>
          <p:cNvSpPr/>
          <p:nvPr/>
        </p:nvSpPr>
        <p:spPr>
          <a:xfrm>
            <a:off x="0" y="4953000"/>
            <a:ext cx="12188825" cy="19050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52"/>
          <p:cNvSpPr/>
          <p:nvPr/>
        </p:nvSpPr>
        <p:spPr>
          <a:xfrm>
            <a:off x="15" y="491507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52"/>
          <p:cNvSpPr txBox="1">
            <a:spLocks noGrp="1"/>
          </p:cNvSpPr>
          <p:nvPr>
            <p:ph type="title"/>
          </p:nvPr>
        </p:nvSpPr>
        <p:spPr>
          <a:xfrm>
            <a:off x="1097280" y="5074920"/>
            <a:ext cx="10113264" cy="822960"/>
          </a:xfrm>
          <a:prstGeom prst="rect">
            <a:avLst/>
          </a:prstGeom>
          <a:noFill/>
          <a:ln>
            <a:noFill/>
          </a:ln>
        </p:spPr>
        <p:txBody>
          <a:bodyPr spcFirstLastPara="1" wrap="square" lIns="91425" tIns="0" rIns="91425" bIns="0" anchor="b" anchorCtr="0">
            <a:noAutofit/>
          </a:bodyPr>
          <a:lstStyle>
            <a:lvl1pPr lvl="0" algn="l">
              <a:lnSpc>
                <a:spcPct val="85000"/>
              </a:lnSpc>
              <a:spcBef>
                <a:spcPts val="0"/>
              </a:spcBef>
              <a:spcAft>
                <a:spcPts val="0"/>
              </a:spcAft>
              <a:buClr>
                <a:srgbClr val="FFFFFF"/>
              </a:buClr>
              <a:buSzPts val="3600"/>
              <a:buFont typeface="Calibri"/>
              <a:buNone/>
              <a:defRPr sz="3600" b="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86" name="Google Shape;86;p52"/>
          <p:cNvPicPr preferRelativeResize="0">
            <a:picLocks noGrp="1"/>
          </p:cNvPicPr>
          <p:nvPr>
            <p:ph type="pic" idx="2"/>
          </p:nvPr>
        </p:nvPicPr>
        <p:blipFill/>
        <p:spPr>
          <a:xfrm>
            <a:off x="15" y="0"/>
            <a:ext cx="12191985" cy="4915076"/>
          </a:xfrm>
          <a:prstGeom prst="rect">
            <a:avLst/>
          </a:prstGeom>
          <a:blipFill rotWithShape="1">
            <a:blip r:embed="rId2">
              <a:alphaModFix/>
            </a:blip>
            <a:stretch>
              <a:fillRect/>
            </a:stretch>
          </a:blipFill>
          <a:ln>
            <a:noFill/>
          </a:ln>
        </p:spPr>
      </p:pic>
      <p:sp>
        <p:nvSpPr>
          <p:cNvPr id="87" name="Google Shape;87;p52"/>
          <p:cNvSpPr txBox="1">
            <a:spLocks noGrp="1"/>
          </p:cNvSpPr>
          <p:nvPr>
            <p:ph type="body" idx="1"/>
          </p:nvPr>
        </p:nvSpPr>
        <p:spPr>
          <a:xfrm>
            <a:off x="1097280" y="5907023"/>
            <a:ext cx="10113264" cy="594360"/>
          </a:xfrm>
          <a:prstGeom prst="rect">
            <a:avLst/>
          </a:prstGeom>
          <a:noFill/>
          <a:ln>
            <a:noFill/>
          </a:ln>
        </p:spPr>
        <p:txBody>
          <a:bodyPr spcFirstLastPara="1" wrap="square" lIns="91425" tIns="0" rIns="91425" bIns="0" anchor="t" anchorCtr="0">
            <a:normAutofit/>
          </a:bodyPr>
          <a:lstStyle>
            <a:lvl1pPr marL="457200" lvl="0" indent="-228600" algn="l">
              <a:lnSpc>
                <a:spcPct val="90000"/>
              </a:lnSpc>
              <a:spcBef>
                <a:spcPts val="0"/>
              </a:spcBef>
              <a:spcAft>
                <a:spcPts val="0"/>
              </a:spcAft>
              <a:buSzPts val="1500"/>
              <a:buNone/>
              <a:defRPr sz="1500">
                <a:solidFill>
                  <a:srgbClr val="FFFFFF"/>
                </a:solidFill>
              </a:defRPr>
            </a:lvl1pPr>
            <a:lvl2pPr marL="914400" lvl="1" indent="-228600" algn="l">
              <a:lnSpc>
                <a:spcPct val="90000"/>
              </a:lnSpc>
              <a:spcBef>
                <a:spcPts val="600"/>
              </a:spcBef>
              <a:spcAft>
                <a:spcPts val="0"/>
              </a:spcAft>
              <a:buSzPts val="1200"/>
              <a:buNone/>
              <a:defRPr sz="1200"/>
            </a:lvl2pPr>
            <a:lvl3pPr marL="1371600" lvl="2" indent="-228600" algn="l">
              <a:lnSpc>
                <a:spcPct val="90000"/>
              </a:lnSpc>
              <a:spcBef>
                <a:spcPts val="400"/>
              </a:spcBef>
              <a:spcAft>
                <a:spcPts val="0"/>
              </a:spcAft>
              <a:buSzPts val="1000"/>
              <a:buNone/>
              <a:defRPr sz="1000"/>
            </a:lvl3pPr>
            <a:lvl4pPr marL="1828800" lvl="3" indent="-228600" algn="l">
              <a:lnSpc>
                <a:spcPct val="90000"/>
              </a:lnSpc>
              <a:spcBef>
                <a:spcPts val="400"/>
              </a:spcBef>
              <a:spcAft>
                <a:spcPts val="0"/>
              </a:spcAft>
              <a:buSzPts val="900"/>
              <a:buNone/>
              <a:defRPr sz="900"/>
            </a:lvl4pPr>
            <a:lvl5pPr marL="2286000" lvl="4" indent="-228600" algn="l">
              <a:lnSpc>
                <a:spcPct val="90000"/>
              </a:lnSpc>
              <a:spcBef>
                <a:spcPts val="400"/>
              </a:spcBef>
              <a:spcAft>
                <a:spcPts val="0"/>
              </a:spcAft>
              <a:buSzPts val="900"/>
              <a:buNone/>
              <a:defRPr sz="900"/>
            </a:lvl5pPr>
            <a:lvl6pPr marL="2743200" lvl="5" indent="-228600" algn="l">
              <a:lnSpc>
                <a:spcPct val="90000"/>
              </a:lnSpc>
              <a:spcBef>
                <a:spcPts val="400"/>
              </a:spcBef>
              <a:spcAft>
                <a:spcPts val="0"/>
              </a:spcAft>
              <a:buSzPts val="900"/>
              <a:buNone/>
              <a:defRPr sz="900"/>
            </a:lvl6pPr>
            <a:lvl7pPr marL="3200400" lvl="6" indent="-228600" algn="l">
              <a:lnSpc>
                <a:spcPct val="90000"/>
              </a:lnSpc>
              <a:spcBef>
                <a:spcPts val="400"/>
              </a:spcBef>
              <a:spcAft>
                <a:spcPts val="0"/>
              </a:spcAft>
              <a:buSzPts val="900"/>
              <a:buNone/>
              <a:defRPr sz="900"/>
            </a:lvl7pPr>
            <a:lvl8pPr marL="3657600" lvl="7" indent="-228600" algn="l">
              <a:lnSpc>
                <a:spcPct val="90000"/>
              </a:lnSpc>
              <a:spcBef>
                <a:spcPts val="400"/>
              </a:spcBef>
              <a:spcAft>
                <a:spcPts val="0"/>
              </a:spcAft>
              <a:buSzPts val="900"/>
              <a:buNone/>
              <a:defRPr sz="900"/>
            </a:lvl8pPr>
            <a:lvl9pPr marL="4114800" lvl="8" indent="-228600" algn="l">
              <a:lnSpc>
                <a:spcPct val="90000"/>
              </a:lnSpc>
              <a:spcBef>
                <a:spcPts val="400"/>
              </a:spcBef>
              <a:spcAft>
                <a:spcPts val="400"/>
              </a:spcAft>
              <a:buSzPts val="900"/>
              <a:buNone/>
              <a:defRPr sz="900"/>
            </a:lvl9pPr>
          </a:lstStyle>
          <a:p>
            <a:endParaRPr/>
          </a:p>
        </p:txBody>
      </p:sp>
      <p:sp>
        <p:nvSpPr>
          <p:cNvPr id="88" name="Google Shape;88;p52"/>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52"/>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52"/>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91"/>
        <p:cNvGrpSpPr/>
        <p:nvPr/>
      </p:nvGrpSpPr>
      <p:grpSpPr>
        <a:xfrm>
          <a:off x="0" y="0"/>
          <a:ext cx="0" cy="0"/>
          <a:chOff x="0" y="0"/>
          <a:chExt cx="0" cy="0"/>
        </a:xfrm>
      </p:grpSpPr>
      <p:sp>
        <p:nvSpPr>
          <p:cNvPr id="92" name="Google Shape;92;p53"/>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3" name="Google Shape;93;p53"/>
          <p:cNvSpPr txBox="1">
            <a:spLocks noGrp="1"/>
          </p:cNvSpPr>
          <p:nvPr>
            <p:ph type="body" idx="1"/>
          </p:nvPr>
        </p:nvSpPr>
        <p:spPr>
          <a:xfrm rot="5400000">
            <a:off x="4114800" y="-1171786"/>
            <a:ext cx="4023360" cy="10058400"/>
          </a:xfrm>
          <a:prstGeom prst="rect">
            <a:avLst/>
          </a:prstGeom>
          <a:noFill/>
          <a:ln>
            <a:noFill/>
          </a:ln>
        </p:spPr>
        <p:txBody>
          <a:bodyPr spcFirstLastPara="1" wrap="square" lIns="45700" tIns="0" rIns="45700" bIns="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94" name="Google Shape;94;p53"/>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53"/>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53"/>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97"/>
        <p:cNvGrpSpPr/>
        <p:nvPr/>
      </p:nvGrpSpPr>
      <p:grpSpPr>
        <a:xfrm>
          <a:off x="0" y="0"/>
          <a:ext cx="0" cy="0"/>
          <a:chOff x="0" y="0"/>
          <a:chExt cx="0" cy="0"/>
        </a:xfrm>
      </p:grpSpPr>
      <p:sp>
        <p:nvSpPr>
          <p:cNvPr id="98" name="Google Shape;98;p54"/>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54"/>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54"/>
          <p:cNvSpPr txBox="1">
            <a:spLocks noGrp="1"/>
          </p:cNvSpPr>
          <p:nvPr>
            <p:ph type="title"/>
          </p:nvPr>
        </p:nvSpPr>
        <p:spPr>
          <a:xfrm rot="5400000">
            <a:off x="7160640" y="1979039"/>
            <a:ext cx="5757421" cy="26289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1" name="Google Shape;101;p54"/>
          <p:cNvSpPr txBox="1">
            <a:spLocks noGrp="1"/>
          </p:cNvSpPr>
          <p:nvPr>
            <p:ph type="body" idx="1"/>
          </p:nvPr>
        </p:nvSpPr>
        <p:spPr>
          <a:xfrm rot="5400000">
            <a:off x="1826639" y="-573661"/>
            <a:ext cx="5757422" cy="7734300"/>
          </a:xfrm>
          <a:prstGeom prst="rect">
            <a:avLst/>
          </a:prstGeom>
          <a:noFill/>
          <a:ln>
            <a:noFill/>
          </a:ln>
        </p:spPr>
        <p:txBody>
          <a:bodyPr spcFirstLastPara="1" wrap="square" lIns="45700" tIns="0" rIns="45700" bIns="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102" name="Google Shape;102;p54"/>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54"/>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54"/>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2"/>
          <p:cNvSpPr/>
          <p:nvPr/>
        </p:nvSpPr>
        <p:spPr>
          <a:xfrm>
            <a:off x="1" y="6400800"/>
            <a:ext cx="12192000"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42"/>
          <p:cNvSpPr/>
          <p:nvPr/>
        </p:nvSpPr>
        <p:spPr>
          <a:xfrm>
            <a:off x="0" y="6334316"/>
            <a:ext cx="12192001" cy="6599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42"/>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marR="0" lvl="0" algn="l" rtl="0">
              <a:lnSpc>
                <a:spcPct val="85000"/>
              </a:lnSpc>
              <a:spcBef>
                <a:spcPts val="0"/>
              </a:spcBef>
              <a:spcAft>
                <a:spcPts val="0"/>
              </a:spcAft>
              <a:buClr>
                <a:srgbClr val="3F3F3F"/>
              </a:buClr>
              <a:buSzPts val="4800"/>
              <a:buFont typeface="Calibri"/>
              <a:buNone/>
              <a:defRPr sz="4800" b="0" i="0" u="none" strike="noStrike" cap="none">
                <a:solidFill>
                  <a:srgbClr val="3F3F3F"/>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 name="Google Shape;13;p42"/>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lvl1pPr marL="457200" marR="0" lvl="0" indent="-355600" algn="l" rtl="0">
              <a:lnSpc>
                <a:spcPct val="90000"/>
              </a:lnSpc>
              <a:spcBef>
                <a:spcPts val="1200"/>
              </a:spcBef>
              <a:spcAft>
                <a:spcPts val="0"/>
              </a:spcAft>
              <a:buClr>
                <a:schemeClr val="accent1"/>
              </a:buClr>
              <a:buSzPts val="2000"/>
              <a:buFont typeface="Calibri"/>
              <a:buChar char=" "/>
              <a:defRPr sz="2000" b="0" i="0" u="none" strike="noStrike" cap="none">
                <a:solidFill>
                  <a:srgbClr val="3F3F3F"/>
                </a:solidFill>
                <a:latin typeface="Calibri"/>
                <a:ea typeface="Calibri"/>
                <a:cs typeface="Calibri"/>
                <a:sym typeface="Calibri"/>
              </a:defRPr>
            </a:lvl1pPr>
            <a:lvl2pPr marL="914400" marR="0" lvl="1" indent="-342900" algn="l" rtl="0">
              <a:lnSpc>
                <a:spcPct val="90000"/>
              </a:lnSpc>
              <a:spcBef>
                <a:spcPts val="200"/>
              </a:spcBef>
              <a:spcAft>
                <a:spcPts val="0"/>
              </a:spcAft>
              <a:buClr>
                <a:schemeClr val="accent1"/>
              </a:buClr>
              <a:buSzPts val="1800"/>
              <a:buFont typeface="Calibri"/>
              <a:buChar char="◦"/>
              <a:defRPr sz="1800" b="0" i="0" u="none" strike="noStrike" cap="none">
                <a:solidFill>
                  <a:srgbClr val="3F3F3F"/>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8pPr>
            <a:lvl9pPr marL="4114800" marR="0" lvl="8" indent="-317500" algn="l" rtl="0">
              <a:lnSpc>
                <a:spcPct val="90000"/>
              </a:lnSpc>
              <a:spcBef>
                <a:spcPts val="400"/>
              </a:spcBef>
              <a:spcAft>
                <a:spcPts val="40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9pPr>
          </a:lstStyle>
          <a:p>
            <a:endParaRPr/>
          </a:p>
        </p:txBody>
      </p:sp>
      <p:sp>
        <p:nvSpPr>
          <p:cNvPr id="14" name="Google Shape;14;p42"/>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FFFFFF"/>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5" name="Google Shape;15;p42"/>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FFFFFF"/>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6" name="Google Shape;16;p42"/>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050" b="0" i="0" u="none" strike="noStrike" cap="none">
                <a:solidFill>
                  <a:srgbClr val="FFFFFF"/>
                </a:solidFill>
                <a:latin typeface="Calibri"/>
                <a:ea typeface="Calibri"/>
                <a:cs typeface="Calibri"/>
                <a:sym typeface="Calibri"/>
              </a:defRPr>
            </a:lvl1pPr>
            <a:lvl2pPr marL="0" marR="0" lvl="1" indent="0" algn="r" rtl="0">
              <a:spcBef>
                <a:spcPts val="0"/>
              </a:spcBef>
              <a:buNone/>
              <a:defRPr sz="1050" b="0" i="0" u="none" strike="noStrike" cap="none">
                <a:solidFill>
                  <a:srgbClr val="FFFFFF"/>
                </a:solidFill>
                <a:latin typeface="Calibri"/>
                <a:ea typeface="Calibri"/>
                <a:cs typeface="Calibri"/>
                <a:sym typeface="Calibri"/>
              </a:defRPr>
            </a:lvl2pPr>
            <a:lvl3pPr marL="0" marR="0" lvl="2" indent="0" algn="r" rtl="0">
              <a:spcBef>
                <a:spcPts val="0"/>
              </a:spcBef>
              <a:buNone/>
              <a:defRPr sz="1050" b="0" i="0" u="none" strike="noStrike" cap="none">
                <a:solidFill>
                  <a:srgbClr val="FFFFFF"/>
                </a:solidFill>
                <a:latin typeface="Calibri"/>
                <a:ea typeface="Calibri"/>
                <a:cs typeface="Calibri"/>
                <a:sym typeface="Calibri"/>
              </a:defRPr>
            </a:lvl3pPr>
            <a:lvl4pPr marL="0" marR="0" lvl="3" indent="0" algn="r" rtl="0">
              <a:spcBef>
                <a:spcPts val="0"/>
              </a:spcBef>
              <a:buNone/>
              <a:defRPr sz="1050" b="0" i="0" u="none" strike="noStrike" cap="none">
                <a:solidFill>
                  <a:srgbClr val="FFFFFF"/>
                </a:solidFill>
                <a:latin typeface="Calibri"/>
                <a:ea typeface="Calibri"/>
                <a:cs typeface="Calibri"/>
                <a:sym typeface="Calibri"/>
              </a:defRPr>
            </a:lvl4pPr>
            <a:lvl5pPr marL="0" marR="0" lvl="4" indent="0" algn="r" rtl="0">
              <a:spcBef>
                <a:spcPts val="0"/>
              </a:spcBef>
              <a:buNone/>
              <a:defRPr sz="1050" b="0" i="0" u="none" strike="noStrike" cap="none">
                <a:solidFill>
                  <a:srgbClr val="FFFFFF"/>
                </a:solidFill>
                <a:latin typeface="Calibri"/>
                <a:ea typeface="Calibri"/>
                <a:cs typeface="Calibri"/>
                <a:sym typeface="Calibri"/>
              </a:defRPr>
            </a:lvl5pPr>
            <a:lvl6pPr marL="0" marR="0" lvl="5" indent="0" algn="r" rtl="0">
              <a:spcBef>
                <a:spcPts val="0"/>
              </a:spcBef>
              <a:buNone/>
              <a:defRPr sz="1050" b="0" i="0" u="none" strike="noStrike" cap="none">
                <a:solidFill>
                  <a:srgbClr val="FFFFFF"/>
                </a:solidFill>
                <a:latin typeface="Calibri"/>
                <a:ea typeface="Calibri"/>
                <a:cs typeface="Calibri"/>
                <a:sym typeface="Calibri"/>
              </a:defRPr>
            </a:lvl6pPr>
            <a:lvl7pPr marL="0" marR="0" lvl="6" indent="0" algn="r" rtl="0">
              <a:spcBef>
                <a:spcPts val="0"/>
              </a:spcBef>
              <a:buNone/>
              <a:defRPr sz="1050" b="0" i="0" u="none" strike="noStrike" cap="none">
                <a:solidFill>
                  <a:srgbClr val="FFFFFF"/>
                </a:solidFill>
                <a:latin typeface="Calibri"/>
                <a:ea typeface="Calibri"/>
                <a:cs typeface="Calibri"/>
                <a:sym typeface="Calibri"/>
              </a:defRPr>
            </a:lvl7pPr>
            <a:lvl8pPr marL="0" marR="0" lvl="7" indent="0" algn="r" rtl="0">
              <a:spcBef>
                <a:spcPts val="0"/>
              </a:spcBef>
              <a:buNone/>
              <a:defRPr sz="1050" b="0" i="0" u="none" strike="noStrike" cap="none">
                <a:solidFill>
                  <a:srgbClr val="FFFFFF"/>
                </a:solidFill>
                <a:latin typeface="Calibri"/>
                <a:ea typeface="Calibri"/>
                <a:cs typeface="Calibri"/>
                <a:sym typeface="Calibri"/>
              </a:defRPr>
            </a:lvl8pPr>
            <a:lvl9pPr marL="0" marR="0" lvl="8" indent="0" algn="r" rtl="0">
              <a:spcBef>
                <a:spcPts val="0"/>
              </a:spcBef>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cxnSp>
        <p:nvCxnSpPr>
          <p:cNvPr id="17" name="Google Shape;17;p42"/>
          <p:cNvCxnSpPr/>
          <p:nvPr/>
        </p:nvCxnSpPr>
        <p:spPr>
          <a:xfrm>
            <a:off x="1193532" y="1737845"/>
            <a:ext cx="9966960" cy="0"/>
          </a:xfrm>
          <a:prstGeom prst="straightConnector1">
            <a:avLst/>
          </a:prstGeom>
          <a:noFill/>
          <a:ln w="9525" cap="flat" cmpd="sng">
            <a:solidFill>
              <a:srgbClr val="7F7F7F"/>
            </a:solidFill>
            <a:prstDash val="solid"/>
            <a:round/>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3.xml"/><Relationship Id="rId1" Type="http://schemas.openxmlformats.org/officeDocument/2006/relationships/vmlDrawing" Target="../drawings/vmlDrawing1.vml"/><Relationship Id="rId6" Type="http://schemas.openxmlformats.org/officeDocument/2006/relationships/image" Target="../media/image3.png"/><Relationship Id="rId5" Type="http://schemas.openxmlformats.org/officeDocument/2006/relationships/oleObject" Target="../embeddings/oleObject1.bin"/><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openxmlformats.org/officeDocument/2006/relationships/image" Target="../media/image11.wmf"/><Relationship Id="rId3" Type="http://schemas.openxmlformats.org/officeDocument/2006/relationships/notesSlide" Target="../notesSlides/notesSlide34.xml"/><Relationship Id="rId7"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3.bin"/><Relationship Id="rId13" Type="http://schemas.openxmlformats.org/officeDocument/2006/relationships/image" Target="../media/image17.png"/><Relationship Id="rId3" Type="http://schemas.openxmlformats.org/officeDocument/2006/relationships/notesSlide" Target="../notesSlides/notesSlide35.xml"/><Relationship Id="rId7" Type="http://schemas.openxmlformats.org/officeDocument/2006/relationships/image" Target="../media/image22.png"/><Relationship Id="rId12" Type="http://schemas.openxmlformats.org/officeDocument/2006/relationships/oleObject" Target="../embeddings/oleObject5.bin"/><Relationship Id="rId2" Type="http://schemas.openxmlformats.org/officeDocument/2006/relationships/slideLayout" Target="../slideLayouts/slideLayout4.xml"/><Relationship Id="rId1" Type="http://schemas.openxmlformats.org/officeDocument/2006/relationships/vmlDrawing" Target="../drawings/vmlDrawing3.vml"/><Relationship Id="rId6" Type="http://schemas.openxmlformats.org/officeDocument/2006/relationships/image" Target="../media/image21.png"/><Relationship Id="rId11" Type="http://schemas.openxmlformats.org/officeDocument/2006/relationships/image" Target="../media/image16.png"/><Relationship Id="rId5" Type="http://schemas.openxmlformats.org/officeDocument/2006/relationships/image" Target="../media/image20.png"/><Relationship Id="rId15" Type="http://schemas.openxmlformats.org/officeDocument/2006/relationships/image" Target="../media/image18.png"/><Relationship Id="rId10" Type="http://schemas.openxmlformats.org/officeDocument/2006/relationships/oleObject" Target="../embeddings/oleObject4.bin"/><Relationship Id="rId4" Type="http://schemas.openxmlformats.org/officeDocument/2006/relationships/image" Target="../media/image19.png"/><Relationship Id="rId9" Type="http://schemas.openxmlformats.org/officeDocument/2006/relationships/image" Target="../media/image15.png"/><Relationship Id="rId14" Type="http://schemas.openxmlformats.org/officeDocument/2006/relationships/oleObject" Target="../embeddings/oleObject6.bin"/></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
          <p:cNvSpPr txBox="1">
            <a:spLocks noGrp="1"/>
          </p:cNvSpPr>
          <p:nvPr>
            <p:ph type="ctrTitle"/>
          </p:nvPr>
        </p:nvSpPr>
        <p:spPr>
          <a:xfrm>
            <a:off x="1097280" y="758952"/>
            <a:ext cx="10058400" cy="356616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262626"/>
              </a:buClr>
              <a:buSzPts val="8000"/>
              <a:buFont typeface="Calibri"/>
              <a:buNone/>
            </a:pPr>
            <a:r>
              <a:rPr lang="en-US"/>
              <a:t>Database Normalization</a:t>
            </a:r>
            <a:endParaRPr/>
          </a:p>
        </p:txBody>
      </p:sp>
      <p:sp>
        <p:nvSpPr>
          <p:cNvPr id="110" name="Google Shape;110;p1"/>
          <p:cNvSpPr txBox="1">
            <a:spLocks noGrp="1"/>
          </p:cNvSpPr>
          <p:nvPr>
            <p:ph type="subTitle" idx="1"/>
          </p:nvPr>
        </p:nvSpPr>
        <p:spPr>
          <a:xfrm>
            <a:off x="1100051" y="4455620"/>
            <a:ext cx="10058400" cy="11430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2400"/>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dirty="0"/>
              <a:t>Redundancy?</a:t>
            </a:r>
            <a:endParaRPr dirty="0"/>
          </a:p>
        </p:txBody>
      </p:sp>
      <p:sp>
        <p:nvSpPr>
          <p:cNvPr id="116" name="Google Shape;116;p2"/>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p>
            <a:pPr marL="91440" lvl="0" indent="-127000" algn="l" rtl="0">
              <a:lnSpc>
                <a:spcPct val="90000"/>
              </a:lnSpc>
              <a:spcBef>
                <a:spcPts val="0"/>
              </a:spcBef>
              <a:spcAft>
                <a:spcPts val="0"/>
              </a:spcAft>
              <a:buSzPts val="2000"/>
              <a:buChar char=" "/>
            </a:pPr>
            <a:r>
              <a:rPr lang="en-US" dirty="0"/>
              <a:t>Consider the table:</a:t>
            </a:r>
            <a:endParaRPr dirty="0"/>
          </a:p>
          <a:p>
            <a:pPr marL="91440" lvl="0" indent="0" algn="l" rtl="0">
              <a:lnSpc>
                <a:spcPct val="90000"/>
              </a:lnSpc>
              <a:spcBef>
                <a:spcPts val="1400"/>
              </a:spcBef>
              <a:spcAft>
                <a:spcPts val="0"/>
              </a:spcAft>
              <a:buSzPts val="2000"/>
              <a:buNone/>
            </a:pPr>
            <a:endParaRPr dirty="0"/>
          </a:p>
        </p:txBody>
      </p:sp>
      <p:graphicFrame>
        <p:nvGraphicFramePr>
          <p:cNvPr id="117" name="Google Shape;117;p2"/>
          <p:cNvGraphicFramePr/>
          <p:nvPr/>
        </p:nvGraphicFramePr>
        <p:xfrm>
          <a:off x="1871134" y="2472266"/>
          <a:ext cx="5805725" cy="2595950"/>
        </p:xfrm>
        <a:graphic>
          <a:graphicData uri="http://schemas.openxmlformats.org/drawingml/2006/table">
            <a:tbl>
              <a:tblPr firstRow="1" bandRow="1">
                <a:noFill/>
                <a:tableStyleId>{CAEFD402-7BAA-4683-8AB4-5E6667C64626}</a:tableStyleId>
              </a:tblPr>
              <a:tblGrid>
                <a:gridCol w="787400">
                  <a:extLst>
                    <a:ext uri="{9D8B030D-6E8A-4147-A177-3AD203B41FA5}">
                      <a16:colId xmlns:a16="http://schemas.microsoft.com/office/drawing/2014/main" val="20000"/>
                    </a:ext>
                  </a:extLst>
                </a:gridCol>
                <a:gridCol w="1534875">
                  <a:extLst>
                    <a:ext uri="{9D8B030D-6E8A-4147-A177-3AD203B41FA5}">
                      <a16:colId xmlns:a16="http://schemas.microsoft.com/office/drawing/2014/main" val="20001"/>
                    </a:ext>
                  </a:extLst>
                </a:gridCol>
                <a:gridCol w="1161150">
                  <a:extLst>
                    <a:ext uri="{9D8B030D-6E8A-4147-A177-3AD203B41FA5}">
                      <a16:colId xmlns:a16="http://schemas.microsoft.com/office/drawing/2014/main" val="20002"/>
                    </a:ext>
                  </a:extLst>
                </a:gridCol>
                <a:gridCol w="1161150">
                  <a:extLst>
                    <a:ext uri="{9D8B030D-6E8A-4147-A177-3AD203B41FA5}">
                      <a16:colId xmlns:a16="http://schemas.microsoft.com/office/drawing/2014/main" val="20003"/>
                    </a:ext>
                  </a:extLst>
                </a:gridCol>
                <a:gridCol w="1161150">
                  <a:extLst>
                    <a:ext uri="{9D8B030D-6E8A-4147-A177-3AD203B41FA5}">
                      <a16:colId xmlns:a16="http://schemas.microsoft.com/office/drawing/2014/main" val="20004"/>
                    </a:ext>
                  </a:extLst>
                </a:gridCol>
              </a:tblGrid>
              <a:tr h="370850">
                <a:tc>
                  <a:txBody>
                    <a:bodyPr/>
                    <a:lstStyle/>
                    <a:p>
                      <a:pPr marL="0" marR="0" lvl="0" indent="0" algn="l" rtl="0">
                        <a:spcBef>
                          <a:spcPts val="0"/>
                        </a:spcBef>
                        <a:spcAft>
                          <a:spcPts val="0"/>
                        </a:spcAft>
                        <a:buNone/>
                      </a:pPr>
                      <a:r>
                        <a:rPr lang="en-US" sz="1800" u="none" strike="noStrike" cap="none"/>
                        <a:t>Sno</a:t>
                      </a:r>
                      <a:endParaRPr sz="1800"/>
                    </a:p>
                  </a:txBody>
                  <a:tcPr marL="91450" marR="91450" marT="45725" marB="45725"/>
                </a:tc>
                <a:tc>
                  <a:txBody>
                    <a:bodyPr/>
                    <a:lstStyle/>
                    <a:p>
                      <a:pPr marL="0" marR="0" lvl="0" indent="0" algn="l" rtl="0">
                        <a:spcBef>
                          <a:spcPts val="0"/>
                        </a:spcBef>
                        <a:spcAft>
                          <a:spcPts val="0"/>
                        </a:spcAft>
                        <a:buNone/>
                      </a:pPr>
                      <a:r>
                        <a:rPr lang="en-US" sz="1800"/>
                        <a:t>Sname</a:t>
                      </a:r>
                      <a:endParaRPr sz="1800"/>
                    </a:p>
                  </a:txBody>
                  <a:tcPr marL="91450" marR="91450" marT="45725" marB="45725"/>
                </a:tc>
                <a:tc>
                  <a:txBody>
                    <a:bodyPr/>
                    <a:lstStyle/>
                    <a:p>
                      <a:pPr marL="0" marR="0" lvl="0" indent="0" algn="l" rtl="0">
                        <a:spcBef>
                          <a:spcPts val="0"/>
                        </a:spcBef>
                        <a:spcAft>
                          <a:spcPts val="0"/>
                        </a:spcAft>
                        <a:buNone/>
                      </a:pPr>
                      <a:r>
                        <a:rPr lang="en-US" sz="1800"/>
                        <a:t>Cname</a:t>
                      </a:r>
                      <a:endParaRPr sz="1800"/>
                    </a:p>
                  </a:txBody>
                  <a:tcPr marL="91450" marR="91450" marT="45725" marB="45725"/>
                </a:tc>
                <a:tc>
                  <a:txBody>
                    <a:bodyPr/>
                    <a:lstStyle/>
                    <a:p>
                      <a:pPr marL="0" marR="0" lvl="0" indent="0" algn="l" rtl="0">
                        <a:spcBef>
                          <a:spcPts val="0"/>
                        </a:spcBef>
                        <a:spcAft>
                          <a:spcPts val="0"/>
                        </a:spcAft>
                        <a:buNone/>
                      </a:pPr>
                      <a:r>
                        <a:rPr lang="en-US" sz="1800"/>
                        <a:t>Duration</a:t>
                      </a:r>
                      <a:endParaRPr sz="1800"/>
                    </a:p>
                  </a:txBody>
                  <a:tcPr marL="91450" marR="91450" marT="45725" marB="45725"/>
                </a:tc>
                <a:tc>
                  <a:txBody>
                    <a:bodyPr/>
                    <a:lstStyle/>
                    <a:p>
                      <a:pPr marL="0" marR="0" lvl="0" indent="0" algn="l" rtl="0">
                        <a:spcBef>
                          <a:spcPts val="0"/>
                        </a:spcBef>
                        <a:spcAft>
                          <a:spcPts val="0"/>
                        </a:spcAft>
                        <a:buNone/>
                      </a:pPr>
                      <a:r>
                        <a:rPr lang="en-US" sz="1800"/>
                        <a:t>fee</a:t>
                      </a:r>
                      <a:endParaRPr sz="1800"/>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800"/>
                        <a:t>1</a:t>
                      </a:r>
                      <a:endParaRPr sz="1800"/>
                    </a:p>
                  </a:txBody>
                  <a:tcPr marL="91450" marR="91450" marT="45725" marB="45725"/>
                </a:tc>
                <a:tc>
                  <a:txBody>
                    <a:bodyPr/>
                    <a:lstStyle/>
                    <a:p>
                      <a:pPr marL="0" marR="0" lvl="0" indent="0" algn="l" rtl="0">
                        <a:spcBef>
                          <a:spcPts val="0"/>
                        </a:spcBef>
                        <a:spcAft>
                          <a:spcPts val="0"/>
                        </a:spcAft>
                        <a:buNone/>
                      </a:pPr>
                      <a:r>
                        <a:rPr lang="en-US" sz="1800"/>
                        <a:t>Anju</a:t>
                      </a:r>
                      <a:endParaRPr sz="1800"/>
                    </a:p>
                  </a:txBody>
                  <a:tcPr marL="91450" marR="91450" marT="45725" marB="45725"/>
                </a:tc>
                <a:tc>
                  <a:txBody>
                    <a:bodyPr/>
                    <a:lstStyle/>
                    <a:p>
                      <a:pPr marL="0" marR="0" lvl="0" indent="0" algn="l" rtl="0">
                        <a:spcBef>
                          <a:spcPts val="0"/>
                        </a:spcBef>
                        <a:spcAft>
                          <a:spcPts val="0"/>
                        </a:spcAft>
                        <a:buNone/>
                      </a:pPr>
                      <a:r>
                        <a:rPr lang="en-US" sz="1800"/>
                        <a:t>BSc</a:t>
                      </a:r>
                      <a:endParaRPr sz="1800"/>
                    </a:p>
                  </a:txBody>
                  <a:tcPr marL="91450" marR="91450" marT="45725" marB="45725"/>
                </a:tc>
                <a:tc>
                  <a:txBody>
                    <a:bodyPr/>
                    <a:lstStyle/>
                    <a:p>
                      <a:pPr marL="0" marR="0" lvl="0" indent="0" algn="l" rtl="0">
                        <a:spcBef>
                          <a:spcPts val="0"/>
                        </a:spcBef>
                        <a:spcAft>
                          <a:spcPts val="0"/>
                        </a:spcAft>
                        <a:buNone/>
                      </a:pPr>
                      <a:r>
                        <a:rPr lang="en-US" sz="1800"/>
                        <a:t>4</a:t>
                      </a:r>
                      <a:endParaRPr sz="1800"/>
                    </a:p>
                  </a:txBody>
                  <a:tcPr marL="91450" marR="91450" marT="45725" marB="45725"/>
                </a:tc>
                <a:tc>
                  <a:txBody>
                    <a:bodyPr/>
                    <a:lstStyle/>
                    <a:p>
                      <a:pPr marL="0" marR="0" lvl="0" indent="0" algn="l" rtl="0">
                        <a:spcBef>
                          <a:spcPts val="0"/>
                        </a:spcBef>
                        <a:spcAft>
                          <a:spcPts val="0"/>
                        </a:spcAft>
                        <a:buNone/>
                      </a:pPr>
                      <a:r>
                        <a:rPr lang="en-US" sz="1800"/>
                        <a:t>600000</a:t>
                      </a:r>
                      <a:endParaRPr sz="1800"/>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US" sz="1800"/>
                        <a:t>2</a:t>
                      </a:r>
                      <a:endParaRPr sz="1800"/>
                    </a:p>
                  </a:txBody>
                  <a:tcPr marL="91450" marR="91450" marT="45725" marB="45725"/>
                </a:tc>
                <a:tc>
                  <a:txBody>
                    <a:bodyPr/>
                    <a:lstStyle/>
                    <a:p>
                      <a:pPr marL="0" marR="0" lvl="0" indent="0" algn="l" rtl="0">
                        <a:spcBef>
                          <a:spcPts val="0"/>
                        </a:spcBef>
                        <a:spcAft>
                          <a:spcPts val="0"/>
                        </a:spcAft>
                        <a:buNone/>
                      </a:pPr>
                      <a:r>
                        <a:rPr lang="en-US" sz="1800"/>
                        <a:t>Binu</a:t>
                      </a:r>
                      <a:endParaRPr sz="1800"/>
                    </a:p>
                  </a:txBody>
                  <a:tcPr marL="91450" marR="91450" marT="45725" marB="45725"/>
                </a:tc>
                <a:tc>
                  <a:txBody>
                    <a:bodyPr/>
                    <a:lstStyle/>
                    <a:p>
                      <a:pPr marL="0" marR="0" lvl="0" indent="0" algn="l" rtl="0">
                        <a:spcBef>
                          <a:spcPts val="0"/>
                        </a:spcBef>
                        <a:spcAft>
                          <a:spcPts val="0"/>
                        </a:spcAft>
                        <a:buNone/>
                      </a:pPr>
                      <a:r>
                        <a:rPr lang="en-US" sz="1800"/>
                        <a:t>BCA</a:t>
                      </a:r>
                      <a:endParaRPr sz="1800"/>
                    </a:p>
                  </a:txBody>
                  <a:tcPr marL="91450" marR="91450" marT="45725" marB="45725"/>
                </a:tc>
                <a:tc>
                  <a:txBody>
                    <a:bodyPr/>
                    <a:lstStyle/>
                    <a:p>
                      <a:pPr marL="0" marR="0" lvl="0" indent="0" algn="l" rtl="0">
                        <a:spcBef>
                          <a:spcPts val="0"/>
                        </a:spcBef>
                        <a:spcAft>
                          <a:spcPts val="0"/>
                        </a:spcAft>
                        <a:buNone/>
                      </a:pPr>
                      <a:r>
                        <a:rPr lang="en-US" sz="1800"/>
                        <a:t>4</a:t>
                      </a:r>
                      <a:endParaRPr sz="1800"/>
                    </a:p>
                  </a:txBody>
                  <a:tcPr marL="91450" marR="91450" marT="45725" marB="45725"/>
                </a:tc>
                <a:tc>
                  <a:txBody>
                    <a:bodyPr/>
                    <a:lstStyle/>
                    <a:p>
                      <a:pPr marL="0" marR="0" lvl="0" indent="0" algn="l" rtl="0">
                        <a:spcBef>
                          <a:spcPts val="0"/>
                        </a:spcBef>
                        <a:spcAft>
                          <a:spcPts val="0"/>
                        </a:spcAft>
                        <a:buNone/>
                      </a:pPr>
                      <a:r>
                        <a:rPr lang="en-US" sz="1800"/>
                        <a:t>550000</a:t>
                      </a:r>
                      <a:endParaRPr sz="1800"/>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r>
                        <a:rPr lang="en-US" sz="1800"/>
                        <a:t>3</a:t>
                      </a:r>
                      <a:endParaRPr sz="1800"/>
                    </a:p>
                  </a:txBody>
                  <a:tcPr marL="91450" marR="91450" marT="45725" marB="45725"/>
                </a:tc>
                <a:tc>
                  <a:txBody>
                    <a:bodyPr/>
                    <a:lstStyle/>
                    <a:p>
                      <a:pPr marL="0" marR="0" lvl="0" indent="0" algn="l" rtl="0">
                        <a:spcBef>
                          <a:spcPts val="0"/>
                        </a:spcBef>
                        <a:spcAft>
                          <a:spcPts val="0"/>
                        </a:spcAft>
                        <a:buNone/>
                      </a:pPr>
                      <a:r>
                        <a:rPr lang="en-US" sz="1800"/>
                        <a:t>Anitha</a:t>
                      </a:r>
                      <a:endParaRPr sz="1800"/>
                    </a:p>
                  </a:txBody>
                  <a:tcPr marL="91450" marR="91450" marT="45725" marB="45725"/>
                </a:tc>
                <a:tc>
                  <a:txBody>
                    <a:bodyPr/>
                    <a:lstStyle/>
                    <a:p>
                      <a:pPr marL="0" marR="0" lvl="0" indent="0" algn="l" rtl="0">
                        <a:spcBef>
                          <a:spcPts val="0"/>
                        </a:spcBef>
                        <a:spcAft>
                          <a:spcPts val="0"/>
                        </a:spcAft>
                        <a:buNone/>
                      </a:pPr>
                      <a:r>
                        <a:rPr lang="en-US" sz="1800"/>
                        <a:t>MCA</a:t>
                      </a:r>
                      <a:endParaRPr sz="1800"/>
                    </a:p>
                  </a:txBody>
                  <a:tcPr marL="91450" marR="91450" marT="45725" marB="45725"/>
                </a:tc>
                <a:tc>
                  <a:txBody>
                    <a:bodyPr/>
                    <a:lstStyle/>
                    <a:p>
                      <a:pPr marL="0" marR="0" lvl="0" indent="0" algn="l" rtl="0">
                        <a:spcBef>
                          <a:spcPts val="0"/>
                        </a:spcBef>
                        <a:spcAft>
                          <a:spcPts val="0"/>
                        </a:spcAft>
                        <a:buNone/>
                      </a:pPr>
                      <a:r>
                        <a:rPr lang="en-US" sz="1800"/>
                        <a:t>2</a:t>
                      </a:r>
                      <a:endParaRPr sz="1800"/>
                    </a:p>
                  </a:txBody>
                  <a:tcPr marL="91450" marR="91450" marT="45725" marB="45725"/>
                </a:tc>
                <a:tc>
                  <a:txBody>
                    <a:bodyPr/>
                    <a:lstStyle/>
                    <a:p>
                      <a:pPr marL="0" marR="0" lvl="0" indent="0" algn="l" rtl="0">
                        <a:spcBef>
                          <a:spcPts val="0"/>
                        </a:spcBef>
                        <a:spcAft>
                          <a:spcPts val="0"/>
                        </a:spcAft>
                        <a:buNone/>
                      </a:pPr>
                      <a:r>
                        <a:rPr lang="en-US" sz="1800"/>
                        <a:t>200000</a:t>
                      </a:r>
                      <a:endParaRPr sz="1800"/>
                    </a:p>
                  </a:txBody>
                  <a:tcPr marL="91450" marR="91450" marT="45725" marB="45725"/>
                </a:tc>
                <a:extLst>
                  <a:ext uri="{0D108BD9-81ED-4DB2-BD59-A6C34878D82A}">
                    <a16:rowId xmlns:a16="http://schemas.microsoft.com/office/drawing/2014/main" val="10003"/>
                  </a:ext>
                </a:extLst>
              </a:tr>
              <a:tr h="370850">
                <a:tc>
                  <a:txBody>
                    <a:bodyPr/>
                    <a:lstStyle/>
                    <a:p>
                      <a:pPr marL="0" marR="0" lvl="0" indent="0" algn="l" rtl="0">
                        <a:spcBef>
                          <a:spcPts val="0"/>
                        </a:spcBef>
                        <a:spcAft>
                          <a:spcPts val="0"/>
                        </a:spcAft>
                        <a:buNone/>
                      </a:pPr>
                      <a:r>
                        <a:rPr lang="en-US" sz="1800"/>
                        <a:t>4</a:t>
                      </a:r>
                      <a:endParaRPr sz="1800"/>
                    </a:p>
                  </a:txBody>
                  <a:tcPr marL="91450" marR="91450" marT="45725" marB="45725"/>
                </a:tc>
                <a:tc>
                  <a:txBody>
                    <a:bodyPr/>
                    <a:lstStyle/>
                    <a:p>
                      <a:pPr marL="0" marR="0" lvl="0" indent="0" algn="l" rtl="0">
                        <a:spcBef>
                          <a:spcPts val="0"/>
                        </a:spcBef>
                        <a:spcAft>
                          <a:spcPts val="0"/>
                        </a:spcAft>
                        <a:buNone/>
                      </a:pPr>
                      <a:r>
                        <a:rPr lang="en-US" sz="1800"/>
                        <a:t>Abhinav</a:t>
                      </a:r>
                      <a:endParaRPr sz="1800"/>
                    </a:p>
                  </a:txBody>
                  <a:tcPr marL="91450" marR="91450" marT="45725" marB="45725"/>
                </a:tc>
                <a:tc>
                  <a:txBody>
                    <a:bodyPr/>
                    <a:lstStyle/>
                    <a:p>
                      <a:pPr marL="0" marR="0" lvl="0" indent="0" algn="l" rtl="0">
                        <a:spcBef>
                          <a:spcPts val="0"/>
                        </a:spcBef>
                        <a:spcAft>
                          <a:spcPts val="0"/>
                        </a:spcAft>
                        <a:buNone/>
                      </a:pPr>
                      <a:r>
                        <a:rPr lang="en-US" sz="1800"/>
                        <a:t>BSc</a:t>
                      </a:r>
                      <a:endParaRPr sz="1800"/>
                    </a:p>
                  </a:txBody>
                  <a:tcPr marL="91450" marR="91450" marT="45725" marB="45725"/>
                </a:tc>
                <a:tc>
                  <a:txBody>
                    <a:bodyPr/>
                    <a:lstStyle/>
                    <a:p>
                      <a:pPr marL="0" marR="0" lvl="0" indent="0" algn="l" rtl="0">
                        <a:spcBef>
                          <a:spcPts val="0"/>
                        </a:spcBef>
                        <a:spcAft>
                          <a:spcPts val="0"/>
                        </a:spcAft>
                        <a:buNone/>
                      </a:pPr>
                      <a:r>
                        <a:rPr lang="en-US" sz="1800"/>
                        <a:t>4</a:t>
                      </a:r>
                      <a:endParaRPr sz="1800"/>
                    </a:p>
                  </a:txBody>
                  <a:tcPr marL="91450" marR="91450" marT="45725" marB="45725"/>
                </a:tc>
                <a:tc>
                  <a:txBody>
                    <a:bodyPr/>
                    <a:lstStyle/>
                    <a:p>
                      <a:pPr marL="0" marR="0" lvl="0" indent="0" algn="l" rtl="0">
                        <a:spcBef>
                          <a:spcPts val="0"/>
                        </a:spcBef>
                        <a:spcAft>
                          <a:spcPts val="0"/>
                        </a:spcAft>
                        <a:buNone/>
                      </a:pPr>
                      <a:r>
                        <a:rPr lang="en-US" sz="1800"/>
                        <a:t>600000</a:t>
                      </a:r>
                      <a:endParaRPr sz="1800"/>
                    </a:p>
                  </a:txBody>
                  <a:tcPr marL="91450" marR="91450" marT="45725" marB="45725"/>
                </a:tc>
                <a:extLst>
                  <a:ext uri="{0D108BD9-81ED-4DB2-BD59-A6C34878D82A}">
                    <a16:rowId xmlns:a16="http://schemas.microsoft.com/office/drawing/2014/main" val="10004"/>
                  </a:ext>
                </a:extLst>
              </a:tr>
              <a:tr h="370850">
                <a:tc>
                  <a:txBody>
                    <a:bodyPr/>
                    <a:lstStyle/>
                    <a:p>
                      <a:pPr marL="0" marR="0" lvl="0" indent="0" algn="l" rtl="0">
                        <a:spcBef>
                          <a:spcPts val="0"/>
                        </a:spcBef>
                        <a:spcAft>
                          <a:spcPts val="0"/>
                        </a:spcAft>
                        <a:buNone/>
                      </a:pPr>
                      <a:r>
                        <a:rPr lang="en-US" sz="1800"/>
                        <a:t>5</a:t>
                      </a:r>
                      <a:endParaRPr sz="1800"/>
                    </a:p>
                  </a:txBody>
                  <a:tcPr marL="91450" marR="91450" marT="45725" marB="45725"/>
                </a:tc>
                <a:tc>
                  <a:txBody>
                    <a:bodyPr/>
                    <a:lstStyle/>
                    <a:p>
                      <a:pPr marL="0" marR="0" lvl="0" indent="0" algn="l" rtl="0">
                        <a:spcBef>
                          <a:spcPts val="0"/>
                        </a:spcBef>
                        <a:spcAft>
                          <a:spcPts val="0"/>
                        </a:spcAft>
                        <a:buNone/>
                      </a:pPr>
                      <a:r>
                        <a:rPr lang="en-US" sz="1800"/>
                        <a:t>Ajay</a:t>
                      </a:r>
                      <a:endParaRPr sz="1800"/>
                    </a:p>
                  </a:txBody>
                  <a:tcPr marL="91450" marR="91450" marT="45725" marB="45725"/>
                </a:tc>
                <a:tc>
                  <a:txBody>
                    <a:bodyPr/>
                    <a:lstStyle/>
                    <a:p>
                      <a:pPr marL="0" marR="0" lvl="0" indent="0" algn="l" rtl="0">
                        <a:spcBef>
                          <a:spcPts val="0"/>
                        </a:spcBef>
                        <a:spcAft>
                          <a:spcPts val="0"/>
                        </a:spcAft>
                        <a:buNone/>
                      </a:pPr>
                      <a:r>
                        <a:rPr lang="en-US" sz="1800"/>
                        <a:t>MCA</a:t>
                      </a:r>
                      <a:endParaRPr sz="1800"/>
                    </a:p>
                  </a:txBody>
                  <a:tcPr marL="91450" marR="91450" marT="45725" marB="45725"/>
                </a:tc>
                <a:tc>
                  <a:txBody>
                    <a:bodyPr/>
                    <a:lstStyle/>
                    <a:p>
                      <a:pPr marL="0" marR="0" lvl="0" indent="0" algn="l" rtl="0">
                        <a:spcBef>
                          <a:spcPts val="0"/>
                        </a:spcBef>
                        <a:spcAft>
                          <a:spcPts val="0"/>
                        </a:spcAft>
                        <a:buNone/>
                      </a:pPr>
                      <a:r>
                        <a:rPr lang="en-US" sz="1800"/>
                        <a:t>2</a:t>
                      </a:r>
                      <a:endParaRPr sz="1800"/>
                    </a:p>
                  </a:txBody>
                  <a:tcPr marL="91450" marR="91450" marT="45725" marB="45725"/>
                </a:tc>
                <a:tc>
                  <a:txBody>
                    <a:bodyPr/>
                    <a:lstStyle/>
                    <a:p>
                      <a:pPr marL="0" marR="0" lvl="0" indent="0" algn="l" rtl="0">
                        <a:spcBef>
                          <a:spcPts val="0"/>
                        </a:spcBef>
                        <a:spcAft>
                          <a:spcPts val="0"/>
                        </a:spcAft>
                        <a:buNone/>
                      </a:pPr>
                      <a:r>
                        <a:rPr lang="en-US" sz="1800"/>
                        <a:t>200000</a:t>
                      </a:r>
                      <a:endParaRPr sz="1800"/>
                    </a:p>
                  </a:txBody>
                  <a:tcPr marL="91450" marR="91450" marT="45725" marB="45725"/>
                </a:tc>
                <a:extLst>
                  <a:ext uri="{0D108BD9-81ED-4DB2-BD59-A6C34878D82A}">
                    <a16:rowId xmlns:a16="http://schemas.microsoft.com/office/drawing/2014/main" val="10005"/>
                  </a:ext>
                </a:extLst>
              </a:tr>
              <a:tr h="370850">
                <a:tc>
                  <a:txBody>
                    <a:bodyPr/>
                    <a:lstStyle/>
                    <a:p>
                      <a:pPr marL="0" marR="0" lvl="0" indent="0" algn="l" rtl="0">
                        <a:spcBef>
                          <a:spcPts val="0"/>
                        </a:spcBef>
                        <a:spcAft>
                          <a:spcPts val="0"/>
                        </a:spcAft>
                        <a:buNone/>
                      </a:pPr>
                      <a:r>
                        <a:rPr lang="en-US" sz="1800"/>
                        <a:t>6</a:t>
                      </a:r>
                      <a:endParaRPr sz="1800"/>
                    </a:p>
                  </a:txBody>
                  <a:tcPr marL="91450" marR="91450" marT="45725" marB="45725"/>
                </a:tc>
                <a:tc>
                  <a:txBody>
                    <a:bodyPr/>
                    <a:lstStyle/>
                    <a:p>
                      <a:pPr marL="0" marR="0" lvl="0" indent="0" algn="l" rtl="0">
                        <a:spcBef>
                          <a:spcPts val="0"/>
                        </a:spcBef>
                        <a:spcAft>
                          <a:spcPts val="0"/>
                        </a:spcAft>
                        <a:buNone/>
                      </a:pPr>
                      <a:r>
                        <a:rPr lang="en-US" sz="1800"/>
                        <a:t>Arnold</a:t>
                      </a:r>
                      <a:endParaRPr sz="1800"/>
                    </a:p>
                  </a:txBody>
                  <a:tcPr marL="91450" marR="91450" marT="45725" marB="45725"/>
                </a:tc>
                <a:tc>
                  <a:txBody>
                    <a:bodyPr/>
                    <a:lstStyle/>
                    <a:p>
                      <a:pPr marL="0" marR="0" lvl="0" indent="0" algn="l" rtl="0">
                        <a:spcBef>
                          <a:spcPts val="0"/>
                        </a:spcBef>
                        <a:spcAft>
                          <a:spcPts val="0"/>
                        </a:spcAft>
                        <a:buNone/>
                      </a:pPr>
                      <a:r>
                        <a:rPr lang="en-US" sz="1800"/>
                        <a:t>MCA</a:t>
                      </a:r>
                      <a:endParaRPr sz="1800"/>
                    </a:p>
                  </a:txBody>
                  <a:tcPr marL="91450" marR="91450" marT="45725" marB="45725"/>
                </a:tc>
                <a:tc>
                  <a:txBody>
                    <a:bodyPr/>
                    <a:lstStyle/>
                    <a:p>
                      <a:pPr marL="0" marR="0" lvl="0" indent="0" algn="l" rtl="0">
                        <a:spcBef>
                          <a:spcPts val="0"/>
                        </a:spcBef>
                        <a:spcAft>
                          <a:spcPts val="0"/>
                        </a:spcAft>
                        <a:buNone/>
                      </a:pPr>
                      <a:r>
                        <a:rPr lang="en-US" sz="1800"/>
                        <a:t>2</a:t>
                      </a:r>
                      <a:endParaRPr sz="1800"/>
                    </a:p>
                  </a:txBody>
                  <a:tcPr marL="91450" marR="91450" marT="45725" marB="45725"/>
                </a:tc>
                <a:tc>
                  <a:txBody>
                    <a:bodyPr/>
                    <a:lstStyle/>
                    <a:p>
                      <a:pPr marL="0" marR="0" lvl="0" indent="0" algn="l" rtl="0">
                        <a:spcBef>
                          <a:spcPts val="0"/>
                        </a:spcBef>
                        <a:spcAft>
                          <a:spcPts val="0"/>
                        </a:spcAft>
                        <a:buNone/>
                      </a:pPr>
                      <a:r>
                        <a:rPr lang="en-US" sz="1800"/>
                        <a:t>200000</a:t>
                      </a:r>
                      <a:endParaRPr sz="1800"/>
                    </a:p>
                  </a:txBody>
                  <a:tcPr marL="91450" marR="91450" marT="45725" marB="45725"/>
                </a:tc>
                <a:extLst>
                  <a:ext uri="{0D108BD9-81ED-4DB2-BD59-A6C34878D82A}">
                    <a16:rowId xmlns:a16="http://schemas.microsoft.com/office/drawing/2014/main" val="10006"/>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3"/>
          <p:cNvSpPr/>
          <p:nvPr/>
        </p:nvSpPr>
        <p:spPr>
          <a:xfrm>
            <a:off x="2209800" y="6248400"/>
            <a:ext cx="190500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Noto Sans Symbols"/>
              <a:buNone/>
            </a:pPr>
            <a:endParaRPr sz="2400" b="0" i="0" u="none" strike="noStrike" cap="none">
              <a:solidFill>
                <a:schemeClr val="dk1"/>
              </a:solidFill>
              <a:latin typeface="Times New Roman"/>
              <a:ea typeface="Times New Roman"/>
              <a:cs typeface="Times New Roman"/>
              <a:sym typeface="Times New Roman"/>
            </a:endParaRPr>
          </a:p>
        </p:txBody>
      </p:sp>
      <p:sp>
        <p:nvSpPr>
          <p:cNvPr id="127" name="Google Shape;127;p3"/>
          <p:cNvSpPr/>
          <p:nvPr/>
        </p:nvSpPr>
        <p:spPr>
          <a:xfrm>
            <a:off x="4648200" y="6248400"/>
            <a:ext cx="289560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Noto Sans Symbols"/>
              <a:buNone/>
            </a:pPr>
            <a:endParaRPr sz="2400" b="0" i="0" u="none" strike="noStrike" cap="none">
              <a:solidFill>
                <a:schemeClr val="dk1"/>
              </a:solidFill>
              <a:latin typeface="Times New Roman"/>
              <a:ea typeface="Times New Roman"/>
              <a:cs typeface="Times New Roman"/>
              <a:sym typeface="Times New Roman"/>
            </a:endParaRPr>
          </a:p>
        </p:txBody>
      </p:sp>
      <p:sp>
        <p:nvSpPr>
          <p:cNvPr id="128" name="Google Shape;128;p3"/>
          <p:cNvSpPr txBox="1">
            <a:spLocks noGrp="1"/>
          </p:cNvSpPr>
          <p:nvPr>
            <p:ph type="title"/>
          </p:nvPr>
        </p:nvSpPr>
        <p:spPr>
          <a:xfrm>
            <a:off x="1642533" y="459449"/>
            <a:ext cx="7772400" cy="11049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The Evils of Redundancy</a:t>
            </a:r>
            <a:endParaRPr/>
          </a:p>
        </p:txBody>
      </p:sp>
      <p:sp>
        <p:nvSpPr>
          <p:cNvPr id="129" name="Google Shape;129;p3"/>
          <p:cNvSpPr txBox="1">
            <a:spLocks noGrp="1"/>
          </p:cNvSpPr>
          <p:nvPr>
            <p:ph type="body" idx="1"/>
          </p:nvPr>
        </p:nvSpPr>
        <p:spPr>
          <a:xfrm>
            <a:off x="1294871" y="2914214"/>
            <a:ext cx="9914996" cy="2625723"/>
          </a:xfrm>
          <a:prstGeom prst="rect">
            <a:avLst/>
          </a:prstGeom>
          <a:noFill/>
          <a:ln>
            <a:noFill/>
          </a:ln>
        </p:spPr>
        <p:txBody>
          <a:bodyPr spcFirstLastPara="1" wrap="square" lIns="0" tIns="45700" rIns="0" bIns="45700" anchor="t" anchorCtr="0">
            <a:normAutofit/>
          </a:bodyPr>
          <a:lstStyle/>
          <a:p>
            <a:pPr marL="91440" lvl="0" indent="-127000" algn="l" rtl="0">
              <a:lnSpc>
                <a:spcPct val="90000"/>
              </a:lnSpc>
              <a:spcBef>
                <a:spcPts val="0"/>
              </a:spcBef>
              <a:spcAft>
                <a:spcPts val="0"/>
              </a:spcAft>
              <a:buSzPts val="2000"/>
              <a:buChar char=" "/>
            </a:pPr>
            <a:r>
              <a:rPr lang="en-US"/>
              <a:t>Consider relation obtained from Hourly_Emps:</a:t>
            </a:r>
            <a:endParaRPr/>
          </a:p>
          <a:p>
            <a:pPr marL="384048" lvl="1" indent="-182880" algn="l" rtl="0">
              <a:lnSpc>
                <a:spcPct val="90000"/>
              </a:lnSpc>
              <a:spcBef>
                <a:spcPts val="400"/>
              </a:spcBef>
              <a:spcAft>
                <a:spcPts val="0"/>
              </a:spcAft>
              <a:buSzPts val="1350"/>
              <a:buChar char="◦"/>
            </a:pPr>
            <a:r>
              <a:rPr lang="en-US"/>
              <a:t>Hourly_Emps (</a:t>
            </a:r>
            <a:r>
              <a:rPr lang="en-US" i="1" u="sng"/>
              <a:t>ssn</a:t>
            </a:r>
            <a:r>
              <a:rPr lang="en-US" i="1"/>
              <a:t>, name, lot, rating, hrly_wages</a:t>
            </a:r>
            <a:r>
              <a:rPr lang="en-US"/>
              <a:t>, </a:t>
            </a:r>
            <a:r>
              <a:rPr lang="en-US" i="1"/>
              <a:t>hrs_worked</a:t>
            </a:r>
            <a:r>
              <a:rPr lang="en-US"/>
              <a:t>)</a:t>
            </a:r>
            <a:endParaRPr/>
          </a:p>
          <a:p>
            <a:pPr marL="91440" lvl="0" indent="-127000" algn="l" rtl="0">
              <a:lnSpc>
                <a:spcPct val="90000"/>
              </a:lnSpc>
              <a:spcBef>
                <a:spcPts val="1600"/>
              </a:spcBef>
              <a:spcAft>
                <a:spcPts val="0"/>
              </a:spcAft>
              <a:buSzPts val="2000"/>
              <a:buChar char=" "/>
            </a:pPr>
            <a:r>
              <a:rPr lang="en-US" i="1" u="sng">
                <a:solidFill>
                  <a:schemeClr val="accent2"/>
                </a:solidFill>
              </a:rPr>
              <a:t>Notation</a:t>
            </a:r>
            <a:r>
              <a:rPr lang="en-US">
                <a:solidFill>
                  <a:schemeClr val="accent2"/>
                </a:solidFill>
              </a:rPr>
              <a:t>:  </a:t>
            </a:r>
            <a:r>
              <a:rPr lang="en-US"/>
              <a:t>We will denote this relation schema by listing the attributes:   </a:t>
            </a:r>
            <a:r>
              <a:rPr lang="en-US">
                <a:solidFill>
                  <a:schemeClr val="accent2"/>
                </a:solidFill>
              </a:rPr>
              <a:t>SNLRWH</a:t>
            </a:r>
            <a:endParaRPr/>
          </a:p>
          <a:p>
            <a:pPr marL="91440" lvl="0" indent="-127000" algn="l" rtl="0">
              <a:lnSpc>
                <a:spcPct val="90000"/>
              </a:lnSpc>
              <a:spcBef>
                <a:spcPts val="1400"/>
              </a:spcBef>
              <a:spcAft>
                <a:spcPts val="0"/>
              </a:spcAft>
              <a:buSzPts val="2000"/>
              <a:buChar char=" "/>
            </a:pPr>
            <a:r>
              <a:rPr lang="en-US"/>
              <a:t>Some FDs on Hourly_Emps:</a:t>
            </a:r>
            <a:endParaRPr/>
          </a:p>
          <a:p>
            <a:pPr marL="384048" lvl="1" indent="-182880" algn="l" rtl="0">
              <a:lnSpc>
                <a:spcPct val="90000"/>
              </a:lnSpc>
              <a:spcBef>
                <a:spcPts val="400"/>
              </a:spcBef>
              <a:spcAft>
                <a:spcPts val="0"/>
              </a:spcAft>
              <a:buSzPts val="1350"/>
              <a:buChar char="◦"/>
            </a:pPr>
            <a:r>
              <a:rPr lang="en-US" i="1">
                <a:solidFill>
                  <a:schemeClr val="accent2"/>
                </a:solidFill>
              </a:rPr>
              <a:t>ssn</a:t>
            </a:r>
            <a:r>
              <a:rPr lang="en-US">
                <a:solidFill>
                  <a:schemeClr val="accent2"/>
                </a:solidFill>
              </a:rPr>
              <a:t> is the key:    </a:t>
            </a:r>
            <a:r>
              <a:rPr lang="en-US"/>
              <a:t>S        SNLRWH </a:t>
            </a:r>
            <a:endParaRPr/>
          </a:p>
          <a:p>
            <a:pPr marL="384048" lvl="1" indent="-182880" algn="l" rtl="0">
              <a:lnSpc>
                <a:spcPct val="90000"/>
              </a:lnSpc>
              <a:spcBef>
                <a:spcPts val="600"/>
              </a:spcBef>
              <a:spcAft>
                <a:spcPts val="0"/>
              </a:spcAft>
              <a:buSzPts val="1350"/>
              <a:buChar char="◦"/>
            </a:pPr>
            <a:r>
              <a:rPr lang="en-US" i="1">
                <a:solidFill>
                  <a:schemeClr val="accent2"/>
                </a:solidFill>
              </a:rPr>
              <a:t>rating</a:t>
            </a:r>
            <a:r>
              <a:rPr lang="en-US">
                <a:solidFill>
                  <a:schemeClr val="accent2"/>
                </a:solidFill>
              </a:rPr>
              <a:t> determines </a:t>
            </a:r>
            <a:r>
              <a:rPr lang="en-US" i="1">
                <a:solidFill>
                  <a:schemeClr val="accent2"/>
                </a:solidFill>
              </a:rPr>
              <a:t>hrly_wages</a:t>
            </a:r>
            <a:r>
              <a:rPr lang="en-US">
                <a:solidFill>
                  <a:schemeClr val="accent2"/>
                </a:solidFill>
              </a:rPr>
              <a:t>:    </a:t>
            </a:r>
            <a:r>
              <a:rPr lang="en-US"/>
              <a:t>R       W</a:t>
            </a:r>
            <a:endParaRPr/>
          </a:p>
        </p:txBody>
      </p:sp>
      <p:pic>
        <p:nvPicPr>
          <p:cNvPr id="130" name="Google Shape;130;p3"/>
          <p:cNvPicPr preferRelativeResize="0"/>
          <p:nvPr/>
        </p:nvPicPr>
        <p:blipFill rotWithShape="1">
          <a:blip r:embed="rId3">
            <a:alphaModFix/>
          </a:blip>
          <a:srcRect/>
          <a:stretch/>
        </p:blipFill>
        <p:spPr>
          <a:xfrm>
            <a:off x="4834995" y="4760474"/>
            <a:ext cx="1641475" cy="779463"/>
          </a:xfrm>
          <a:prstGeom prst="rect">
            <a:avLst/>
          </a:prstGeom>
          <a:noFill/>
          <a:ln>
            <a:noFill/>
          </a:ln>
        </p:spPr>
      </p:pic>
      <p:pic>
        <p:nvPicPr>
          <p:cNvPr id="131" name="Google Shape;131;p3"/>
          <p:cNvPicPr preferRelativeResize="0"/>
          <p:nvPr/>
        </p:nvPicPr>
        <p:blipFill rotWithShape="1">
          <a:blip r:embed="rId3">
            <a:alphaModFix/>
          </a:blip>
          <a:srcRect/>
          <a:stretch/>
        </p:blipFill>
        <p:spPr>
          <a:xfrm>
            <a:off x="3252787" y="4393192"/>
            <a:ext cx="1641475" cy="779463"/>
          </a:xfrm>
          <a:prstGeom prst="rect">
            <a:avLst/>
          </a:prstGeom>
          <a:noFill/>
          <a:ln>
            <a:noFill/>
          </a:ln>
        </p:spPr>
      </p:pic>
      <p:sp>
        <p:nvSpPr>
          <p:cNvPr id="132" name="Google Shape;132;p3"/>
          <p:cNvSpPr txBox="1"/>
          <p:nvPr/>
        </p:nvSpPr>
        <p:spPr>
          <a:xfrm>
            <a:off x="1294871" y="1753493"/>
            <a:ext cx="9914996" cy="646331"/>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accent2"/>
              </a:buClr>
              <a:buSzPts val="1800"/>
              <a:buFont typeface="Arial"/>
              <a:buChar char="•"/>
            </a:pPr>
            <a:r>
              <a:rPr lang="en-US" sz="1800" b="0" i="1" u="none" strike="noStrike" cap="none">
                <a:solidFill>
                  <a:schemeClr val="accent2"/>
                </a:solidFill>
                <a:latin typeface="Calibri"/>
                <a:ea typeface="Calibri"/>
                <a:cs typeface="Calibri"/>
                <a:sym typeface="Calibri"/>
              </a:rPr>
              <a:t>Redundancy</a:t>
            </a:r>
            <a:r>
              <a:rPr lang="en-US" sz="1800" b="0" i="0" u="none" strike="noStrike" cap="none">
                <a:solidFill>
                  <a:schemeClr val="accent2"/>
                </a:solidFill>
                <a:latin typeface="Calibri"/>
                <a:ea typeface="Calibri"/>
                <a:cs typeface="Calibri"/>
                <a:sym typeface="Calibri"/>
              </a:rPr>
              <a:t> </a:t>
            </a:r>
            <a:r>
              <a:rPr lang="en-US" sz="1800" b="0" i="0" u="none" strike="noStrike" cap="none">
                <a:solidFill>
                  <a:schemeClr val="dk1"/>
                </a:solidFill>
                <a:latin typeface="Calibri"/>
                <a:ea typeface="Calibri"/>
                <a:cs typeface="Calibri"/>
                <a:sym typeface="Calibri"/>
              </a:rPr>
              <a:t>is  the root of several problems associated with relational schemas:</a:t>
            </a:r>
            <a:endParaRPr/>
          </a:p>
          <a:p>
            <a:pPr marL="742950" marR="0" lvl="1" indent="-285750" algn="l" rtl="0">
              <a:spcBef>
                <a:spcPts val="0"/>
              </a:spcBef>
              <a:spcAft>
                <a:spcPts val="0"/>
              </a:spcAft>
              <a:buClr>
                <a:schemeClr val="accent2"/>
              </a:buClr>
              <a:buSzPts val="1350"/>
              <a:buFont typeface="Arial"/>
              <a:buChar char="•"/>
            </a:pPr>
            <a:r>
              <a:rPr lang="en-US" sz="1800" b="0" i="0" u="none" strike="noStrike" cap="none">
                <a:solidFill>
                  <a:schemeClr val="accent2"/>
                </a:solidFill>
                <a:latin typeface="Calibri"/>
                <a:ea typeface="Calibri"/>
                <a:cs typeface="Calibri"/>
                <a:sym typeface="Calibri"/>
              </a:rPr>
              <a:t>redundant storage, insert/delete/update anomalies</a:t>
            </a:r>
            <a:endParaRPr sz="1800" b="0" i="0" u="none" strike="noStrike" cap="none">
              <a:solidFill>
                <a:schemeClr val="dk1"/>
              </a:solidFill>
              <a:latin typeface="Calibri"/>
              <a:ea typeface="Calibri"/>
              <a:cs typeface="Calibri"/>
              <a:sym typeface="Calibri"/>
            </a:endParaRPr>
          </a:p>
        </p:txBody>
      </p:sp>
    </p:spTree>
  </p:cSld>
  <p:clrMapOvr>
    <a:masterClrMapping/>
  </p:clrMapOvr>
  <p:transition>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4"/>
          <p:cNvSpPr/>
          <p:nvPr/>
        </p:nvSpPr>
        <p:spPr>
          <a:xfrm>
            <a:off x="2209800" y="6248400"/>
            <a:ext cx="190500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Noto Sans Symbols"/>
              <a:buNone/>
            </a:pPr>
            <a:endParaRPr sz="2400" b="0" i="0" u="none" strike="noStrike" cap="none">
              <a:solidFill>
                <a:schemeClr val="dk1"/>
              </a:solidFill>
              <a:latin typeface="Times New Roman"/>
              <a:ea typeface="Times New Roman"/>
              <a:cs typeface="Times New Roman"/>
              <a:sym typeface="Times New Roman"/>
            </a:endParaRPr>
          </a:p>
        </p:txBody>
      </p:sp>
      <p:sp>
        <p:nvSpPr>
          <p:cNvPr id="142" name="Google Shape;142;p4"/>
          <p:cNvSpPr/>
          <p:nvPr/>
        </p:nvSpPr>
        <p:spPr>
          <a:xfrm>
            <a:off x="4648200" y="6248400"/>
            <a:ext cx="289560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Noto Sans Symbols"/>
              <a:buNone/>
            </a:pPr>
            <a:endParaRPr sz="2400" b="0" i="0" u="none" strike="noStrike" cap="none">
              <a:solidFill>
                <a:schemeClr val="dk1"/>
              </a:solidFill>
              <a:latin typeface="Times New Roman"/>
              <a:ea typeface="Times New Roman"/>
              <a:cs typeface="Times New Roman"/>
              <a:sym typeface="Times New Roman"/>
            </a:endParaRPr>
          </a:p>
        </p:txBody>
      </p:sp>
      <p:sp>
        <p:nvSpPr>
          <p:cNvPr id="143" name="Google Shape;143;p4"/>
          <p:cNvSpPr txBox="1">
            <a:spLocks noGrp="1"/>
          </p:cNvSpPr>
          <p:nvPr>
            <p:ph type="title"/>
          </p:nvPr>
        </p:nvSpPr>
        <p:spPr>
          <a:xfrm>
            <a:off x="1524000" y="0"/>
            <a:ext cx="7772400" cy="11049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Example (Contd.)</a:t>
            </a:r>
            <a:endParaRPr/>
          </a:p>
        </p:txBody>
      </p:sp>
      <p:sp>
        <p:nvSpPr>
          <p:cNvPr id="144" name="Google Shape;144;p4"/>
          <p:cNvSpPr txBox="1">
            <a:spLocks noGrp="1"/>
          </p:cNvSpPr>
          <p:nvPr>
            <p:ph type="body" idx="1"/>
          </p:nvPr>
        </p:nvSpPr>
        <p:spPr>
          <a:xfrm>
            <a:off x="499533" y="1921932"/>
            <a:ext cx="5503334" cy="4326467"/>
          </a:xfrm>
          <a:prstGeom prst="rect">
            <a:avLst/>
          </a:prstGeom>
          <a:noFill/>
          <a:ln>
            <a:noFill/>
          </a:ln>
        </p:spPr>
        <p:txBody>
          <a:bodyPr spcFirstLastPara="1" wrap="square" lIns="0" tIns="45700" rIns="0" bIns="45700" anchor="t" anchorCtr="0">
            <a:normAutofit/>
          </a:bodyPr>
          <a:lstStyle/>
          <a:p>
            <a:pPr marL="91440" lvl="0" indent="-127000" algn="just" rtl="0">
              <a:lnSpc>
                <a:spcPct val="90000"/>
              </a:lnSpc>
              <a:spcBef>
                <a:spcPts val="0"/>
              </a:spcBef>
              <a:spcAft>
                <a:spcPts val="0"/>
              </a:spcAft>
              <a:buSzPts val="2000"/>
              <a:buChar char=" "/>
            </a:pPr>
            <a:r>
              <a:rPr lang="en-US"/>
              <a:t>Problems due to R        W :</a:t>
            </a:r>
            <a:endParaRPr/>
          </a:p>
          <a:p>
            <a:pPr marL="384048" lvl="1" indent="-182880" algn="just" rtl="0">
              <a:lnSpc>
                <a:spcPct val="90000"/>
              </a:lnSpc>
              <a:spcBef>
                <a:spcPts val="400"/>
              </a:spcBef>
              <a:spcAft>
                <a:spcPts val="0"/>
              </a:spcAft>
              <a:buSzPts val="1500"/>
              <a:buChar char="◦"/>
            </a:pPr>
            <a:r>
              <a:rPr lang="en-US" sz="2000" i="1" u="sng">
                <a:solidFill>
                  <a:schemeClr val="accent2"/>
                </a:solidFill>
              </a:rPr>
              <a:t>Redundant Storage</a:t>
            </a:r>
            <a:endParaRPr/>
          </a:p>
          <a:p>
            <a:pPr marL="384048" lvl="1" indent="-182880" algn="just" rtl="0">
              <a:lnSpc>
                <a:spcPct val="90000"/>
              </a:lnSpc>
              <a:spcBef>
                <a:spcPts val="600"/>
              </a:spcBef>
              <a:spcAft>
                <a:spcPts val="0"/>
              </a:spcAft>
              <a:buSzPts val="1500"/>
              <a:buChar char="◦"/>
            </a:pPr>
            <a:r>
              <a:rPr lang="en-US" sz="2000" i="1" u="sng">
                <a:solidFill>
                  <a:schemeClr val="accent2"/>
                </a:solidFill>
              </a:rPr>
              <a:t>Update anomaly</a:t>
            </a:r>
            <a:r>
              <a:rPr lang="en-US" sz="2000">
                <a:solidFill>
                  <a:schemeClr val="accent2"/>
                </a:solidFill>
              </a:rPr>
              <a:t>:  </a:t>
            </a:r>
            <a:r>
              <a:rPr lang="en-US" sz="2000"/>
              <a:t>Can  we change W in just the 1st  tuple of SNLRWH?</a:t>
            </a:r>
            <a:endParaRPr/>
          </a:p>
          <a:p>
            <a:pPr marL="384048" lvl="1" indent="-182880" algn="just" rtl="0">
              <a:lnSpc>
                <a:spcPct val="90000"/>
              </a:lnSpc>
              <a:spcBef>
                <a:spcPts val="600"/>
              </a:spcBef>
              <a:spcAft>
                <a:spcPts val="0"/>
              </a:spcAft>
              <a:buSzPts val="1500"/>
              <a:buChar char="◦"/>
            </a:pPr>
            <a:r>
              <a:rPr lang="en-US" sz="2000" i="1" u="sng">
                <a:solidFill>
                  <a:schemeClr val="accent2"/>
                </a:solidFill>
              </a:rPr>
              <a:t>Insertion anomaly</a:t>
            </a:r>
            <a:r>
              <a:rPr lang="en-US" sz="2000">
                <a:solidFill>
                  <a:schemeClr val="accent2"/>
                </a:solidFill>
              </a:rPr>
              <a:t>:  </a:t>
            </a:r>
            <a:r>
              <a:rPr lang="en-US" sz="2000"/>
              <a:t>What if we want to insert an employee and don’t know the hourly wage for his rating?</a:t>
            </a:r>
            <a:endParaRPr/>
          </a:p>
          <a:p>
            <a:pPr marL="384048" lvl="1" indent="-182880" algn="just" rtl="0">
              <a:lnSpc>
                <a:spcPct val="90000"/>
              </a:lnSpc>
              <a:spcBef>
                <a:spcPts val="600"/>
              </a:spcBef>
              <a:spcAft>
                <a:spcPts val="0"/>
              </a:spcAft>
              <a:buSzPts val="1500"/>
              <a:buChar char="◦"/>
            </a:pPr>
            <a:r>
              <a:rPr lang="en-US" sz="2000" i="1" u="sng">
                <a:solidFill>
                  <a:schemeClr val="accent2"/>
                </a:solidFill>
              </a:rPr>
              <a:t>Deletion anomaly</a:t>
            </a:r>
            <a:r>
              <a:rPr lang="en-US" sz="2000">
                <a:solidFill>
                  <a:schemeClr val="accent2"/>
                </a:solidFill>
              </a:rPr>
              <a:t>: </a:t>
            </a:r>
            <a:r>
              <a:rPr lang="en-US" sz="2000"/>
              <a:t>If we delete all employees with rating 5, we lose the information about the wage for rating 5!  </a:t>
            </a:r>
            <a:endParaRPr/>
          </a:p>
        </p:txBody>
      </p:sp>
      <p:pic>
        <p:nvPicPr>
          <p:cNvPr id="145" name="Google Shape;145;p4"/>
          <p:cNvPicPr preferRelativeResize="0"/>
          <p:nvPr/>
        </p:nvPicPr>
        <p:blipFill rotWithShape="1">
          <a:blip r:embed="rId4">
            <a:alphaModFix/>
          </a:blip>
          <a:srcRect/>
          <a:stretch/>
        </p:blipFill>
        <p:spPr>
          <a:xfrm>
            <a:off x="2473325" y="1841500"/>
            <a:ext cx="1641475" cy="825500"/>
          </a:xfrm>
          <a:prstGeom prst="rect">
            <a:avLst/>
          </a:prstGeom>
          <a:noFill/>
          <a:ln>
            <a:noFill/>
          </a:ln>
        </p:spPr>
      </p:pic>
      <p:graphicFrame>
        <p:nvGraphicFramePr>
          <p:cNvPr id="146" name="Google Shape;146;p4"/>
          <p:cNvGraphicFramePr/>
          <p:nvPr/>
        </p:nvGraphicFramePr>
        <p:xfrm>
          <a:off x="6189134" y="1778000"/>
          <a:ext cx="5338762" cy="2508251"/>
        </p:xfrm>
        <a:graphic>
          <a:graphicData uri="http://schemas.openxmlformats.org/presentationml/2006/ole">
            <mc:AlternateContent xmlns:mc="http://schemas.openxmlformats.org/markup-compatibility/2006">
              <mc:Choice xmlns:v="urn:schemas-microsoft-com:vml" Requires="v">
                <p:oleObj spid="_x0000_s1042" r:id="rId5" imgW="5338762" imgH="2508251" progId="Word.Document.8">
                  <p:embed/>
                </p:oleObj>
              </mc:Choice>
              <mc:Fallback>
                <p:oleObj r:id="rId5" imgW="5338762" imgH="2508251" progId="Word.Document.8">
                  <p:embed/>
                  <p:pic>
                    <p:nvPicPr>
                      <p:cNvPr id="146" name="Google Shape;146;p4"/>
                      <p:cNvPicPr preferRelativeResize="0"/>
                      <p:nvPr/>
                    </p:nvPicPr>
                    <p:blipFill rotWithShape="1">
                      <a:blip r:embed="rId6">
                        <a:alphaModFix/>
                      </a:blip>
                      <a:srcRect/>
                      <a:stretch/>
                    </p:blipFill>
                    <p:spPr>
                      <a:xfrm>
                        <a:off x="6189134" y="1778000"/>
                        <a:ext cx="5338762" cy="2508251"/>
                      </a:xfrm>
                      <a:prstGeom prst="rect">
                        <a:avLst/>
                      </a:prstGeom>
                      <a:noFill/>
                      <a:ln>
                        <a:noFill/>
                      </a:ln>
                    </p:spPr>
                  </p:pic>
                </p:oleObj>
              </mc:Fallback>
            </mc:AlternateContent>
          </a:graphicData>
        </a:graphic>
      </p:graphicFrame>
      <p:sp>
        <p:nvSpPr>
          <p:cNvPr id="147" name="Google Shape;147;p4"/>
          <p:cNvSpPr txBox="1"/>
          <p:nvPr/>
        </p:nvSpPr>
        <p:spPr>
          <a:xfrm>
            <a:off x="6265333" y="4220632"/>
            <a:ext cx="5427134" cy="1754326"/>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Clr>
                <a:schemeClr val="dk1"/>
              </a:buClr>
              <a:buSzPts val="1800"/>
              <a:buFont typeface="Noto Sans Symbols"/>
              <a:buNone/>
            </a:pPr>
            <a:r>
              <a:rPr lang="en-US" sz="1800" b="0" i="1" u="none" strike="noStrike" cap="none">
                <a:solidFill>
                  <a:schemeClr val="dk1"/>
                </a:solidFill>
                <a:latin typeface="Times New Roman"/>
                <a:ea typeface="Times New Roman"/>
                <a:cs typeface="Times New Roman"/>
                <a:sym typeface="Times New Roman"/>
              </a:rPr>
              <a:t>This FD (R→W) can </a:t>
            </a:r>
            <a:r>
              <a:rPr lang="en-US" sz="1800" b="0" i="1" u="none" strike="noStrike" cap="none">
                <a:solidFill>
                  <a:schemeClr val="accent2"/>
                </a:solidFill>
                <a:latin typeface="Times New Roman"/>
                <a:ea typeface="Times New Roman"/>
                <a:cs typeface="Times New Roman"/>
                <a:sym typeface="Times New Roman"/>
              </a:rPr>
              <a:t>NOT </a:t>
            </a:r>
            <a:r>
              <a:rPr lang="en-US" sz="1800" b="0" i="1" u="none" strike="noStrike" cap="none">
                <a:solidFill>
                  <a:schemeClr val="dk1"/>
                </a:solidFill>
                <a:latin typeface="Times New Roman"/>
                <a:ea typeface="Times New Roman"/>
                <a:cs typeface="Times New Roman"/>
                <a:sym typeface="Times New Roman"/>
              </a:rPr>
              <a:t>be expressed in terms of the ER model. Only FDs that  determine all attributes of a  relation (i.e., </a:t>
            </a:r>
            <a:r>
              <a:rPr lang="en-US" sz="1800" b="0" i="1" u="none" strike="noStrike" cap="none">
                <a:solidFill>
                  <a:schemeClr val="accent2"/>
                </a:solidFill>
                <a:latin typeface="Times New Roman"/>
                <a:ea typeface="Times New Roman"/>
                <a:cs typeface="Times New Roman"/>
                <a:sym typeface="Times New Roman"/>
              </a:rPr>
              <a:t>key constraints</a:t>
            </a:r>
            <a:r>
              <a:rPr lang="en-US" sz="1800" b="0" i="1" u="none" strike="noStrike" cap="none">
                <a:solidFill>
                  <a:schemeClr val="dk1"/>
                </a:solidFill>
                <a:latin typeface="Times New Roman"/>
                <a:ea typeface="Times New Roman"/>
                <a:cs typeface="Times New Roman"/>
                <a:sym typeface="Times New Roman"/>
              </a:rPr>
              <a:t>)</a:t>
            </a:r>
            <a:endParaRPr/>
          </a:p>
          <a:p>
            <a:pPr marL="0" marR="0" lvl="0" indent="0" algn="just" rtl="0">
              <a:spcBef>
                <a:spcPts val="0"/>
              </a:spcBef>
              <a:spcAft>
                <a:spcPts val="0"/>
              </a:spcAft>
              <a:buClr>
                <a:schemeClr val="dk1"/>
              </a:buClr>
              <a:buSzPts val="1800"/>
              <a:buFont typeface="Noto Sans Symbols"/>
              <a:buNone/>
            </a:pPr>
            <a:r>
              <a:rPr lang="en-US" sz="1800" b="0" i="1" u="none" strike="noStrike" cap="none">
                <a:solidFill>
                  <a:schemeClr val="dk1"/>
                </a:solidFill>
                <a:latin typeface="Times New Roman"/>
                <a:ea typeface="Times New Roman"/>
                <a:cs typeface="Times New Roman"/>
                <a:sym typeface="Times New Roman"/>
              </a:rPr>
              <a:t>can be expressed in the ER model.  Therefore we can NOT detect it when we considered Hourly_Emps as an entity set during ER  Modeling.</a:t>
            </a:r>
            <a:endParaRPr sz="1800" b="0" i="1" u="none" strike="noStrike" cap="none">
              <a:solidFill>
                <a:schemeClr val="dk1"/>
              </a:solidFill>
              <a:latin typeface="Times New Roman"/>
              <a:ea typeface="Times New Roman"/>
              <a:cs typeface="Times New Roman"/>
              <a:sym typeface="Times New Roman"/>
            </a:endParaRPr>
          </a:p>
        </p:txBody>
      </p:sp>
    </p:spTree>
  </p:cSld>
  <p:clrMapOvr>
    <a:masterClrMapping/>
  </p:clrMapOvr>
  <p:transition>
    <p:cu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5"/>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Functional Dependencies</a:t>
            </a:r>
            <a:endParaRPr/>
          </a:p>
        </p:txBody>
      </p:sp>
      <p:sp>
        <p:nvSpPr>
          <p:cNvPr id="153" name="Google Shape;153;p5"/>
          <p:cNvSpPr txBox="1">
            <a:spLocks noGrp="1"/>
          </p:cNvSpPr>
          <p:nvPr>
            <p:ph type="body" idx="1"/>
          </p:nvPr>
        </p:nvSpPr>
        <p:spPr>
          <a:xfrm>
            <a:off x="1097280" y="2048934"/>
            <a:ext cx="10058400" cy="4023360"/>
          </a:xfrm>
          <a:prstGeom prst="rect">
            <a:avLst/>
          </a:prstGeom>
          <a:noFill/>
          <a:ln>
            <a:noFill/>
          </a:ln>
        </p:spPr>
        <p:txBody>
          <a:bodyPr spcFirstLastPara="1" wrap="square" lIns="0" tIns="45700" rIns="0" bIns="45700" anchor="t" anchorCtr="0">
            <a:normAutofit fontScale="92500" lnSpcReduction="10000"/>
          </a:bodyPr>
          <a:lstStyle/>
          <a:p>
            <a:pPr marL="91440" lvl="0" indent="-117475" algn="l" rtl="0">
              <a:lnSpc>
                <a:spcPct val="90000"/>
              </a:lnSpc>
              <a:spcBef>
                <a:spcPts val="0"/>
              </a:spcBef>
              <a:spcAft>
                <a:spcPts val="0"/>
              </a:spcAft>
              <a:buSzPct val="100000"/>
              <a:buChar char=" "/>
            </a:pPr>
            <a:r>
              <a:rPr lang="en-US"/>
              <a:t>We say an attribute, B, has a functional dependency on another attribute, A, if for any two records, which have the same value for A, then the values for B in these two records must be the same. </a:t>
            </a:r>
            <a:endParaRPr/>
          </a:p>
          <a:p>
            <a:pPr marL="91440" lvl="0" indent="-117475" algn="l" rtl="0">
              <a:lnSpc>
                <a:spcPct val="90000"/>
              </a:lnSpc>
              <a:spcBef>
                <a:spcPts val="1400"/>
              </a:spcBef>
              <a:spcAft>
                <a:spcPts val="0"/>
              </a:spcAft>
              <a:buSzPct val="100000"/>
              <a:buChar char=" "/>
            </a:pPr>
            <a:r>
              <a:rPr lang="en-US"/>
              <a:t>We illustrate this as: A -&gt; B </a:t>
            </a:r>
            <a:endParaRPr/>
          </a:p>
          <a:p>
            <a:pPr marL="91440" lvl="0" indent="-117475" algn="l" rtl="0">
              <a:lnSpc>
                <a:spcPct val="90000"/>
              </a:lnSpc>
              <a:spcBef>
                <a:spcPts val="1400"/>
              </a:spcBef>
              <a:spcAft>
                <a:spcPts val="0"/>
              </a:spcAft>
              <a:buSzPct val="100000"/>
              <a:buChar char=" "/>
            </a:pPr>
            <a:r>
              <a:rPr lang="en-US"/>
              <a:t>Example: Suppose we keep track of employee email addresses, and we only track one email address for each employee. Suppose each employee is identified by their unique employee number. We say there is a functional dependency of email address on employee number: employee number -&gt; email address </a:t>
            </a:r>
            <a:endParaRPr/>
          </a:p>
          <a:p>
            <a:pPr marL="91440" lvl="0" indent="-117475" algn="l" rtl="0">
              <a:lnSpc>
                <a:spcPct val="90000"/>
              </a:lnSpc>
              <a:spcBef>
                <a:spcPts val="1400"/>
              </a:spcBef>
              <a:spcAft>
                <a:spcPts val="0"/>
              </a:spcAft>
              <a:buSzPct val="100000"/>
              <a:buFont typeface="Arial"/>
              <a:buChar char="•"/>
            </a:pPr>
            <a:r>
              <a:rPr lang="en-US" b="1"/>
              <a:t>Definition</a:t>
            </a:r>
            <a:r>
              <a:rPr lang="en-US"/>
              <a:t>: A functional dependency (FD) exists when a set of attributes uniquely determines another attribute. Formally, if x-&gt;y , then knowing the value of x allows us to determine y with certainty.</a:t>
            </a:r>
            <a:endParaRPr/>
          </a:p>
          <a:p>
            <a:pPr marL="91440" lvl="0" indent="-117475" algn="l" rtl="0">
              <a:lnSpc>
                <a:spcPct val="90000"/>
              </a:lnSpc>
              <a:spcBef>
                <a:spcPts val="1400"/>
              </a:spcBef>
              <a:spcAft>
                <a:spcPts val="0"/>
              </a:spcAft>
              <a:buSzPct val="100000"/>
              <a:buFont typeface="Arial"/>
              <a:buChar char="•"/>
            </a:pPr>
            <a:r>
              <a:rPr lang="en-US" b="1"/>
              <a:t>Trivial and Non-Trivial FD</a:t>
            </a:r>
            <a:r>
              <a:rPr lang="en-US"/>
              <a:t>:</a:t>
            </a:r>
            <a:endParaRPr/>
          </a:p>
          <a:p>
            <a:pPr marL="742950" lvl="1" indent="-285750" algn="l" rtl="0">
              <a:lnSpc>
                <a:spcPct val="90000"/>
              </a:lnSpc>
              <a:spcBef>
                <a:spcPts val="400"/>
              </a:spcBef>
              <a:spcAft>
                <a:spcPts val="0"/>
              </a:spcAft>
              <a:buSzPct val="100000"/>
              <a:buFont typeface="Arial"/>
              <a:buChar char="•"/>
            </a:pPr>
            <a:r>
              <a:rPr lang="en-US" b="1"/>
              <a:t>Trivial FD</a:t>
            </a:r>
            <a:r>
              <a:rPr lang="en-US"/>
              <a:t>: An FD is trivial if it holds naturally, meaning x-&gt;y where y      x. Example: {a, b-&gt;a}.</a:t>
            </a:r>
            <a:endParaRPr/>
          </a:p>
          <a:p>
            <a:pPr marL="742950" lvl="1" indent="-285750" algn="l" rtl="0">
              <a:lnSpc>
                <a:spcPct val="90000"/>
              </a:lnSpc>
              <a:spcBef>
                <a:spcPts val="600"/>
              </a:spcBef>
              <a:spcAft>
                <a:spcPts val="0"/>
              </a:spcAft>
              <a:buSzPct val="100000"/>
              <a:buFont typeface="Arial"/>
              <a:buChar char="•"/>
            </a:pPr>
            <a:r>
              <a:rPr lang="en-US" b="1"/>
              <a:t>Non-Trivial FD</a:t>
            </a:r>
            <a:r>
              <a:rPr lang="en-US"/>
              <a:t>: If x-&gt;y and ,y      x it is non-trivial. Example: a-&gt;b, where b is not part of  a.</a:t>
            </a:r>
            <a:endParaRPr/>
          </a:p>
          <a:p>
            <a:pPr marL="91440" lvl="0" indent="0" algn="l" rtl="0">
              <a:lnSpc>
                <a:spcPct val="90000"/>
              </a:lnSpc>
              <a:spcBef>
                <a:spcPts val="1600"/>
              </a:spcBef>
              <a:spcAft>
                <a:spcPts val="0"/>
              </a:spcAft>
              <a:buSzPct val="100000"/>
              <a:buNone/>
            </a:pPr>
            <a:endParaRPr/>
          </a:p>
        </p:txBody>
      </p:sp>
      <p:grpSp>
        <p:nvGrpSpPr>
          <p:cNvPr id="154" name="Google Shape;154;p5"/>
          <p:cNvGrpSpPr/>
          <p:nvPr/>
        </p:nvGrpSpPr>
        <p:grpSpPr>
          <a:xfrm>
            <a:off x="4368800" y="5474548"/>
            <a:ext cx="1041400" cy="364067"/>
            <a:chOff x="4529666" y="3645748"/>
            <a:chExt cx="1041400" cy="364067"/>
          </a:xfrm>
        </p:grpSpPr>
        <p:pic>
          <p:nvPicPr>
            <p:cNvPr id="155" name="Google Shape;155;p5"/>
            <p:cNvPicPr preferRelativeResize="0"/>
            <p:nvPr/>
          </p:nvPicPr>
          <p:blipFill rotWithShape="1">
            <a:blip r:embed="rId3">
              <a:alphaModFix/>
            </a:blip>
            <a:srcRect/>
            <a:stretch/>
          </p:blipFill>
          <p:spPr>
            <a:xfrm>
              <a:off x="4529666" y="3645748"/>
              <a:ext cx="1041400" cy="364067"/>
            </a:xfrm>
            <a:prstGeom prst="rect">
              <a:avLst/>
            </a:prstGeom>
            <a:noFill/>
            <a:ln>
              <a:noFill/>
            </a:ln>
          </p:spPr>
        </p:pic>
        <p:cxnSp>
          <p:nvCxnSpPr>
            <p:cNvPr id="156" name="Google Shape;156;p5"/>
            <p:cNvCxnSpPr/>
            <p:nvPr/>
          </p:nvCxnSpPr>
          <p:spPr>
            <a:xfrm flipH="1">
              <a:off x="4529799" y="3657601"/>
              <a:ext cx="169200" cy="170100"/>
            </a:xfrm>
            <a:prstGeom prst="straightConnector1">
              <a:avLst/>
            </a:prstGeom>
            <a:noFill/>
            <a:ln w="12700" cap="flat" cmpd="sng">
              <a:solidFill>
                <a:schemeClr val="dk1"/>
              </a:solidFill>
              <a:prstDash val="solid"/>
              <a:round/>
              <a:headEnd type="none" w="sm" len="sm"/>
              <a:tailEnd type="none" w="sm" len="sm"/>
            </a:ln>
          </p:spPr>
        </p:cxnSp>
      </p:grpSp>
      <p:pic>
        <p:nvPicPr>
          <p:cNvPr id="157" name="Google Shape;157;p5"/>
          <p:cNvPicPr preferRelativeResize="0"/>
          <p:nvPr/>
        </p:nvPicPr>
        <p:blipFill rotWithShape="1">
          <a:blip r:embed="rId3">
            <a:alphaModFix/>
          </a:blip>
          <a:srcRect/>
          <a:stretch/>
        </p:blipFill>
        <p:spPr>
          <a:xfrm>
            <a:off x="7762240" y="5207424"/>
            <a:ext cx="1041400" cy="36406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6"/>
          <p:cNvSpPr/>
          <p:nvPr/>
        </p:nvSpPr>
        <p:spPr>
          <a:xfrm>
            <a:off x="2209800" y="6248400"/>
            <a:ext cx="190500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Noto Sans Symbols"/>
              <a:buNone/>
            </a:pPr>
            <a:endParaRPr sz="2400" b="0" i="0" u="none" strike="noStrike" cap="none">
              <a:solidFill>
                <a:schemeClr val="dk1"/>
              </a:solidFill>
              <a:latin typeface="Times New Roman"/>
              <a:ea typeface="Times New Roman"/>
              <a:cs typeface="Times New Roman"/>
              <a:sym typeface="Times New Roman"/>
            </a:endParaRPr>
          </a:p>
        </p:txBody>
      </p:sp>
      <p:sp>
        <p:nvSpPr>
          <p:cNvPr id="167" name="Google Shape;167;p6"/>
          <p:cNvSpPr/>
          <p:nvPr/>
        </p:nvSpPr>
        <p:spPr>
          <a:xfrm>
            <a:off x="4648200" y="6248400"/>
            <a:ext cx="289560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Noto Sans Symbols"/>
              <a:buNone/>
            </a:pPr>
            <a:endParaRPr sz="2400" b="0" i="0" u="none" strike="noStrike" cap="none">
              <a:solidFill>
                <a:schemeClr val="dk1"/>
              </a:solidFill>
              <a:latin typeface="Times New Roman"/>
              <a:ea typeface="Times New Roman"/>
              <a:cs typeface="Times New Roman"/>
              <a:sym typeface="Times New Roman"/>
            </a:endParaRPr>
          </a:p>
        </p:txBody>
      </p:sp>
      <p:sp>
        <p:nvSpPr>
          <p:cNvPr id="168" name="Google Shape;168;p6"/>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Reasoning About FDs</a:t>
            </a:r>
            <a:endParaRPr/>
          </a:p>
        </p:txBody>
      </p:sp>
      <p:sp>
        <p:nvSpPr>
          <p:cNvPr id="169" name="Google Shape;169;p6"/>
          <p:cNvSpPr txBox="1">
            <a:spLocks noGrp="1"/>
          </p:cNvSpPr>
          <p:nvPr>
            <p:ph type="body" idx="1"/>
          </p:nvPr>
        </p:nvSpPr>
        <p:spPr>
          <a:xfrm>
            <a:off x="1562100" y="1874838"/>
            <a:ext cx="9067800" cy="4876800"/>
          </a:xfrm>
          <a:prstGeom prst="rect">
            <a:avLst/>
          </a:prstGeom>
          <a:noFill/>
          <a:ln>
            <a:noFill/>
          </a:ln>
        </p:spPr>
        <p:txBody>
          <a:bodyPr spcFirstLastPara="1" wrap="square" lIns="0" tIns="45700" rIns="0" bIns="45700" anchor="t" anchorCtr="0">
            <a:normAutofit/>
          </a:bodyPr>
          <a:lstStyle/>
          <a:p>
            <a:pPr marL="91440" lvl="0" indent="-127000" algn="l" rtl="0">
              <a:lnSpc>
                <a:spcPct val="90000"/>
              </a:lnSpc>
              <a:spcBef>
                <a:spcPts val="0"/>
              </a:spcBef>
              <a:spcAft>
                <a:spcPts val="0"/>
              </a:spcAft>
              <a:buSzPts val="2000"/>
              <a:buChar char=" "/>
            </a:pPr>
            <a:r>
              <a:rPr lang="en-US"/>
              <a:t>Given some FDs, we can usually infer additional FDs:</a:t>
            </a:r>
            <a:endParaRPr/>
          </a:p>
          <a:p>
            <a:pPr marL="384048" lvl="1" indent="-182880" algn="l" rtl="0">
              <a:lnSpc>
                <a:spcPct val="90000"/>
              </a:lnSpc>
              <a:spcBef>
                <a:spcPts val="400"/>
              </a:spcBef>
              <a:spcAft>
                <a:spcPts val="0"/>
              </a:spcAft>
              <a:buSzPts val="1350"/>
              <a:buChar char="◦"/>
            </a:pPr>
            <a:r>
              <a:rPr lang="en-US" i="1"/>
              <a:t>ssn       did</a:t>
            </a:r>
            <a:r>
              <a:rPr lang="en-US"/>
              <a:t>,  </a:t>
            </a:r>
            <a:r>
              <a:rPr lang="en-US" i="1"/>
              <a:t>did        lot    </a:t>
            </a:r>
            <a:r>
              <a:rPr lang="en-US"/>
              <a:t>implies    </a:t>
            </a:r>
            <a:r>
              <a:rPr lang="en-US" i="1"/>
              <a:t>ssn        lot</a:t>
            </a:r>
            <a:endParaRPr/>
          </a:p>
          <a:p>
            <a:pPr marL="91440" lvl="0" indent="-127000" algn="l" rtl="0">
              <a:lnSpc>
                <a:spcPct val="90000"/>
              </a:lnSpc>
              <a:spcBef>
                <a:spcPts val="1600"/>
              </a:spcBef>
              <a:spcAft>
                <a:spcPts val="0"/>
              </a:spcAft>
              <a:buSzPts val="2000"/>
              <a:buChar char=" "/>
            </a:pPr>
            <a:r>
              <a:rPr lang="en-US"/>
              <a:t>An FD </a:t>
            </a:r>
            <a:r>
              <a:rPr lang="en-US" i="1"/>
              <a:t>f</a:t>
            </a:r>
            <a:r>
              <a:rPr lang="en-US"/>
              <a:t> is </a:t>
            </a:r>
            <a:r>
              <a:rPr lang="en-US" i="1" u="sng">
                <a:solidFill>
                  <a:schemeClr val="accent2"/>
                </a:solidFill>
              </a:rPr>
              <a:t>implied by</a:t>
            </a:r>
            <a:r>
              <a:rPr lang="en-US" i="1">
                <a:solidFill>
                  <a:schemeClr val="accent2"/>
                </a:solidFill>
              </a:rPr>
              <a:t> </a:t>
            </a:r>
            <a:r>
              <a:rPr lang="en-US"/>
              <a:t>a set of FDs </a:t>
            </a:r>
            <a:r>
              <a:rPr lang="en-US" i="1"/>
              <a:t>F</a:t>
            </a:r>
            <a:r>
              <a:rPr lang="en-US"/>
              <a:t> if </a:t>
            </a:r>
            <a:r>
              <a:rPr lang="en-US" i="1"/>
              <a:t>f</a:t>
            </a:r>
            <a:r>
              <a:rPr lang="en-US"/>
              <a:t>  holds whenever all FDs in </a:t>
            </a:r>
            <a:r>
              <a:rPr lang="en-US" i="1"/>
              <a:t>F</a:t>
            </a:r>
            <a:r>
              <a:rPr lang="en-US"/>
              <a:t> hold.</a:t>
            </a:r>
            <a:endParaRPr/>
          </a:p>
          <a:p>
            <a:pPr marL="384048" lvl="1" indent="-182880" algn="l" rtl="0">
              <a:lnSpc>
                <a:spcPct val="90000"/>
              </a:lnSpc>
              <a:spcBef>
                <a:spcPts val="400"/>
              </a:spcBef>
              <a:spcAft>
                <a:spcPts val="0"/>
              </a:spcAft>
              <a:buSzPts val="1350"/>
              <a:buChar char="◦"/>
            </a:pPr>
            <a:r>
              <a:rPr lang="en-US"/>
              <a:t>      = </a:t>
            </a:r>
            <a:r>
              <a:rPr lang="en-US" i="1">
                <a:solidFill>
                  <a:schemeClr val="accent2"/>
                </a:solidFill>
              </a:rPr>
              <a:t>closure of F </a:t>
            </a:r>
            <a:r>
              <a:rPr lang="en-US"/>
              <a:t>is the set of all FDs that are implied by </a:t>
            </a:r>
            <a:r>
              <a:rPr lang="en-US" i="1"/>
              <a:t>F</a:t>
            </a:r>
            <a:r>
              <a:rPr lang="en-US"/>
              <a:t>.</a:t>
            </a:r>
            <a:endParaRPr/>
          </a:p>
          <a:p>
            <a:pPr marL="91440" lvl="0" indent="-127000" algn="l" rtl="0">
              <a:lnSpc>
                <a:spcPct val="90000"/>
              </a:lnSpc>
              <a:spcBef>
                <a:spcPts val="1600"/>
              </a:spcBef>
              <a:spcAft>
                <a:spcPts val="0"/>
              </a:spcAft>
              <a:buSzPts val="2000"/>
              <a:buChar char=" "/>
            </a:pPr>
            <a:r>
              <a:rPr lang="en-US" b="1"/>
              <a:t>Armstrong’s Axioms </a:t>
            </a:r>
            <a:r>
              <a:rPr lang="en-US"/>
              <a:t>(X, Y, Z are sets of attributes):</a:t>
            </a:r>
            <a:endParaRPr/>
          </a:p>
          <a:p>
            <a:pPr marL="384048" lvl="1" indent="-182880" algn="l" rtl="0">
              <a:lnSpc>
                <a:spcPct val="90000"/>
              </a:lnSpc>
              <a:spcBef>
                <a:spcPts val="400"/>
              </a:spcBef>
              <a:spcAft>
                <a:spcPts val="0"/>
              </a:spcAft>
              <a:buSzPts val="1350"/>
              <a:buChar char="◦"/>
            </a:pPr>
            <a:r>
              <a:rPr lang="en-US" i="1" u="sng">
                <a:solidFill>
                  <a:schemeClr val="accent1"/>
                </a:solidFill>
              </a:rPr>
              <a:t>Reflexivity</a:t>
            </a:r>
            <a:r>
              <a:rPr lang="en-US">
                <a:solidFill>
                  <a:schemeClr val="accent1"/>
                </a:solidFill>
              </a:rPr>
              <a:t>:  </a:t>
            </a:r>
            <a:r>
              <a:rPr lang="en-US"/>
              <a:t>If  X       Y,  then   Y        X </a:t>
            </a:r>
            <a:endParaRPr/>
          </a:p>
          <a:p>
            <a:pPr marL="384048" lvl="1" indent="-182880" algn="l" rtl="0">
              <a:lnSpc>
                <a:spcPct val="90000"/>
              </a:lnSpc>
              <a:spcBef>
                <a:spcPts val="600"/>
              </a:spcBef>
              <a:spcAft>
                <a:spcPts val="0"/>
              </a:spcAft>
              <a:buSzPts val="1350"/>
              <a:buChar char="◦"/>
            </a:pPr>
            <a:r>
              <a:rPr lang="en-US" i="1" u="sng">
                <a:solidFill>
                  <a:schemeClr val="accent1"/>
                </a:solidFill>
              </a:rPr>
              <a:t>Augmentation</a:t>
            </a:r>
            <a:r>
              <a:rPr lang="en-US">
                <a:solidFill>
                  <a:schemeClr val="accent1"/>
                </a:solidFill>
              </a:rPr>
              <a:t>:  </a:t>
            </a:r>
            <a:r>
              <a:rPr lang="en-US"/>
              <a:t>If  X       Y,  then   XZ         YZ   for any Z</a:t>
            </a:r>
            <a:endParaRPr/>
          </a:p>
          <a:p>
            <a:pPr marL="384048" lvl="1" indent="-182880" algn="l" rtl="0">
              <a:lnSpc>
                <a:spcPct val="90000"/>
              </a:lnSpc>
              <a:spcBef>
                <a:spcPts val="600"/>
              </a:spcBef>
              <a:spcAft>
                <a:spcPts val="0"/>
              </a:spcAft>
              <a:buSzPts val="1350"/>
              <a:buChar char="◦"/>
            </a:pPr>
            <a:r>
              <a:rPr lang="en-US" i="1" u="sng">
                <a:solidFill>
                  <a:schemeClr val="accent1"/>
                </a:solidFill>
              </a:rPr>
              <a:t>Transitivity</a:t>
            </a:r>
            <a:r>
              <a:rPr lang="en-US">
                <a:solidFill>
                  <a:schemeClr val="accent1"/>
                </a:solidFill>
              </a:rPr>
              <a:t>:  </a:t>
            </a:r>
            <a:r>
              <a:rPr lang="en-US"/>
              <a:t>If  X       Y  and  Y        Z,  then   X        Z</a:t>
            </a:r>
            <a:endParaRPr/>
          </a:p>
          <a:p>
            <a:pPr marL="91440" lvl="0" indent="-127000" algn="l" rtl="0">
              <a:lnSpc>
                <a:spcPct val="90000"/>
              </a:lnSpc>
              <a:spcBef>
                <a:spcPts val="1600"/>
              </a:spcBef>
              <a:spcAft>
                <a:spcPts val="0"/>
              </a:spcAft>
              <a:buSzPts val="2000"/>
              <a:buChar char=" "/>
            </a:pPr>
            <a:r>
              <a:rPr lang="en-US"/>
              <a:t>These are </a:t>
            </a:r>
            <a:r>
              <a:rPr lang="en-US" i="1">
                <a:solidFill>
                  <a:schemeClr val="accent2"/>
                </a:solidFill>
              </a:rPr>
              <a:t>sound</a:t>
            </a:r>
            <a:r>
              <a:rPr lang="en-US"/>
              <a:t> and </a:t>
            </a:r>
            <a:r>
              <a:rPr lang="en-US" i="1">
                <a:solidFill>
                  <a:schemeClr val="accent2"/>
                </a:solidFill>
              </a:rPr>
              <a:t>complete</a:t>
            </a:r>
            <a:r>
              <a:rPr lang="en-US" i="1"/>
              <a:t> </a:t>
            </a:r>
            <a:r>
              <a:rPr lang="en-US"/>
              <a:t>inference rules for FDs!</a:t>
            </a:r>
            <a:endParaRPr/>
          </a:p>
        </p:txBody>
      </p:sp>
      <p:pic>
        <p:nvPicPr>
          <p:cNvPr id="170" name="Google Shape;170;p6"/>
          <p:cNvPicPr preferRelativeResize="0"/>
          <p:nvPr/>
        </p:nvPicPr>
        <p:blipFill rotWithShape="1">
          <a:blip r:embed="rId3">
            <a:alphaModFix/>
          </a:blip>
          <a:srcRect/>
          <a:stretch/>
        </p:blipFill>
        <p:spPr>
          <a:xfrm>
            <a:off x="2181623" y="2168474"/>
            <a:ext cx="1641475" cy="779462"/>
          </a:xfrm>
          <a:prstGeom prst="rect">
            <a:avLst/>
          </a:prstGeom>
          <a:noFill/>
          <a:ln>
            <a:noFill/>
          </a:ln>
        </p:spPr>
      </p:pic>
      <p:pic>
        <p:nvPicPr>
          <p:cNvPr id="171" name="Google Shape;171;p6"/>
          <p:cNvPicPr preferRelativeResize="0"/>
          <p:nvPr/>
        </p:nvPicPr>
        <p:blipFill rotWithShape="1">
          <a:blip r:embed="rId3">
            <a:alphaModFix/>
          </a:blip>
          <a:srcRect/>
          <a:stretch/>
        </p:blipFill>
        <p:spPr>
          <a:xfrm>
            <a:off x="3311525" y="2177098"/>
            <a:ext cx="1641475" cy="779462"/>
          </a:xfrm>
          <a:prstGeom prst="rect">
            <a:avLst/>
          </a:prstGeom>
          <a:noFill/>
          <a:ln>
            <a:noFill/>
          </a:ln>
        </p:spPr>
      </p:pic>
      <p:pic>
        <p:nvPicPr>
          <p:cNvPr id="172" name="Google Shape;172;p6"/>
          <p:cNvPicPr preferRelativeResize="0"/>
          <p:nvPr/>
        </p:nvPicPr>
        <p:blipFill rotWithShape="1">
          <a:blip r:embed="rId3">
            <a:alphaModFix/>
          </a:blip>
          <a:srcRect/>
          <a:stretch/>
        </p:blipFill>
        <p:spPr>
          <a:xfrm>
            <a:off x="5340350" y="2177098"/>
            <a:ext cx="1641475" cy="779462"/>
          </a:xfrm>
          <a:prstGeom prst="rect">
            <a:avLst/>
          </a:prstGeom>
          <a:noFill/>
          <a:ln>
            <a:noFill/>
          </a:ln>
        </p:spPr>
      </p:pic>
      <p:pic>
        <p:nvPicPr>
          <p:cNvPr id="173" name="Google Shape;173;p6"/>
          <p:cNvPicPr preferRelativeResize="0"/>
          <p:nvPr/>
        </p:nvPicPr>
        <p:blipFill rotWithShape="1">
          <a:blip r:embed="rId4">
            <a:alphaModFix/>
          </a:blip>
          <a:srcRect/>
          <a:stretch/>
        </p:blipFill>
        <p:spPr>
          <a:xfrm>
            <a:off x="1888332" y="2879725"/>
            <a:ext cx="901700" cy="754063"/>
          </a:xfrm>
          <a:prstGeom prst="rect">
            <a:avLst/>
          </a:prstGeom>
          <a:noFill/>
          <a:ln>
            <a:noFill/>
          </a:ln>
        </p:spPr>
      </p:pic>
      <p:pic>
        <p:nvPicPr>
          <p:cNvPr id="174" name="Google Shape;174;p6"/>
          <p:cNvPicPr preferRelativeResize="0"/>
          <p:nvPr/>
        </p:nvPicPr>
        <p:blipFill rotWithShape="1">
          <a:blip r:embed="rId5">
            <a:alphaModFix/>
          </a:blip>
          <a:srcRect/>
          <a:stretch/>
        </p:blipFill>
        <p:spPr>
          <a:xfrm>
            <a:off x="3416300" y="3729038"/>
            <a:ext cx="1536700" cy="800100"/>
          </a:xfrm>
          <a:prstGeom prst="rect">
            <a:avLst/>
          </a:prstGeom>
          <a:noFill/>
          <a:ln>
            <a:noFill/>
          </a:ln>
        </p:spPr>
      </p:pic>
      <p:pic>
        <p:nvPicPr>
          <p:cNvPr id="175" name="Google Shape;175;p6"/>
          <p:cNvPicPr preferRelativeResize="0"/>
          <p:nvPr/>
        </p:nvPicPr>
        <p:blipFill rotWithShape="1">
          <a:blip r:embed="rId3">
            <a:alphaModFix/>
          </a:blip>
          <a:srcRect/>
          <a:stretch/>
        </p:blipFill>
        <p:spPr>
          <a:xfrm>
            <a:off x="4648201" y="3718773"/>
            <a:ext cx="1641475" cy="779462"/>
          </a:xfrm>
          <a:prstGeom prst="rect">
            <a:avLst/>
          </a:prstGeom>
          <a:noFill/>
          <a:ln>
            <a:noFill/>
          </a:ln>
        </p:spPr>
      </p:pic>
      <p:pic>
        <p:nvPicPr>
          <p:cNvPr id="176" name="Google Shape;176;p6"/>
          <p:cNvPicPr preferRelativeResize="0"/>
          <p:nvPr/>
        </p:nvPicPr>
        <p:blipFill rotWithShape="1">
          <a:blip r:embed="rId3">
            <a:alphaModFix/>
          </a:blip>
          <a:srcRect/>
          <a:stretch/>
        </p:blipFill>
        <p:spPr>
          <a:xfrm>
            <a:off x="3698875" y="4026220"/>
            <a:ext cx="1641475" cy="779462"/>
          </a:xfrm>
          <a:prstGeom prst="rect">
            <a:avLst/>
          </a:prstGeom>
          <a:noFill/>
          <a:ln>
            <a:noFill/>
          </a:ln>
        </p:spPr>
      </p:pic>
      <p:pic>
        <p:nvPicPr>
          <p:cNvPr id="177" name="Google Shape;177;p6"/>
          <p:cNvPicPr preferRelativeResize="0"/>
          <p:nvPr/>
        </p:nvPicPr>
        <p:blipFill rotWithShape="1">
          <a:blip r:embed="rId3">
            <a:alphaModFix/>
          </a:blip>
          <a:srcRect/>
          <a:stretch/>
        </p:blipFill>
        <p:spPr>
          <a:xfrm>
            <a:off x="5210177" y="4063946"/>
            <a:ext cx="1641475" cy="779462"/>
          </a:xfrm>
          <a:prstGeom prst="rect">
            <a:avLst/>
          </a:prstGeom>
          <a:noFill/>
          <a:ln>
            <a:noFill/>
          </a:ln>
        </p:spPr>
      </p:pic>
      <p:pic>
        <p:nvPicPr>
          <p:cNvPr id="178" name="Google Shape;178;p6"/>
          <p:cNvPicPr preferRelativeResize="0"/>
          <p:nvPr/>
        </p:nvPicPr>
        <p:blipFill rotWithShape="1">
          <a:blip r:embed="rId3">
            <a:alphaModFix/>
          </a:blip>
          <a:srcRect/>
          <a:stretch/>
        </p:blipFill>
        <p:spPr>
          <a:xfrm>
            <a:off x="3416300" y="4365681"/>
            <a:ext cx="1641475" cy="779462"/>
          </a:xfrm>
          <a:prstGeom prst="rect">
            <a:avLst/>
          </a:prstGeom>
          <a:noFill/>
          <a:ln>
            <a:noFill/>
          </a:ln>
        </p:spPr>
      </p:pic>
      <p:pic>
        <p:nvPicPr>
          <p:cNvPr id="179" name="Google Shape;179;p6"/>
          <p:cNvPicPr preferRelativeResize="0"/>
          <p:nvPr/>
        </p:nvPicPr>
        <p:blipFill rotWithShape="1">
          <a:blip r:embed="rId3">
            <a:alphaModFix/>
          </a:blip>
          <a:srcRect/>
          <a:stretch/>
        </p:blipFill>
        <p:spPr>
          <a:xfrm>
            <a:off x="4606926" y="4376711"/>
            <a:ext cx="1641475" cy="779462"/>
          </a:xfrm>
          <a:prstGeom prst="rect">
            <a:avLst/>
          </a:prstGeom>
          <a:noFill/>
          <a:ln>
            <a:noFill/>
          </a:ln>
        </p:spPr>
      </p:pic>
      <p:pic>
        <p:nvPicPr>
          <p:cNvPr id="180" name="Google Shape;180;p6"/>
          <p:cNvPicPr preferRelativeResize="0"/>
          <p:nvPr/>
        </p:nvPicPr>
        <p:blipFill rotWithShape="1">
          <a:blip r:embed="rId3">
            <a:alphaModFix/>
          </a:blip>
          <a:srcRect/>
          <a:stretch/>
        </p:blipFill>
        <p:spPr>
          <a:xfrm>
            <a:off x="6030914" y="4376711"/>
            <a:ext cx="1641475" cy="779462"/>
          </a:xfrm>
          <a:prstGeom prst="rect">
            <a:avLst/>
          </a:prstGeom>
          <a:noFill/>
          <a:ln>
            <a:noFill/>
          </a:ln>
        </p:spPr>
      </p:pic>
      <p:sp>
        <p:nvSpPr>
          <p:cNvPr id="181" name="Google Shape;181;p6"/>
          <p:cNvSpPr txBox="1"/>
          <p:nvPr/>
        </p:nvSpPr>
        <p:spPr>
          <a:xfrm>
            <a:off x="1471612" y="5260448"/>
            <a:ext cx="7723188" cy="923330"/>
          </a:xfrm>
          <a:prstGeom prst="rect">
            <a:avLst/>
          </a:prstGeom>
          <a:solidFill>
            <a:srgbClr val="FBE6CC"/>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a:solidFill>
                  <a:schemeClr val="dk1"/>
                </a:solidFill>
                <a:latin typeface="Calibri"/>
                <a:ea typeface="Calibri"/>
                <a:cs typeface="Calibri"/>
                <a:sym typeface="Calibri"/>
              </a:rPr>
              <a:t>Couple of additional rules :</a:t>
            </a:r>
            <a:endParaRPr/>
          </a:p>
          <a:p>
            <a:pPr marL="457200" marR="0" lvl="1" indent="0" algn="l" rtl="0">
              <a:spcBef>
                <a:spcPts val="0"/>
              </a:spcBef>
              <a:spcAft>
                <a:spcPts val="0"/>
              </a:spcAft>
              <a:buNone/>
            </a:pPr>
            <a:r>
              <a:rPr lang="en-US" sz="1800" b="0" i="1" u="none" strike="noStrike" cap="none">
                <a:solidFill>
                  <a:schemeClr val="accent1"/>
                </a:solidFill>
                <a:latin typeface="Calibri"/>
                <a:ea typeface="Calibri"/>
                <a:cs typeface="Calibri"/>
                <a:sym typeface="Calibri"/>
              </a:rPr>
              <a:t>Union</a:t>
            </a:r>
            <a:r>
              <a:rPr lang="en-US" sz="1800" b="0" i="0" u="none" strike="noStrike" cap="none">
                <a:solidFill>
                  <a:schemeClr val="accent1"/>
                </a:solidFill>
                <a:latin typeface="Calibri"/>
                <a:ea typeface="Calibri"/>
                <a:cs typeface="Calibri"/>
                <a:sym typeface="Calibri"/>
              </a:rPr>
              <a:t>:   </a:t>
            </a:r>
            <a:r>
              <a:rPr lang="en-US" sz="1800" b="0" i="0" u="none" strike="noStrike" cap="none">
                <a:solidFill>
                  <a:schemeClr val="dk1"/>
                </a:solidFill>
                <a:latin typeface="Calibri"/>
                <a:ea typeface="Calibri"/>
                <a:cs typeface="Calibri"/>
                <a:sym typeface="Calibri"/>
              </a:rPr>
              <a:t>If X  -&gt; Y  and  X   -&gt;  Z,   then  X  -&gt;   YZ</a:t>
            </a:r>
            <a:endParaRPr/>
          </a:p>
          <a:p>
            <a:pPr marL="457200" marR="0" lvl="1" indent="0" algn="l" rtl="0">
              <a:spcBef>
                <a:spcPts val="0"/>
              </a:spcBef>
              <a:spcAft>
                <a:spcPts val="0"/>
              </a:spcAft>
              <a:buNone/>
            </a:pPr>
            <a:r>
              <a:rPr lang="en-US" sz="1800" b="0" i="1" u="none" strike="noStrike" cap="none">
                <a:solidFill>
                  <a:schemeClr val="accent1"/>
                </a:solidFill>
                <a:latin typeface="Calibri"/>
                <a:ea typeface="Calibri"/>
                <a:cs typeface="Calibri"/>
                <a:sym typeface="Calibri"/>
              </a:rPr>
              <a:t>Decomposition</a:t>
            </a:r>
            <a:r>
              <a:rPr lang="en-US" sz="1800" b="0" i="0" u="none" strike="noStrike" cap="none">
                <a:solidFill>
                  <a:schemeClr val="accent1"/>
                </a:solidFill>
                <a:latin typeface="Calibri"/>
                <a:ea typeface="Calibri"/>
                <a:cs typeface="Calibri"/>
                <a:sym typeface="Calibri"/>
              </a:rPr>
              <a:t>:   </a:t>
            </a:r>
            <a:r>
              <a:rPr lang="en-US" sz="1800" b="0" i="0" u="none" strike="noStrike" cap="none">
                <a:solidFill>
                  <a:schemeClr val="dk1"/>
                </a:solidFill>
                <a:latin typeface="Calibri"/>
                <a:ea typeface="Calibri"/>
                <a:cs typeface="Calibri"/>
                <a:sym typeface="Calibri"/>
              </a:rPr>
              <a:t>If X  -&gt; YZ,   then  X-&gt; Y  and  X-&gt; Z</a:t>
            </a:r>
            <a:endParaRPr/>
          </a:p>
        </p:txBody>
      </p:sp>
    </p:spTree>
  </p:cSld>
  <p:clrMapOvr>
    <a:masterClrMapping/>
  </p:clrMapOvr>
  <p:transition>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7"/>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b="1"/>
              <a:t>Closure</a:t>
            </a:r>
            <a:endParaRPr/>
          </a:p>
        </p:txBody>
      </p:sp>
      <p:sp>
        <p:nvSpPr>
          <p:cNvPr id="187" name="Google Shape;187;p7"/>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p>
            <a:pPr marL="91440" lvl="0" indent="-127000" algn="l" rtl="0">
              <a:lnSpc>
                <a:spcPct val="90000"/>
              </a:lnSpc>
              <a:spcBef>
                <a:spcPts val="0"/>
              </a:spcBef>
              <a:spcAft>
                <a:spcPts val="0"/>
              </a:spcAft>
              <a:buSzPts val="2000"/>
              <a:buFont typeface="Arial"/>
              <a:buChar char="•"/>
            </a:pPr>
            <a:r>
              <a:rPr lang="en-US" b="1"/>
              <a:t>Closure of FD Set</a:t>
            </a:r>
            <a:r>
              <a:rPr lang="en-US"/>
              <a:t>:</a:t>
            </a:r>
            <a:endParaRPr/>
          </a:p>
          <a:p>
            <a:pPr marL="742950" lvl="1" indent="-285750" algn="l" rtl="0">
              <a:lnSpc>
                <a:spcPct val="90000"/>
              </a:lnSpc>
              <a:spcBef>
                <a:spcPts val="400"/>
              </a:spcBef>
              <a:spcAft>
                <a:spcPts val="0"/>
              </a:spcAft>
              <a:buSzPts val="1800"/>
              <a:buFont typeface="Arial"/>
              <a:buChar char="•"/>
            </a:pPr>
            <a:r>
              <a:rPr lang="en-US"/>
              <a:t>The closure of a set of functional dependencies is the set of all FDs that can be inferred from the given FDs using Armstrong’s axioms: reflexivity, augmentation, and transitivity.</a:t>
            </a:r>
            <a:endParaRPr/>
          </a:p>
          <a:p>
            <a:pPr marL="742950" lvl="1" indent="-285750" algn="l" rtl="0">
              <a:lnSpc>
                <a:spcPct val="90000"/>
              </a:lnSpc>
              <a:spcBef>
                <a:spcPts val="600"/>
              </a:spcBef>
              <a:spcAft>
                <a:spcPts val="0"/>
              </a:spcAft>
              <a:buSzPts val="1800"/>
              <a:buFont typeface="Arial"/>
              <a:buChar char="•"/>
            </a:pPr>
            <a:r>
              <a:rPr lang="en-US"/>
              <a:t>Computing the closure of a set of FDs can be expensive.  (Size of closure is exponential in # attrs!)</a:t>
            </a:r>
            <a:endParaRPr/>
          </a:p>
          <a:p>
            <a:pPr marL="91440" lvl="0" indent="-127000" algn="l" rtl="0">
              <a:lnSpc>
                <a:spcPct val="90000"/>
              </a:lnSpc>
              <a:spcBef>
                <a:spcPts val="1600"/>
              </a:spcBef>
              <a:spcAft>
                <a:spcPts val="0"/>
              </a:spcAft>
              <a:buSzPts val="2000"/>
              <a:buChar char=" "/>
            </a:pPr>
            <a:r>
              <a:rPr lang="en-US"/>
              <a:t>Typically, we just want to check if a given FD </a:t>
            </a:r>
            <a:r>
              <a:rPr lang="en-US" i="1"/>
              <a:t>X -&gt;  Y </a:t>
            </a:r>
            <a:r>
              <a:rPr lang="en-US"/>
              <a:t>is in the closure of a set of FDs </a:t>
            </a:r>
            <a:r>
              <a:rPr lang="en-US" i="1"/>
              <a:t>F</a:t>
            </a:r>
            <a:r>
              <a:rPr lang="en-US"/>
              <a:t>.  An efficient check:</a:t>
            </a:r>
            <a:endParaRPr/>
          </a:p>
          <a:p>
            <a:pPr marL="384048" lvl="1" indent="-182880" algn="l" rtl="0">
              <a:lnSpc>
                <a:spcPct val="90000"/>
              </a:lnSpc>
              <a:spcBef>
                <a:spcPts val="400"/>
              </a:spcBef>
              <a:spcAft>
                <a:spcPts val="0"/>
              </a:spcAft>
              <a:buSzPts val="1350"/>
              <a:buChar char="◦"/>
            </a:pPr>
            <a:r>
              <a:rPr lang="en-US"/>
              <a:t>Compute </a:t>
            </a:r>
            <a:r>
              <a:rPr lang="en-US" i="1" u="sng">
                <a:solidFill>
                  <a:schemeClr val="accent2"/>
                </a:solidFill>
              </a:rPr>
              <a:t>attribute closure</a:t>
            </a:r>
            <a:r>
              <a:rPr lang="en-US" i="1">
                <a:solidFill>
                  <a:schemeClr val="accent2"/>
                </a:solidFill>
              </a:rPr>
              <a:t> </a:t>
            </a:r>
            <a:r>
              <a:rPr lang="en-US"/>
              <a:t>of X (denoted X</a:t>
            </a:r>
            <a:r>
              <a:rPr lang="en-US" baseline="30000"/>
              <a:t>+ </a:t>
            </a:r>
            <a:r>
              <a:rPr lang="en-US"/>
              <a:t> wrt </a:t>
            </a:r>
            <a:r>
              <a:rPr lang="en-US" i="1"/>
              <a:t>F:</a:t>
            </a:r>
            <a:endParaRPr/>
          </a:p>
          <a:p>
            <a:pPr marL="742950" lvl="1" indent="-171450" algn="l" rtl="0">
              <a:lnSpc>
                <a:spcPct val="90000"/>
              </a:lnSpc>
              <a:spcBef>
                <a:spcPts val="600"/>
              </a:spcBef>
              <a:spcAft>
                <a:spcPts val="0"/>
              </a:spcAft>
              <a:buSzPts val="1800"/>
              <a:buFont typeface="Arial"/>
              <a:buNone/>
            </a:pPr>
            <a:endParaRPr/>
          </a:p>
          <a:p>
            <a:pPr marL="91440" lvl="0" indent="0" algn="l" rtl="0">
              <a:lnSpc>
                <a:spcPct val="90000"/>
              </a:lnSpc>
              <a:spcBef>
                <a:spcPts val="1600"/>
              </a:spcBef>
              <a:spcAft>
                <a:spcPts val="0"/>
              </a:spcAft>
              <a:buSzPts val="2000"/>
              <a:buNone/>
            </a:pPr>
            <a:endParaRPr/>
          </a:p>
        </p:txBody>
      </p:sp>
      <p:pic>
        <p:nvPicPr>
          <p:cNvPr id="188" name="Google Shape;188;p7"/>
          <p:cNvPicPr preferRelativeResize="0"/>
          <p:nvPr/>
        </p:nvPicPr>
        <p:blipFill rotWithShape="1">
          <a:blip r:embed="rId3">
            <a:alphaModFix/>
          </a:blip>
          <a:srcRect/>
          <a:stretch/>
        </p:blipFill>
        <p:spPr>
          <a:xfrm>
            <a:off x="1292013" y="4402666"/>
            <a:ext cx="6226387" cy="110965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8"/>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Problem</a:t>
            </a:r>
            <a:endParaRPr/>
          </a:p>
        </p:txBody>
      </p:sp>
      <p:sp>
        <p:nvSpPr>
          <p:cNvPr id="194" name="Google Shape;194;p8"/>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lnSpcReduction="10000"/>
          </a:bodyPr>
          <a:lstStyle/>
          <a:p>
            <a:pPr marL="91440" lvl="0" indent="-127000" algn="l" rtl="0">
              <a:lnSpc>
                <a:spcPct val="90000"/>
              </a:lnSpc>
              <a:spcBef>
                <a:spcPts val="0"/>
              </a:spcBef>
              <a:spcAft>
                <a:spcPts val="0"/>
              </a:spcAft>
              <a:buSzPts val="2000"/>
              <a:buChar char=" "/>
            </a:pPr>
            <a:r>
              <a:rPr lang="en-US"/>
              <a:t>Find the attribute closure of the Attribute(s) A,BC,AF  for the relation R(A,B,C,D,F) with FDs:</a:t>
            </a:r>
            <a:endParaRPr/>
          </a:p>
          <a:p>
            <a:pPr marL="91440" lvl="0" indent="-127000" algn="l" rtl="0">
              <a:lnSpc>
                <a:spcPct val="90000"/>
              </a:lnSpc>
              <a:spcBef>
                <a:spcPts val="1400"/>
              </a:spcBef>
              <a:spcAft>
                <a:spcPts val="0"/>
              </a:spcAft>
              <a:buSzPts val="2000"/>
              <a:buChar char=" "/>
            </a:pPr>
            <a:r>
              <a:rPr lang="en-US"/>
              <a:t>{A-&gt;B, BC-&gt;D, F-&gt;C, D-&gt;A} </a:t>
            </a:r>
            <a:endParaRPr/>
          </a:p>
          <a:p>
            <a:pPr marL="91440" lvl="0" indent="-127000" algn="l" rtl="0">
              <a:lnSpc>
                <a:spcPct val="90000"/>
              </a:lnSpc>
              <a:spcBef>
                <a:spcPts val="1400"/>
              </a:spcBef>
              <a:spcAft>
                <a:spcPts val="0"/>
              </a:spcAft>
              <a:buSzPts val="2000"/>
              <a:buChar char=" "/>
            </a:pPr>
            <a:r>
              <a:rPr lang="en-US"/>
              <a:t>A</a:t>
            </a:r>
            <a:r>
              <a:rPr lang="en-US" baseline="30000"/>
              <a:t>+</a:t>
            </a:r>
            <a:r>
              <a:rPr lang="en-US"/>
              <a:t>	={A}</a:t>
            </a:r>
            <a:endParaRPr/>
          </a:p>
          <a:p>
            <a:pPr marL="749808" lvl="4" indent="0" algn="l" rtl="0">
              <a:lnSpc>
                <a:spcPct val="90000"/>
              </a:lnSpc>
              <a:spcBef>
                <a:spcPts val="400"/>
              </a:spcBef>
              <a:spcAft>
                <a:spcPts val="0"/>
              </a:spcAft>
              <a:buSzPts val="1400"/>
              <a:buNone/>
            </a:pPr>
            <a:r>
              <a:rPr lang="en-US"/>
              <a:t>	</a:t>
            </a:r>
            <a:r>
              <a:rPr lang="en-US" sz="2000"/>
              <a:t>={A U B}	=</a:t>
            </a:r>
            <a:r>
              <a:rPr lang="en-US" sz="2000" b="1"/>
              <a:t>{AB}		</a:t>
            </a:r>
            <a:r>
              <a:rPr lang="en-US" sz="2000" b="1">
                <a:solidFill>
                  <a:srgbClr val="00B050"/>
                </a:solidFill>
              </a:rPr>
              <a:t>A-&gt;B</a:t>
            </a:r>
            <a:endParaRPr/>
          </a:p>
          <a:p>
            <a:pPr marL="87313" lvl="4" indent="0" algn="l" rtl="0">
              <a:lnSpc>
                <a:spcPct val="90000"/>
              </a:lnSpc>
              <a:spcBef>
                <a:spcPts val="600"/>
              </a:spcBef>
              <a:spcAft>
                <a:spcPts val="0"/>
              </a:spcAft>
              <a:buSzPts val="2000"/>
              <a:buNone/>
            </a:pPr>
            <a:r>
              <a:rPr lang="en-US" sz="2000"/>
              <a:t>BC</a:t>
            </a:r>
            <a:r>
              <a:rPr lang="en-US" sz="2000" baseline="30000"/>
              <a:t>+</a:t>
            </a:r>
            <a:r>
              <a:rPr lang="en-US" sz="2000"/>
              <a:t>	={BC}</a:t>
            </a:r>
            <a:endParaRPr/>
          </a:p>
          <a:p>
            <a:pPr marL="87313" lvl="4" indent="0" algn="l" rtl="0">
              <a:lnSpc>
                <a:spcPct val="90000"/>
              </a:lnSpc>
              <a:spcBef>
                <a:spcPts val="600"/>
              </a:spcBef>
              <a:spcAft>
                <a:spcPts val="0"/>
              </a:spcAft>
              <a:buSzPts val="2000"/>
              <a:buNone/>
            </a:pPr>
            <a:r>
              <a:rPr lang="en-US" sz="2000"/>
              <a:t>	={BC U D}= {BCD}		</a:t>
            </a:r>
            <a:r>
              <a:rPr lang="en-US" sz="2000" b="1">
                <a:solidFill>
                  <a:srgbClr val="00B050"/>
                </a:solidFill>
              </a:rPr>
              <a:t>BC-&gt;D</a:t>
            </a:r>
            <a:r>
              <a:rPr lang="en-US" sz="2000"/>
              <a:t>	</a:t>
            </a:r>
            <a:endParaRPr/>
          </a:p>
          <a:p>
            <a:pPr marL="87313" lvl="4" indent="0" algn="l" rtl="0">
              <a:lnSpc>
                <a:spcPct val="90000"/>
              </a:lnSpc>
              <a:spcBef>
                <a:spcPts val="600"/>
              </a:spcBef>
              <a:spcAft>
                <a:spcPts val="0"/>
              </a:spcAft>
              <a:buSzPts val="2000"/>
              <a:buNone/>
            </a:pPr>
            <a:r>
              <a:rPr lang="en-US" sz="2000"/>
              <a:t>	={BCD U A}= </a:t>
            </a:r>
            <a:r>
              <a:rPr lang="en-US" sz="2000" b="1"/>
              <a:t>{ABCD}	</a:t>
            </a:r>
            <a:r>
              <a:rPr lang="en-US" sz="2000" b="1">
                <a:solidFill>
                  <a:srgbClr val="00B050"/>
                </a:solidFill>
              </a:rPr>
              <a:t>D-&gt;A</a:t>
            </a:r>
            <a:endParaRPr/>
          </a:p>
          <a:p>
            <a:pPr marL="87313" lvl="4" indent="0" algn="l" rtl="0">
              <a:lnSpc>
                <a:spcPct val="90000"/>
              </a:lnSpc>
              <a:spcBef>
                <a:spcPts val="600"/>
              </a:spcBef>
              <a:spcAft>
                <a:spcPts val="0"/>
              </a:spcAft>
              <a:buSzPts val="2000"/>
              <a:buNone/>
            </a:pPr>
            <a:r>
              <a:rPr lang="en-US" sz="2000"/>
              <a:t>AF</a:t>
            </a:r>
            <a:r>
              <a:rPr lang="en-US" sz="2000" baseline="30000"/>
              <a:t>+</a:t>
            </a:r>
            <a:r>
              <a:rPr lang="en-US" sz="2000"/>
              <a:t>	={AF}</a:t>
            </a:r>
            <a:endParaRPr/>
          </a:p>
          <a:p>
            <a:pPr marL="87313" lvl="4" indent="0" algn="l" rtl="0">
              <a:lnSpc>
                <a:spcPct val="90000"/>
              </a:lnSpc>
              <a:spcBef>
                <a:spcPts val="600"/>
              </a:spcBef>
              <a:spcAft>
                <a:spcPts val="0"/>
              </a:spcAft>
              <a:buSzPts val="2000"/>
              <a:buNone/>
            </a:pPr>
            <a:r>
              <a:rPr lang="en-US" sz="2000"/>
              <a:t>	={AF U B U C}={ABCF}	</a:t>
            </a:r>
            <a:r>
              <a:rPr lang="en-US" sz="2000" b="1">
                <a:solidFill>
                  <a:srgbClr val="00B050"/>
                </a:solidFill>
              </a:rPr>
              <a:t>A-&gt;B,F-&gt;C</a:t>
            </a:r>
            <a:endParaRPr/>
          </a:p>
          <a:p>
            <a:pPr marL="87313" lvl="4" indent="0" algn="l" rtl="0">
              <a:lnSpc>
                <a:spcPct val="90000"/>
              </a:lnSpc>
              <a:spcBef>
                <a:spcPts val="600"/>
              </a:spcBef>
              <a:spcAft>
                <a:spcPts val="0"/>
              </a:spcAft>
              <a:buSzPts val="2000"/>
              <a:buNone/>
            </a:pPr>
            <a:r>
              <a:rPr lang="en-US" sz="2000"/>
              <a:t>	={ABCF U D}={ABCDF}	</a:t>
            </a:r>
            <a:r>
              <a:rPr lang="en-US" sz="2000" b="1">
                <a:solidFill>
                  <a:srgbClr val="00B050"/>
                </a:solidFill>
              </a:rPr>
              <a:t>BC-&gt;D</a:t>
            </a:r>
            <a:endParaRPr/>
          </a:p>
          <a:p>
            <a:pPr marL="87313" lvl="4" indent="0" algn="l" rtl="0">
              <a:lnSpc>
                <a:spcPct val="90000"/>
              </a:lnSpc>
              <a:spcBef>
                <a:spcPts val="600"/>
              </a:spcBef>
              <a:spcAft>
                <a:spcPts val="0"/>
              </a:spcAft>
              <a:buSzPts val="2000"/>
              <a:buNone/>
            </a:pPr>
            <a:r>
              <a:rPr lang="en-US" sz="2000"/>
              <a:t>	={ABCDF U A}=</a:t>
            </a:r>
            <a:r>
              <a:rPr lang="en-US" sz="2000" b="1"/>
              <a:t>{ABCDF}	</a:t>
            </a:r>
            <a:r>
              <a:rPr lang="en-US" sz="2000" b="1">
                <a:solidFill>
                  <a:srgbClr val="FF0000"/>
                </a:solidFill>
              </a:rPr>
              <a:t>D-&gt;A</a:t>
            </a:r>
            <a:endParaRPr/>
          </a:p>
          <a:p>
            <a:pPr marL="749808" lvl="4" indent="0" algn="l" rtl="0">
              <a:lnSpc>
                <a:spcPct val="90000"/>
              </a:lnSpc>
              <a:spcBef>
                <a:spcPts val="600"/>
              </a:spcBef>
              <a:spcAft>
                <a:spcPts val="0"/>
              </a:spcAft>
              <a:buSzPts val="2000"/>
              <a:buNone/>
            </a:pPr>
            <a:endParaRPr sz="2000"/>
          </a:p>
          <a:p>
            <a:pPr marL="749808" lvl="4" indent="0" algn="l" rtl="0">
              <a:lnSpc>
                <a:spcPct val="90000"/>
              </a:lnSpc>
              <a:spcBef>
                <a:spcPts val="600"/>
              </a:spcBef>
              <a:spcAft>
                <a:spcPts val="0"/>
              </a:spcAft>
              <a:buSzPts val="1400"/>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9"/>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400"/>
              <a:buFont typeface="Calibri"/>
              <a:buNone/>
            </a:pPr>
            <a:r>
              <a:rPr lang="en-US" sz="4400"/>
              <a:t>Problems-Attribute Closure &amp; Candidate key</a:t>
            </a:r>
            <a:endParaRPr sz="4400"/>
          </a:p>
        </p:txBody>
      </p:sp>
      <p:sp>
        <p:nvSpPr>
          <p:cNvPr id="200" name="Google Shape;200;p9"/>
          <p:cNvSpPr txBox="1">
            <a:spLocks noGrp="1"/>
          </p:cNvSpPr>
          <p:nvPr>
            <p:ph type="body" idx="1"/>
          </p:nvPr>
        </p:nvSpPr>
        <p:spPr>
          <a:xfrm>
            <a:off x="1097280" y="1845734"/>
            <a:ext cx="10058400" cy="2556933"/>
          </a:xfrm>
          <a:prstGeom prst="rect">
            <a:avLst/>
          </a:prstGeom>
          <a:noFill/>
          <a:ln>
            <a:noFill/>
          </a:ln>
        </p:spPr>
        <p:txBody>
          <a:bodyPr spcFirstLastPara="1" wrap="square" lIns="0" tIns="45700" rIns="0" bIns="45700" anchor="t" anchorCtr="0">
            <a:normAutofit fontScale="92500"/>
          </a:bodyPr>
          <a:lstStyle/>
          <a:p>
            <a:pPr marL="91440" lvl="0" indent="-117475" algn="l" rtl="0">
              <a:lnSpc>
                <a:spcPct val="90000"/>
              </a:lnSpc>
              <a:spcBef>
                <a:spcPts val="0"/>
              </a:spcBef>
              <a:spcAft>
                <a:spcPts val="0"/>
              </a:spcAft>
              <a:buSzPct val="100000"/>
              <a:buChar char=" "/>
            </a:pPr>
            <a:r>
              <a:rPr lang="en-US" sz="2000">
                <a:latin typeface="Times New Roman"/>
                <a:ea typeface="Times New Roman"/>
                <a:cs typeface="Times New Roman"/>
                <a:sym typeface="Times New Roman"/>
              </a:rPr>
              <a:t>Given a relation R with 5 attributes ABCDE and the following FDs: A → B, BC → E, and ED →  A.</a:t>
            </a:r>
            <a:endParaRPr/>
          </a:p>
          <a:p>
            <a:pPr marL="91440" lvl="0" indent="-117475" algn="l" rtl="0">
              <a:lnSpc>
                <a:spcPct val="90000"/>
              </a:lnSpc>
              <a:spcBef>
                <a:spcPts val="1400"/>
              </a:spcBef>
              <a:spcAft>
                <a:spcPts val="0"/>
              </a:spcAft>
              <a:buSzPct val="100000"/>
              <a:buChar char=" "/>
            </a:pPr>
            <a:r>
              <a:rPr lang="en-US">
                <a:latin typeface="Times New Roman"/>
                <a:ea typeface="Times New Roman"/>
                <a:cs typeface="Times New Roman"/>
                <a:sym typeface="Times New Roman"/>
              </a:rPr>
              <a:t>1. Find the attribute closure of the Attribute A.</a:t>
            </a:r>
            <a:endParaRPr/>
          </a:p>
          <a:p>
            <a:pPr marL="91440" lvl="0" indent="-117475" algn="l" rtl="0">
              <a:lnSpc>
                <a:spcPct val="90000"/>
              </a:lnSpc>
              <a:spcBef>
                <a:spcPts val="1400"/>
              </a:spcBef>
              <a:spcAft>
                <a:spcPts val="0"/>
              </a:spcAft>
              <a:buSzPct val="100000"/>
              <a:buChar char=" "/>
            </a:pPr>
            <a:r>
              <a:rPr lang="en-US">
                <a:latin typeface="Times New Roman"/>
                <a:ea typeface="Times New Roman"/>
                <a:cs typeface="Times New Roman"/>
                <a:sym typeface="Times New Roman"/>
              </a:rPr>
              <a:t>2. Is A a candidate key?</a:t>
            </a:r>
            <a:endParaRPr/>
          </a:p>
          <a:p>
            <a:pPr marL="91440" lvl="0" indent="-117475" algn="l" rtl="0">
              <a:lnSpc>
                <a:spcPct val="90000"/>
              </a:lnSpc>
              <a:spcBef>
                <a:spcPts val="1400"/>
              </a:spcBef>
              <a:spcAft>
                <a:spcPts val="0"/>
              </a:spcAft>
              <a:buSzPct val="100000"/>
              <a:buChar char=" "/>
            </a:pPr>
            <a:r>
              <a:rPr lang="en-US">
                <a:latin typeface="Times New Roman"/>
                <a:ea typeface="Times New Roman"/>
                <a:cs typeface="Times New Roman"/>
                <a:sym typeface="Times New Roman"/>
              </a:rPr>
              <a:t>3. Find all the candidate keys.</a:t>
            </a:r>
            <a:endParaRPr/>
          </a:p>
          <a:p>
            <a:pPr marL="91440" lvl="0" indent="-117475" algn="l" rtl="0">
              <a:lnSpc>
                <a:spcPct val="90000"/>
              </a:lnSpc>
              <a:spcBef>
                <a:spcPts val="1400"/>
              </a:spcBef>
              <a:spcAft>
                <a:spcPts val="0"/>
              </a:spcAft>
              <a:buSzPct val="100000"/>
              <a:buChar char=" "/>
            </a:pPr>
            <a:r>
              <a:rPr lang="en-US">
                <a:latin typeface="Times New Roman"/>
                <a:ea typeface="Times New Roman"/>
                <a:cs typeface="Times New Roman"/>
                <a:sym typeface="Times New Roman"/>
              </a:rPr>
              <a:t>4. Find the prime attributes.</a:t>
            </a:r>
            <a:endParaRPr/>
          </a:p>
          <a:p>
            <a:pPr marL="91440" lvl="0" indent="-117475" algn="l" rtl="0">
              <a:lnSpc>
                <a:spcPct val="90000"/>
              </a:lnSpc>
              <a:spcBef>
                <a:spcPts val="1400"/>
              </a:spcBef>
              <a:spcAft>
                <a:spcPts val="0"/>
              </a:spcAft>
              <a:buSzPct val="100000"/>
              <a:buChar char=" "/>
            </a:pPr>
            <a:r>
              <a:rPr lang="en-US">
                <a:latin typeface="Times New Roman"/>
                <a:ea typeface="Times New Roman"/>
                <a:cs typeface="Times New Roman"/>
                <a:sym typeface="Times New Roman"/>
              </a:rPr>
              <a:t>5. Find non-prime attributes.</a:t>
            </a:r>
            <a:endParaRPr/>
          </a:p>
        </p:txBody>
      </p:sp>
      <p:sp>
        <p:nvSpPr>
          <p:cNvPr id="201" name="Google Shape;201;p9"/>
          <p:cNvSpPr txBox="1"/>
          <p:nvPr/>
        </p:nvSpPr>
        <p:spPr>
          <a:xfrm>
            <a:off x="885613" y="4511041"/>
            <a:ext cx="10058400" cy="1656864"/>
          </a:xfrm>
          <a:prstGeom prst="rect">
            <a:avLst/>
          </a:prstGeom>
          <a:solidFill>
            <a:srgbClr val="FBE6CC"/>
          </a:solidFill>
          <a:ln>
            <a:noFill/>
          </a:ln>
        </p:spPr>
        <p:txBody>
          <a:bodyPr spcFirstLastPara="1" wrap="square" lIns="0" tIns="45700" rIns="0" bIns="45700" anchor="t" anchorCtr="0">
            <a:spAutoFit/>
          </a:bodyPr>
          <a:lstStyle/>
          <a:p>
            <a:pPr marL="91440" marR="0" lvl="0" indent="-127000" algn="l" rtl="0">
              <a:lnSpc>
                <a:spcPct val="90000"/>
              </a:lnSpc>
              <a:spcBef>
                <a:spcPts val="0"/>
              </a:spcBef>
              <a:spcAft>
                <a:spcPts val="0"/>
              </a:spcAft>
              <a:buClr>
                <a:schemeClr val="accent1"/>
              </a:buClr>
              <a:buSzPts val="2000"/>
              <a:buFont typeface="Calibri"/>
              <a:buChar char=" "/>
            </a:pPr>
            <a:r>
              <a:rPr lang="en-US" sz="2000" b="1">
                <a:solidFill>
                  <a:srgbClr val="3F3F3F"/>
                </a:solidFill>
                <a:latin typeface="Calibri"/>
                <a:ea typeface="Calibri"/>
                <a:cs typeface="Calibri"/>
                <a:sym typeface="Calibri"/>
              </a:rPr>
              <a:t>Prime Attribute</a:t>
            </a:r>
            <a:r>
              <a:rPr lang="en-US" sz="2000">
                <a:solidFill>
                  <a:srgbClr val="3F3F3F"/>
                </a:solidFill>
                <a:latin typeface="Calibri"/>
                <a:ea typeface="Calibri"/>
                <a:cs typeface="Calibri"/>
                <a:sym typeface="Calibri"/>
              </a:rPr>
              <a:t>:A prime attribute (or key attribute) is an attribute that is part of a candidate key. A candidate key is a minimal set of attributes that can uniquely identify a tuple (row) in a relation (table).</a:t>
            </a:r>
            <a:endParaRPr/>
          </a:p>
          <a:p>
            <a:pPr marL="91440" marR="0" lvl="0" indent="-127000" algn="l" rtl="0">
              <a:lnSpc>
                <a:spcPct val="90000"/>
              </a:lnSpc>
              <a:spcBef>
                <a:spcPts val="1400"/>
              </a:spcBef>
              <a:spcAft>
                <a:spcPts val="0"/>
              </a:spcAft>
              <a:buClr>
                <a:schemeClr val="accent1"/>
              </a:buClr>
              <a:buSzPts val="2000"/>
              <a:buFont typeface="Calibri"/>
              <a:buChar char=" "/>
            </a:pPr>
            <a:r>
              <a:rPr lang="en-US" sz="2000" b="1">
                <a:solidFill>
                  <a:srgbClr val="3F3F3F"/>
                </a:solidFill>
                <a:latin typeface="Calibri"/>
                <a:ea typeface="Calibri"/>
                <a:cs typeface="Calibri"/>
                <a:sym typeface="Calibri"/>
              </a:rPr>
              <a:t>Non-Prime Attribute</a:t>
            </a:r>
            <a:r>
              <a:rPr lang="en-US" sz="2000">
                <a:solidFill>
                  <a:srgbClr val="3F3F3F"/>
                </a:solidFill>
                <a:latin typeface="Calibri"/>
                <a:ea typeface="Calibri"/>
                <a:cs typeface="Calibri"/>
                <a:sym typeface="Calibri"/>
              </a:rPr>
              <a:t>:A non-prime attribute (or non-key attribute) is an attribute that is not part of any candidate key.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10"/>
          <p:cNvSpPr txBox="1">
            <a:spLocks noGrp="1"/>
          </p:cNvSpPr>
          <p:nvPr>
            <p:ph type="body" idx="4294967295"/>
          </p:nvPr>
        </p:nvSpPr>
        <p:spPr>
          <a:xfrm>
            <a:off x="334108" y="448409"/>
            <a:ext cx="11857892" cy="5420580"/>
          </a:xfrm>
          <a:prstGeom prst="rect">
            <a:avLst/>
          </a:prstGeom>
          <a:noFill/>
          <a:ln>
            <a:noFill/>
          </a:ln>
        </p:spPr>
        <p:txBody>
          <a:bodyPr spcFirstLastPara="1" wrap="square" lIns="0" tIns="45700" rIns="0" bIns="45700" anchor="t" anchorCtr="0">
            <a:normAutofit fontScale="92500" lnSpcReduction="20000"/>
          </a:bodyPr>
          <a:lstStyle/>
          <a:p>
            <a:pPr marL="91440" lvl="0" indent="-117475" algn="l" rtl="0">
              <a:lnSpc>
                <a:spcPct val="90000"/>
              </a:lnSpc>
              <a:spcBef>
                <a:spcPts val="0"/>
              </a:spcBef>
              <a:spcAft>
                <a:spcPts val="0"/>
              </a:spcAft>
              <a:buSzPct val="100000"/>
              <a:buChar char=" "/>
            </a:pPr>
            <a:r>
              <a:rPr lang="en-US" b="1"/>
              <a:t>Solution:</a:t>
            </a:r>
            <a:endParaRPr/>
          </a:p>
          <a:p>
            <a:pPr marL="91440" lvl="0" indent="-117475" algn="l" rtl="0">
              <a:lnSpc>
                <a:spcPct val="90000"/>
              </a:lnSpc>
              <a:spcBef>
                <a:spcPts val="1400"/>
              </a:spcBef>
              <a:spcAft>
                <a:spcPts val="0"/>
              </a:spcAft>
              <a:buSzPct val="100000"/>
              <a:buChar char=" "/>
            </a:pPr>
            <a:r>
              <a:rPr lang="en-US"/>
              <a:t>A</a:t>
            </a:r>
            <a:r>
              <a:rPr lang="en-US" baseline="30000"/>
              <a:t>+</a:t>
            </a:r>
            <a:r>
              <a:rPr lang="en-US"/>
              <a:t> 	={AB}</a:t>
            </a:r>
            <a:endParaRPr/>
          </a:p>
          <a:p>
            <a:pPr marL="91440" lvl="0" indent="-117475" algn="l" rtl="0">
              <a:lnSpc>
                <a:spcPct val="90000"/>
              </a:lnSpc>
              <a:spcBef>
                <a:spcPts val="1400"/>
              </a:spcBef>
              <a:spcAft>
                <a:spcPts val="0"/>
              </a:spcAft>
              <a:buSzPct val="100000"/>
              <a:buChar char=" "/>
            </a:pPr>
            <a:r>
              <a:rPr lang="en-US" b="1"/>
              <a:t>A is not a candidate key </a:t>
            </a:r>
            <a:r>
              <a:rPr lang="en-US"/>
              <a:t>since it does not determine all the attributes(i.e A</a:t>
            </a:r>
            <a:r>
              <a:rPr lang="en-US" baseline="30000"/>
              <a:t>+</a:t>
            </a:r>
            <a:r>
              <a:rPr lang="en-US"/>
              <a:t> does not contain all the attributes in R)</a:t>
            </a:r>
            <a:endParaRPr/>
          </a:p>
          <a:p>
            <a:pPr marL="91440" lvl="0" indent="-117475" algn="l" rtl="0">
              <a:lnSpc>
                <a:spcPct val="90000"/>
              </a:lnSpc>
              <a:spcBef>
                <a:spcPts val="1400"/>
              </a:spcBef>
              <a:spcAft>
                <a:spcPts val="0"/>
              </a:spcAft>
              <a:buSzPct val="100000"/>
              <a:buChar char=" "/>
            </a:pPr>
            <a:r>
              <a:rPr lang="en-US" b="1"/>
              <a:t>Candidate keys: </a:t>
            </a:r>
            <a:r>
              <a:rPr lang="en-US"/>
              <a:t>Since CD is not in the RHS of any of the FD’s, CD is definitely part of the candidate key.</a:t>
            </a:r>
            <a:endParaRPr/>
          </a:p>
          <a:p>
            <a:pPr marL="91440" lvl="0" indent="-117475" algn="l" rtl="0">
              <a:lnSpc>
                <a:spcPct val="90000"/>
              </a:lnSpc>
              <a:spcBef>
                <a:spcPts val="1400"/>
              </a:spcBef>
              <a:spcAft>
                <a:spcPts val="0"/>
              </a:spcAft>
              <a:buSzPct val="100000"/>
              <a:buChar char=" "/>
            </a:pPr>
            <a:r>
              <a:rPr lang="en-US"/>
              <a:t>CD</a:t>
            </a:r>
            <a:r>
              <a:rPr lang="en-US" baseline="30000"/>
              <a:t>+</a:t>
            </a:r>
            <a:r>
              <a:rPr lang="en-US"/>
              <a:t>=	{CD}   -&gt;not a candidate key</a:t>
            </a:r>
            <a:endParaRPr/>
          </a:p>
          <a:p>
            <a:pPr marL="91440" lvl="0" indent="-117475" algn="l" rtl="0">
              <a:lnSpc>
                <a:spcPct val="90000"/>
              </a:lnSpc>
              <a:spcBef>
                <a:spcPts val="1400"/>
              </a:spcBef>
              <a:spcAft>
                <a:spcPts val="0"/>
              </a:spcAft>
              <a:buSzPct val="100000"/>
              <a:buChar char=" "/>
            </a:pPr>
            <a:r>
              <a:rPr lang="en-US"/>
              <a:t>Try for ACD+</a:t>
            </a:r>
            <a:endParaRPr/>
          </a:p>
          <a:p>
            <a:pPr marL="91440" lvl="0" indent="-117475" algn="l" rtl="0">
              <a:lnSpc>
                <a:spcPct val="90000"/>
              </a:lnSpc>
              <a:spcBef>
                <a:spcPts val="1400"/>
              </a:spcBef>
              <a:spcAft>
                <a:spcPts val="0"/>
              </a:spcAft>
              <a:buSzPct val="100000"/>
              <a:buChar char=" "/>
            </a:pPr>
            <a:r>
              <a:rPr lang="en-US"/>
              <a:t>ACD</a:t>
            </a:r>
            <a:r>
              <a:rPr lang="en-US" baseline="30000"/>
              <a:t>+</a:t>
            </a:r>
            <a:r>
              <a:rPr lang="en-US"/>
              <a:t>=	{ABCDE} -&gt;ACD is Candidate Key</a:t>
            </a:r>
            <a:endParaRPr/>
          </a:p>
          <a:p>
            <a:pPr marL="91440" lvl="0" indent="-117475" algn="l" rtl="0">
              <a:lnSpc>
                <a:spcPct val="90000"/>
              </a:lnSpc>
              <a:spcBef>
                <a:spcPts val="1400"/>
              </a:spcBef>
              <a:spcAft>
                <a:spcPts val="0"/>
              </a:spcAft>
              <a:buSzPct val="100000"/>
              <a:buChar char=" "/>
            </a:pPr>
            <a:r>
              <a:rPr lang="en-US"/>
              <a:t>Other candidate keys(check for A,C,D on the RHS of the FD’s and replace it by the LHS, if RHS matches)</a:t>
            </a:r>
            <a:endParaRPr/>
          </a:p>
          <a:p>
            <a:pPr marL="91440" lvl="0" indent="-117475" algn="l" rtl="0">
              <a:lnSpc>
                <a:spcPct val="90000"/>
              </a:lnSpc>
              <a:spcBef>
                <a:spcPts val="1400"/>
              </a:spcBef>
              <a:spcAft>
                <a:spcPts val="0"/>
              </a:spcAft>
              <a:buSzPct val="100000"/>
              <a:buChar char=" "/>
            </a:pPr>
            <a:r>
              <a:rPr lang="en-US"/>
              <a:t>ACD ={EDCD}= {CDE} </a:t>
            </a:r>
            <a:endParaRPr/>
          </a:p>
          <a:p>
            <a:pPr marL="91440" lvl="0" indent="-117475" algn="l" rtl="0">
              <a:lnSpc>
                <a:spcPct val="90000"/>
              </a:lnSpc>
              <a:spcBef>
                <a:spcPts val="1400"/>
              </a:spcBef>
              <a:spcAft>
                <a:spcPts val="0"/>
              </a:spcAft>
              <a:buSzPct val="100000"/>
              <a:buChar char=" "/>
            </a:pPr>
            <a:r>
              <a:rPr lang="en-US"/>
              <a:t>CDE={CDBC}={BCD}</a:t>
            </a:r>
            <a:endParaRPr/>
          </a:p>
          <a:p>
            <a:pPr marL="91440" lvl="0" indent="-117475" algn="l" rtl="0">
              <a:lnSpc>
                <a:spcPct val="90000"/>
              </a:lnSpc>
              <a:spcBef>
                <a:spcPts val="1400"/>
              </a:spcBef>
              <a:spcAft>
                <a:spcPts val="0"/>
              </a:spcAft>
              <a:buSzPct val="100000"/>
              <a:buChar char=" "/>
            </a:pPr>
            <a:r>
              <a:rPr lang="en-US"/>
              <a:t>BCD={ACD}🡪already derived</a:t>
            </a:r>
            <a:endParaRPr/>
          </a:p>
          <a:p>
            <a:pPr marL="91440" lvl="0" indent="-117475" algn="l" rtl="0">
              <a:lnSpc>
                <a:spcPct val="90000"/>
              </a:lnSpc>
              <a:spcBef>
                <a:spcPts val="1400"/>
              </a:spcBef>
              <a:spcAft>
                <a:spcPts val="0"/>
              </a:spcAft>
              <a:buSzPct val="100000"/>
              <a:buChar char=" "/>
            </a:pPr>
            <a:r>
              <a:rPr lang="en-US" b="1"/>
              <a:t>Candidate Keys</a:t>
            </a:r>
            <a:r>
              <a:rPr lang="en-US"/>
              <a:t>={ACD,CDE,BCD}</a:t>
            </a:r>
            <a:endParaRPr/>
          </a:p>
          <a:p>
            <a:pPr marL="91440" lvl="0" indent="-117475" algn="l" rtl="0">
              <a:lnSpc>
                <a:spcPct val="90000"/>
              </a:lnSpc>
              <a:spcBef>
                <a:spcPts val="1400"/>
              </a:spcBef>
              <a:spcAft>
                <a:spcPts val="0"/>
              </a:spcAft>
              <a:buSzPct val="100000"/>
              <a:buChar char=" "/>
            </a:pPr>
            <a:r>
              <a:rPr lang="en-US" b="1"/>
              <a:t>Prime Attributes</a:t>
            </a:r>
            <a:r>
              <a:rPr lang="en-US"/>
              <a:t>={A,B,C,D,E}</a:t>
            </a:r>
            <a:endParaRPr/>
          </a:p>
          <a:p>
            <a:pPr marL="91440" lvl="0" indent="-117475" algn="l" rtl="0">
              <a:lnSpc>
                <a:spcPct val="90000"/>
              </a:lnSpc>
              <a:spcBef>
                <a:spcPts val="1400"/>
              </a:spcBef>
              <a:spcAft>
                <a:spcPts val="0"/>
              </a:spcAft>
              <a:buSzPct val="100000"/>
              <a:buChar char=" "/>
            </a:pPr>
            <a:r>
              <a:rPr lang="en-US" b="1"/>
              <a:t>Non-prime Attributes</a:t>
            </a:r>
            <a:r>
              <a:rPr lang="en-US"/>
              <a:t>={ }</a:t>
            </a:r>
            <a:endParaRPr/>
          </a:p>
          <a:p>
            <a:pPr marL="91440" lvl="0" indent="0" algn="l" rtl="0">
              <a:lnSpc>
                <a:spcPct val="90000"/>
              </a:lnSpc>
              <a:spcBef>
                <a:spcPts val="1400"/>
              </a:spcBef>
              <a:spcAft>
                <a:spcPts val="0"/>
              </a:spcAft>
              <a:buSzPct val="100000"/>
              <a:buNone/>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11"/>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Home Assignment</a:t>
            </a:r>
            <a:endParaRPr/>
          </a:p>
        </p:txBody>
      </p:sp>
      <p:sp>
        <p:nvSpPr>
          <p:cNvPr id="212" name="Google Shape;212;p11"/>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p>
            <a:pPr marL="91440" lvl="0" indent="-114300" algn="l" rtl="0">
              <a:lnSpc>
                <a:spcPct val="90000"/>
              </a:lnSpc>
              <a:spcBef>
                <a:spcPts val="0"/>
              </a:spcBef>
              <a:spcAft>
                <a:spcPts val="0"/>
              </a:spcAft>
              <a:buSzPts val="1800"/>
              <a:buChar char=" "/>
            </a:pPr>
            <a:r>
              <a:rPr lang="en-US" sz="1800" b="0" i="0">
                <a:solidFill>
                  <a:srgbClr val="222222"/>
                </a:solidFill>
                <a:latin typeface="Calibri"/>
                <a:ea typeface="Calibri"/>
                <a:cs typeface="Calibri"/>
                <a:sym typeface="Calibri"/>
              </a:rPr>
              <a:t>For the given relations and functional dependencies:</a:t>
            </a:r>
            <a:endParaRPr/>
          </a:p>
          <a:p>
            <a:pPr marL="685800" lvl="0" indent="-114300" algn="l" rtl="0">
              <a:lnSpc>
                <a:spcPct val="90000"/>
              </a:lnSpc>
              <a:spcBef>
                <a:spcPts val="1400"/>
              </a:spcBef>
              <a:spcAft>
                <a:spcPts val="0"/>
              </a:spcAft>
              <a:buSzPts val="1800"/>
              <a:buChar char=" "/>
            </a:pPr>
            <a:r>
              <a:rPr lang="en-US" sz="1800" b="0" i="0">
                <a:solidFill>
                  <a:srgbClr val="222222"/>
                </a:solidFill>
                <a:latin typeface="Noto Sans Symbols"/>
                <a:ea typeface="Noto Sans Symbols"/>
                <a:cs typeface="Noto Sans Symbols"/>
                <a:sym typeface="Noto Sans Symbols"/>
              </a:rPr>
              <a:t>∙</a:t>
            </a:r>
            <a:r>
              <a:rPr lang="en-US" sz="1800" b="0" i="0">
                <a:solidFill>
                  <a:srgbClr val="222222"/>
                </a:solidFill>
                <a:latin typeface="Times New Roman"/>
                <a:ea typeface="Times New Roman"/>
                <a:cs typeface="Times New Roman"/>
                <a:sym typeface="Times New Roman"/>
              </a:rPr>
              <a:t>         </a:t>
            </a:r>
            <a:r>
              <a:rPr lang="en-US" sz="1800" b="0" i="0">
                <a:solidFill>
                  <a:srgbClr val="222222"/>
                </a:solidFill>
                <a:latin typeface="Calibri"/>
                <a:ea typeface="Calibri"/>
                <a:cs typeface="Calibri"/>
                <a:sym typeface="Calibri"/>
              </a:rPr>
              <a:t>Find all the candidate keys.</a:t>
            </a:r>
            <a:endParaRPr/>
          </a:p>
          <a:p>
            <a:pPr marL="685800" lvl="0" indent="-114300" algn="l" rtl="0">
              <a:lnSpc>
                <a:spcPct val="90000"/>
              </a:lnSpc>
              <a:spcBef>
                <a:spcPts val="1400"/>
              </a:spcBef>
              <a:spcAft>
                <a:spcPts val="0"/>
              </a:spcAft>
              <a:buSzPts val="1800"/>
              <a:buChar char=" "/>
            </a:pPr>
            <a:r>
              <a:rPr lang="en-US" sz="1800" b="0" i="0">
                <a:solidFill>
                  <a:srgbClr val="222222"/>
                </a:solidFill>
                <a:latin typeface="Noto Sans Symbols"/>
                <a:ea typeface="Noto Sans Symbols"/>
                <a:cs typeface="Noto Sans Symbols"/>
                <a:sym typeface="Noto Sans Symbols"/>
              </a:rPr>
              <a:t>∙</a:t>
            </a:r>
            <a:r>
              <a:rPr lang="en-US" sz="1800" b="0" i="0">
                <a:solidFill>
                  <a:srgbClr val="222222"/>
                </a:solidFill>
                <a:latin typeface="Times New Roman"/>
                <a:ea typeface="Times New Roman"/>
                <a:cs typeface="Times New Roman"/>
                <a:sym typeface="Times New Roman"/>
              </a:rPr>
              <a:t>         </a:t>
            </a:r>
            <a:r>
              <a:rPr lang="en-US" sz="1800" b="0" i="0">
                <a:solidFill>
                  <a:srgbClr val="222222"/>
                </a:solidFill>
                <a:latin typeface="Calibri"/>
                <a:ea typeface="Calibri"/>
                <a:cs typeface="Calibri"/>
                <a:sym typeface="Calibri"/>
              </a:rPr>
              <a:t>Find the prime attributes.</a:t>
            </a:r>
            <a:endParaRPr/>
          </a:p>
          <a:p>
            <a:pPr marL="685800" lvl="0" indent="-114300" algn="l" rtl="0">
              <a:lnSpc>
                <a:spcPct val="90000"/>
              </a:lnSpc>
              <a:spcBef>
                <a:spcPts val="1400"/>
              </a:spcBef>
              <a:spcAft>
                <a:spcPts val="0"/>
              </a:spcAft>
              <a:buSzPts val="1800"/>
              <a:buChar char=" "/>
            </a:pPr>
            <a:r>
              <a:rPr lang="en-US" sz="1800" b="0" i="0">
                <a:solidFill>
                  <a:srgbClr val="222222"/>
                </a:solidFill>
                <a:latin typeface="Noto Sans Symbols"/>
                <a:ea typeface="Noto Sans Symbols"/>
                <a:cs typeface="Noto Sans Symbols"/>
                <a:sym typeface="Noto Sans Symbols"/>
              </a:rPr>
              <a:t>∙</a:t>
            </a:r>
            <a:r>
              <a:rPr lang="en-US" sz="1800" b="0" i="0">
                <a:solidFill>
                  <a:srgbClr val="222222"/>
                </a:solidFill>
                <a:latin typeface="Times New Roman"/>
                <a:ea typeface="Times New Roman"/>
                <a:cs typeface="Times New Roman"/>
                <a:sym typeface="Times New Roman"/>
              </a:rPr>
              <a:t>         </a:t>
            </a:r>
            <a:r>
              <a:rPr lang="en-US" sz="1800" b="0" i="0">
                <a:solidFill>
                  <a:srgbClr val="222222"/>
                </a:solidFill>
                <a:latin typeface="Calibri"/>
                <a:ea typeface="Calibri"/>
                <a:cs typeface="Calibri"/>
                <a:sym typeface="Calibri"/>
              </a:rPr>
              <a:t>Find non-prime attributes.</a:t>
            </a:r>
            <a:endParaRPr/>
          </a:p>
          <a:p>
            <a:pPr marL="457200" lvl="0" indent="-114300" algn="l" rtl="0">
              <a:lnSpc>
                <a:spcPct val="90000"/>
              </a:lnSpc>
              <a:spcBef>
                <a:spcPts val="1400"/>
              </a:spcBef>
              <a:spcAft>
                <a:spcPts val="0"/>
              </a:spcAft>
              <a:buSzPts val="1800"/>
              <a:buChar char=" "/>
            </a:pPr>
            <a:r>
              <a:rPr lang="en-US" sz="1800" b="0" i="0">
                <a:solidFill>
                  <a:srgbClr val="222222"/>
                </a:solidFill>
                <a:latin typeface="Calibri"/>
                <a:ea typeface="Calibri"/>
                <a:cs typeface="Calibri"/>
                <a:sym typeface="Calibri"/>
              </a:rPr>
              <a:t>1.</a:t>
            </a:r>
            <a:r>
              <a:rPr lang="en-US" sz="1800" b="0" i="0">
                <a:solidFill>
                  <a:srgbClr val="222222"/>
                </a:solidFill>
                <a:latin typeface="Times New Roman"/>
                <a:ea typeface="Times New Roman"/>
                <a:cs typeface="Times New Roman"/>
                <a:sym typeface="Times New Roman"/>
              </a:rPr>
              <a:t>       </a:t>
            </a:r>
            <a:r>
              <a:rPr lang="en-US" sz="1800" b="0" i="0">
                <a:solidFill>
                  <a:srgbClr val="222222"/>
                </a:solidFill>
                <a:latin typeface="Calibri"/>
                <a:ea typeface="Calibri"/>
                <a:cs typeface="Calibri"/>
                <a:sym typeface="Calibri"/>
              </a:rPr>
              <a:t>R(ABCDEF), FD={AB-&gt;C, C-&gt;DE, E-&gt;F, F-&gt;A}</a:t>
            </a:r>
            <a:endParaRPr/>
          </a:p>
          <a:p>
            <a:pPr marL="457200" lvl="0" indent="-114300" algn="l" rtl="0">
              <a:lnSpc>
                <a:spcPct val="90000"/>
              </a:lnSpc>
              <a:spcBef>
                <a:spcPts val="1400"/>
              </a:spcBef>
              <a:spcAft>
                <a:spcPts val="0"/>
              </a:spcAft>
              <a:buSzPts val="1800"/>
              <a:buChar char=" "/>
            </a:pPr>
            <a:r>
              <a:rPr lang="en-US" sz="1800" b="0" i="0">
                <a:solidFill>
                  <a:srgbClr val="222222"/>
                </a:solidFill>
                <a:latin typeface="Calibri"/>
                <a:ea typeface="Calibri"/>
                <a:cs typeface="Calibri"/>
                <a:sym typeface="Calibri"/>
              </a:rPr>
              <a:t>2.</a:t>
            </a:r>
            <a:r>
              <a:rPr lang="en-US" sz="1800" b="0" i="0">
                <a:solidFill>
                  <a:srgbClr val="222222"/>
                </a:solidFill>
                <a:latin typeface="Times New Roman"/>
                <a:ea typeface="Times New Roman"/>
                <a:cs typeface="Times New Roman"/>
                <a:sym typeface="Times New Roman"/>
              </a:rPr>
              <a:t>       </a:t>
            </a:r>
            <a:r>
              <a:rPr lang="en-US" sz="1800" b="0" i="0">
                <a:solidFill>
                  <a:srgbClr val="222222"/>
                </a:solidFill>
                <a:latin typeface="Calibri"/>
                <a:ea typeface="Calibri"/>
                <a:cs typeface="Calibri"/>
                <a:sym typeface="Calibri"/>
              </a:rPr>
              <a:t>R(ABCDEF), FD={AB-&gt;C, C-&gt;D, C-&gt;E, E-&gt;F, F-&gt;E}</a:t>
            </a:r>
            <a:endParaRPr/>
          </a:p>
          <a:p>
            <a:pPr marL="457200" lvl="0" indent="-114300" algn="l" rtl="0">
              <a:lnSpc>
                <a:spcPct val="90000"/>
              </a:lnSpc>
              <a:spcBef>
                <a:spcPts val="1400"/>
              </a:spcBef>
              <a:spcAft>
                <a:spcPts val="0"/>
              </a:spcAft>
              <a:buSzPts val="1800"/>
              <a:buChar char=" "/>
            </a:pPr>
            <a:r>
              <a:rPr lang="en-US" sz="1800" b="0" i="0">
                <a:solidFill>
                  <a:srgbClr val="222222"/>
                </a:solidFill>
                <a:latin typeface="Calibri"/>
                <a:ea typeface="Calibri"/>
                <a:cs typeface="Calibri"/>
                <a:sym typeface="Calibri"/>
              </a:rPr>
              <a:t>3.</a:t>
            </a:r>
            <a:r>
              <a:rPr lang="en-US" sz="1800" b="0" i="0">
                <a:solidFill>
                  <a:srgbClr val="222222"/>
                </a:solidFill>
                <a:latin typeface="Times New Roman"/>
                <a:ea typeface="Times New Roman"/>
                <a:cs typeface="Times New Roman"/>
                <a:sym typeface="Times New Roman"/>
              </a:rPr>
              <a:t>       </a:t>
            </a:r>
            <a:r>
              <a:rPr lang="en-US" sz="1800" b="0" i="0">
                <a:solidFill>
                  <a:srgbClr val="222222"/>
                </a:solidFill>
                <a:latin typeface="Calibri"/>
                <a:ea typeface="Calibri"/>
                <a:cs typeface="Calibri"/>
                <a:sym typeface="Calibri"/>
              </a:rPr>
              <a:t>R(ABCDE), FD={A-&gt;D, B-&gt;A, BC-&gt;D, AC-&gt;BE}</a:t>
            </a:r>
            <a:endParaRPr/>
          </a:p>
          <a:p>
            <a:pPr marL="457200" lvl="0" indent="-114300" algn="l" rtl="0">
              <a:lnSpc>
                <a:spcPct val="90000"/>
              </a:lnSpc>
              <a:spcBef>
                <a:spcPts val="1400"/>
              </a:spcBef>
              <a:spcAft>
                <a:spcPts val="0"/>
              </a:spcAft>
              <a:buSzPts val="1800"/>
              <a:buChar char=" "/>
            </a:pPr>
            <a:r>
              <a:rPr lang="en-US" sz="1800" b="0" i="0">
                <a:solidFill>
                  <a:srgbClr val="222222"/>
                </a:solidFill>
                <a:latin typeface="Calibri"/>
                <a:ea typeface="Calibri"/>
                <a:cs typeface="Calibri"/>
                <a:sym typeface="Calibri"/>
              </a:rPr>
              <a:t>4.</a:t>
            </a:r>
            <a:r>
              <a:rPr lang="en-US" sz="1800" b="0" i="0">
                <a:solidFill>
                  <a:srgbClr val="222222"/>
                </a:solidFill>
                <a:latin typeface="Times New Roman"/>
                <a:ea typeface="Times New Roman"/>
                <a:cs typeface="Times New Roman"/>
                <a:sym typeface="Times New Roman"/>
              </a:rPr>
              <a:t>       </a:t>
            </a:r>
            <a:r>
              <a:rPr lang="en-US" sz="1800" b="0" i="0">
                <a:solidFill>
                  <a:srgbClr val="222222"/>
                </a:solidFill>
                <a:latin typeface="Calibri"/>
                <a:ea typeface="Calibri"/>
                <a:cs typeface="Calibri"/>
                <a:sym typeface="Calibri"/>
              </a:rPr>
              <a:t>R(ABCDE), FD={BC-&gt;D, AC-&gt;BE, B-&gt;E}</a:t>
            </a:r>
            <a:endParaRPr/>
          </a:p>
          <a:p>
            <a:pPr marL="457200" lvl="0" indent="-114300" algn="l" rtl="0">
              <a:lnSpc>
                <a:spcPct val="90000"/>
              </a:lnSpc>
              <a:spcBef>
                <a:spcPts val="1400"/>
              </a:spcBef>
              <a:spcAft>
                <a:spcPts val="0"/>
              </a:spcAft>
              <a:buSzPts val="1800"/>
              <a:buChar char=" "/>
            </a:pPr>
            <a:r>
              <a:rPr lang="en-US" sz="1800" b="0" i="0">
                <a:solidFill>
                  <a:srgbClr val="222222"/>
                </a:solidFill>
                <a:latin typeface="Calibri"/>
                <a:ea typeface="Calibri"/>
                <a:cs typeface="Calibri"/>
                <a:sym typeface="Calibri"/>
              </a:rPr>
              <a:t>5.</a:t>
            </a:r>
            <a:r>
              <a:rPr lang="en-US" sz="1800" b="0" i="0">
                <a:solidFill>
                  <a:srgbClr val="222222"/>
                </a:solidFill>
                <a:latin typeface="Times New Roman"/>
                <a:ea typeface="Times New Roman"/>
                <a:cs typeface="Times New Roman"/>
                <a:sym typeface="Times New Roman"/>
              </a:rPr>
              <a:t>       </a:t>
            </a:r>
            <a:r>
              <a:rPr lang="en-US" sz="1800" b="0" i="0">
                <a:solidFill>
                  <a:srgbClr val="222222"/>
                </a:solidFill>
                <a:latin typeface="Calibri"/>
                <a:ea typeface="Calibri"/>
                <a:cs typeface="Calibri"/>
                <a:sym typeface="Calibri"/>
              </a:rPr>
              <a:t>R(ABCDE), FD={B-&gt;A,A-&gt;C,BC-&gt;D,AC-&gt;BE}</a:t>
            </a:r>
            <a:endParaRPr/>
          </a:p>
          <a:p>
            <a:pPr marL="91440" lvl="0" indent="0" algn="l" rtl="0">
              <a:lnSpc>
                <a:spcPct val="90000"/>
              </a:lnSpc>
              <a:spcBef>
                <a:spcPts val="1400"/>
              </a:spcBef>
              <a:spcAft>
                <a:spcPts val="0"/>
              </a:spcAft>
              <a:buSzPts val="2000"/>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2"/>
          <p:cNvSpPr/>
          <p:nvPr/>
        </p:nvSpPr>
        <p:spPr>
          <a:xfrm>
            <a:off x="2209800" y="6248400"/>
            <a:ext cx="190500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sp>
        <p:nvSpPr>
          <p:cNvPr id="222" name="Google Shape;222;p12"/>
          <p:cNvSpPr/>
          <p:nvPr/>
        </p:nvSpPr>
        <p:spPr>
          <a:xfrm>
            <a:off x="4648200" y="6248400"/>
            <a:ext cx="289560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sp>
        <p:nvSpPr>
          <p:cNvPr id="223" name="Google Shape;223;p12"/>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Normal Forms</a:t>
            </a:r>
            <a:endParaRPr/>
          </a:p>
        </p:txBody>
      </p:sp>
      <p:sp>
        <p:nvSpPr>
          <p:cNvPr id="224" name="Google Shape;224;p12"/>
          <p:cNvSpPr txBox="1">
            <a:spLocks noGrp="1"/>
          </p:cNvSpPr>
          <p:nvPr>
            <p:ph type="body" idx="1"/>
          </p:nvPr>
        </p:nvSpPr>
        <p:spPr>
          <a:xfrm>
            <a:off x="1409699" y="2198077"/>
            <a:ext cx="9088315" cy="4050323"/>
          </a:xfrm>
          <a:prstGeom prst="rect">
            <a:avLst/>
          </a:prstGeom>
          <a:noFill/>
          <a:ln>
            <a:noFill/>
          </a:ln>
        </p:spPr>
        <p:txBody>
          <a:bodyPr spcFirstLastPara="1" wrap="square" lIns="0" tIns="45700" rIns="0" bIns="45700" anchor="t" anchorCtr="0">
            <a:normAutofit/>
          </a:bodyPr>
          <a:lstStyle/>
          <a:p>
            <a:pPr marL="91440" lvl="0" indent="-127000" algn="l" rtl="0">
              <a:lnSpc>
                <a:spcPct val="90000"/>
              </a:lnSpc>
              <a:spcBef>
                <a:spcPts val="0"/>
              </a:spcBef>
              <a:spcAft>
                <a:spcPts val="0"/>
              </a:spcAft>
              <a:buSzPts val="2000"/>
              <a:buChar char=" "/>
            </a:pPr>
            <a:r>
              <a:rPr lang="en-US"/>
              <a:t>Returning to the issue of schema refinement, the first question to ask is whether any refinement is needed!</a:t>
            </a:r>
            <a:endParaRPr/>
          </a:p>
          <a:p>
            <a:pPr marL="91440" lvl="0" indent="-127000" algn="l" rtl="0">
              <a:lnSpc>
                <a:spcPct val="90000"/>
              </a:lnSpc>
              <a:spcBef>
                <a:spcPts val="1400"/>
              </a:spcBef>
              <a:spcAft>
                <a:spcPts val="0"/>
              </a:spcAft>
              <a:buSzPts val="2000"/>
              <a:buChar char=" "/>
            </a:pPr>
            <a:r>
              <a:rPr lang="en-US"/>
              <a:t>If a relation is in a certain </a:t>
            </a:r>
            <a:r>
              <a:rPr lang="en-US" i="1">
                <a:solidFill>
                  <a:schemeClr val="accent2"/>
                </a:solidFill>
              </a:rPr>
              <a:t>normal form</a:t>
            </a:r>
            <a:r>
              <a:rPr lang="en-US">
                <a:solidFill>
                  <a:schemeClr val="accent2"/>
                </a:solidFill>
              </a:rPr>
              <a:t> </a:t>
            </a:r>
            <a:r>
              <a:rPr lang="en-US"/>
              <a:t>1NF,2NF,</a:t>
            </a:r>
            <a:r>
              <a:rPr lang="en-US">
                <a:solidFill>
                  <a:schemeClr val="accent1"/>
                </a:solidFill>
              </a:rPr>
              <a:t>BCNF, 3NF </a:t>
            </a:r>
            <a:r>
              <a:rPr lang="en-US"/>
              <a:t>etc.), it is known that certain kinds of problems are avoided/minimized.  This can be used to help us decide whether decomposing the relation will help.</a:t>
            </a:r>
            <a:endParaRPr/>
          </a:p>
          <a:p>
            <a:pPr marL="91440" lvl="0" indent="-127000" algn="l" rtl="0">
              <a:lnSpc>
                <a:spcPct val="90000"/>
              </a:lnSpc>
              <a:spcBef>
                <a:spcPts val="1400"/>
              </a:spcBef>
              <a:spcAft>
                <a:spcPts val="0"/>
              </a:spcAft>
              <a:buSzPts val="2000"/>
              <a:buChar char=" "/>
            </a:pPr>
            <a:r>
              <a:rPr lang="en-US"/>
              <a:t>Role of FDs in detecting redundancy:</a:t>
            </a:r>
            <a:endParaRPr/>
          </a:p>
          <a:p>
            <a:pPr marL="384048" lvl="1" indent="-182880" algn="l" rtl="0">
              <a:lnSpc>
                <a:spcPct val="90000"/>
              </a:lnSpc>
              <a:spcBef>
                <a:spcPts val="400"/>
              </a:spcBef>
              <a:spcAft>
                <a:spcPts val="0"/>
              </a:spcAft>
              <a:buSzPts val="1350"/>
              <a:buChar char="◦"/>
            </a:pPr>
            <a:r>
              <a:rPr lang="en-US"/>
              <a:t>Consider a relation R with 3 attributes, ABC.  </a:t>
            </a:r>
            <a:endParaRPr/>
          </a:p>
          <a:p>
            <a:pPr marL="566928" lvl="2" indent="-182880" algn="l" rtl="0">
              <a:lnSpc>
                <a:spcPct val="90000"/>
              </a:lnSpc>
              <a:spcBef>
                <a:spcPts val="600"/>
              </a:spcBef>
              <a:spcAft>
                <a:spcPts val="0"/>
              </a:spcAft>
              <a:buSzPts val="1400"/>
              <a:buChar char="◦"/>
            </a:pPr>
            <a:r>
              <a:rPr lang="en-US">
                <a:solidFill>
                  <a:schemeClr val="accent2"/>
                </a:solidFill>
              </a:rPr>
              <a:t>No FDs hold:   </a:t>
            </a:r>
            <a:r>
              <a:rPr lang="en-US"/>
              <a:t>There is no redundancy here.</a:t>
            </a:r>
            <a:endParaRPr/>
          </a:p>
          <a:p>
            <a:pPr marL="566928" lvl="2" indent="-182880" algn="l" rtl="0">
              <a:lnSpc>
                <a:spcPct val="90000"/>
              </a:lnSpc>
              <a:spcBef>
                <a:spcPts val="600"/>
              </a:spcBef>
              <a:spcAft>
                <a:spcPts val="0"/>
              </a:spcAft>
              <a:buSzPts val="1400"/>
              <a:buChar char="◦"/>
            </a:pPr>
            <a:r>
              <a:rPr lang="en-US">
                <a:solidFill>
                  <a:schemeClr val="accent2"/>
                </a:solidFill>
              </a:rPr>
              <a:t>Given A -&gt; B:   </a:t>
            </a:r>
            <a:r>
              <a:rPr lang="en-US"/>
              <a:t>Several tuples could have the same A value, and if so, they’ll all have the same B value!</a:t>
            </a:r>
            <a:endParaRPr/>
          </a:p>
        </p:txBody>
      </p:sp>
    </p:spTree>
  </p:cSld>
  <p:clrMapOvr>
    <a:masterClrMapping/>
  </p:clrMapOvr>
  <p:transition>
    <p:cu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3"/>
          <p:cNvSpPr/>
          <p:nvPr/>
        </p:nvSpPr>
        <p:spPr>
          <a:xfrm>
            <a:off x="2209800" y="76200"/>
            <a:ext cx="7772400" cy="11430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CC0000"/>
              </a:buClr>
              <a:buSzPts val="4400"/>
              <a:buFont typeface="Noto Sans Symbols"/>
              <a:buNone/>
            </a:pPr>
            <a:r>
              <a:rPr lang="en-US" sz="4400">
                <a:solidFill>
                  <a:srgbClr val="CC0000"/>
                </a:solidFill>
                <a:latin typeface="Arial"/>
                <a:ea typeface="Arial"/>
                <a:cs typeface="Arial"/>
                <a:sym typeface="Arial"/>
              </a:rPr>
              <a:t>Levels of Normalization </a:t>
            </a:r>
            <a:endParaRPr/>
          </a:p>
        </p:txBody>
      </p:sp>
      <p:sp>
        <p:nvSpPr>
          <p:cNvPr id="231" name="Google Shape;231;p13"/>
          <p:cNvSpPr txBox="1"/>
          <p:nvPr/>
        </p:nvSpPr>
        <p:spPr>
          <a:xfrm>
            <a:off x="2133600" y="5654675"/>
            <a:ext cx="8001000" cy="457200"/>
          </a:xfrm>
          <a:prstGeom prst="rect">
            <a:avLst/>
          </a:prstGeom>
          <a:solidFill>
            <a:srgbClr val="FFFF99"/>
          </a:solidFill>
          <a:ln>
            <a:noFill/>
          </a:ln>
          <a:effectLst>
            <a:outerShdw dist="107763" dir="2700000" algn="ctr" rotWithShape="0">
              <a:schemeClr val="lt2"/>
            </a:outerShdw>
          </a:effectLst>
        </p:spPr>
        <p:txBody>
          <a:bodyPr spcFirstLastPara="1" wrap="square" lIns="91425" tIns="45700" rIns="91425" bIns="45700" anchor="t" anchorCtr="0">
            <a:spAutoFit/>
          </a:bodyPr>
          <a:lstStyle/>
          <a:p>
            <a:pPr marL="0" marR="0" lvl="0" indent="0" algn="ctr" rtl="0">
              <a:spcBef>
                <a:spcPts val="0"/>
              </a:spcBef>
              <a:spcAft>
                <a:spcPts val="0"/>
              </a:spcAft>
              <a:buClr>
                <a:srgbClr val="000066"/>
              </a:buClr>
              <a:buSzPts val="2400"/>
              <a:buFont typeface="Noto Sans Symbols"/>
              <a:buNone/>
            </a:pPr>
            <a:r>
              <a:rPr lang="en-US" sz="2400">
                <a:solidFill>
                  <a:srgbClr val="000066"/>
                </a:solidFill>
                <a:latin typeface="Times New Roman"/>
                <a:ea typeface="Times New Roman"/>
                <a:cs typeface="Times New Roman"/>
                <a:sym typeface="Times New Roman"/>
              </a:rPr>
              <a:t>Each higher level is a subset of the lower level </a:t>
            </a:r>
            <a:endParaRPr/>
          </a:p>
        </p:txBody>
      </p:sp>
      <p:pic>
        <p:nvPicPr>
          <p:cNvPr id="232" name="Google Shape;232;p13"/>
          <p:cNvPicPr preferRelativeResize="0"/>
          <p:nvPr/>
        </p:nvPicPr>
        <p:blipFill rotWithShape="1">
          <a:blip r:embed="rId3">
            <a:alphaModFix/>
          </a:blip>
          <a:srcRect/>
          <a:stretch/>
        </p:blipFill>
        <p:spPr>
          <a:xfrm>
            <a:off x="2465573" y="1553307"/>
            <a:ext cx="6282773" cy="314138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14"/>
          <p:cNvSpPr txBox="1">
            <a:spLocks noGrp="1"/>
          </p:cNvSpPr>
          <p:nvPr>
            <p:ph type="body" idx="1"/>
          </p:nvPr>
        </p:nvSpPr>
        <p:spPr>
          <a:xfrm>
            <a:off x="1881553" y="1881554"/>
            <a:ext cx="8001000" cy="3818792"/>
          </a:xfrm>
          <a:prstGeom prst="rect">
            <a:avLst/>
          </a:prstGeom>
          <a:noFill/>
          <a:ln>
            <a:noFill/>
          </a:ln>
        </p:spPr>
        <p:txBody>
          <a:bodyPr spcFirstLastPara="1" wrap="square" lIns="0" tIns="45700" rIns="0" bIns="45700" anchor="t" anchorCtr="0">
            <a:normAutofit/>
          </a:bodyPr>
          <a:lstStyle/>
          <a:p>
            <a:pPr marL="533400" lvl="0" indent="-533400" algn="just" rtl="0">
              <a:lnSpc>
                <a:spcPct val="90000"/>
              </a:lnSpc>
              <a:spcBef>
                <a:spcPts val="0"/>
              </a:spcBef>
              <a:spcAft>
                <a:spcPts val="0"/>
              </a:spcAft>
              <a:buSzPts val="1600"/>
              <a:buNone/>
            </a:pPr>
            <a:r>
              <a:rPr lang="en-US" sz="1600">
                <a:latin typeface="Arimo"/>
                <a:ea typeface="Arimo"/>
                <a:cs typeface="Arimo"/>
                <a:sym typeface="Arimo"/>
              </a:rPr>
              <a:t>A table is considered to be in 1NF if all the fields contain</a:t>
            </a:r>
            <a:endParaRPr/>
          </a:p>
          <a:p>
            <a:pPr marL="533400" lvl="0" indent="-533400" algn="just" rtl="0">
              <a:lnSpc>
                <a:spcPct val="90000"/>
              </a:lnSpc>
              <a:spcBef>
                <a:spcPts val="1400"/>
              </a:spcBef>
              <a:spcAft>
                <a:spcPts val="0"/>
              </a:spcAft>
              <a:buSzPts val="1600"/>
              <a:buNone/>
            </a:pPr>
            <a:r>
              <a:rPr lang="en-US" sz="1600">
                <a:latin typeface="Arimo"/>
                <a:ea typeface="Arimo"/>
                <a:cs typeface="Arimo"/>
                <a:sym typeface="Arimo"/>
              </a:rPr>
              <a:t>only scalar values (as opposed to list of values).</a:t>
            </a:r>
            <a:r>
              <a:rPr lang="en-US" sz="1400">
                <a:latin typeface="Arimo"/>
                <a:ea typeface="Arimo"/>
                <a:cs typeface="Arimo"/>
                <a:sym typeface="Arimo"/>
              </a:rPr>
              <a:t> </a:t>
            </a:r>
            <a:endParaRPr/>
          </a:p>
          <a:p>
            <a:pPr marL="533400" lvl="0" indent="-533400" algn="just" rtl="0">
              <a:lnSpc>
                <a:spcPct val="90000"/>
              </a:lnSpc>
              <a:spcBef>
                <a:spcPts val="1400"/>
              </a:spcBef>
              <a:spcAft>
                <a:spcPts val="0"/>
              </a:spcAft>
              <a:buSzPts val="1600"/>
              <a:buNone/>
            </a:pPr>
            <a:r>
              <a:rPr lang="en-US" sz="1600" b="1">
                <a:solidFill>
                  <a:srgbClr val="CC0000"/>
                </a:solidFill>
                <a:latin typeface="Arimo"/>
                <a:ea typeface="Arimo"/>
                <a:cs typeface="Arimo"/>
                <a:sym typeface="Arimo"/>
              </a:rPr>
              <a:t>Example (Not 1NF)</a:t>
            </a:r>
            <a:endParaRPr/>
          </a:p>
        </p:txBody>
      </p:sp>
      <p:sp>
        <p:nvSpPr>
          <p:cNvPr id="239" name="Google Shape;239;p14"/>
          <p:cNvSpPr/>
          <p:nvPr/>
        </p:nvSpPr>
        <p:spPr>
          <a:xfrm>
            <a:off x="2209800" y="76200"/>
            <a:ext cx="7772400" cy="11430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CC0000"/>
              </a:buClr>
              <a:buSzPts val="4400"/>
              <a:buFont typeface="Noto Sans Symbols"/>
              <a:buNone/>
            </a:pPr>
            <a:r>
              <a:rPr lang="en-US" sz="4400">
                <a:solidFill>
                  <a:srgbClr val="CC0000"/>
                </a:solidFill>
                <a:latin typeface="Arial"/>
                <a:ea typeface="Arial"/>
                <a:cs typeface="Arial"/>
                <a:sym typeface="Arial"/>
              </a:rPr>
              <a:t>First Normal Form  (1NF) </a:t>
            </a:r>
            <a:endParaRPr/>
          </a:p>
        </p:txBody>
      </p:sp>
      <p:sp>
        <p:nvSpPr>
          <p:cNvPr id="240" name="Google Shape;240;p14"/>
          <p:cNvSpPr txBox="1"/>
          <p:nvPr/>
        </p:nvSpPr>
        <p:spPr>
          <a:xfrm>
            <a:off x="2133600" y="5638800"/>
            <a:ext cx="8001000" cy="457200"/>
          </a:xfrm>
          <a:prstGeom prst="rect">
            <a:avLst/>
          </a:prstGeom>
          <a:solidFill>
            <a:srgbClr val="FFFF99"/>
          </a:solidFill>
          <a:ln>
            <a:noFill/>
          </a:ln>
          <a:effectLst>
            <a:outerShdw dist="107763" dir="2700000" algn="ctr" rotWithShape="0">
              <a:schemeClr val="lt2"/>
            </a:outerShdw>
          </a:effectLst>
        </p:spPr>
        <p:txBody>
          <a:bodyPr spcFirstLastPara="1" wrap="square" lIns="91425" tIns="45700" rIns="91425" bIns="45700" anchor="t" anchorCtr="0">
            <a:spAutoFit/>
          </a:bodyPr>
          <a:lstStyle/>
          <a:p>
            <a:pPr marL="0" marR="0" lvl="0" indent="0" algn="ctr" rtl="0">
              <a:spcBef>
                <a:spcPts val="0"/>
              </a:spcBef>
              <a:spcAft>
                <a:spcPts val="0"/>
              </a:spcAft>
              <a:buClr>
                <a:srgbClr val="000066"/>
              </a:buClr>
              <a:buSzPts val="2400"/>
              <a:buFont typeface="Noto Sans Symbols"/>
              <a:buNone/>
            </a:pPr>
            <a:r>
              <a:rPr lang="en-US" sz="2400">
                <a:solidFill>
                  <a:srgbClr val="000066"/>
                </a:solidFill>
                <a:latin typeface="Times New Roman"/>
                <a:ea typeface="Times New Roman"/>
                <a:cs typeface="Times New Roman"/>
                <a:sym typeface="Times New Roman"/>
              </a:rPr>
              <a:t>Author and AuPhone columns are not scalar</a:t>
            </a:r>
            <a:endParaRPr/>
          </a:p>
        </p:txBody>
      </p:sp>
      <p:grpSp>
        <p:nvGrpSpPr>
          <p:cNvPr id="241" name="Google Shape;241;p14"/>
          <p:cNvGrpSpPr/>
          <p:nvPr/>
        </p:nvGrpSpPr>
        <p:grpSpPr>
          <a:xfrm>
            <a:off x="2092326" y="3355976"/>
            <a:ext cx="1063625" cy="606425"/>
            <a:chOff x="0" y="0"/>
            <a:chExt cx="627" cy="480"/>
          </a:xfrm>
        </p:grpSpPr>
        <p:sp>
          <p:nvSpPr>
            <p:cNvPr id="242" name="Google Shape;242;p14"/>
            <p:cNvSpPr/>
            <p:nvPr/>
          </p:nvSpPr>
          <p:spPr>
            <a:xfrm>
              <a:off x="29" y="0"/>
              <a:ext cx="569"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000"/>
                <a:buFont typeface="Noto Sans Symbols"/>
                <a:buNone/>
              </a:pPr>
              <a:r>
                <a:rPr lang="en-US" sz="1000">
                  <a:solidFill>
                    <a:schemeClr val="dk1"/>
                  </a:solidFill>
                  <a:latin typeface="Times New Roman"/>
                  <a:ea typeface="Times New Roman"/>
                  <a:cs typeface="Times New Roman"/>
                  <a:sym typeface="Times New Roman"/>
                </a:rPr>
                <a:t>0-321-32132-1</a:t>
              </a:r>
              <a:endParaRPr/>
            </a:p>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sp>
          <p:nvSpPr>
            <p:cNvPr id="243" name="Google Shape;243;p14"/>
            <p:cNvSpPr/>
            <p:nvPr/>
          </p:nvSpPr>
          <p:spPr>
            <a:xfrm>
              <a:off x="0" y="0"/>
              <a:ext cx="627"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244" name="Google Shape;244;p14"/>
          <p:cNvGrpSpPr/>
          <p:nvPr/>
        </p:nvGrpSpPr>
        <p:grpSpPr>
          <a:xfrm>
            <a:off x="3155951" y="3355976"/>
            <a:ext cx="881063" cy="606425"/>
            <a:chOff x="627" y="0"/>
            <a:chExt cx="598" cy="480"/>
          </a:xfrm>
        </p:grpSpPr>
        <p:sp>
          <p:nvSpPr>
            <p:cNvPr id="245" name="Google Shape;245;p14"/>
            <p:cNvSpPr/>
            <p:nvPr/>
          </p:nvSpPr>
          <p:spPr>
            <a:xfrm>
              <a:off x="656" y="0"/>
              <a:ext cx="540"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000"/>
                <a:buFont typeface="Noto Sans Symbols"/>
                <a:buNone/>
              </a:pPr>
              <a:r>
                <a:rPr lang="en-US" sz="1000">
                  <a:solidFill>
                    <a:schemeClr val="dk1"/>
                  </a:solidFill>
                  <a:latin typeface="Times New Roman"/>
                  <a:ea typeface="Times New Roman"/>
                  <a:cs typeface="Times New Roman"/>
                  <a:sym typeface="Times New Roman"/>
                </a:rPr>
                <a:t>Balloon</a:t>
              </a:r>
              <a:endParaRPr/>
            </a:p>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sp>
          <p:nvSpPr>
            <p:cNvPr id="246" name="Google Shape;246;p14"/>
            <p:cNvSpPr/>
            <p:nvPr/>
          </p:nvSpPr>
          <p:spPr>
            <a:xfrm>
              <a:off x="627" y="0"/>
              <a:ext cx="598"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247" name="Google Shape;247;p14"/>
          <p:cNvGrpSpPr/>
          <p:nvPr/>
        </p:nvGrpSpPr>
        <p:grpSpPr>
          <a:xfrm>
            <a:off x="4041776" y="3355976"/>
            <a:ext cx="911225" cy="606425"/>
            <a:chOff x="1549" y="0"/>
            <a:chExt cx="548" cy="480"/>
          </a:xfrm>
        </p:grpSpPr>
        <p:sp>
          <p:nvSpPr>
            <p:cNvPr id="248" name="Google Shape;248;p14"/>
            <p:cNvSpPr/>
            <p:nvPr/>
          </p:nvSpPr>
          <p:spPr>
            <a:xfrm>
              <a:off x="1578" y="0"/>
              <a:ext cx="490"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000"/>
                <a:buFont typeface="Noto Sans Symbols"/>
                <a:buNone/>
              </a:pPr>
              <a:r>
                <a:rPr lang="en-US" sz="1000">
                  <a:solidFill>
                    <a:schemeClr val="dk1"/>
                  </a:solidFill>
                  <a:latin typeface="Times New Roman"/>
                  <a:ea typeface="Times New Roman"/>
                  <a:cs typeface="Times New Roman"/>
                  <a:sym typeface="Times New Roman"/>
                </a:rPr>
                <a:t>Sleepy, Snoopy, Grumpy</a:t>
              </a:r>
              <a:endParaRPr/>
            </a:p>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sp>
          <p:nvSpPr>
            <p:cNvPr id="249" name="Google Shape;249;p14"/>
            <p:cNvSpPr/>
            <p:nvPr/>
          </p:nvSpPr>
          <p:spPr>
            <a:xfrm>
              <a:off x="1549" y="0"/>
              <a:ext cx="548"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250" name="Google Shape;250;p14"/>
          <p:cNvGrpSpPr/>
          <p:nvPr/>
        </p:nvGrpSpPr>
        <p:grpSpPr>
          <a:xfrm>
            <a:off x="4953000" y="3355976"/>
            <a:ext cx="1087438" cy="606425"/>
            <a:chOff x="2097" y="0"/>
            <a:chExt cx="598" cy="480"/>
          </a:xfrm>
        </p:grpSpPr>
        <p:sp>
          <p:nvSpPr>
            <p:cNvPr id="251" name="Google Shape;251;p14"/>
            <p:cNvSpPr/>
            <p:nvPr/>
          </p:nvSpPr>
          <p:spPr>
            <a:xfrm>
              <a:off x="2126" y="0"/>
              <a:ext cx="540"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000"/>
                <a:buFont typeface="Noto Sans Symbols"/>
                <a:buNone/>
              </a:pPr>
              <a:r>
                <a:rPr lang="en-US" sz="1000">
                  <a:solidFill>
                    <a:schemeClr val="dk1"/>
                  </a:solidFill>
                  <a:latin typeface="Times New Roman"/>
                  <a:ea typeface="Times New Roman"/>
                  <a:cs typeface="Times New Roman"/>
                  <a:sym typeface="Times New Roman"/>
                </a:rPr>
                <a:t>321-321-1111, 232-234-1234, 665-235-6532</a:t>
              </a:r>
              <a:endParaRPr/>
            </a:p>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sp>
          <p:nvSpPr>
            <p:cNvPr id="252" name="Google Shape;252;p14"/>
            <p:cNvSpPr/>
            <p:nvPr/>
          </p:nvSpPr>
          <p:spPr>
            <a:xfrm>
              <a:off x="2097" y="0"/>
              <a:ext cx="598"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253" name="Google Shape;253;p14"/>
          <p:cNvGrpSpPr/>
          <p:nvPr/>
        </p:nvGrpSpPr>
        <p:grpSpPr>
          <a:xfrm>
            <a:off x="6040439" y="3355976"/>
            <a:ext cx="998537" cy="606425"/>
            <a:chOff x="3077" y="0"/>
            <a:chExt cx="670" cy="480"/>
          </a:xfrm>
        </p:grpSpPr>
        <p:sp>
          <p:nvSpPr>
            <p:cNvPr id="254" name="Google Shape;254;p14"/>
            <p:cNvSpPr/>
            <p:nvPr/>
          </p:nvSpPr>
          <p:spPr>
            <a:xfrm>
              <a:off x="3106" y="0"/>
              <a:ext cx="612"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000"/>
                <a:buFont typeface="Noto Sans Symbols"/>
                <a:buNone/>
              </a:pPr>
              <a:r>
                <a:rPr lang="en-US" sz="1000">
                  <a:solidFill>
                    <a:schemeClr val="dk1"/>
                  </a:solidFill>
                  <a:latin typeface="Times New Roman"/>
                  <a:ea typeface="Times New Roman"/>
                  <a:cs typeface="Times New Roman"/>
                  <a:sym typeface="Times New Roman"/>
                </a:rPr>
                <a:t>Small House</a:t>
              </a:r>
              <a:endParaRPr/>
            </a:p>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sp>
          <p:nvSpPr>
            <p:cNvPr id="255" name="Google Shape;255;p14"/>
            <p:cNvSpPr/>
            <p:nvPr/>
          </p:nvSpPr>
          <p:spPr>
            <a:xfrm>
              <a:off x="3077" y="0"/>
              <a:ext cx="670"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256" name="Google Shape;256;p14"/>
          <p:cNvGrpSpPr/>
          <p:nvPr/>
        </p:nvGrpSpPr>
        <p:grpSpPr>
          <a:xfrm>
            <a:off x="7038976" y="3355976"/>
            <a:ext cx="1058863" cy="606425"/>
            <a:chOff x="3747" y="0"/>
            <a:chExt cx="634" cy="480"/>
          </a:xfrm>
        </p:grpSpPr>
        <p:sp>
          <p:nvSpPr>
            <p:cNvPr id="257" name="Google Shape;257;p14"/>
            <p:cNvSpPr/>
            <p:nvPr/>
          </p:nvSpPr>
          <p:spPr>
            <a:xfrm>
              <a:off x="3776" y="0"/>
              <a:ext cx="576"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000"/>
                <a:buFont typeface="Noto Sans Symbols"/>
                <a:buNone/>
              </a:pPr>
              <a:r>
                <a:rPr lang="en-US" sz="1000">
                  <a:solidFill>
                    <a:schemeClr val="dk1"/>
                  </a:solidFill>
                  <a:latin typeface="Times New Roman"/>
                  <a:ea typeface="Times New Roman"/>
                  <a:cs typeface="Times New Roman"/>
                  <a:sym typeface="Times New Roman"/>
                </a:rPr>
                <a:t>714-000-0000</a:t>
              </a:r>
              <a:endParaRPr/>
            </a:p>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sp>
          <p:nvSpPr>
            <p:cNvPr id="258" name="Google Shape;258;p14"/>
            <p:cNvSpPr/>
            <p:nvPr/>
          </p:nvSpPr>
          <p:spPr>
            <a:xfrm>
              <a:off x="3747" y="0"/>
              <a:ext cx="634"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259" name="Google Shape;259;p14"/>
          <p:cNvGrpSpPr/>
          <p:nvPr/>
        </p:nvGrpSpPr>
        <p:grpSpPr>
          <a:xfrm>
            <a:off x="8097839" y="3355976"/>
            <a:ext cx="706437" cy="606425"/>
            <a:chOff x="4381" y="0"/>
            <a:chExt cx="382" cy="480"/>
          </a:xfrm>
        </p:grpSpPr>
        <p:sp>
          <p:nvSpPr>
            <p:cNvPr id="260" name="Google Shape;260;p14"/>
            <p:cNvSpPr/>
            <p:nvPr/>
          </p:nvSpPr>
          <p:spPr>
            <a:xfrm>
              <a:off x="4410" y="0"/>
              <a:ext cx="324"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000"/>
                <a:buFont typeface="Noto Sans Symbols"/>
                <a:buNone/>
              </a:pPr>
              <a:r>
                <a:rPr lang="en-US" sz="1000">
                  <a:solidFill>
                    <a:schemeClr val="dk1"/>
                  </a:solidFill>
                  <a:latin typeface="Times New Roman"/>
                  <a:ea typeface="Times New Roman"/>
                  <a:cs typeface="Times New Roman"/>
                  <a:sym typeface="Times New Roman"/>
                </a:rPr>
                <a:t>$34.00</a:t>
              </a:r>
              <a:endParaRPr/>
            </a:p>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sp>
          <p:nvSpPr>
            <p:cNvPr id="261" name="Google Shape;261;p14"/>
            <p:cNvSpPr/>
            <p:nvPr/>
          </p:nvSpPr>
          <p:spPr>
            <a:xfrm>
              <a:off x="4381" y="0"/>
              <a:ext cx="382"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262" name="Google Shape;262;p14"/>
          <p:cNvGrpSpPr/>
          <p:nvPr/>
        </p:nvGrpSpPr>
        <p:grpSpPr>
          <a:xfrm>
            <a:off x="2092326" y="3962400"/>
            <a:ext cx="1063625" cy="381000"/>
            <a:chOff x="0" y="1440"/>
            <a:chExt cx="627" cy="480"/>
          </a:xfrm>
        </p:grpSpPr>
        <p:sp>
          <p:nvSpPr>
            <p:cNvPr id="263" name="Google Shape;263;p14"/>
            <p:cNvSpPr/>
            <p:nvPr/>
          </p:nvSpPr>
          <p:spPr>
            <a:xfrm>
              <a:off x="29" y="1440"/>
              <a:ext cx="569"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000"/>
                <a:buFont typeface="Noto Sans Symbols"/>
                <a:buNone/>
              </a:pPr>
              <a:r>
                <a:rPr lang="en-US" sz="1000">
                  <a:solidFill>
                    <a:schemeClr val="dk1"/>
                  </a:solidFill>
                  <a:latin typeface="Times New Roman"/>
                  <a:ea typeface="Times New Roman"/>
                  <a:cs typeface="Times New Roman"/>
                  <a:sym typeface="Times New Roman"/>
                </a:rPr>
                <a:t>0-55-123456-9</a:t>
              </a:r>
              <a:endParaRPr/>
            </a:p>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sp>
          <p:nvSpPr>
            <p:cNvPr id="264" name="Google Shape;264;p14"/>
            <p:cNvSpPr/>
            <p:nvPr/>
          </p:nvSpPr>
          <p:spPr>
            <a:xfrm>
              <a:off x="0" y="1440"/>
              <a:ext cx="627"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265" name="Google Shape;265;p14"/>
          <p:cNvGrpSpPr/>
          <p:nvPr/>
        </p:nvGrpSpPr>
        <p:grpSpPr>
          <a:xfrm>
            <a:off x="3155951" y="3962400"/>
            <a:ext cx="881063" cy="381000"/>
            <a:chOff x="627" y="1440"/>
            <a:chExt cx="598" cy="480"/>
          </a:xfrm>
        </p:grpSpPr>
        <p:sp>
          <p:nvSpPr>
            <p:cNvPr id="266" name="Google Shape;266;p14"/>
            <p:cNvSpPr/>
            <p:nvPr/>
          </p:nvSpPr>
          <p:spPr>
            <a:xfrm>
              <a:off x="656" y="1440"/>
              <a:ext cx="540"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000"/>
                <a:buFont typeface="Noto Sans Symbols"/>
                <a:buNone/>
              </a:pPr>
              <a:r>
                <a:rPr lang="en-US" sz="1000">
                  <a:solidFill>
                    <a:schemeClr val="dk1"/>
                  </a:solidFill>
                  <a:latin typeface="Times New Roman"/>
                  <a:ea typeface="Times New Roman"/>
                  <a:cs typeface="Times New Roman"/>
                  <a:sym typeface="Times New Roman"/>
                </a:rPr>
                <a:t>Main Street</a:t>
              </a:r>
              <a:endParaRPr/>
            </a:p>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sp>
          <p:nvSpPr>
            <p:cNvPr id="267" name="Google Shape;267;p14"/>
            <p:cNvSpPr/>
            <p:nvPr/>
          </p:nvSpPr>
          <p:spPr>
            <a:xfrm>
              <a:off x="627" y="1440"/>
              <a:ext cx="598"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268" name="Google Shape;268;p14"/>
          <p:cNvGrpSpPr/>
          <p:nvPr/>
        </p:nvGrpSpPr>
        <p:grpSpPr>
          <a:xfrm>
            <a:off x="4041776" y="3962400"/>
            <a:ext cx="911225" cy="381000"/>
            <a:chOff x="1549" y="1440"/>
            <a:chExt cx="548" cy="480"/>
          </a:xfrm>
        </p:grpSpPr>
        <p:sp>
          <p:nvSpPr>
            <p:cNvPr id="269" name="Google Shape;269;p14"/>
            <p:cNvSpPr/>
            <p:nvPr/>
          </p:nvSpPr>
          <p:spPr>
            <a:xfrm>
              <a:off x="1578" y="1440"/>
              <a:ext cx="490"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000"/>
                <a:buFont typeface="Noto Sans Symbols"/>
                <a:buNone/>
              </a:pPr>
              <a:r>
                <a:rPr lang="en-US" sz="1000">
                  <a:solidFill>
                    <a:schemeClr val="dk1"/>
                  </a:solidFill>
                  <a:latin typeface="Times New Roman"/>
                  <a:ea typeface="Times New Roman"/>
                  <a:cs typeface="Times New Roman"/>
                  <a:sym typeface="Times New Roman"/>
                </a:rPr>
                <a:t>Jones, Smith</a:t>
              </a:r>
              <a:endParaRPr/>
            </a:p>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sp>
          <p:nvSpPr>
            <p:cNvPr id="270" name="Google Shape;270;p14"/>
            <p:cNvSpPr/>
            <p:nvPr/>
          </p:nvSpPr>
          <p:spPr>
            <a:xfrm>
              <a:off x="1549" y="1440"/>
              <a:ext cx="548"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271" name="Google Shape;271;p14"/>
          <p:cNvGrpSpPr/>
          <p:nvPr/>
        </p:nvGrpSpPr>
        <p:grpSpPr>
          <a:xfrm>
            <a:off x="4953000" y="3962400"/>
            <a:ext cx="1087438" cy="381000"/>
            <a:chOff x="2097" y="1440"/>
            <a:chExt cx="598" cy="480"/>
          </a:xfrm>
        </p:grpSpPr>
        <p:sp>
          <p:nvSpPr>
            <p:cNvPr id="272" name="Google Shape;272;p14"/>
            <p:cNvSpPr/>
            <p:nvPr/>
          </p:nvSpPr>
          <p:spPr>
            <a:xfrm>
              <a:off x="2126" y="1440"/>
              <a:ext cx="540"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000"/>
                <a:buFont typeface="Noto Sans Symbols"/>
                <a:buNone/>
              </a:pPr>
              <a:r>
                <a:rPr lang="en-US" sz="1000">
                  <a:solidFill>
                    <a:schemeClr val="dk1"/>
                  </a:solidFill>
                  <a:latin typeface="Times New Roman"/>
                  <a:ea typeface="Times New Roman"/>
                  <a:cs typeface="Times New Roman"/>
                  <a:sym typeface="Times New Roman"/>
                </a:rPr>
                <a:t>123-333-3333, 654-223-3455</a:t>
              </a:r>
              <a:endParaRPr/>
            </a:p>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sp>
          <p:nvSpPr>
            <p:cNvPr id="273" name="Google Shape;273;p14"/>
            <p:cNvSpPr/>
            <p:nvPr/>
          </p:nvSpPr>
          <p:spPr>
            <a:xfrm>
              <a:off x="2097" y="1440"/>
              <a:ext cx="598"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274" name="Google Shape;274;p14"/>
          <p:cNvGrpSpPr/>
          <p:nvPr/>
        </p:nvGrpSpPr>
        <p:grpSpPr>
          <a:xfrm>
            <a:off x="6040439" y="3962400"/>
            <a:ext cx="998537" cy="381000"/>
            <a:chOff x="3077" y="1440"/>
            <a:chExt cx="670" cy="480"/>
          </a:xfrm>
        </p:grpSpPr>
        <p:sp>
          <p:nvSpPr>
            <p:cNvPr id="275" name="Google Shape;275;p14"/>
            <p:cNvSpPr/>
            <p:nvPr/>
          </p:nvSpPr>
          <p:spPr>
            <a:xfrm>
              <a:off x="3106" y="1440"/>
              <a:ext cx="612"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000"/>
                <a:buFont typeface="Noto Sans Symbols"/>
                <a:buNone/>
              </a:pPr>
              <a:r>
                <a:rPr lang="en-US" sz="1000">
                  <a:solidFill>
                    <a:schemeClr val="dk1"/>
                  </a:solidFill>
                  <a:latin typeface="Times New Roman"/>
                  <a:ea typeface="Times New Roman"/>
                  <a:cs typeface="Times New Roman"/>
                  <a:sym typeface="Times New Roman"/>
                </a:rPr>
                <a:t>Small House</a:t>
              </a:r>
              <a:endParaRPr/>
            </a:p>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sp>
          <p:nvSpPr>
            <p:cNvPr id="276" name="Google Shape;276;p14"/>
            <p:cNvSpPr/>
            <p:nvPr/>
          </p:nvSpPr>
          <p:spPr>
            <a:xfrm>
              <a:off x="3077" y="1440"/>
              <a:ext cx="670"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277" name="Google Shape;277;p14"/>
          <p:cNvGrpSpPr/>
          <p:nvPr/>
        </p:nvGrpSpPr>
        <p:grpSpPr>
          <a:xfrm>
            <a:off x="7038976" y="3962400"/>
            <a:ext cx="1058863" cy="381000"/>
            <a:chOff x="3747" y="1440"/>
            <a:chExt cx="634" cy="480"/>
          </a:xfrm>
        </p:grpSpPr>
        <p:sp>
          <p:nvSpPr>
            <p:cNvPr id="278" name="Google Shape;278;p14"/>
            <p:cNvSpPr/>
            <p:nvPr/>
          </p:nvSpPr>
          <p:spPr>
            <a:xfrm>
              <a:off x="3776" y="1440"/>
              <a:ext cx="576"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000"/>
                <a:buFont typeface="Noto Sans Symbols"/>
                <a:buNone/>
              </a:pPr>
              <a:r>
                <a:rPr lang="en-US" sz="1000">
                  <a:solidFill>
                    <a:schemeClr val="dk1"/>
                  </a:solidFill>
                  <a:latin typeface="Times New Roman"/>
                  <a:ea typeface="Times New Roman"/>
                  <a:cs typeface="Times New Roman"/>
                  <a:sym typeface="Times New Roman"/>
                </a:rPr>
                <a:t>714-000-0000</a:t>
              </a:r>
              <a:endParaRPr/>
            </a:p>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sp>
          <p:nvSpPr>
            <p:cNvPr id="279" name="Google Shape;279;p14"/>
            <p:cNvSpPr/>
            <p:nvPr/>
          </p:nvSpPr>
          <p:spPr>
            <a:xfrm>
              <a:off x="3747" y="1440"/>
              <a:ext cx="634"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280" name="Google Shape;280;p14"/>
          <p:cNvGrpSpPr/>
          <p:nvPr/>
        </p:nvGrpSpPr>
        <p:grpSpPr>
          <a:xfrm>
            <a:off x="8097839" y="3962400"/>
            <a:ext cx="706437" cy="381000"/>
            <a:chOff x="4381" y="1440"/>
            <a:chExt cx="382" cy="480"/>
          </a:xfrm>
        </p:grpSpPr>
        <p:sp>
          <p:nvSpPr>
            <p:cNvPr id="281" name="Google Shape;281;p14"/>
            <p:cNvSpPr/>
            <p:nvPr/>
          </p:nvSpPr>
          <p:spPr>
            <a:xfrm>
              <a:off x="4410" y="1440"/>
              <a:ext cx="324"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000"/>
                <a:buFont typeface="Noto Sans Symbols"/>
                <a:buNone/>
              </a:pPr>
              <a:r>
                <a:rPr lang="en-US" sz="1000">
                  <a:solidFill>
                    <a:schemeClr val="dk1"/>
                  </a:solidFill>
                  <a:latin typeface="Times New Roman"/>
                  <a:ea typeface="Times New Roman"/>
                  <a:cs typeface="Times New Roman"/>
                  <a:sym typeface="Times New Roman"/>
                </a:rPr>
                <a:t>$22.95</a:t>
              </a:r>
              <a:endParaRPr/>
            </a:p>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sp>
          <p:nvSpPr>
            <p:cNvPr id="282" name="Google Shape;282;p14"/>
            <p:cNvSpPr/>
            <p:nvPr/>
          </p:nvSpPr>
          <p:spPr>
            <a:xfrm>
              <a:off x="4381" y="1440"/>
              <a:ext cx="382"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283" name="Google Shape;283;p14"/>
          <p:cNvGrpSpPr/>
          <p:nvPr/>
        </p:nvGrpSpPr>
        <p:grpSpPr>
          <a:xfrm>
            <a:off x="2092326" y="4343400"/>
            <a:ext cx="1063625" cy="381000"/>
            <a:chOff x="0" y="2400"/>
            <a:chExt cx="627" cy="480"/>
          </a:xfrm>
        </p:grpSpPr>
        <p:sp>
          <p:nvSpPr>
            <p:cNvPr id="284" name="Google Shape;284;p14"/>
            <p:cNvSpPr/>
            <p:nvPr/>
          </p:nvSpPr>
          <p:spPr>
            <a:xfrm>
              <a:off x="29" y="2400"/>
              <a:ext cx="569"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000"/>
                <a:buFont typeface="Noto Sans Symbols"/>
                <a:buNone/>
              </a:pPr>
              <a:r>
                <a:rPr lang="en-US" sz="1000">
                  <a:solidFill>
                    <a:schemeClr val="dk1"/>
                  </a:solidFill>
                  <a:latin typeface="Times New Roman"/>
                  <a:ea typeface="Times New Roman"/>
                  <a:cs typeface="Times New Roman"/>
                  <a:sym typeface="Times New Roman"/>
                </a:rPr>
                <a:t>0-123-45678-0</a:t>
              </a:r>
              <a:endParaRPr/>
            </a:p>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sp>
          <p:nvSpPr>
            <p:cNvPr id="285" name="Google Shape;285;p14"/>
            <p:cNvSpPr/>
            <p:nvPr/>
          </p:nvSpPr>
          <p:spPr>
            <a:xfrm>
              <a:off x="0" y="2400"/>
              <a:ext cx="627"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286" name="Google Shape;286;p14"/>
          <p:cNvGrpSpPr/>
          <p:nvPr/>
        </p:nvGrpSpPr>
        <p:grpSpPr>
          <a:xfrm>
            <a:off x="3155951" y="4343400"/>
            <a:ext cx="881063" cy="381000"/>
            <a:chOff x="627" y="2400"/>
            <a:chExt cx="598" cy="480"/>
          </a:xfrm>
        </p:grpSpPr>
        <p:sp>
          <p:nvSpPr>
            <p:cNvPr id="287" name="Google Shape;287;p14"/>
            <p:cNvSpPr/>
            <p:nvPr/>
          </p:nvSpPr>
          <p:spPr>
            <a:xfrm>
              <a:off x="656" y="2400"/>
              <a:ext cx="540"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000"/>
                <a:buFont typeface="Noto Sans Symbols"/>
                <a:buNone/>
              </a:pPr>
              <a:r>
                <a:rPr lang="en-US" sz="1000">
                  <a:solidFill>
                    <a:schemeClr val="dk1"/>
                  </a:solidFill>
                  <a:latin typeface="Times New Roman"/>
                  <a:ea typeface="Times New Roman"/>
                  <a:cs typeface="Times New Roman"/>
                  <a:sym typeface="Times New Roman"/>
                </a:rPr>
                <a:t>Ulysses</a:t>
              </a:r>
              <a:endParaRPr/>
            </a:p>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sp>
          <p:nvSpPr>
            <p:cNvPr id="288" name="Google Shape;288;p14"/>
            <p:cNvSpPr/>
            <p:nvPr/>
          </p:nvSpPr>
          <p:spPr>
            <a:xfrm>
              <a:off x="627" y="2400"/>
              <a:ext cx="598"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289" name="Google Shape;289;p14"/>
          <p:cNvGrpSpPr/>
          <p:nvPr/>
        </p:nvGrpSpPr>
        <p:grpSpPr>
          <a:xfrm>
            <a:off x="4041776" y="4343400"/>
            <a:ext cx="911225" cy="381000"/>
            <a:chOff x="1549" y="2400"/>
            <a:chExt cx="548" cy="480"/>
          </a:xfrm>
        </p:grpSpPr>
        <p:sp>
          <p:nvSpPr>
            <p:cNvPr id="290" name="Google Shape;290;p14"/>
            <p:cNvSpPr/>
            <p:nvPr/>
          </p:nvSpPr>
          <p:spPr>
            <a:xfrm>
              <a:off x="1578" y="2400"/>
              <a:ext cx="490"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000"/>
                <a:buFont typeface="Noto Sans Symbols"/>
                <a:buNone/>
              </a:pPr>
              <a:r>
                <a:rPr lang="en-US" sz="1000">
                  <a:solidFill>
                    <a:schemeClr val="dk1"/>
                  </a:solidFill>
                  <a:latin typeface="Times New Roman"/>
                  <a:ea typeface="Times New Roman"/>
                  <a:cs typeface="Times New Roman"/>
                  <a:sym typeface="Times New Roman"/>
                </a:rPr>
                <a:t>Joyce</a:t>
              </a:r>
              <a:endParaRPr/>
            </a:p>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sp>
          <p:nvSpPr>
            <p:cNvPr id="291" name="Google Shape;291;p14"/>
            <p:cNvSpPr/>
            <p:nvPr/>
          </p:nvSpPr>
          <p:spPr>
            <a:xfrm>
              <a:off x="1549" y="2400"/>
              <a:ext cx="548"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292" name="Google Shape;292;p14"/>
          <p:cNvGrpSpPr/>
          <p:nvPr/>
        </p:nvGrpSpPr>
        <p:grpSpPr>
          <a:xfrm>
            <a:off x="4953000" y="4343400"/>
            <a:ext cx="1087438" cy="381000"/>
            <a:chOff x="2097" y="2400"/>
            <a:chExt cx="598" cy="480"/>
          </a:xfrm>
        </p:grpSpPr>
        <p:sp>
          <p:nvSpPr>
            <p:cNvPr id="293" name="Google Shape;293;p14"/>
            <p:cNvSpPr/>
            <p:nvPr/>
          </p:nvSpPr>
          <p:spPr>
            <a:xfrm>
              <a:off x="2126" y="2400"/>
              <a:ext cx="540"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000"/>
                <a:buFont typeface="Noto Sans Symbols"/>
                <a:buNone/>
              </a:pPr>
              <a:r>
                <a:rPr lang="en-US" sz="1000">
                  <a:solidFill>
                    <a:schemeClr val="dk1"/>
                  </a:solidFill>
                  <a:latin typeface="Times New Roman"/>
                  <a:ea typeface="Times New Roman"/>
                  <a:cs typeface="Times New Roman"/>
                  <a:sym typeface="Times New Roman"/>
                </a:rPr>
                <a:t>666-666-6666</a:t>
              </a:r>
              <a:endParaRPr/>
            </a:p>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sp>
          <p:nvSpPr>
            <p:cNvPr id="294" name="Google Shape;294;p14"/>
            <p:cNvSpPr/>
            <p:nvPr/>
          </p:nvSpPr>
          <p:spPr>
            <a:xfrm>
              <a:off x="2097" y="2400"/>
              <a:ext cx="598"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295" name="Google Shape;295;p14"/>
          <p:cNvGrpSpPr/>
          <p:nvPr/>
        </p:nvGrpSpPr>
        <p:grpSpPr>
          <a:xfrm>
            <a:off x="6040439" y="4343400"/>
            <a:ext cx="998537" cy="381000"/>
            <a:chOff x="3077" y="2400"/>
            <a:chExt cx="670" cy="480"/>
          </a:xfrm>
        </p:grpSpPr>
        <p:sp>
          <p:nvSpPr>
            <p:cNvPr id="296" name="Google Shape;296;p14"/>
            <p:cNvSpPr/>
            <p:nvPr/>
          </p:nvSpPr>
          <p:spPr>
            <a:xfrm>
              <a:off x="3106" y="2400"/>
              <a:ext cx="612"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000"/>
                <a:buFont typeface="Noto Sans Symbols"/>
                <a:buNone/>
              </a:pPr>
              <a:r>
                <a:rPr lang="en-US" sz="1000">
                  <a:solidFill>
                    <a:schemeClr val="dk1"/>
                  </a:solidFill>
                  <a:latin typeface="Times New Roman"/>
                  <a:ea typeface="Times New Roman"/>
                  <a:cs typeface="Times New Roman"/>
                  <a:sym typeface="Times New Roman"/>
                </a:rPr>
                <a:t>Alpha Press</a:t>
              </a:r>
              <a:endParaRPr/>
            </a:p>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sp>
          <p:nvSpPr>
            <p:cNvPr id="297" name="Google Shape;297;p14"/>
            <p:cNvSpPr/>
            <p:nvPr/>
          </p:nvSpPr>
          <p:spPr>
            <a:xfrm>
              <a:off x="3077" y="2400"/>
              <a:ext cx="670"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298" name="Google Shape;298;p14"/>
          <p:cNvGrpSpPr/>
          <p:nvPr/>
        </p:nvGrpSpPr>
        <p:grpSpPr>
          <a:xfrm>
            <a:off x="7038976" y="4343400"/>
            <a:ext cx="1058863" cy="381000"/>
            <a:chOff x="3747" y="2400"/>
            <a:chExt cx="634" cy="480"/>
          </a:xfrm>
        </p:grpSpPr>
        <p:sp>
          <p:nvSpPr>
            <p:cNvPr id="299" name="Google Shape;299;p14"/>
            <p:cNvSpPr/>
            <p:nvPr/>
          </p:nvSpPr>
          <p:spPr>
            <a:xfrm>
              <a:off x="3776" y="2400"/>
              <a:ext cx="576"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000"/>
                <a:buFont typeface="Noto Sans Symbols"/>
                <a:buNone/>
              </a:pPr>
              <a:r>
                <a:rPr lang="en-US" sz="1000">
                  <a:solidFill>
                    <a:schemeClr val="dk1"/>
                  </a:solidFill>
                  <a:latin typeface="Times New Roman"/>
                  <a:ea typeface="Times New Roman"/>
                  <a:cs typeface="Times New Roman"/>
                  <a:sym typeface="Times New Roman"/>
                </a:rPr>
                <a:t>999-999-9999</a:t>
              </a:r>
              <a:endParaRPr/>
            </a:p>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sp>
          <p:nvSpPr>
            <p:cNvPr id="300" name="Google Shape;300;p14"/>
            <p:cNvSpPr/>
            <p:nvPr/>
          </p:nvSpPr>
          <p:spPr>
            <a:xfrm>
              <a:off x="3747" y="2400"/>
              <a:ext cx="634"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301" name="Google Shape;301;p14"/>
          <p:cNvGrpSpPr/>
          <p:nvPr/>
        </p:nvGrpSpPr>
        <p:grpSpPr>
          <a:xfrm>
            <a:off x="8097839" y="4343400"/>
            <a:ext cx="706437" cy="381000"/>
            <a:chOff x="4381" y="2400"/>
            <a:chExt cx="382" cy="480"/>
          </a:xfrm>
        </p:grpSpPr>
        <p:sp>
          <p:nvSpPr>
            <p:cNvPr id="302" name="Google Shape;302;p14"/>
            <p:cNvSpPr/>
            <p:nvPr/>
          </p:nvSpPr>
          <p:spPr>
            <a:xfrm>
              <a:off x="4410" y="2400"/>
              <a:ext cx="324"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000"/>
                <a:buFont typeface="Noto Sans Symbols"/>
                <a:buNone/>
              </a:pPr>
              <a:r>
                <a:rPr lang="en-US" sz="1000">
                  <a:solidFill>
                    <a:schemeClr val="dk1"/>
                  </a:solidFill>
                  <a:latin typeface="Times New Roman"/>
                  <a:ea typeface="Times New Roman"/>
                  <a:cs typeface="Times New Roman"/>
                  <a:sym typeface="Times New Roman"/>
                </a:rPr>
                <a:t>$34.00</a:t>
              </a:r>
              <a:endParaRPr/>
            </a:p>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sp>
          <p:nvSpPr>
            <p:cNvPr id="303" name="Google Shape;303;p14"/>
            <p:cNvSpPr/>
            <p:nvPr/>
          </p:nvSpPr>
          <p:spPr>
            <a:xfrm>
              <a:off x="4381" y="2400"/>
              <a:ext cx="382"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304" name="Google Shape;304;p14"/>
          <p:cNvGrpSpPr/>
          <p:nvPr/>
        </p:nvGrpSpPr>
        <p:grpSpPr>
          <a:xfrm>
            <a:off x="2092326" y="4724400"/>
            <a:ext cx="1063625" cy="381000"/>
            <a:chOff x="0" y="2880"/>
            <a:chExt cx="627" cy="480"/>
          </a:xfrm>
        </p:grpSpPr>
        <p:sp>
          <p:nvSpPr>
            <p:cNvPr id="305" name="Google Shape;305;p14"/>
            <p:cNvSpPr/>
            <p:nvPr/>
          </p:nvSpPr>
          <p:spPr>
            <a:xfrm>
              <a:off x="29" y="2880"/>
              <a:ext cx="569"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000"/>
                <a:buFont typeface="Noto Sans Symbols"/>
                <a:buNone/>
              </a:pPr>
              <a:r>
                <a:rPr lang="en-US" sz="1000">
                  <a:solidFill>
                    <a:schemeClr val="dk1"/>
                  </a:solidFill>
                  <a:latin typeface="Times New Roman"/>
                  <a:ea typeface="Times New Roman"/>
                  <a:cs typeface="Times New Roman"/>
                  <a:sym typeface="Times New Roman"/>
                </a:rPr>
                <a:t>1-22-233700-0</a:t>
              </a:r>
              <a:endParaRPr/>
            </a:p>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sp>
          <p:nvSpPr>
            <p:cNvPr id="306" name="Google Shape;306;p14"/>
            <p:cNvSpPr/>
            <p:nvPr/>
          </p:nvSpPr>
          <p:spPr>
            <a:xfrm>
              <a:off x="0" y="2880"/>
              <a:ext cx="627"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307" name="Google Shape;307;p14"/>
          <p:cNvGrpSpPr/>
          <p:nvPr/>
        </p:nvGrpSpPr>
        <p:grpSpPr>
          <a:xfrm>
            <a:off x="3155951" y="4724400"/>
            <a:ext cx="881063" cy="381000"/>
            <a:chOff x="627" y="2880"/>
            <a:chExt cx="598" cy="480"/>
          </a:xfrm>
        </p:grpSpPr>
        <p:sp>
          <p:nvSpPr>
            <p:cNvPr id="308" name="Google Shape;308;p14"/>
            <p:cNvSpPr/>
            <p:nvPr/>
          </p:nvSpPr>
          <p:spPr>
            <a:xfrm>
              <a:off x="656" y="2880"/>
              <a:ext cx="540"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000"/>
                <a:buFont typeface="Noto Sans Symbols"/>
                <a:buNone/>
              </a:pPr>
              <a:r>
                <a:rPr lang="en-US" sz="1000">
                  <a:solidFill>
                    <a:schemeClr val="dk1"/>
                  </a:solidFill>
                  <a:latin typeface="Times New Roman"/>
                  <a:ea typeface="Times New Roman"/>
                  <a:cs typeface="Times New Roman"/>
                  <a:sym typeface="Times New Roman"/>
                </a:rPr>
                <a:t>Visual Basic</a:t>
              </a:r>
              <a:endParaRPr/>
            </a:p>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sp>
          <p:nvSpPr>
            <p:cNvPr id="309" name="Google Shape;309;p14"/>
            <p:cNvSpPr/>
            <p:nvPr/>
          </p:nvSpPr>
          <p:spPr>
            <a:xfrm>
              <a:off x="627" y="2880"/>
              <a:ext cx="598"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310" name="Google Shape;310;p14"/>
          <p:cNvGrpSpPr/>
          <p:nvPr/>
        </p:nvGrpSpPr>
        <p:grpSpPr>
          <a:xfrm>
            <a:off x="4041776" y="4724400"/>
            <a:ext cx="911225" cy="381000"/>
            <a:chOff x="1549" y="2880"/>
            <a:chExt cx="548" cy="480"/>
          </a:xfrm>
        </p:grpSpPr>
        <p:sp>
          <p:nvSpPr>
            <p:cNvPr id="311" name="Google Shape;311;p14"/>
            <p:cNvSpPr/>
            <p:nvPr/>
          </p:nvSpPr>
          <p:spPr>
            <a:xfrm>
              <a:off x="1578" y="2880"/>
              <a:ext cx="490"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000"/>
                <a:buFont typeface="Noto Sans Symbols"/>
                <a:buNone/>
              </a:pPr>
              <a:r>
                <a:rPr lang="en-US" sz="1000">
                  <a:solidFill>
                    <a:schemeClr val="dk1"/>
                  </a:solidFill>
                  <a:latin typeface="Times New Roman"/>
                  <a:ea typeface="Times New Roman"/>
                  <a:cs typeface="Times New Roman"/>
                  <a:sym typeface="Times New Roman"/>
                </a:rPr>
                <a:t>Roman</a:t>
              </a:r>
              <a:endParaRPr/>
            </a:p>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sp>
          <p:nvSpPr>
            <p:cNvPr id="312" name="Google Shape;312;p14"/>
            <p:cNvSpPr/>
            <p:nvPr/>
          </p:nvSpPr>
          <p:spPr>
            <a:xfrm>
              <a:off x="1549" y="2880"/>
              <a:ext cx="548"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313" name="Google Shape;313;p14"/>
          <p:cNvGrpSpPr/>
          <p:nvPr/>
        </p:nvGrpSpPr>
        <p:grpSpPr>
          <a:xfrm>
            <a:off x="4953000" y="4724400"/>
            <a:ext cx="1087438" cy="381000"/>
            <a:chOff x="2097" y="2880"/>
            <a:chExt cx="598" cy="480"/>
          </a:xfrm>
        </p:grpSpPr>
        <p:sp>
          <p:nvSpPr>
            <p:cNvPr id="314" name="Google Shape;314;p14"/>
            <p:cNvSpPr/>
            <p:nvPr/>
          </p:nvSpPr>
          <p:spPr>
            <a:xfrm>
              <a:off x="2126" y="2880"/>
              <a:ext cx="540"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000"/>
                <a:buFont typeface="Noto Sans Symbols"/>
                <a:buNone/>
              </a:pPr>
              <a:r>
                <a:rPr lang="en-US" sz="1000">
                  <a:solidFill>
                    <a:schemeClr val="dk1"/>
                  </a:solidFill>
                  <a:latin typeface="Times New Roman"/>
                  <a:ea typeface="Times New Roman"/>
                  <a:cs typeface="Times New Roman"/>
                  <a:sym typeface="Times New Roman"/>
                </a:rPr>
                <a:t>444-444-4444</a:t>
              </a:r>
              <a:endParaRPr/>
            </a:p>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sp>
          <p:nvSpPr>
            <p:cNvPr id="315" name="Google Shape;315;p14"/>
            <p:cNvSpPr/>
            <p:nvPr/>
          </p:nvSpPr>
          <p:spPr>
            <a:xfrm>
              <a:off x="2097" y="2880"/>
              <a:ext cx="598"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316" name="Google Shape;316;p14"/>
          <p:cNvGrpSpPr/>
          <p:nvPr/>
        </p:nvGrpSpPr>
        <p:grpSpPr>
          <a:xfrm>
            <a:off x="6040439" y="4724400"/>
            <a:ext cx="998537" cy="381000"/>
            <a:chOff x="3077" y="2880"/>
            <a:chExt cx="670" cy="480"/>
          </a:xfrm>
        </p:grpSpPr>
        <p:sp>
          <p:nvSpPr>
            <p:cNvPr id="317" name="Google Shape;317;p14"/>
            <p:cNvSpPr/>
            <p:nvPr/>
          </p:nvSpPr>
          <p:spPr>
            <a:xfrm>
              <a:off x="3106" y="2880"/>
              <a:ext cx="612"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000"/>
                <a:buFont typeface="Noto Sans Symbols"/>
                <a:buNone/>
              </a:pPr>
              <a:r>
                <a:rPr lang="en-US" sz="1000">
                  <a:solidFill>
                    <a:schemeClr val="dk1"/>
                  </a:solidFill>
                  <a:latin typeface="Times New Roman"/>
                  <a:ea typeface="Times New Roman"/>
                  <a:cs typeface="Times New Roman"/>
                  <a:sym typeface="Times New Roman"/>
                </a:rPr>
                <a:t>Big House</a:t>
              </a:r>
              <a:endParaRPr/>
            </a:p>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sp>
          <p:nvSpPr>
            <p:cNvPr id="318" name="Google Shape;318;p14"/>
            <p:cNvSpPr/>
            <p:nvPr/>
          </p:nvSpPr>
          <p:spPr>
            <a:xfrm>
              <a:off x="3077" y="2880"/>
              <a:ext cx="670"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319" name="Google Shape;319;p14"/>
          <p:cNvGrpSpPr/>
          <p:nvPr/>
        </p:nvGrpSpPr>
        <p:grpSpPr>
          <a:xfrm>
            <a:off x="7038976" y="4724400"/>
            <a:ext cx="1058863" cy="381000"/>
            <a:chOff x="3747" y="2880"/>
            <a:chExt cx="634" cy="480"/>
          </a:xfrm>
        </p:grpSpPr>
        <p:sp>
          <p:nvSpPr>
            <p:cNvPr id="320" name="Google Shape;320;p14"/>
            <p:cNvSpPr/>
            <p:nvPr/>
          </p:nvSpPr>
          <p:spPr>
            <a:xfrm>
              <a:off x="3776" y="2880"/>
              <a:ext cx="576"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000"/>
                <a:buFont typeface="Noto Sans Symbols"/>
                <a:buNone/>
              </a:pPr>
              <a:r>
                <a:rPr lang="en-US" sz="1000">
                  <a:solidFill>
                    <a:schemeClr val="dk1"/>
                  </a:solidFill>
                  <a:latin typeface="Times New Roman"/>
                  <a:ea typeface="Times New Roman"/>
                  <a:cs typeface="Times New Roman"/>
                  <a:sym typeface="Times New Roman"/>
                </a:rPr>
                <a:t>123-456-7890</a:t>
              </a:r>
              <a:endParaRPr/>
            </a:p>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sp>
          <p:nvSpPr>
            <p:cNvPr id="321" name="Google Shape;321;p14"/>
            <p:cNvSpPr/>
            <p:nvPr/>
          </p:nvSpPr>
          <p:spPr>
            <a:xfrm>
              <a:off x="3747" y="2880"/>
              <a:ext cx="634"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322" name="Google Shape;322;p14"/>
          <p:cNvGrpSpPr/>
          <p:nvPr/>
        </p:nvGrpSpPr>
        <p:grpSpPr>
          <a:xfrm>
            <a:off x="8097839" y="4724400"/>
            <a:ext cx="706437" cy="381000"/>
            <a:chOff x="4381" y="2880"/>
            <a:chExt cx="382" cy="480"/>
          </a:xfrm>
        </p:grpSpPr>
        <p:sp>
          <p:nvSpPr>
            <p:cNvPr id="323" name="Google Shape;323;p14"/>
            <p:cNvSpPr/>
            <p:nvPr/>
          </p:nvSpPr>
          <p:spPr>
            <a:xfrm>
              <a:off x="4410" y="2880"/>
              <a:ext cx="324"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000"/>
                <a:buFont typeface="Noto Sans Symbols"/>
                <a:buNone/>
              </a:pPr>
              <a:r>
                <a:rPr lang="en-US" sz="1000">
                  <a:solidFill>
                    <a:schemeClr val="dk1"/>
                  </a:solidFill>
                  <a:latin typeface="Times New Roman"/>
                  <a:ea typeface="Times New Roman"/>
                  <a:cs typeface="Times New Roman"/>
                  <a:sym typeface="Times New Roman"/>
                </a:rPr>
                <a:t>$25.00</a:t>
              </a:r>
              <a:endParaRPr/>
            </a:p>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sp>
          <p:nvSpPr>
            <p:cNvPr id="324" name="Google Shape;324;p14"/>
            <p:cNvSpPr/>
            <p:nvPr/>
          </p:nvSpPr>
          <p:spPr>
            <a:xfrm>
              <a:off x="4381" y="2880"/>
              <a:ext cx="382"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325" name="Google Shape;325;p14"/>
          <p:cNvGrpSpPr/>
          <p:nvPr/>
        </p:nvGrpSpPr>
        <p:grpSpPr>
          <a:xfrm>
            <a:off x="2089151" y="2971800"/>
            <a:ext cx="1063625" cy="381000"/>
            <a:chOff x="0" y="2880"/>
            <a:chExt cx="627" cy="480"/>
          </a:xfrm>
        </p:grpSpPr>
        <p:sp>
          <p:nvSpPr>
            <p:cNvPr id="326" name="Google Shape;326;p14"/>
            <p:cNvSpPr/>
            <p:nvPr/>
          </p:nvSpPr>
          <p:spPr>
            <a:xfrm>
              <a:off x="29" y="2880"/>
              <a:ext cx="569"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200"/>
                <a:buFont typeface="Noto Sans Symbols"/>
                <a:buNone/>
              </a:pPr>
              <a:r>
                <a:rPr lang="en-US" sz="1200">
                  <a:solidFill>
                    <a:schemeClr val="dk1"/>
                  </a:solidFill>
                  <a:latin typeface="Times New Roman"/>
                  <a:ea typeface="Times New Roman"/>
                  <a:cs typeface="Times New Roman"/>
                  <a:sym typeface="Times New Roman"/>
                </a:rPr>
                <a:t>ISBN</a:t>
              </a:r>
              <a:endParaRPr/>
            </a:p>
            <a:p>
              <a:pPr marL="0" marR="0" lvl="0" indent="0" algn="l" rtl="0">
                <a:spcBef>
                  <a:spcPts val="0"/>
                </a:spcBef>
                <a:spcAft>
                  <a:spcPts val="0"/>
                </a:spcAft>
                <a:buClr>
                  <a:schemeClr val="dk1"/>
                </a:buClr>
                <a:buSzPts val="1200"/>
                <a:buFont typeface="Noto Sans Symbols"/>
                <a:buNone/>
              </a:pPr>
              <a:endParaRPr sz="1200">
                <a:solidFill>
                  <a:schemeClr val="dk1"/>
                </a:solidFill>
                <a:latin typeface="Times New Roman"/>
                <a:ea typeface="Times New Roman"/>
                <a:cs typeface="Times New Roman"/>
                <a:sym typeface="Times New Roman"/>
              </a:endParaRPr>
            </a:p>
          </p:txBody>
        </p:sp>
        <p:sp>
          <p:nvSpPr>
            <p:cNvPr id="327" name="Google Shape;327;p14"/>
            <p:cNvSpPr/>
            <p:nvPr/>
          </p:nvSpPr>
          <p:spPr>
            <a:xfrm>
              <a:off x="0" y="2880"/>
              <a:ext cx="627"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328" name="Google Shape;328;p14"/>
          <p:cNvGrpSpPr/>
          <p:nvPr/>
        </p:nvGrpSpPr>
        <p:grpSpPr>
          <a:xfrm>
            <a:off x="3152776" y="2971800"/>
            <a:ext cx="881063" cy="381000"/>
            <a:chOff x="627" y="2880"/>
            <a:chExt cx="598" cy="480"/>
          </a:xfrm>
        </p:grpSpPr>
        <p:sp>
          <p:nvSpPr>
            <p:cNvPr id="329" name="Google Shape;329;p14"/>
            <p:cNvSpPr/>
            <p:nvPr/>
          </p:nvSpPr>
          <p:spPr>
            <a:xfrm>
              <a:off x="656" y="2880"/>
              <a:ext cx="540"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200"/>
                <a:buFont typeface="Noto Sans Symbols"/>
                <a:buNone/>
              </a:pPr>
              <a:r>
                <a:rPr lang="en-US" sz="1200">
                  <a:solidFill>
                    <a:schemeClr val="dk1"/>
                  </a:solidFill>
                  <a:latin typeface="Times New Roman"/>
                  <a:ea typeface="Times New Roman"/>
                  <a:cs typeface="Times New Roman"/>
                  <a:sym typeface="Times New Roman"/>
                </a:rPr>
                <a:t>Title</a:t>
              </a:r>
              <a:endParaRPr/>
            </a:p>
            <a:p>
              <a:pPr marL="0" marR="0" lvl="0" indent="0" algn="l" rtl="0">
                <a:spcBef>
                  <a:spcPts val="0"/>
                </a:spcBef>
                <a:spcAft>
                  <a:spcPts val="0"/>
                </a:spcAft>
                <a:buClr>
                  <a:schemeClr val="dk1"/>
                </a:buClr>
                <a:buSzPts val="1200"/>
                <a:buFont typeface="Noto Sans Symbols"/>
                <a:buNone/>
              </a:pPr>
              <a:endParaRPr sz="1200">
                <a:solidFill>
                  <a:schemeClr val="dk1"/>
                </a:solidFill>
                <a:latin typeface="Times New Roman"/>
                <a:ea typeface="Times New Roman"/>
                <a:cs typeface="Times New Roman"/>
                <a:sym typeface="Times New Roman"/>
              </a:endParaRPr>
            </a:p>
          </p:txBody>
        </p:sp>
        <p:sp>
          <p:nvSpPr>
            <p:cNvPr id="330" name="Google Shape;330;p14"/>
            <p:cNvSpPr/>
            <p:nvPr/>
          </p:nvSpPr>
          <p:spPr>
            <a:xfrm>
              <a:off x="627" y="2880"/>
              <a:ext cx="598"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331" name="Google Shape;331;p14"/>
          <p:cNvGrpSpPr/>
          <p:nvPr/>
        </p:nvGrpSpPr>
        <p:grpSpPr>
          <a:xfrm>
            <a:off x="4037014" y="2971800"/>
            <a:ext cx="911225" cy="381000"/>
            <a:chOff x="1549" y="2880"/>
            <a:chExt cx="548" cy="480"/>
          </a:xfrm>
        </p:grpSpPr>
        <p:sp>
          <p:nvSpPr>
            <p:cNvPr id="332" name="Google Shape;332;p14"/>
            <p:cNvSpPr/>
            <p:nvPr/>
          </p:nvSpPr>
          <p:spPr>
            <a:xfrm>
              <a:off x="1578" y="2880"/>
              <a:ext cx="490"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200"/>
                <a:buFont typeface="Noto Sans Symbols"/>
                <a:buNone/>
              </a:pPr>
              <a:r>
                <a:rPr lang="en-US" sz="1200">
                  <a:solidFill>
                    <a:schemeClr val="dk1"/>
                  </a:solidFill>
                  <a:latin typeface="Times New Roman"/>
                  <a:ea typeface="Times New Roman"/>
                  <a:cs typeface="Times New Roman"/>
                  <a:sym typeface="Times New Roman"/>
                </a:rPr>
                <a:t>AuName</a:t>
              </a:r>
              <a:endParaRPr/>
            </a:p>
            <a:p>
              <a:pPr marL="0" marR="0" lvl="0" indent="0" algn="l" rtl="0">
                <a:spcBef>
                  <a:spcPts val="0"/>
                </a:spcBef>
                <a:spcAft>
                  <a:spcPts val="0"/>
                </a:spcAft>
                <a:buClr>
                  <a:schemeClr val="dk1"/>
                </a:buClr>
                <a:buSzPts val="1200"/>
                <a:buFont typeface="Noto Sans Symbols"/>
                <a:buNone/>
              </a:pPr>
              <a:endParaRPr sz="1200">
                <a:solidFill>
                  <a:schemeClr val="dk1"/>
                </a:solidFill>
                <a:latin typeface="Times New Roman"/>
                <a:ea typeface="Times New Roman"/>
                <a:cs typeface="Times New Roman"/>
                <a:sym typeface="Times New Roman"/>
              </a:endParaRPr>
            </a:p>
          </p:txBody>
        </p:sp>
        <p:sp>
          <p:nvSpPr>
            <p:cNvPr id="333" name="Google Shape;333;p14"/>
            <p:cNvSpPr/>
            <p:nvPr/>
          </p:nvSpPr>
          <p:spPr>
            <a:xfrm>
              <a:off x="1549" y="2880"/>
              <a:ext cx="548"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334" name="Google Shape;334;p14"/>
          <p:cNvGrpSpPr/>
          <p:nvPr/>
        </p:nvGrpSpPr>
        <p:grpSpPr>
          <a:xfrm>
            <a:off x="4951414" y="2971800"/>
            <a:ext cx="1087437" cy="381000"/>
            <a:chOff x="2097" y="2880"/>
            <a:chExt cx="598" cy="480"/>
          </a:xfrm>
        </p:grpSpPr>
        <p:sp>
          <p:nvSpPr>
            <p:cNvPr id="335" name="Google Shape;335;p14"/>
            <p:cNvSpPr/>
            <p:nvPr/>
          </p:nvSpPr>
          <p:spPr>
            <a:xfrm>
              <a:off x="2126" y="2880"/>
              <a:ext cx="540"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200"/>
                <a:buFont typeface="Noto Sans Symbols"/>
                <a:buNone/>
              </a:pPr>
              <a:r>
                <a:rPr lang="en-US" sz="1200">
                  <a:solidFill>
                    <a:schemeClr val="dk1"/>
                  </a:solidFill>
                  <a:latin typeface="Times New Roman"/>
                  <a:ea typeface="Times New Roman"/>
                  <a:cs typeface="Times New Roman"/>
                  <a:sym typeface="Times New Roman"/>
                </a:rPr>
                <a:t>AuPhone</a:t>
              </a:r>
              <a:endParaRPr/>
            </a:p>
            <a:p>
              <a:pPr marL="0" marR="0" lvl="0" indent="0" algn="l" rtl="0">
                <a:spcBef>
                  <a:spcPts val="0"/>
                </a:spcBef>
                <a:spcAft>
                  <a:spcPts val="0"/>
                </a:spcAft>
                <a:buClr>
                  <a:schemeClr val="dk1"/>
                </a:buClr>
                <a:buSzPts val="1200"/>
                <a:buFont typeface="Noto Sans Symbols"/>
                <a:buNone/>
              </a:pPr>
              <a:endParaRPr sz="1200">
                <a:solidFill>
                  <a:schemeClr val="dk1"/>
                </a:solidFill>
                <a:latin typeface="Times New Roman"/>
                <a:ea typeface="Times New Roman"/>
                <a:cs typeface="Times New Roman"/>
                <a:sym typeface="Times New Roman"/>
              </a:endParaRPr>
            </a:p>
          </p:txBody>
        </p:sp>
        <p:sp>
          <p:nvSpPr>
            <p:cNvPr id="336" name="Google Shape;336;p14"/>
            <p:cNvSpPr/>
            <p:nvPr/>
          </p:nvSpPr>
          <p:spPr>
            <a:xfrm>
              <a:off x="2097" y="2880"/>
              <a:ext cx="598"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337" name="Google Shape;337;p14"/>
          <p:cNvGrpSpPr/>
          <p:nvPr/>
        </p:nvGrpSpPr>
        <p:grpSpPr>
          <a:xfrm>
            <a:off x="6038850" y="2971800"/>
            <a:ext cx="998538" cy="381000"/>
            <a:chOff x="3077" y="2880"/>
            <a:chExt cx="670" cy="480"/>
          </a:xfrm>
        </p:grpSpPr>
        <p:sp>
          <p:nvSpPr>
            <p:cNvPr id="338" name="Google Shape;338;p14"/>
            <p:cNvSpPr/>
            <p:nvPr/>
          </p:nvSpPr>
          <p:spPr>
            <a:xfrm>
              <a:off x="3106" y="2880"/>
              <a:ext cx="612"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200"/>
                <a:buFont typeface="Noto Sans Symbols"/>
                <a:buNone/>
              </a:pPr>
              <a:r>
                <a:rPr lang="en-US" sz="1200">
                  <a:solidFill>
                    <a:schemeClr val="dk1"/>
                  </a:solidFill>
                  <a:latin typeface="Times New Roman"/>
                  <a:ea typeface="Times New Roman"/>
                  <a:cs typeface="Times New Roman"/>
                  <a:sym typeface="Times New Roman"/>
                </a:rPr>
                <a:t>PubName</a:t>
              </a:r>
              <a:endParaRPr/>
            </a:p>
            <a:p>
              <a:pPr marL="0" marR="0" lvl="0" indent="0" algn="l" rtl="0">
                <a:spcBef>
                  <a:spcPts val="0"/>
                </a:spcBef>
                <a:spcAft>
                  <a:spcPts val="0"/>
                </a:spcAft>
                <a:buClr>
                  <a:schemeClr val="dk1"/>
                </a:buClr>
                <a:buSzPts val="1200"/>
                <a:buFont typeface="Noto Sans Symbols"/>
                <a:buNone/>
              </a:pPr>
              <a:endParaRPr sz="1200">
                <a:solidFill>
                  <a:schemeClr val="dk1"/>
                </a:solidFill>
                <a:latin typeface="Times New Roman"/>
                <a:ea typeface="Times New Roman"/>
                <a:cs typeface="Times New Roman"/>
                <a:sym typeface="Times New Roman"/>
              </a:endParaRPr>
            </a:p>
          </p:txBody>
        </p:sp>
        <p:sp>
          <p:nvSpPr>
            <p:cNvPr id="339" name="Google Shape;339;p14"/>
            <p:cNvSpPr/>
            <p:nvPr/>
          </p:nvSpPr>
          <p:spPr>
            <a:xfrm>
              <a:off x="3077" y="2880"/>
              <a:ext cx="670"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340" name="Google Shape;340;p14"/>
          <p:cNvGrpSpPr/>
          <p:nvPr/>
        </p:nvGrpSpPr>
        <p:grpSpPr>
          <a:xfrm>
            <a:off x="7037388" y="2971800"/>
            <a:ext cx="1058862" cy="381000"/>
            <a:chOff x="3747" y="2880"/>
            <a:chExt cx="634" cy="480"/>
          </a:xfrm>
        </p:grpSpPr>
        <p:sp>
          <p:nvSpPr>
            <p:cNvPr id="341" name="Google Shape;341;p14"/>
            <p:cNvSpPr/>
            <p:nvPr/>
          </p:nvSpPr>
          <p:spPr>
            <a:xfrm>
              <a:off x="3776" y="2880"/>
              <a:ext cx="576"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200"/>
                <a:buFont typeface="Noto Sans Symbols"/>
                <a:buNone/>
              </a:pPr>
              <a:r>
                <a:rPr lang="en-US" sz="1200">
                  <a:solidFill>
                    <a:schemeClr val="dk1"/>
                  </a:solidFill>
                  <a:latin typeface="Times New Roman"/>
                  <a:ea typeface="Times New Roman"/>
                  <a:cs typeface="Times New Roman"/>
                  <a:sym typeface="Times New Roman"/>
                </a:rPr>
                <a:t>PubPhone</a:t>
              </a:r>
              <a:endParaRPr/>
            </a:p>
            <a:p>
              <a:pPr marL="0" marR="0" lvl="0" indent="0" algn="l" rtl="0">
                <a:spcBef>
                  <a:spcPts val="0"/>
                </a:spcBef>
                <a:spcAft>
                  <a:spcPts val="0"/>
                </a:spcAft>
                <a:buClr>
                  <a:schemeClr val="dk1"/>
                </a:buClr>
                <a:buSzPts val="1200"/>
                <a:buFont typeface="Noto Sans Symbols"/>
                <a:buNone/>
              </a:pPr>
              <a:endParaRPr sz="1200">
                <a:solidFill>
                  <a:schemeClr val="dk1"/>
                </a:solidFill>
                <a:latin typeface="Times New Roman"/>
                <a:ea typeface="Times New Roman"/>
                <a:cs typeface="Times New Roman"/>
                <a:sym typeface="Times New Roman"/>
              </a:endParaRPr>
            </a:p>
          </p:txBody>
        </p:sp>
        <p:sp>
          <p:nvSpPr>
            <p:cNvPr id="342" name="Google Shape;342;p14"/>
            <p:cNvSpPr/>
            <p:nvPr/>
          </p:nvSpPr>
          <p:spPr>
            <a:xfrm>
              <a:off x="3747" y="2880"/>
              <a:ext cx="634"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343" name="Google Shape;343;p14"/>
          <p:cNvGrpSpPr/>
          <p:nvPr/>
        </p:nvGrpSpPr>
        <p:grpSpPr>
          <a:xfrm>
            <a:off x="8096250" y="2971800"/>
            <a:ext cx="706438" cy="381000"/>
            <a:chOff x="4381" y="2880"/>
            <a:chExt cx="382" cy="480"/>
          </a:xfrm>
        </p:grpSpPr>
        <p:sp>
          <p:nvSpPr>
            <p:cNvPr id="344" name="Google Shape;344;p14"/>
            <p:cNvSpPr/>
            <p:nvPr/>
          </p:nvSpPr>
          <p:spPr>
            <a:xfrm>
              <a:off x="4410" y="2880"/>
              <a:ext cx="324"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200"/>
                <a:buFont typeface="Noto Sans Symbols"/>
                <a:buNone/>
              </a:pPr>
              <a:r>
                <a:rPr lang="en-US" sz="1200">
                  <a:solidFill>
                    <a:schemeClr val="dk1"/>
                  </a:solidFill>
                  <a:latin typeface="Times New Roman"/>
                  <a:ea typeface="Times New Roman"/>
                  <a:cs typeface="Times New Roman"/>
                  <a:sym typeface="Times New Roman"/>
                </a:rPr>
                <a:t>Price</a:t>
              </a:r>
              <a:endParaRPr/>
            </a:p>
            <a:p>
              <a:pPr marL="0" marR="0" lvl="0" indent="0" algn="l" rtl="0">
                <a:spcBef>
                  <a:spcPts val="0"/>
                </a:spcBef>
                <a:spcAft>
                  <a:spcPts val="0"/>
                </a:spcAft>
                <a:buClr>
                  <a:schemeClr val="dk1"/>
                </a:buClr>
                <a:buSzPts val="1200"/>
                <a:buFont typeface="Noto Sans Symbols"/>
                <a:buNone/>
              </a:pPr>
              <a:endParaRPr sz="1200">
                <a:solidFill>
                  <a:schemeClr val="dk1"/>
                </a:solidFill>
                <a:latin typeface="Times New Roman"/>
                <a:ea typeface="Times New Roman"/>
                <a:cs typeface="Times New Roman"/>
                <a:sym typeface="Times New Roman"/>
              </a:endParaRPr>
            </a:p>
          </p:txBody>
        </p:sp>
        <p:sp>
          <p:nvSpPr>
            <p:cNvPr id="345" name="Google Shape;345;p14"/>
            <p:cNvSpPr/>
            <p:nvPr/>
          </p:nvSpPr>
          <p:spPr>
            <a:xfrm>
              <a:off x="4381" y="2880"/>
              <a:ext cx="382"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15"/>
          <p:cNvSpPr txBox="1">
            <a:spLocks noGrp="1"/>
          </p:cNvSpPr>
          <p:nvPr>
            <p:ph type="body" idx="1"/>
          </p:nvPr>
        </p:nvSpPr>
        <p:spPr>
          <a:xfrm>
            <a:off x="1566069" y="1943100"/>
            <a:ext cx="8001000" cy="4572000"/>
          </a:xfrm>
          <a:prstGeom prst="rect">
            <a:avLst/>
          </a:prstGeom>
          <a:noFill/>
          <a:ln>
            <a:noFill/>
          </a:ln>
        </p:spPr>
        <p:txBody>
          <a:bodyPr spcFirstLastPara="1" wrap="square" lIns="0" tIns="45700" rIns="0" bIns="45700" anchor="t" anchorCtr="0">
            <a:normAutofit/>
          </a:bodyPr>
          <a:lstStyle/>
          <a:p>
            <a:pPr marL="609600" lvl="0" indent="-609600" algn="just" rtl="0">
              <a:lnSpc>
                <a:spcPct val="90000"/>
              </a:lnSpc>
              <a:spcBef>
                <a:spcPts val="0"/>
              </a:spcBef>
              <a:spcAft>
                <a:spcPts val="0"/>
              </a:spcAft>
              <a:buSzPts val="1800"/>
              <a:buFont typeface="Arimo"/>
              <a:buAutoNum type="arabicPeriod"/>
            </a:pPr>
            <a:r>
              <a:rPr lang="en-US" sz="1800">
                <a:latin typeface="Arimo"/>
                <a:ea typeface="Arimo"/>
                <a:cs typeface="Arimo"/>
                <a:sym typeface="Arimo"/>
              </a:rPr>
              <a:t>Place all items that appear in the repeating group in a new table</a:t>
            </a:r>
            <a:endParaRPr/>
          </a:p>
          <a:p>
            <a:pPr marL="609600" lvl="0" indent="-609600" algn="just" rtl="0">
              <a:lnSpc>
                <a:spcPct val="90000"/>
              </a:lnSpc>
              <a:spcBef>
                <a:spcPts val="1400"/>
              </a:spcBef>
              <a:spcAft>
                <a:spcPts val="0"/>
              </a:spcAft>
              <a:buSzPts val="1800"/>
              <a:buFont typeface="Arimo"/>
              <a:buAutoNum type="arabicPeriod"/>
            </a:pPr>
            <a:r>
              <a:rPr lang="en-US" sz="1800">
                <a:latin typeface="Arimo"/>
                <a:ea typeface="Arimo"/>
                <a:cs typeface="Arimo"/>
                <a:sym typeface="Arimo"/>
              </a:rPr>
              <a:t>Designate a primary key for each new table produced. </a:t>
            </a:r>
            <a:endParaRPr/>
          </a:p>
          <a:p>
            <a:pPr marL="609600" lvl="0" indent="-609600" algn="just" rtl="0">
              <a:lnSpc>
                <a:spcPct val="90000"/>
              </a:lnSpc>
              <a:spcBef>
                <a:spcPts val="1400"/>
              </a:spcBef>
              <a:spcAft>
                <a:spcPts val="0"/>
              </a:spcAft>
              <a:buSzPts val="1800"/>
              <a:buFont typeface="Arimo"/>
              <a:buAutoNum type="arabicPeriod"/>
            </a:pPr>
            <a:r>
              <a:rPr lang="en-US" sz="1800">
                <a:latin typeface="Arimo"/>
                <a:ea typeface="Arimo"/>
                <a:cs typeface="Arimo"/>
                <a:sym typeface="Arimo"/>
              </a:rPr>
              <a:t>Duplicate in the new table the primary key of the table from which the repeating group was extracted or vice versa. </a:t>
            </a:r>
            <a:endParaRPr sz="1800">
              <a:solidFill>
                <a:srgbClr val="CC0000"/>
              </a:solidFill>
              <a:latin typeface="Arimo"/>
              <a:ea typeface="Arimo"/>
              <a:cs typeface="Arimo"/>
              <a:sym typeface="Arimo"/>
            </a:endParaRPr>
          </a:p>
          <a:p>
            <a:pPr marL="609600" lvl="0" indent="-609600" algn="just" rtl="0">
              <a:lnSpc>
                <a:spcPct val="90000"/>
              </a:lnSpc>
              <a:spcBef>
                <a:spcPts val="1400"/>
              </a:spcBef>
              <a:spcAft>
                <a:spcPts val="0"/>
              </a:spcAft>
              <a:buSzPts val="2400"/>
              <a:buNone/>
            </a:pPr>
            <a:r>
              <a:rPr lang="en-US" sz="2400" b="1">
                <a:solidFill>
                  <a:srgbClr val="CC0000"/>
                </a:solidFill>
                <a:latin typeface="Arimo"/>
                <a:ea typeface="Arimo"/>
                <a:cs typeface="Arimo"/>
                <a:sym typeface="Arimo"/>
              </a:rPr>
              <a:t>Example (1NF)</a:t>
            </a:r>
            <a:endParaRPr/>
          </a:p>
        </p:txBody>
      </p:sp>
      <p:sp>
        <p:nvSpPr>
          <p:cNvPr id="352" name="Google Shape;352;p15"/>
          <p:cNvSpPr/>
          <p:nvPr/>
        </p:nvSpPr>
        <p:spPr>
          <a:xfrm>
            <a:off x="2209800" y="76200"/>
            <a:ext cx="7772400" cy="11430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CC0000"/>
              </a:buClr>
              <a:buSzPts val="4400"/>
              <a:buFont typeface="Noto Sans Symbols"/>
              <a:buNone/>
            </a:pPr>
            <a:r>
              <a:rPr lang="en-US" sz="4400">
                <a:solidFill>
                  <a:srgbClr val="CC0000"/>
                </a:solidFill>
                <a:latin typeface="Arial"/>
                <a:ea typeface="Arial"/>
                <a:cs typeface="Arial"/>
                <a:sym typeface="Arial"/>
              </a:rPr>
              <a:t>1NF - Decomposition</a:t>
            </a:r>
            <a:endParaRPr/>
          </a:p>
        </p:txBody>
      </p:sp>
      <p:grpSp>
        <p:nvGrpSpPr>
          <p:cNvPr id="353" name="Google Shape;353;p15"/>
          <p:cNvGrpSpPr/>
          <p:nvPr/>
        </p:nvGrpSpPr>
        <p:grpSpPr>
          <a:xfrm>
            <a:off x="2093914" y="4724400"/>
            <a:ext cx="1063625" cy="381000"/>
            <a:chOff x="0" y="0"/>
            <a:chExt cx="627" cy="480"/>
          </a:xfrm>
        </p:grpSpPr>
        <p:sp>
          <p:nvSpPr>
            <p:cNvPr id="354" name="Google Shape;354;p15"/>
            <p:cNvSpPr/>
            <p:nvPr/>
          </p:nvSpPr>
          <p:spPr>
            <a:xfrm>
              <a:off x="29" y="0"/>
              <a:ext cx="569"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000"/>
                <a:buFont typeface="Noto Sans Symbols"/>
                <a:buNone/>
              </a:pPr>
              <a:r>
                <a:rPr lang="en-US" sz="1000">
                  <a:solidFill>
                    <a:schemeClr val="dk1"/>
                  </a:solidFill>
                  <a:latin typeface="Times New Roman"/>
                  <a:ea typeface="Times New Roman"/>
                  <a:cs typeface="Times New Roman"/>
                  <a:sym typeface="Times New Roman"/>
                </a:rPr>
                <a:t>0-321-32132-1</a:t>
              </a:r>
              <a:endParaRPr/>
            </a:p>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sp>
          <p:nvSpPr>
            <p:cNvPr id="355" name="Google Shape;355;p15"/>
            <p:cNvSpPr/>
            <p:nvPr/>
          </p:nvSpPr>
          <p:spPr>
            <a:xfrm>
              <a:off x="0" y="0"/>
              <a:ext cx="627"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356" name="Google Shape;356;p15"/>
          <p:cNvGrpSpPr/>
          <p:nvPr/>
        </p:nvGrpSpPr>
        <p:grpSpPr>
          <a:xfrm>
            <a:off x="3157538" y="4724400"/>
            <a:ext cx="881062" cy="381000"/>
            <a:chOff x="627" y="0"/>
            <a:chExt cx="598" cy="480"/>
          </a:xfrm>
        </p:grpSpPr>
        <p:sp>
          <p:nvSpPr>
            <p:cNvPr id="357" name="Google Shape;357;p15"/>
            <p:cNvSpPr/>
            <p:nvPr/>
          </p:nvSpPr>
          <p:spPr>
            <a:xfrm>
              <a:off x="656" y="0"/>
              <a:ext cx="540"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000"/>
                <a:buFont typeface="Noto Sans Symbols"/>
                <a:buNone/>
              </a:pPr>
              <a:r>
                <a:rPr lang="en-US" sz="1000">
                  <a:solidFill>
                    <a:schemeClr val="dk1"/>
                  </a:solidFill>
                  <a:latin typeface="Times New Roman"/>
                  <a:ea typeface="Times New Roman"/>
                  <a:cs typeface="Times New Roman"/>
                  <a:sym typeface="Times New Roman"/>
                </a:rPr>
                <a:t>Balloon</a:t>
              </a:r>
              <a:endParaRPr/>
            </a:p>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sp>
          <p:nvSpPr>
            <p:cNvPr id="358" name="Google Shape;358;p15"/>
            <p:cNvSpPr/>
            <p:nvPr/>
          </p:nvSpPr>
          <p:spPr>
            <a:xfrm>
              <a:off x="627" y="0"/>
              <a:ext cx="598"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359" name="Google Shape;359;p15"/>
          <p:cNvGrpSpPr/>
          <p:nvPr/>
        </p:nvGrpSpPr>
        <p:grpSpPr>
          <a:xfrm>
            <a:off x="4040189" y="4724400"/>
            <a:ext cx="998537" cy="381000"/>
            <a:chOff x="3077" y="0"/>
            <a:chExt cx="670" cy="480"/>
          </a:xfrm>
        </p:grpSpPr>
        <p:sp>
          <p:nvSpPr>
            <p:cNvPr id="360" name="Google Shape;360;p15"/>
            <p:cNvSpPr/>
            <p:nvPr/>
          </p:nvSpPr>
          <p:spPr>
            <a:xfrm>
              <a:off x="3106" y="0"/>
              <a:ext cx="612"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000"/>
                <a:buFont typeface="Noto Sans Symbols"/>
                <a:buNone/>
              </a:pPr>
              <a:r>
                <a:rPr lang="en-US" sz="1000">
                  <a:solidFill>
                    <a:schemeClr val="dk1"/>
                  </a:solidFill>
                  <a:latin typeface="Times New Roman"/>
                  <a:ea typeface="Times New Roman"/>
                  <a:cs typeface="Times New Roman"/>
                  <a:sym typeface="Times New Roman"/>
                </a:rPr>
                <a:t>Small House</a:t>
              </a:r>
              <a:endParaRPr/>
            </a:p>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sp>
          <p:nvSpPr>
            <p:cNvPr id="361" name="Google Shape;361;p15"/>
            <p:cNvSpPr/>
            <p:nvPr/>
          </p:nvSpPr>
          <p:spPr>
            <a:xfrm>
              <a:off x="3077" y="0"/>
              <a:ext cx="670"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362" name="Google Shape;362;p15"/>
          <p:cNvGrpSpPr/>
          <p:nvPr/>
        </p:nvGrpSpPr>
        <p:grpSpPr>
          <a:xfrm>
            <a:off x="5038726" y="4724400"/>
            <a:ext cx="1058863" cy="381000"/>
            <a:chOff x="3747" y="0"/>
            <a:chExt cx="634" cy="480"/>
          </a:xfrm>
        </p:grpSpPr>
        <p:sp>
          <p:nvSpPr>
            <p:cNvPr id="363" name="Google Shape;363;p15"/>
            <p:cNvSpPr/>
            <p:nvPr/>
          </p:nvSpPr>
          <p:spPr>
            <a:xfrm>
              <a:off x="3776" y="0"/>
              <a:ext cx="576"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000"/>
                <a:buFont typeface="Noto Sans Symbols"/>
                <a:buNone/>
              </a:pPr>
              <a:r>
                <a:rPr lang="en-US" sz="1000">
                  <a:solidFill>
                    <a:schemeClr val="dk1"/>
                  </a:solidFill>
                  <a:latin typeface="Times New Roman"/>
                  <a:ea typeface="Times New Roman"/>
                  <a:cs typeface="Times New Roman"/>
                  <a:sym typeface="Times New Roman"/>
                </a:rPr>
                <a:t>714-000-0000</a:t>
              </a:r>
              <a:endParaRPr/>
            </a:p>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sp>
          <p:nvSpPr>
            <p:cNvPr id="364" name="Google Shape;364;p15"/>
            <p:cNvSpPr/>
            <p:nvPr/>
          </p:nvSpPr>
          <p:spPr>
            <a:xfrm>
              <a:off x="3747" y="0"/>
              <a:ext cx="634"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365" name="Google Shape;365;p15"/>
          <p:cNvGrpSpPr/>
          <p:nvPr/>
        </p:nvGrpSpPr>
        <p:grpSpPr>
          <a:xfrm>
            <a:off x="6097589" y="4724400"/>
            <a:ext cx="706437" cy="381000"/>
            <a:chOff x="4381" y="0"/>
            <a:chExt cx="382" cy="480"/>
          </a:xfrm>
        </p:grpSpPr>
        <p:sp>
          <p:nvSpPr>
            <p:cNvPr id="366" name="Google Shape;366;p15"/>
            <p:cNvSpPr/>
            <p:nvPr/>
          </p:nvSpPr>
          <p:spPr>
            <a:xfrm>
              <a:off x="4410" y="0"/>
              <a:ext cx="324"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000"/>
                <a:buFont typeface="Noto Sans Symbols"/>
                <a:buNone/>
              </a:pPr>
              <a:r>
                <a:rPr lang="en-US" sz="1000">
                  <a:solidFill>
                    <a:schemeClr val="dk1"/>
                  </a:solidFill>
                  <a:latin typeface="Times New Roman"/>
                  <a:ea typeface="Times New Roman"/>
                  <a:cs typeface="Times New Roman"/>
                  <a:sym typeface="Times New Roman"/>
                </a:rPr>
                <a:t>$34.00</a:t>
              </a:r>
              <a:endParaRPr/>
            </a:p>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sp>
          <p:nvSpPr>
            <p:cNvPr id="367" name="Google Shape;367;p15"/>
            <p:cNvSpPr/>
            <p:nvPr/>
          </p:nvSpPr>
          <p:spPr>
            <a:xfrm>
              <a:off x="4381" y="0"/>
              <a:ext cx="382"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368" name="Google Shape;368;p15"/>
          <p:cNvGrpSpPr/>
          <p:nvPr/>
        </p:nvGrpSpPr>
        <p:grpSpPr>
          <a:xfrm>
            <a:off x="2093914" y="5105400"/>
            <a:ext cx="1063625" cy="381000"/>
            <a:chOff x="0" y="1440"/>
            <a:chExt cx="627" cy="480"/>
          </a:xfrm>
        </p:grpSpPr>
        <p:sp>
          <p:nvSpPr>
            <p:cNvPr id="369" name="Google Shape;369;p15"/>
            <p:cNvSpPr/>
            <p:nvPr/>
          </p:nvSpPr>
          <p:spPr>
            <a:xfrm>
              <a:off x="29" y="1440"/>
              <a:ext cx="569"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000"/>
                <a:buFont typeface="Noto Sans Symbols"/>
                <a:buNone/>
              </a:pPr>
              <a:r>
                <a:rPr lang="en-US" sz="1000">
                  <a:solidFill>
                    <a:schemeClr val="dk1"/>
                  </a:solidFill>
                  <a:latin typeface="Times New Roman"/>
                  <a:ea typeface="Times New Roman"/>
                  <a:cs typeface="Times New Roman"/>
                  <a:sym typeface="Times New Roman"/>
                </a:rPr>
                <a:t>0-55-123456-9</a:t>
              </a:r>
              <a:endParaRPr/>
            </a:p>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sp>
          <p:nvSpPr>
            <p:cNvPr id="370" name="Google Shape;370;p15"/>
            <p:cNvSpPr/>
            <p:nvPr/>
          </p:nvSpPr>
          <p:spPr>
            <a:xfrm>
              <a:off x="0" y="1440"/>
              <a:ext cx="627"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371" name="Google Shape;371;p15"/>
          <p:cNvGrpSpPr/>
          <p:nvPr/>
        </p:nvGrpSpPr>
        <p:grpSpPr>
          <a:xfrm>
            <a:off x="3157538" y="5105400"/>
            <a:ext cx="881062" cy="381000"/>
            <a:chOff x="627" y="1440"/>
            <a:chExt cx="598" cy="480"/>
          </a:xfrm>
        </p:grpSpPr>
        <p:sp>
          <p:nvSpPr>
            <p:cNvPr id="372" name="Google Shape;372;p15"/>
            <p:cNvSpPr/>
            <p:nvPr/>
          </p:nvSpPr>
          <p:spPr>
            <a:xfrm>
              <a:off x="656" y="1440"/>
              <a:ext cx="540"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000"/>
                <a:buFont typeface="Noto Sans Symbols"/>
                <a:buNone/>
              </a:pPr>
              <a:r>
                <a:rPr lang="en-US" sz="1000">
                  <a:solidFill>
                    <a:schemeClr val="dk1"/>
                  </a:solidFill>
                  <a:latin typeface="Times New Roman"/>
                  <a:ea typeface="Times New Roman"/>
                  <a:cs typeface="Times New Roman"/>
                  <a:sym typeface="Times New Roman"/>
                </a:rPr>
                <a:t>Main Street</a:t>
              </a:r>
              <a:endParaRPr/>
            </a:p>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sp>
          <p:nvSpPr>
            <p:cNvPr id="373" name="Google Shape;373;p15"/>
            <p:cNvSpPr/>
            <p:nvPr/>
          </p:nvSpPr>
          <p:spPr>
            <a:xfrm>
              <a:off x="627" y="1440"/>
              <a:ext cx="598"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374" name="Google Shape;374;p15"/>
          <p:cNvGrpSpPr/>
          <p:nvPr/>
        </p:nvGrpSpPr>
        <p:grpSpPr>
          <a:xfrm>
            <a:off x="4040189" y="5105400"/>
            <a:ext cx="998537" cy="381000"/>
            <a:chOff x="3077" y="1440"/>
            <a:chExt cx="670" cy="480"/>
          </a:xfrm>
        </p:grpSpPr>
        <p:sp>
          <p:nvSpPr>
            <p:cNvPr id="375" name="Google Shape;375;p15"/>
            <p:cNvSpPr/>
            <p:nvPr/>
          </p:nvSpPr>
          <p:spPr>
            <a:xfrm>
              <a:off x="3106" y="1440"/>
              <a:ext cx="612"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000"/>
                <a:buFont typeface="Noto Sans Symbols"/>
                <a:buNone/>
              </a:pPr>
              <a:r>
                <a:rPr lang="en-US" sz="1000">
                  <a:solidFill>
                    <a:schemeClr val="dk1"/>
                  </a:solidFill>
                  <a:latin typeface="Times New Roman"/>
                  <a:ea typeface="Times New Roman"/>
                  <a:cs typeface="Times New Roman"/>
                  <a:sym typeface="Times New Roman"/>
                </a:rPr>
                <a:t>Small House</a:t>
              </a:r>
              <a:endParaRPr/>
            </a:p>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sp>
          <p:nvSpPr>
            <p:cNvPr id="376" name="Google Shape;376;p15"/>
            <p:cNvSpPr/>
            <p:nvPr/>
          </p:nvSpPr>
          <p:spPr>
            <a:xfrm>
              <a:off x="3077" y="1440"/>
              <a:ext cx="670"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377" name="Google Shape;377;p15"/>
          <p:cNvGrpSpPr/>
          <p:nvPr/>
        </p:nvGrpSpPr>
        <p:grpSpPr>
          <a:xfrm>
            <a:off x="5038726" y="5105400"/>
            <a:ext cx="1058863" cy="381000"/>
            <a:chOff x="3747" y="1440"/>
            <a:chExt cx="634" cy="480"/>
          </a:xfrm>
        </p:grpSpPr>
        <p:sp>
          <p:nvSpPr>
            <p:cNvPr id="378" name="Google Shape;378;p15"/>
            <p:cNvSpPr/>
            <p:nvPr/>
          </p:nvSpPr>
          <p:spPr>
            <a:xfrm>
              <a:off x="3776" y="1440"/>
              <a:ext cx="576"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000"/>
                <a:buFont typeface="Noto Sans Symbols"/>
                <a:buNone/>
              </a:pPr>
              <a:r>
                <a:rPr lang="en-US" sz="1000">
                  <a:solidFill>
                    <a:schemeClr val="dk1"/>
                  </a:solidFill>
                  <a:latin typeface="Times New Roman"/>
                  <a:ea typeface="Times New Roman"/>
                  <a:cs typeface="Times New Roman"/>
                  <a:sym typeface="Times New Roman"/>
                </a:rPr>
                <a:t>714-000-0000</a:t>
              </a:r>
              <a:endParaRPr/>
            </a:p>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sp>
          <p:nvSpPr>
            <p:cNvPr id="379" name="Google Shape;379;p15"/>
            <p:cNvSpPr/>
            <p:nvPr/>
          </p:nvSpPr>
          <p:spPr>
            <a:xfrm>
              <a:off x="3747" y="1440"/>
              <a:ext cx="634"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380" name="Google Shape;380;p15"/>
          <p:cNvGrpSpPr/>
          <p:nvPr/>
        </p:nvGrpSpPr>
        <p:grpSpPr>
          <a:xfrm>
            <a:off x="6097589" y="5105400"/>
            <a:ext cx="706437" cy="381000"/>
            <a:chOff x="4381" y="1440"/>
            <a:chExt cx="382" cy="480"/>
          </a:xfrm>
        </p:grpSpPr>
        <p:sp>
          <p:nvSpPr>
            <p:cNvPr id="381" name="Google Shape;381;p15"/>
            <p:cNvSpPr/>
            <p:nvPr/>
          </p:nvSpPr>
          <p:spPr>
            <a:xfrm>
              <a:off x="4410" y="1440"/>
              <a:ext cx="324"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000"/>
                <a:buFont typeface="Noto Sans Symbols"/>
                <a:buNone/>
              </a:pPr>
              <a:r>
                <a:rPr lang="en-US" sz="1000">
                  <a:solidFill>
                    <a:schemeClr val="dk1"/>
                  </a:solidFill>
                  <a:latin typeface="Times New Roman"/>
                  <a:ea typeface="Times New Roman"/>
                  <a:cs typeface="Times New Roman"/>
                  <a:sym typeface="Times New Roman"/>
                </a:rPr>
                <a:t>$22.95</a:t>
              </a:r>
              <a:endParaRPr/>
            </a:p>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sp>
          <p:nvSpPr>
            <p:cNvPr id="382" name="Google Shape;382;p15"/>
            <p:cNvSpPr/>
            <p:nvPr/>
          </p:nvSpPr>
          <p:spPr>
            <a:xfrm>
              <a:off x="4381" y="1440"/>
              <a:ext cx="382"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383" name="Google Shape;383;p15"/>
          <p:cNvGrpSpPr/>
          <p:nvPr/>
        </p:nvGrpSpPr>
        <p:grpSpPr>
          <a:xfrm>
            <a:off x="2093914" y="5486400"/>
            <a:ext cx="1063625" cy="381000"/>
            <a:chOff x="0" y="2400"/>
            <a:chExt cx="627" cy="480"/>
          </a:xfrm>
        </p:grpSpPr>
        <p:sp>
          <p:nvSpPr>
            <p:cNvPr id="384" name="Google Shape;384;p15"/>
            <p:cNvSpPr/>
            <p:nvPr/>
          </p:nvSpPr>
          <p:spPr>
            <a:xfrm>
              <a:off x="29" y="2400"/>
              <a:ext cx="569"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000"/>
                <a:buFont typeface="Noto Sans Symbols"/>
                <a:buNone/>
              </a:pPr>
              <a:r>
                <a:rPr lang="en-US" sz="1000">
                  <a:solidFill>
                    <a:schemeClr val="dk1"/>
                  </a:solidFill>
                  <a:latin typeface="Times New Roman"/>
                  <a:ea typeface="Times New Roman"/>
                  <a:cs typeface="Times New Roman"/>
                  <a:sym typeface="Times New Roman"/>
                </a:rPr>
                <a:t>0-123-45678-0</a:t>
              </a:r>
              <a:endParaRPr/>
            </a:p>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sp>
          <p:nvSpPr>
            <p:cNvPr id="385" name="Google Shape;385;p15"/>
            <p:cNvSpPr/>
            <p:nvPr/>
          </p:nvSpPr>
          <p:spPr>
            <a:xfrm>
              <a:off x="0" y="2400"/>
              <a:ext cx="627"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386" name="Google Shape;386;p15"/>
          <p:cNvGrpSpPr/>
          <p:nvPr/>
        </p:nvGrpSpPr>
        <p:grpSpPr>
          <a:xfrm>
            <a:off x="3157538" y="5486400"/>
            <a:ext cx="881062" cy="381000"/>
            <a:chOff x="627" y="2400"/>
            <a:chExt cx="598" cy="480"/>
          </a:xfrm>
        </p:grpSpPr>
        <p:sp>
          <p:nvSpPr>
            <p:cNvPr id="387" name="Google Shape;387;p15"/>
            <p:cNvSpPr/>
            <p:nvPr/>
          </p:nvSpPr>
          <p:spPr>
            <a:xfrm>
              <a:off x="656" y="2400"/>
              <a:ext cx="540"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000"/>
                <a:buFont typeface="Noto Sans Symbols"/>
                <a:buNone/>
              </a:pPr>
              <a:r>
                <a:rPr lang="en-US" sz="1000">
                  <a:solidFill>
                    <a:schemeClr val="dk1"/>
                  </a:solidFill>
                  <a:latin typeface="Times New Roman"/>
                  <a:ea typeface="Times New Roman"/>
                  <a:cs typeface="Times New Roman"/>
                  <a:sym typeface="Times New Roman"/>
                </a:rPr>
                <a:t>Ulysses</a:t>
              </a:r>
              <a:endParaRPr/>
            </a:p>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sp>
          <p:nvSpPr>
            <p:cNvPr id="388" name="Google Shape;388;p15"/>
            <p:cNvSpPr/>
            <p:nvPr/>
          </p:nvSpPr>
          <p:spPr>
            <a:xfrm>
              <a:off x="627" y="2400"/>
              <a:ext cx="598"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389" name="Google Shape;389;p15"/>
          <p:cNvGrpSpPr/>
          <p:nvPr/>
        </p:nvGrpSpPr>
        <p:grpSpPr>
          <a:xfrm>
            <a:off x="4040189" y="5486400"/>
            <a:ext cx="998537" cy="381000"/>
            <a:chOff x="3077" y="2400"/>
            <a:chExt cx="670" cy="480"/>
          </a:xfrm>
        </p:grpSpPr>
        <p:sp>
          <p:nvSpPr>
            <p:cNvPr id="390" name="Google Shape;390;p15"/>
            <p:cNvSpPr/>
            <p:nvPr/>
          </p:nvSpPr>
          <p:spPr>
            <a:xfrm>
              <a:off x="3106" y="2400"/>
              <a:ext cx="612"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000"/>
                <a:buFont typeface="Noto Sans Symbols"/>
                <a:buNone/>
              </a:pPr>
              <a:r>
                <a:rPr lang="en-US" sz="1000">
                  <a:solidFill>
                    <a:schemeClr val="dk1"/>
                  </a:solidFill>
                  <a:latin typeface="Times New Roman"/>
                  <a:ea typeface="Times New Roman"/>
                  <a:cs typeface="Times New Roman"/>
                  <a:sym typeface="Times New Roman"/>
                </a:rPr>
                <a:t>Alpha Press</a:t>
              </a:r>
              <a:endParaRPr/>
            </a:p>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sp>
          <p:nvSpPr>
            <p:cNvPr id="391" name="Google Shape;391;p15"/>
            <p:cNvSpPr/>
            <p:nvPr/>
          </p:nvSpPr>
          <p:spPr>
            <a:xfrm>
              <a:off x="3077" y="2400"/>
              <a:ext cx="670"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392" name="Google Shape;392;p15"/>
          <p:cNvGrpSpPr/>
          <p:nvPr/>
        </p:nvGrpSpPr>
        <p:grpSpPr>
          <a:xfrm>
            <a:off x="5038726" y="5486400"/>
            <a:ext cx="1058863" cy="381000"/>
            <a:chOff x="3747" y="2400"/>
            <a:chExt cx="634" cy="480"/>
          </a:xfrm>
        </p:grpSpPr>
        <p:sp>
          <p:nvSpPr>
            <p:cNvPr id="393" name="Google Shape;393;p15"/>
            <p:cNvSpPr/>
            <p:nvPr/>
          </p:nvSpPr>
          <p:spPr>
            <a:xfrm>
              <a:off x="3776" y="2400"/>
              <a:ext cx="576"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000"/>
                <a:buFont typeface="Noto Sans Symbols"/>
                <a:buNone/>
              </a:pPr>
              <a:r>
                <a:rPr lang="en-US" sz="1000">
                  <a:solidFill>
                    <a:schemeClr val="dk1"/>
                  </a:solidFill>
                  <a:latin typeface="Times New Roman"/>
                  <a:ea typeface="Times New Roman"/>
                  <a:cs typeface="Times New Roman"/>
                  <a:sym typeface="Times New Roman"/>
                </a:rPr>
                <a:t>999-999-9999</a:t>
              </a:r>
              <a:endParaRPr/>
            </a:p>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sp>
          <p:nvSpPr>
            <p:cNvPr id="394" name="Google Shape;394;p15"/>
            <p:cNvSpPr/>
            <p:nvPr/>
          </p:nvSpPr>
          <p:spPr>
            <a:xfrm>
              <a:off x="3747" y="2400"/>
              <a:ext cx="634"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395" name="Google Shape;395;p15"/>
          <p:cNvGrpSpPr/>
          <p:nvPr/>
        </p:nvGrpSpPr>
        <p:grpSpPr>
          <a:xfrm>
            <a:off x="6097589" y="5486400"/>
            <a:ext cx="706437" cy="381000"/>
            <a:chOff x="4381" y="2400"/>
            <a:chExt cx="382" cy="480"/>
          </a:xfrm>
        </p:grpSpPr>
        <p:sp>
          <p:nvSpPr>
            <p:cNvPr id="396" name="Google Shape;396;p15"/>
            <p:cNvSpPr/>
            <p:nvPr/>
          </p:nvSpPr>
          <p:spPr>
            <a:xfrm>
              <a:off x="4410" y="2400"/>
              <a:ext cx="324"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000"/>
                <a:buFont typeface="Noto Sans Symbols"/>
                <a:buNone/>
              </a:pPr>
              <a:r>
                <a:rPr lang="en-US" sz="1000">
                  <a:solidFill>
                    <a:schemeClr val="dk1"/>
                  </a:solidFill>
                  <a:latin typeface="Times New Roman"/>
                  <a:ea typeface="Times New Roman"/>
                  <a:cs typeface="Times New Roman"/>
                  <a:sym typeface="Times New Roman"/>
                </a:rPr>
                <a:t>$34.00</a:t>
              </a:r>
              <a:endParaRPr/>
            </a:p>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sp>
          <p:nvSpPr>
            <p:cNvPr id="397" name="Google Shape;397;p15"/>
            <p:cNvSpPr/>
            <p:nvPr/>
          </p:nvSpPr>
          <p:spPr>
            <a:xfrm>
              <a:off x="4381" y="2400"/>
              <a:ext cx="382"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398" name="Google Shape;398;p15"/>
          <p:cNvGrpSpPr/>
          <p:nvPr/>
        </p:nvGrpSpPr>
        <p:grpSpPr>
          <a:xfrm>
            <a:off x="2093914" y="5867400"/>
            <a:ext cx="1063625" cy="381000"/>
            <a:chOff x="0" y="2880"/>
            <a:chExt cx="627" cy="480"/>
          </a:xfrm>
        </p:grpSpPr>
        <p:sp>
          <p:nvSpPr>
            <p:cNvPr id="399" name="Google Shape;399;p15"/>
            <p:cNvSpPr/>
            <p:nvPr/>
          </p:nvSpPr>
          <p:spPr>
            <a:xfrm>
              <a:off x="29" y="2880"/>
              <a:ext cx="569"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000"/>
                <a:buFont typeface="Noto Sans Symbols"/>
                <a:buNone/>
              </a:pPr>
              <a:r>
                <a:rPr lang="en-US" sz="1000">
                  <a:solidFill>
                    <a:schemeClr val="dk1"/>
                  </a:solidFill>
                  <a:latin typeface="Times New Roman"/>
                  <a:ea typeface="Times New Roman"/>
                  <a:cs typeface="Times New Roman"/>
                  <a:sym typeface="Times New Roman"/>
                </a:rPr>
                <a:t>1-22-233700-0</a:t>
              </a:r>
              <a:endParaRPr/>
            </a:p>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sp>
          <p:nvSpPr>
            <p:cNvPr id="400" name="Google Shape;400;p15"/>
            <p:cNvSpPr/>
            <p:nvPr/>
          </p:nvSpPr>
          <p:spPr>
            <a:xfrm>
              <a:off x="0" y="2880"/>
              <a:ext cx="627"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401" name="Google Shape;401;p15"/>
          <p:cNvGrpSpPr/>
          <p:nvPr/>
        </p:nvGrpSpPr>
        <p:grpSpPr>
          <a:xfrm>
            <a:off x="3157538" y="5867400"/>
            <a:ext cx="881062" cy="381000"/>
            <a:chOff x="627" y="2880"/>
            <a:chExt cx="598" cy="480"/>
          </a:xfrm>
        </p:grpSpPr>
        <p:sp>
          <p:nvSpPr>
            <p:cNvPr id="402" name="Google Shape;402;p15"/>
            <p:cNvSpPr/>
            <p:nvPr/>
          </p:nvSpPr>
          <p:spPr>
            <a:xfrm>
              <a:off x="656" y="2880"/>
              <a:ext cx="540"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000"/>
                <a:buFont typeface="Noto Sans Symbols"/>
                <a:buNone/>
              </a:pPr>
              <a:r>
                <a:rPr lang="en-US" sz="1000">
                  <a:solidFill>
                    <a:schemeClr val="dk1"/>
                  </a:solidFill>
                  <a:latin typeface="Times New Roman"/>
                  <a:ea typeface="Times New Roman"/>
                  <a:cs typeface="Times New Roman"/>
                  <a:sym typeface="Times New Roman"/>
                </a:rPr>
                <a:t>Visual Basic</a:t>
              </a:r>
              <a:endParaRPr/>
            </a:p>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sp>
          <p:nvSpPr>
            <p:cNvPr id="403" name="Google Shape;403;p15"/>
            <p:cNvSpPr/>
            <p:nvPr/>
          </p:nvSpPr>
          <p:spPr>
            <a:xfrm>
              <a:off x="627" y="2880"/>
              <a:ext cx="598"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404" name="Google Shape;404;p15"/>
          <p:cNvGrpSpPr/>
          <p:nvPr/>
        </p:nvGrpSpPr>
        <p:grpSpPr>
          <a:xfrm>
            <a:off x="4040189" y="5867400"/>
            <a:ext cx="998537" cy="381000"/>
            <a:chOff x="3077" y="2880"/>
            <a:chExt cx="670" cy="480"/>
          </a:xfrm>
        </p:grpSpPr>
        <p:sp>
          <p:nvSpPr>
            <p:cNvPr id="405" name="Google Shape;405;p15"/>
            <p:cNvSpPr/>
            <p:nvPr/>
          </p:nvSpPr>
          <p:spPr>
            <a:xfrm>
              <a:off x="3106" y="2880"/>
              <a:ext cx="612"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000"/>
                <a:buFont typeface="Noto Sans Symbols"/>
                <a:buNone/>
              </a:pPr>
              <a:r>
                <a:rPr lang="en-US" sz="1000">
                  <a:solidFill>
                    <a:schemeClr val="dk1"/>
                  </a:solidFill>
                  <a:latin typeface="Times New Roman"/>
                  <a:ea typeface="Times New Roman"/>
                  <a:cs typeface="Times New Roman"/>
                  <a:sym typeface="Times New Roman"/>
                </a:rPr>
                <a:t>Big House</a:t>
              </a:r>
              <a:endParaRPr/>
            </a:p>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sp>
          <p:nvSpPr>
            <p:cNvPr id="406" name="Google Shape;406;p15"/>
            <p:cNvSpPr/>
            <p:nvPr/>
          </p:nvSpPr>
          <p:spPr>
            <a:xfrm>
              <a:off x="3077" y="2880"/>
              <a:ext cx="670"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407" name="Google Shape;407;p15"/>
          <p:cNvGrpSpPr/>
          <p:nvPr/>
        </p:nvGrpSpPr>
        <p:grpSpPr>
          <a:xfrm>
            <a:off x="5038726" y="5867400"/>
            <a:ext cx="1058863" cy="381000"/>
            <a:chOff x="3747" y="2880"/>
            <a:chExt cx="634" cy="480"/>
          </a:xfrm>
        </p:grpSpPr>
        <p:sp>
          <p:nvSpPr>
            <p:cNvPr id="408" name="Google Shape;408;p15"/>
            <p:cNvSpPr/>
            <p:nvPr/>
          </p:nvSpPr>
          <p:spPr>
            <a:xfrm>
              <a:off x="3776" y="2880"/>
              <a:ext cx="576"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000"/>
                <a:buFont typeface="Noto Sans Symbols"/>
                <a:buNone/>
              </a:pPr>
              <a:r>
                <a:rPr lang="en-US" sz="1000">
                  <a:solidFill>
                    <a:schemeClr val="dk1"/>
                  </a:solidFill>
                  <a:latin typeface="Times New Roman"/>
                  <a:ea typeface="Times New Roman"/>
                  <a:cs typeface="Times New Roman"/>
                  <a:sym typeface="Times New Roman"/>
                </a:rPr>
                <a:t>123-456-7890</a:t>
              </a:r>
              <a:endParaRPr/>
            </a:p>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sp>
          <p:nvSpPr>
            <p:cNvPr id="409" name="Google Shape;409;p15"/>
            <p:cNvSpPr/>
            <p:nvPr/>
          </p:nvSpPr>
          <p:spPr>
            <a:xfrm>
              <a:off x="3747" y="2880"/>
              <a:ext cx="634"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410" name="Google Shape;410;p15"/>
          <p:cNvGrpSpPr/>
          <p:nvPr/>
        </p:nvGrpSpPr>
        <p:grpSpPr>
          <a:xfrm>
            <a:off x="6097589" y="5867400"/>
            <a:ext cx="706437" cy="381000"/>
            <a:chOff x="4381" y="2880"/>
            <a:chExt cx="382" cy="480"/>
          </a:xfrm>
        </p:grpSpPr>
        <p:sp>
          <p:nvSpPr>
            <p:cNvPr id="411" name="Google Shape;411;p15"/>
            <p:cNvSpPr/>
            <p:nvPr/>
          </p:nvSpPr>
          <p:spPr>
            <a:xfrm>
              <a:off x="4410" y="2880"/>
              <a:ext cx="324"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000"/>
                <a:buFont typeface="Noto Sans Symbols"/>
                <a:buNone/>
              </a:pPr>
              <a:r>
                <a:rPr lang="en-US" sz="1000">
                  <a:solidFill>
                    <a:schemeClr val="dk1"/>
                  </a:solidFill>
                  <a:latin typeface="Times New Roman"/>
                  <a:ea typeface="Times New Roman"/>
                  <a:cs typeface="Times New Roman"/>
                  <a:sym typeface="Times New Roman"/>
                </a:rPr>
                <a:t>$25.00</a:t>
              </a:r>
              <a:endParaRPr/>
            </a:p>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sp>
          <p:nvSpPr>
            <p:cNvPr id="412" name="Google Shape;412;p15"/>
            <p:cNvSpPr/>
            <p:nvPr/>
          </p:nvSpPr>
          <p:spPr>
            <a:xfrm>
              <a:off x="4381" y="2880"/>
              <a:ext cx="382"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413" name="Google Shape;413;p15"/>
          <p:cNvGrpSpPr/>
          <p:nvPr/>
        </p:nvGrpSpPr>
        <p:grpSpPr>
          <a:xfrm>
            <a:off x="2090739" y="4343400"/>
            <a:ext cx="1063625" cy="381000"/>
            <a:chOff x="0" y="2880"/>
            <a:chExt cx="627" cy="480"/>
          </a:xfrm>
        </p:grpSpPr>
        <p:sp>
          <p:nvSpPr>
            <p:cNvPr id="414" name="Google Shape;414;p15"/>
            <p:cNvSpPr/>
            <p:nvPr/>
          </p:nvSpPr>
          <p:spPr>
            <a:xfrm>
              <a:off x="29" y="2880"/>
              <a:ext cx="569"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200"/>
                <a:buFont typeface="Noto Sans Symbols"/>
                <a:buNone/>
              </a:pPr>
              <a:r>
                <a:rPr lang="en-US" sz="1200">
                  <a:solidFill>
                    <a:schemeClr val="dk1"/>
                  </a:solidFill>
                  <a:latin typeface="Times New Roman"/>
                  <a:ea typeface="Times New Roman"/>
                  <a:cs typeface="Times New Roman"/>
                  <a:sym typeface="Times New Roman"/>
                </a:rPr>
                <a:t>ISBN</a:t>
              </a:r>
              <a:endParaRPr/>
            </a:p>
            <a:p>
              <a:pPr marL="0" marR="0" lvl="0" indent="0" algn="l" rtl="0">
                <a:spcBef>
                  <a:spcPts val="0"/>
                </a:spcBef>
                <a:spcAft>
                  <a:spcPts val="0"/>
                </a:spcAft>
                <a:buClr>
                  <a:schemeClr val="dk1"/>
                </a:buClr>
                <a:buSzPts val="1200"/>
                <a:buFont typeface="Noto Sans Symbols"/>
                <a:buNone/>
              </a:pPr>
              <a:endParaRPr sz="1200">
                <a:solidFill>
                  <a:schemeClr val="dk1"/>
                </a:solidFill>
                <a:latin typeface="Times New Roman"/>
                <a:ea typeface="Times New Roman"/>
                <a:cs typeface="Times New Roman"/>
                <a:sym typeface="Times New Roman"/>
              </a:endParaRPr>
            </a:p>
          </p:txBody>
        </p:sp>
        <p:sp>
          <p:nvSpPr>
            <p:cNvPr id="415" name="Google Shape;415;p15"/>
            <p:cNvSpPr/>
            <p:nvPr/>
          </p:nvSpPr>
          <p:spPr>
            <a:xfrm>
              <a:off x="0" y="2880"/>
              <a:ext cx="627"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416" name="Google Shape;416;p15"/>
          <p:cNvGrpSpPr/>
          <p:nvPr/>
        </p:nvGrpSpPr>
        <p:grpSpPr>
          <a:xfrm>
            <a:off x="3154363" y="4343400"/>
            <a:ext cx="881062" cy="381000"/>
            <a:chOff x="627" y="2880"/>
            <a:chExt cx="598" cy="480"/>
          </a:xfrm>
        </p:grpSpPr>
        <p:sp>
          <p:nvSpPr>
            <p:cNvPr id="417" name="Google Shape;417;p15"/>
            <p:cNvSpPr/>
            <p:nvPr/>
          </p:nvSpPr>
          <p:spPr>
            <a:xfrm>
              <a:off x="656" y="2880"/>
              <a:ext cx="540"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200"/>
                <a:buFont typeface="Noto Sans Symbols"/>
                <a:buNone/>
              </a:pPr>
              <a:r>
                <a:rPr lang="en-US" sz="1200">
                  <a:solidFill>
                    <a:schemeClr val="dk1"/>
                  </a:solidFill>
                  <a:latin typeface="Times New Roman"/>
                  <a:ea typeface="Times New Roman"/>
                  <a:cs typeface="Times New Roman"/>
                  <a:sym typeface="Times New Roman"/>
                </a:rPr>
                <a:t>Title</a:t>
              </a:r>
              <a:endParaRPr/>
            </a:p>
            <a:p>
              <a:pPr marL="0" marR="0" lvl="0" indent="0" algn="l" rtl="0">
                <a:spcBef>
                  <a:spcPts val="0"/>
                </a:spcBef>
                <a:spcAft>
                  <a:spcPts val="0"/>
                </a:spcAft>
                <a:buClr>
                  <a:schemeClr val="dk1"/>
                </a:buClr>
                <a:buSzPts val="1200"/>
                <a:buFont typeface="Noto Sans Symbols"/>
                <a:buNone/>
              </a:pPr>
              <a:endParaRPr sz="1200">
                <a:solidFill>
                  <a:schemeClr val="dk1"/>
                </a:solidFill>
                <a:latin typeface="Times New Roman"/>
                <a:ea typeface="Times New Roman"/>
                <a:cs typeface="Times New Roman"/>
                <a:sym typeface="Times New Roman"/>
              </a:endParaRPr>
            </a:p>
          </p:txBody>
        </p:sp>
        <p:sp>
          <p:nvSpPr>
            <p:cNvPr id="418" name="Google Shape;418;p15"/>
            <p:cNvSpPr/>
            <p:nvPr/>
          </p:nvSpPr>
          <p:spPr>
            <a:xfrm>
              <a:off x="627" y="2880"/>
              <a:ext cx="598"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419" name="Google Shape;419;p15"/>
          <p:cNvGrpSpPr/>
          <p:nvPr/>
        </p:nvGrpSpPr>
        <p:grpSpPr>
          <a:xfrm>
            <a:off x="4038600" y="4343400"/>
            <a:ext cx="998538" cy="381000"/>
            <a:chOff x="3077" y="2880"/>
            <a:chExt cx="670" cy="480"/>
          </a:xfrm>
        </p:grpSpPr>
        <p:sp>
          <p:nvSpPr>
            <p:cNvPr id="420" name="Google Shape;420;p15"/>
            <p:cNvSpPr/>
            <p:nvPr/>
          </p:nvSpPr>
          <p:spPr>
            <a:xfrm>
              <a:off x="3106" y="2880"/>
              <a:ext cx="612"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200"/>
                <a:buFont typeface="Noto Sans Symbols"/>
                <a:buNone/>
              </a:pPr>
              <a:r>
                <a:rPr lang="en-US" sz="1200">
                  <a:solidFill>
                    <a:schemeClr val="dk1"/>
                  </a:solidFill>
                  <a:latin typeface="Times New Roman"/>
                  <a:ea typeface="Times New Roman"/>
                  <a:cs typeface="Times New Roman"/>
                  <a:sym typeface="Times New Roman"/>
                </a:rPr>
                <a:t>PubName</a:t>
              </a:r>
              <a:endParaRPr/>
            </a:p>
            <a:p>
              <a:pPr marL="0" marR="0" lvl="0" indent="0" algn="l" rtl="0">
                <a:spcBef>
                  <a:spcPts val="0"/>
                </a:spcBef>
                <a:spcAft>
                  <a:spcPts val="0"/>
                </a:spcAft>
                <a:buClr>
                  <a:schemeClr val="dk1"/>
                </a:buClr>
                <a:buSzPts val="1200"/>
                <a:buFont typeface="Noto Sans Symbols"/>
                <a:buNone/>
              </a:pPr>
              <a:endParaRPr sz="1200">
                <a:solidFill>
                  <a:schemeClr val="dk1"/>
                </a:solidFill>
                <a:latin typeface="Times New Roman"/>
                <a:ea typeface="Times New Roman"/>
                <a:cs typeface="Times New Roman"/>
                <a:sym typeface="Times New Roman"/>
              </a:endParaRPr>
            </a:p>
          </p:txBody>
        </p:sp>
        <p:sp>
          <p:nvSpPr>
            <p:cNvPr id="421" name="Google Shape;421;p15"/>
            <p:cNvSpPr/>
            <p:nvPr/>
          </p:nvSpPr>
          <p:spPr>
            <a:xfrm>
              <a:off x="3077" y="2880"/>
              <a:ext cx="670"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422" name="Google Shape;422;p15"/>
          <p:cNvGrpSpPr/>
          <p:nvPr/>
        </p:nvGrpSpPr>
        <p:grpSpPr>
          <a:xfrm>
            <a:off x="5037138" y="4343400"/>
            <a:ext cx="1058862" cy="381000"/>
            <a:chOff x="3747" y="2880"/>
            <a:chExt cx="634" cy="480"/>
          </a:xfrm>
        </p:grpSpPr>
        <p:sp>
          <p:nvSpPr>
            <p:cNvPr id="423" name="Google Shape;423;p15"/>
            <p:cNvSpPr/>
            <p:nvPr/>
          </p:nvSpPr>
          <p:spPr>
            <a:xfrm>
              <a:off x="3776" y="2880"/>
              <a:ext cx="576"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200"/>
                <a:buFont typeface="Noto Sans Symbols"/>
                <a:buNone/>
              </a:pPr>
              <a:r>
                <a:rPr lang="en-US" sz="1200">
                  <a:solidFill>
                    <a:schemeClr val="dk1"/>
                  </a:solidFill>
                  <a:latin typeface="Times New Roman"/>
                  <a:ea typeface="Times New Roman"/>
                  <a:cs typeface="Times New Roman"/>
                  <a:sym typeface="Times New Roman"/>
                </a:rPr>
                <a:t>PubPhone</a:t>
              </a:r>
              <a:endParaRPr/>
            </a:p>
            <a:p>
              <a:pPr marL="0" marR="0" lvl="0" indent="0" algn="l" rtl="0">
                <a:spcBef>
                  <a:spcPts val="0"/>
                </a:spcBef>
                <a:spcAft>
                  <a:spcPts val="0"/>
                </a:spcAft>
                <a:buClr>
                  <a:schemeClr val="dk1"/>
                </a:buClr>
                <a:buSzPts val="1200"/>
                <a:buFont typeface="Noto Sans Symbols"/>
                <a:buNone/>
              </a:pPr>
              <a:endParaRPr sz="1200">
                <a:solidFill>
                  <a:schemeClr val="dk1"/>
                </a:solidFill>
                <a:latin typeface="Times New Roman"/>
                <a:ea typeface="Times New Roman"/>
                <a:cs typeface="Times New Roman"/>
                <a:sym typeface="Times New Roman"/>
              </a:endParaRPr>
            </a:p>
          </p:txBody>
        </p:sp>
        <p:sp>
          <p:nvSpPr>
            <p:cNvPr id="424" name="Google Shape;424;p15"/>
            <p:cNvSpPr/>
            <p:nvPr/>
          </p:nvSpPr>
          <p:spPr>
            <a:xfrm>
              <a:off x="3747" y="2880"/>
              <a:ext cx="634"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425" name="Google Shape;425;p15"/>
          <p:cNvGrpSpPr/>
          <p:nvPr/>
        </p:nvGrpSpPr>
        <p:grpSpPr>
          <a:xfrm>
            <a:off x="6096000" y="4343400"/>
            <a:ext cx="706438" cy="381000"/>
            <a:chOff x="4381" y="2880"/>
            <a:chExt cx="382" cy="480"/>
          </a:xfrm>
        </p:grpSpPr>
        <p:sp>
          <p:nvSpPr>
            <p:cNvPr id="426" name="Google Shape;426;p15"/>
            <p:cNvSpPr/>
            <p:nvPr/>
          </p:nvSpPr>
          <p:spPr>
            <a:xfrm>
              <a:off x="4410" y="2880"/>
              <a:ext cx="324"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200"/>
                <a:buFont typeface="Noto Sans Symbols"/>
                <a:buNone/>
              </a:pPr>
              <a:r>
                <a:rPr lang="en-US" sz="1200">
                  <a:solidFill>
                    <a:schemeClr val="dk1"/>
                  </a:solidFill>
                  <a:latin typeface="Times New Roman"/>
                  <a:ea typeface="Times New Roman"/>
                  <a:cs typeface="Times New Roman"/>
                  <a:sym typeface="Times New Roman"/>
                </a:rPr>
                <a:t>Price</a:t>
              </a:r>
              <a:endParaRPr/>
            </a:p>
            <a:p>
              <a:pPr marL="0" marR="0" lvl="0" indent="0" algn="l" rtl="0">
                <a:spcBef>
                  <a:spcPts val="0"/>
                </a:spcBef>
                <a:spcAft>
                  <a:spcPts val="0"/>
                </a:spcAft>
                <a:buClr>
                  <a:schemeClr val="dk1"/>
                </a:buClr>
                <a:buSzPts val="1200"/>
                <a:buFont typeface="Noto Sans Symbols"/>
                <a:buNone/>
              </a:pPr>
              <a:endParaRPr sz="1200">
                <a:solidFill>
                  <a:schemeClr val="dk1"/>
                </a:solidFill>
                <a:latin typeface="Times New Roman"/>
                <a:ea typeface="Times New Roman"/>
                <a:cs typeface="Times New Roman"/>
                <a:sym typeface="Times New Roman"/>
              </a:endParaRPr>
            </a:p>
          </p:txBody>
        </p:sp>
        <p:sp>
          <p:nvSpPr>
            <p:cNvPr id="427" name="Google Shape;427;p15"/>
            <p:cNvSpPr/>
            <p:nvPr/>
          </p:nvSpPr>
          <p:spPr>
            <a:xfrm>
              <a:off x="4381" y="2880"/>
              <a:ext cx="382"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428" name="Google Shape;428;p15"/>
          <p:cNvGrpSpPr/>
          <p:nvPr/>
        </p:nvGrpSpPr>
        <p:grpSpPr>
          <a:xfrm>
            <a:off x="7284551" y="3238500"/>
            <a:ext cx="1063625" cy="381000"/>
            <a:chOff x="0" y="2880"/>
            <a:chExt cx="627" cy="480"/>
          </a:xfrm>
        </p:grpSpPr>
        <p:sp>
          <p:nvSpPr>
            <p:cNvPr id="429" name="Google Shape;429;p15"/>
            <p:cNvSpPr/>
            <p:nvPr/>
          </p:nvSpPr>
          <p:spPr>
            <a:xfrm>
              <a:off x="29" y="2880"/>
              <a:ext cx="569"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200"/>
                <a:buFont typeface="Noto Sans Symbols"/>
                <a:buNone/>
              </a:pPr>
              <a:r>
                <a:rPr lang="en-US" sz="1200">
                  <a:solidFill>
                    <a:schemeClr val="dk1"/>
                  </a:solidFill>
                  <a:latin typeface="Times New Roman"/>
                  <a:ea typeface="Times New Roman"/>
                  <a:cs typeface="Times New Roman"/>
                  <a:sym typeface="Times New Roman"/>
                </a:rPr>
                <a:t>ISBN</a:t>
              </a:r>
              <a:endParaRPr/>
            </a:p>
            <a:p>
              <a:pPr marL="0" marR="0" lvl="0" indent="0" algn="l" rtl="0">
                <a:spcBef>
                  <a:spcPts val="0"/>
                </a:spcBef>
                <a:spcAft>
                  <a:spcPts val="0"/>
                </a:spcAft>
                <a:buClr>
                  <a:schemeClr val="dk1"/>
                </a:buClr>
                <a:buSzPts val="1200"/>
                <a:buFont typeface="Noto Sans Symbols"/>
                <a:buNone/>
              </a:pPr>
              <a:endParaRPr sz="1200">
                <a:solidFill>
                  <a:schemeClr val="dk1"/>
                </a:solidFill>
                <a:latin typeface="Times New Roman"/>
                <a:ea typeface="Times New Roman"/>
                <a:cs typeface="Times New Roman"/>
                <a:sym typeface="Times New Roman"/>
              </a:endParaRPr>
            </a:p>
          </p:txBody>
        </p:sp>
        <p:sp>
          <p:nvSpPr>
            <p:cNvPr id="430" name="Google Shape;430;p15"/>
            <p:cNvSpPr/>
            <p:nvPr/>
          </p:nvSpPr>
          <p:spPr>
            <a:xfrm>
              <a:off x="0" y="2880"/>
              <a:ext cx="627"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431" name="Google Shape;431;p15"/>
          <p:cNvGrpSpPr/>
          <p:nvPr/>
        </p:nvGrpSpPr>
        <p:grpSpPr>
          <a:xfrm>
            <a:off x="8349763" y="3238500"/>
            <a:ext cx="911225" cy="381000"/>
            <a:chOff x="1549" y="2880"/>
            <a:chExt cx="548" cy="480"/>
          </a:xfrm>
        </p:grpSpPr>
        <p:sp>
          <p:nvSpPr>
            <p:cNvPr id="432" name="Google Shape;432;p15"/>
            <p:cNvSpPr/>
            <p:nvPr/>
          </p:nvSpPr>
          <p:spPr>
            <a:xfrm>
              <a:off x="1578" y="2880"/>
              <a:ext cx="490"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200"/>
                <a:buFont typeface="Noto Sans Symbols"/>
                <a:buNone/>
              </a:pPr>
              <a:r>
                <a:rPr lang="en-US" sz="1200">
                  <a:solidFill>
                    <a:schemeClr val="dk1"/>
                  </a:solidFill>
                  <a:latin typeface="Times New Roman"/>
                  <a:ea typeface="Times New Roman"/>
                  <a:cs typeface="Times New Roman"/>
                  <a:sym typeface="Times New Roman"/>
                </a:rPr>
                <a:t>AuName</a:t>
              </a:r>
              <a:endParaRPr/>
            </a:p>
            <a:p>
              <a:pPr marL="0" marR="0" lvl="0" indent="0" algn="l" rtl="0">
                <a:spcBef>
                  <a:spcPts val="0"/>
                </a:spcBef>
                <a:spcAft>
                  <a:spcPts val="0"/>
                </a:spcAft>
                <a:buClr>
                  <a:schemeClr val="dk1"/>
                </a:buClr>
                <a:buSzPts val="1200"/>
                <a:buFont typeface="Noto Sans Symbols"/>
                <a:buNone/>
              </a:pPr>
              <a:endParaRPr sz="1200">
                <a:solidFill>
                  <a:schemeClr val="dk1"/>
                </a:solidFill>
                <a:latin typeface="Times New Roman"/>
                <a:ea typeface="Times New Roman"/>
                <a:cs typeface="Times New Roman"/>
                <a:sym typeface="Times New Roman"/>
              </a:endParaRPr>
            </a:p>
          </p:txBody>
        </p:sp>
        <p:sp>
          <p:nvSpPr>
            <p:cNvPr id="433" name="Google Shape;433;p15"/>
            <p:cNvSpPr/>
            <p:nvPr/>
          </p:nvSpPr>
          <p:spPr>
            <a:xfrm>
              <a:off x="1549" y="2880"/>
              <a:ext cx="548"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434" name="Google Shape;434;p15"/>
          <p:cNvGrpSpPr/>
          <p:nvPr/>
        </p:nvGrpSpPr>
        <p:grpSpPr>
          <a:xfrm>
            <a:off x="9264162" y="3238500"/>
            <a:ext cx="1087438" cy="381000"/>
            <a:chOff x="2097" y="2880"/>
            <a:chExt cx="598" cy="480"/>
          </a:xfrm>
        </p:grpSpPr>
        <p:sp>
          <p:nvSpPr>
            <p:cNvPr id="435" name="Google Shape;435;p15"/>
            <p:cNvSpPr/>
            <p:nvPr/>
          </p:nvSpPr>
          <p:spPr>
            <a:xfrm>
              <a:off x="2126" y="2880"/>
              <a:ext cx="540"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200"/>
                <a:buFont typeface="Noto Sans Symbols"/>
                <a:buNone/>
              </a:pPr>
              <a:r>
                <a:rPr lang="en-US" sz="1200">
                  <a:solidFill>
                    <a:schemeClr val="dk1"/>
                  </a:solidFill>
                  <a:latin typeface="Times New Roman"/>
                  <a:ea typeface="Times New Roman"/>
                  <a:cs typeface="Times New Roman"/>
                  <a:sym typeface="Times New Roman"/>
                </a:rPr>
                <a:t>AuPhone</a:t>
              </a:r>
              <a:endParaRPr/>
            </a:p>
            <a:p>
              <a:pPr marL="0" marR="0" lvl="0" indent="0" algn="l" rtl="0">
                <a:spcBef>
                  <a:spcPts val="0"/>
                </a:spcBef>
                <a:spcAft>
                  <a:spcPts val="0"/>
                </a:spcAft>
                <a:buClr>
                  <a:schemeClr val="dk1"/>
                </a:buClr>
                <a:buSzPts val="1200"/>
                <a:buFont typeface="Noto Sans Symbols"/>
                <a:buNone/>
              </a:pPr>
              <a:endParaRPr sz="1200">
                <a:solidFill>
                  <a:schemeClr val="dk1"/>
                </a:solidFill>
                <a:latin typeface="Times New Roman"/>
                <a:ea typeface="Times New Roman"/>
                <a:cs typeface="Times New Roman"/>
                <a:sym typeface="Times New Roman"/>
              </a:endParaRPr>
            </a:p>
          </p:txBody>
        </p:sp>
        <p:sp>
          <p:nvSpPr>
            <p:cNvPr id="436" name="Google Shape;436;p15"/>
            <p:cNvSpPr/>
            <p:nvPr/>
          </p:nvSpPr>
          <p:spPr>
            <a:xfrm>
              <a:off x="2097" y="2880"/>
              <a:ext cx="598"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437" name="Google Shape;437;p15"/>
          <p:cNvGrpSpPr/>
          <p:nvPr/>
        </p:nvGrpSpPr>
        <p:grpSpPr>
          <a:xfrm>
            <a:off x="7284551" y="5524500"/>
            <a:ext cx="1063625" cy="381000"/>
            <a:chOff x="0" y="2400"/>
            <a:chExt cx="627" cy="480"/>
          </a:xfrm>
        </p:grpSpPr>
        <p:sp>
          <p:nvSpPr>
            <p:cNvPr id="438" name="Google Shape;438;p15"/>
            <p:cNvSpPr/>
            <p:nvPr/>
          </p:nvSpPr>
          <p:spPr>
            <a:xfrm>
              <a:off x="29" y="2400"/>
              <a:ext cx="569"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000"/>
                <a:buFont typeface="Noto Sans Symbols"/>
                <a:buNone/>
              </a:pPr>
              <a:r>
                <a:rPr lang="en-US" sz="1000">
                  <a:solidFill>
                    <a:schemeClr val="dk1"/>
                  </a:solidFill>
                  <a:latin typeface="Times New Roman"/>
                  <a:ea typeface="Times New Roman"/>
                  <a:cs typeface="Times New Roman"/>
                  <a:sym typeface="Times New Roman"/>
                </a:rPr>
                <a:t>0-123-45678-0</a:t>
              </a:r>
              <a:endParaRPr/>
            </a:p>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sp>
          <p:nvSpPr>
            <p:cNvPr id="439" name="Google Shape;439;p15"/>
            <p:cNvSpPr/>
            <p:nvPr/>
          </p:nvSpPr>
          <p:spPr>
            <a:xfrm>
              <a:off x="0" y="2400"/>
              <a:ext cx="627"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440" name="Google Shape;440;p15"/>
          <p:cNvGrpSpPr/>
          <p:nvPr/>
        </p:nvGrpSpPr>
        <p:grpSpPr>
          <a:xfrm>
            <a:off x="8351351" y="5524500"/>
            <a:ext cx="911225" cy="381000"/>
            <a:chOff x="1549" y="2400"/>
            <a:chExt cx="548" cy="480"/>
          </a:xfrm>
        </p:grpSpPr>
        <p:sp>
          <p:nvSpPr>
            <p:cNvPr id="441" name="Google Shape;441;p15"/>
            <p:cNvSpPr/>
            <p:nvPr/>
          </p:nvSpPr>
          <p:spPr>
            <a:xfrm>
              <a:off x="1578" y="2400"/>
              <a:ext cx="490"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000"/>
                <a:buFont typeface="Noto Sans Symbols"/>
                <a:buNone/>
              </a:pPr>
              <a:r>
                <a:rPr lang="en-US" sz="1000">
                  <a:solidFill>
                    <a:schemeClr val="dk1"/>
                  </a:solidFill>
                  <a:latin typeface="Times New Roman"/>
                  <a:ea typeface="Times New Roman"/>
                  <a:cs typeface="Times New Roman"/>
                  <a:sym typeface="Times New Roman"/>
                </a:rPr>
                <a:t>Joyce</a:t>
              </a:r>
              <a:endParaRPr/>
            </a:p>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sp>
          <p:nvSpPr>
            <p:cNvPr id="442" name="Google Shape;442;p15"/>
            <p:cNvSpPr/>
            <p:nvPr/>
          </p:nvSpPr>
          <p:spPr>
            <a:xfrm>
              <a:off x="1549" y="2400"/>
              <a:ext cx="548"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443" name="Google Shape;443;p15"/>
          <p:cNvGrpSpPr/>
          <p:nvPr/>
        </p:nvGrpSpPr>
        <p:grpSpPr>
          <a:xfrm>
            <a:off x="9262576" y="5524500"/>
            <a:ext cx="1087437" cy="381000"/>
            <a:chOff x="2097" y="2400"/>
            <a:chExt cx="598" cy="480"/>
          </a:xfrm>
        </p:grpSpPr>
        <p:sp>
          <p:nvSpPr>
            <p:cNvPr id="444" name="Google Shape;444;p15"/>
            <p:cNvSpPr/>
            <p:nvPr/>
          </p:nvSpPr>
          <p:spPr>
            <a:xfrm>
              <a:off x="2126" y="2400"/>
              <a:ext cx="540"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000"/>
                <a:buFont typeface="Noto Sans Symbols"/>
                <a:buNone/>
              </a:pPr>
              <a:r>
                <a:rPr lang="en-US" sz="1000">
                  <a:solidFill>
                    <a:schemeClr val="dk1"/>
                  </a:solidFill>
                  <a:latin typeface="Times New Roman"/>
                  <a:ea typeface="Times New Roman"/>
                  <a:cs typeface="Times New Roman"/>
                  <a:sym typeface="Times New Roman"/>
                </a:rPr>
                <a:t>666-666-6666</a:t>
              </a:r>
              <a:endParaRPr/>
            </a:p>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sp>
          <p:nvSpPr>
            <p:cNvPr id="445" name="Google Shape;445;p15"/>
            <p:cNvSpPr/>
            <p:nvPr/>
          </p:nvSpPr>
          <p:spPr>
            <a:xfrm>
              <a:off x="2097" y="2400"/>
              <a:ext cx="598"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446" name="Google Shape;446;p15"/>
          <p:cNvGrpSpPr/>
          <p:nvPr/>
        </p:nvGrpSpPr>
        <p:grpSpPr>
          <a:xfrm>
            <a:off x="7284551" y="5905500"/>
            <a:ext cx="1063625" cy="381000"/>
            <a:chOff x="0" y="2880"/>
            <a:chExt cx="627" cy="480"/>
          </a:xfrm>
        </p:grpSpPr>
        <p:sp>
          <p:nvSpPr>
            <p:cNvPr id="447" name="Google Shape;447;p15"/>
            <p:cNvSpPr/>
            <p:nvPr/>
          </p:nvSpPr>
          <p:spPr>
            <a:xfrm>
              <a:off x="29" y="2880"/>
              <a:ext cx="569"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000"/>
                <a:buFont typeface="Noto Sans Symbols"/>
                <a:buNone/>
              </a:pPr>
              <a:r>
                <a:rPr lang="en-US" sz="1000">
                  <a:solidFill>
                    <a:schemeClr val="dk1"/>
                  </a:solidFill>
                  <a:latin typeface="Times New Roman"/>
                  <a:ea typeface="Times New Roman"/>
                  <a:cs typeface="Times New Roman"/>
                  <a:sym typeface="Times New Roman"/>
                </a:rPr>
                <a:t>1-22-233700-0</a:t>
              </a:r>
              <a:endParaRPr/>
            </a:p>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sp>
          <p:nvSpPr>
            <p:cNvPr id="448" name="Google Shape;448;p15"/>
            <p:cNvSpPr/>
            <p:nvPr/>
          </p:nvSpPr>
          <p:spPr>
            <a:xfrm>
              <a:off x="0" y="2880"/>
              <a:ext cx="627"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449" name="Google Shape;449;p15"/>
          <p:cNvGrpSpPr/>
          <p:nvPr/>
        </p:nvGrpSpPr>
        <p:grpSpPr>
          <a:xfrm>
            <a:off x="8351351" y="5905500"/>
            <a:ext cx="911225" cy="381000"/>
            <a:chOff x="1549" y="2880"/>
            <a:chExt cx="548" cy="480"/>
          </a:xfrm>
        </p:grpSpPr>
        <p:sp>
          <p:nvSpPr>
            <p:cNvPr id="450" name="Google Shape;450;p15"/>
            <p:cNvSpPr/>
            <p:nvPr/>
          </p:nvSpPr>
          <p:spPr>
            <a:xfrm>
              <a:off x="1578" y="2880"/>
              <a:ext cx="490"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000"/>
                <a:buFont typeface="Noto Sans Symbols"/>
                <a:buNone/>
              </a:pPr>
              <a:r>
                <a:rPr lang="en-US" sz="1000">
                  <a:solidFill>
                    <a:schemeClr val="dk1"/>
                  </a:solidFill>
                  <a:latin typeface="Times New Roman"/>
                  <a:ea typeface="Times New Roman"/>
                  <a:cs typeface="Times New Roman"/>
                  <a:sym typeface="Times New Roman"/>
                </a:rPr>
                <a:t>Roman</a:t>
              </a:r>
              <a:endParaRPr/>
            </a:p>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sp>
          <p:nvSpPr>
            <p:cNvPr id="451" name="Google Shape;451;p15"/>
            <p:cNvSpPr/>
            <p:nvPr/>
          </p:nvSpPr>
          <p:spPr>
            <a:xfrm>
              <a:off x="1549" y="2880"/>
              <a:ext cx="548"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452" name="Google Shape;452;p15"/>
          <p:cNvGrpSpPr/>
          <p:nvPr/>
        </p:nvGrpSpPr>
        <p:grpSpPr>
          <a:xfrm>
            <a:off x="9262576" y="5905500"/>
            <a:ext cx="1087437" cy="381000"/>
            <a:chOff x="2097" y="2880"/>
            <a:chExt cx="598" cy="480"/>
          </a:xfrm>
        </p:grpSpPr>
        <p:sp>
          <p:nvSpPr>
            <p:cNvPr id="453" name="Google Shape;453;p15"/>
            <p:cNvSpPr/>
            <p:nvPr/>
          </p:nvSpPr>
          <p:spPr>
            <a:xfrm>
              <a:off x="2126" y="2880"/>
              <a:ext cx="540"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000"/>
                <a:buFont typeface="Noto Sans Symbols"/>
                <a:buNone/>
              </a:pPr>
              <a:r>
                <a:rPr lang="en-US" sz="1000">
                  <a:solidFill>
                    <a:schemeClr val="dk1"/>
                  </a:solidFill>
                  <a:latin typeface="Times New Roman"/>
                  <a:ea typeface="Times New Roman"/>
                  <a:cs typeface="Times New Roman"/>
                  <a:sym typeface="Times New Roman"/>
                </a:rPr>
                <a:t>444-444-4444</a:t>
              </a:r>
              <a:endParaRPr/>
            </a:p>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sp>
          <p:nvSpPr>
            <p:cNvPr id="454" name="Google Shape;454;p15"/>
            <p:cNvSpPr/>
            <p:nvPr/>
          </p:nvSpPr>
          <p:spPr>
            <a:xfrm>
              <a:off x="2097" y="2880"/>
              <a:ext cx="598"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455" name="Google Shape;455;p15"/>
          <p:cNvGrpSpPr/>
          <p:nvPr/>
        </p:nvGrpSpPr>
        <p:grpSpPr>
          <a:xfrm>
            <a:off x="7284551" y="5143500"/>
            <a:ext cx="1063625" cy="381000"/>
            <a:chOff x="0" y="1440"/>
            <a:chExt cx="627" cy="480"/>
          </a:xfrm>
        </p:grpSpPr>
        <p:sp>
          <p:nvSpPr>
            <p:cNvPr id="456" name="Google Shape;456;p15"/>
            <p:cNvSpPr/>
            <p:nvPr/>
          </p:nvSpPr>
          <p:spPr>
            <a:xfrm>
              <a:off x="29" y="1440"/>
              <a:ext cx="569"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000"/>
                <a:buFont typeface="Noto Sans Symbols"/>
                <a:buNone/>
              </a:pPr>
              <a:r>
                <a:rPr lang="en-US" sz="1000">
                  <a:solidFill>
                    <a:schemeClr val="dk1"/>
                  </a:solidFill>
                  <a:latin typeface="Times New Roman"/>
                  <a:ea typeface="Times New Roman"/>
                  <a:cs typeface="Times New Roman"/>
                  <a:sym typeface="Times New Roman"/>
                </a:rPr>
                <a:t>0-55-123456-9</a:t>
              </a:r>
              <a:endParaRPr/>
            </a:p>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sp>
          <p:nvSpPr>
            <p:cNvPr id="457" name="Google Shape;457;p15"/>
            <p:cNvSpPr/>
            <p:nvPr/>
          </p:nvSpPr>
          <p:spPr>
            <a:xfrm>
              <a:off x="0" y="1440"/>
              <a:ext cx="627"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458" name="Google Shape;458;p15"/>
          <p:cNvGrpSpPr/>
          <p:nvPr/>
        </p:nvGrpSpPr>
        <p:grpSpPr>
          <a:xfrm>
            <a:off x="8351351" y="5143500"/>
            <a:ext cx="911225" cy="381000"/>
            <a:chOff x="1549" y="1440"/>
            <a:chExt cx="548" cy="480"/>
          </a:xfrm>
        </p:grpSpPr>
        <p:sp>
          <p:nvSpPr>
            <p:cNvPr id="459" name="Google Shape;459;p15"/>
            <p:cNvSpPr/>
            <p:nvPr/>
          </p:nvSpPr>
          <p:spPr>
            <a:xfrm>
              <a:off x="1578" y="1440"/>
              <a:ext cx="490"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000"/>
                <a:buFont typeface="Noto Sans Symbols"/>
                <a:buNone/>
              </a:pPr>
              <a:r>
                <a:rPr lang="en-US" sz="1000">
                  <a:solidFill>
                    <a:schemeClr val="dk1"/>
                  </a:solidFill>
                  <a:latin typeface="Times New Roman"/>
                  <a:ea typeface="Times New Roman"/>
                  <a:cs typeface="Times New Roman"/>
                  <a:sym typeface="Times New Roman"/>
                </a:rPr>
                <a:t>Smith</a:t>
              </a:r>
              <a:endParaRPr/>
            </a:p>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sp>
          <p:nvSpPr>
            <p:cNvPr id="460" name="Google Shape;460;p15"/>
            <p:cNvSpPr/>
            <p:nvPr/>
          </p:nvSpPr>
          <p:spPr>
            <a:xfrm>
              <a:off x="1549" y="1440"/>
              <a:ext cx="548"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461" name="Google Shape;461;p15"/>
          <p:cNvGrpSpPr/>
          <p:nvPr/>
        </p:nvGrpSpPr>
        <p:grpSpPr>
          <a:xfrm>
            <a:off x="9262576" y="5143500"/>
            <a:ext cx="1087437" cy="381000"/>
            <a:chOff x="2097" y="1440"/>
            <a:chExt cx="598" cy="480"/>
          </a:xfrm>
        </p:grpSpPr>
        <p:sp>
          <p:nvSpPr>
            <p:cNvPr id="462" name="Google Shape;462;p15"/>
            <p:cNvSpPr/>
            <p:nvPr/>
          </p:nvSpPr>
          <p:spPr>
            <a:xfrm>
              <a:off x="2126" y="1440"/>
              <a:ext cx="540"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000"/>
                <a:buFont typeface="Noto Sans Symbols"/>
                <a:buNone/>
              </a:pPr>
              <a:r>
                <a:rPr lang="en-US" sz="1000">
                  <a:solidFill>
                    <a:schemeClr val="dk1"/>
                  </a:solidFill>
                  <a:latin typeface="Times New Roman"/>
                  <a:ea typeface="Times New Roman"/>
                  <a:cs typeface="Times New Roman"/>
                  <a:sym typeface="Times New Roman"/>
                </a:rPr>
                <a:t>654-223-3455</a:t>
              </a:r>
              <a:endParaRPr/>
            </a:p>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sp>
          <p:nvSpPr>
            <p:cNvPr id="463" name="Google Shape;463;p15"/>
            <p:cNvSpPr/>
            <p:nvPr/>
          </p:nvSpPr>
          <p:spPr>
            <a:xfrm>
              <a:off x="2097" y="1440"/>
              <a:ext cx="598"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464" name="Google Shape;464;p15"/>
          <p:cNvGrpSpPr/>
          <p:nvPr/>
        </p:nvGrpSpPr>
        <p:grpSpPr>
          <a:xfrm>
            <a:off x="7282963" y="4762500"/>
            <a:ext cx="1063625" cy="381000"/>
            <a:chOff x="0" y="1440"/>
            <a:chExt cx="627" cy="480"/>
          </a:xfrm>
        </p:grpSpPr>
        <p:sp>
          <p:nvSpPr>
            <p:cNvPr id="465" name="Google Shape;465;p15"/>
            <p:cNvSpPr/>
            <p:nvPr/>
          </p:nvSpPr>
          <p:spPr>
            <a:xfrm>
              <a:off x="29" y="1440"/>
              <a:ext cx="569"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000"/>
                <a:buFont typeface="Noto Sans Symbols"/>
                <a:buNone/>
              </a:pPr>
              <a:r>
                <a:rPr lang="en-US" sz="1000">
                  <a:solidFill>
                    <a:schemeClr val="dk1"/>
                  </a:solidFill>
                  <a:latin typeface="Times New Roman"/>
                  <a:ea typeface="Times New Roman"/>
                  <a:cs typeface="Times New Roman"/>
                  <a:sym typeface="Times New Roman"/>
                </a:rPr>
                <a:t>0-55-123456-9</a:t>
              </a:r>
              <a:endParaRPr/>
            </a:p>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sp>
          <p:nvSpPr>
            <p:cNvPr id="466" name="Google Shape;466;p15"/>
            <p:cNvSpPr/>
            <p:nvPr/>
          </p:nvSpPr>
          <p:spPr>
            <a:xfrm>
              <a:off x="0" y="1440"/>
              <a:ext cx="627"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467" name="Google Shape;467;p15"/>
          <p:cNvGrpSpPr/>
          <p:nvPr/>
        </p:nvGrpSpPr>
        <p:grpSpPr>
          <a:xfrm>
            <a:off x="8349763" y="4762500"/>
            <a:ext cx="911225" cy="381000"/>
            <a:chOff x="1549" y="1440"/>
            <a:chExt cx="548" cy="480"/>
          </a:xfrm>
        </p:grpSpPr>
        <p:sp>
          <p:nvSpPr>
            <p:cNvPr id="468" name="Google Shape;468;p15"/>
            <p:cNvSpPr/>
            <p:nvPr/>
          </p:nvSpPr>
          <p:spPr>
            <a:xfrm>
              <a:off x="1578" y="1440"/>
              <a:ext cx="490"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000"/>
                <a:buFont typeface="Noto Sans Symbols"/>
                <a:buNone/>
              </a:pPr>
              <a:r>
                <a:rPr lang="en-US" sz="1000">
                  <a:solidFill>
                    <a:schemeClr val="dk1"/>
                  </a:solidFill>
                  <a:latin typeface="Times New Roman"/>
                  <a:ea typeface="Times New Roman"/>
                  <a:cs typeface="Times New Roman"/>
                  <a:sym typeface="Times New Roman"/>
                </a:rPr>
                <a:t>Jones</a:t>
              </a:r>
              <a:endParaRPr/>
            </a:p>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sp>
          <p:nvSpPr>
            <p:cNvPr id="469" name="Google Shape;469;p15"/>
            <p:cNvSpPr/>
            <p:nvPr/>
          </p:nvSpPr>
          <p:spPr>
            <a:xfrm>
              <a:off x="1549" y="1440"/>
              <a:ext cx="548"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470" name="Google Shape;470;p15"/>
          <p:cNvGrpSpPr/>
          <p:nvPr/>
        </p:nvGrpSpPr>
        <p:grpSpPr>
          <a:xfrm>
            <a:off x="9260987" y="4762500"/>
            <a:ext cx="1087438" cy="381000"/>
            <a:chOff x="2097" y="1440"/>
            <a:chExt cx="598" cy="480"/>
          </a:xfrm>
        </p:grpSpPr>
        <p:sp>
          <p:nvSpPr>
            <p:cNvPr id="471" name="Google Shape;471;p15"/>
            <p:cNvSpPr/>
            <p:nvPr/>
          </p:nvSpPr>
          <p:spPr>
            <a:xfrm>
              <a:off x="2126" y="1440"/>
              <a:ext cx="540"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000"/>
                <a:buFont typeface="Noto Sans Symbols"/>
                <a:buNone/>
              </a:pPr>
              <a:r>
                <a:rPr lang="en-US" sz="1000">
                  <a:solidFill>
                    <a:schemeClr val="dk1"/>
                  </a:solidFill>
                  <a:latin typeface="Times New Roman"/>
                  <a:ea typeface="Times New Roman"/>
                  <a:cs typeface="Times New Roman"/>
                  <a:sym typeface="Times New Roman"/>
                </a:rPr>
                <a:t>123-333-3333</a:t>
              </a:r>
              <a:endParaRPr sz="2400">
                <a:solidFill>
                  <a:schemeClr val="dk1"/>
                </a:solidFill>
                <a:latin typeface="Times New Roman"/>
                <a:ea typeface="Times New Roman"/>
                <a:cs typeface="Times New Roman"/>
                <a:sym typeface="Times New Roman"/>
              </a:endParaRPr>
            </a:p>
          </p:txBody>
        </p:sp>
        <p:sp>
          <p:nvSpPr>
            <p:cNvPr id="472" name="Google Shape;472;p15"/>
            <p:cNvSpPr/>
            <p:nvPr/>
          </p:nvSpPr>
          <p:spPr>
            <a:xfrm>
              <a:off x="2097" y="1440"/>
              <a:ext cx="598"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473" name="Google Shape;473;p15"/>
          <p:cNvGrpSpPr/>
          <p:nvPr/>
        </p:nvGrpSpPr>
        <p:grpSpPr>
          <a:xfrm>
            <a:off x="7284551" y="4381500"/>
            <a:ext cx="1063625" cy="381000"/>
            <a:chOff x="0" y="0"/>
            <a:chExt cx="627" cy="480"/>
          </a:xfrm>
        </p:grpSpPr>
        <p:sp>
          <p:nvSpPr>
            <p:cNvPr id="474" name="Google Shape;474;p15"/>
            <p:cNvSpPr/>
            <p:nvPr/>
          </p:nvSpPr>
          <p:spPr>
            <a:xfrm>
              <a:off x="29" y="0"/>
              <a:ext cx="569"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000"/>
                <a:buFont typeface="Noto Sans Symbols"/>
                <a:buNone/>
              </a:pPr>
              <a:r>
                <a:rPr lang="en-US" sz="1000">
                  <a:solidFill>
                    <a:schemeClr val="dk1"/>
                  </a:solidFill>
                  <a:latin typeface="Times New Roman"/>
                  <a:ea typeface="Times New Roman"/>
                  <a:cs typeface="Times New Roman"/>
                  <a:sym typeface="Times New Roman"/>
                </a:rPr>
                <a:t>0-321-32132-1</a:t>
              </a:r>
              <a:endParaRPr/>
            </a:p>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sp>
          <p:nvSpPr>
            <p:cNvPr id="475" name="Google Shape;475;p15"/>
            <p:cNvSpPr/>
            <p:nvPr/>
          </p:nvSpPr>
          <p:spPr>
            <a:xfrm>
              <a:off x="0" y="0"/>
              <a:ext cx="627"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476" name="Google Shape;476;p15"/>
          <p:cNvGrpSpPr/>
          <p:nvPr/>
        </p:nvGrpSpPr>
        <p:grpSpPr>
          <a:xfrm>
            <a:off x="8351351" y="4381500"/>
            <a:ext cx="911225" cy="381000"/>
            <a:chOff x="1549" y="0"/>
            <a:chExt cx="548" cy="480"/>
          </a:xfrm>
        </p:grpSpPr>
        <p:sp>
          <p:nvSpPr>
            <p:cNvPr id="477" name="Google Shape;477;p15"/>
            <p:cNvSpPr/>
            <p:nvPr/>
          </p:nvSpPr>
          <p:spPr>
            <a:xfrm>
              <a:off x="1578" y="0"/>
              <a:ext cx="490"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000"/>
                <a:buFont typeface="Noto Sans Symbols"/>
                <a:buNone/>
              </a:pPr>
              <a:r>
                <a:rPr lang="en-US" sz="1000">
                  <a:solidFill>
                    <a:schemeClr val="dk1"/>
                  </a:solidFill>
                  <a:latin typeface="Times New Roman"/>
                  <a:ea typeface="Times New Roman"/>
                  <a:cs typeface="Times New Roman"/>
                  <a:sym typeface="Times New Roman"/>
                </a:rPr>
                <a:t>Grumpy</a:t>
              </a:r>
              <a:endParaRPr sz="2400">
                <a:solidFill>
                  <a:schemeClr val="dk1"/>
                </a:solidFill>
                <a:latin typeface="Times New Roman"/>
                <a:ea typeface="Times New Roman"/>
                <a:cs typeface="Times New Roman"/>
                <a:sym typeface="Times New Roman"/>
              </a:endParaRPr>
            </a:p>
          </p:txBody>
        </p:sp>
        <p:sp>
          <p:nvSpPr>
            <p:cNvPr id="478" name="Google Shape;478;p15"/>
            <p:cNvSpPr/>
            <p:nvPr/>
          </p:nvSpPr>
          <p:spPr>
            <a:xfrm>
              <a:off x="1549" y="0"/>
              <a:ext cx="548"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479" name="Google Shape;479;p15"/>
          <p:cNvGrpSpPr/>
          <p:nvPr/>
        </p:nvGrpSpPr>
        <p:grpSpPr>
          <a:xfrm>
            <a:off x="9262576" y="4381500"/>
            <a:ext cx="1087437" cy="381000"/>
            <a:chOff x="2097" y="0"/>
            <a:chExt cx="598" cy="480"/>
          </a:xfrm>
        </p:grpSpPr>
        <p:sp>
          <p:nvSpPr>
            <p:cNvPr id="480" name="Google Shape;480;p15"/>
            <p:cNvSpPr/>
            <p:nvPr/>
          </p:nvSpPr>
          <p:spPr>
            <a:xfrm>
              <a:off x="2126" y="0"/>
              <a:ext cx="540"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000"/>
                <a:buFont typeface="Noto Sans Symbols"/>
                <a:buNone/>
              </a:pPr>
              <a:r>
                <a:rPr lang="en-US" sz="1000">
                  <a:solidFill>
                    <a:schemeClr val="dk1"/>
                  </a:solidFill>
                  <a:latin typeface="Times New Roman"/>
                  <a:ea typeface="Times New Roman"/>
                  <a:cs typeface="Times New Roman"/>
                  <a:sym typeface="Times New Roman"/>
                </a:rPr>
                <a:t>665-235-6532</a:t>
              </a:r>
              <a:endParaRPr/>
            </a:p>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sp>
          <p:nvSpPr>
            <p:cNvPr id="481" name="Google Shape;481;p15"/>
            <p:cNvSpPr/>
            <p:nvPr/>
          </p:nvSpPr>
          <p:spPr>
            <a:xfrm>
              <a:off x="2097" y="0"/>
              <a:ext cx="598"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482" name="Google Shape;482;p15"/>
          <p:cNvGrpSpPr/>
          <p:nvPr/>
        </p:nvGrpSpPr>
        <p:grpSpPr>
          <a:xfrm>
            <a:off x="7284551" y="4000500"/>
            <a:ext cx="1063625" cy="381000"/>
            <a:chOff x="0" y="0"/>
            <a:chExt cx="627" cy="480"/>
          </a:xfrm>
        </p:grpSpPr>
        <p:sp>
          <p:nvSpPr>
            <p:cNvPr id="483" name="Google Shape;483;p15"/>
            <p:cNvSpPr/>
            <p:nvPr/>
          </p:nvSpPr>
          <p:spPr>
            <a:xfrm>
              <a:off x="29" y="0"/>
              <a:ext cx="569"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000"/>
                <a:buFont typeface="Noto Sans Symbols"/>
                <a:buNone/>
              </a:pPr>
              <a:r>
                <a:rPr lang="en-US" sz="1000">
                  <a:solidFill>
                    <a:schemeClr val="dk1"/>
                  </a:solidFill>
                  <a:latin typeface="Times New Roman"/>
                  <a:ea typeface="Times New Roman"/>
                  <a:cs typeface="Times New Roman"/>
                  <a:sym typeface="Times New Roman"/>
                </a:rPr>
                <a:t>0-321-32132-1</a:t>
              </a:r>
              <a:endParaRPr/>
            </a:p>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sp>
          <p:nvSpPr>
            <p:cNvPr id="484" name="Google Shape;484;p15"/>
            <p:cNvSpPr/>
            <p:nvPr/>
          </p:nvSpPr>
          <p:spPr>
            <a:xfrm>
              <a:off x="0" y="0"/>
              <a:ext cx="627"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485" name="Google Shape;485;p15"/>
          <p:cNvGrpSpPr/>
          <p:nvPr/>
        </p:nvGrpSpPr>
        <p:grpSpPr>
          <a:xfrm>
            <a:off x="8351351" y="4000500"/>
            <a:ext cx="911225" cy="381000"/>
            <a:chOff x="1549" y="0"/>
            <a:chExt cx="548" cy="480"/>
          </a:xfrm>
        </p:grpSpPr>
        <p:sp>
          <p:nvSpPr>
            <p:cNvPr id="486" name="Google Shape;486;p15"/>
            <p:cNvSpPr/>
            <p:nvPr/>
          </p:nvSpPr>
          <p:spPr>
            <a:xfrm>
              <a:off x="1578" y="0"/>
              <a:ext cx="490"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000"/>
                <a:buFont typeface="Noto Sans Symbols"/>
                <a:buNone/>
              </a:pPr>
              <a:r>
                <a:rPr lang="en-US" sz="1000">
                  <a:solidFill>
                    <a:schemeClr val="dk1"/>
                  </a:solidFill>
                  <a:latin typeface="Times New Roman"/>
                  <a:ea typeface="Times New Roman"/>
                  <a:cs typeface="Times New Roman"/>
                  <a:sym typeface="Times New Roman"/>
                </a:rPr>
                <a:t>Snoopy</a:t>
              </a:r>
              <a:endParaRPr sz="2400">
                <a:solidFill>
                  <a:schemeClr val="dk1"/>
                </a:solidFill>
                <a:latin typeface="Times New Roman"/>
                <a:ea typeface="Times New Roman"/>
                <a:cs typeface="Times New Roman"/>
                <a:sym typeface="Times New Roman"/>
              </a:endParaRPr>
            </a:p>
          </p:txBody>
        </p:sp>
        <p:sp>
          <p:nvSpPr>
            <p:cNvPr id="487" name="Google Shape;487;p15"/>
            <p:cNvSpPr/>
            <p:nvPr/>
          </p:nvSpPr>
          <p:spPr>
            <a:xfrm>
              <a:off x="1549" y="0"/>
              <a:ext cx="548"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488" name="Google Shape;488;p15"/>
          <p:cNvGrpSpPr/>
          <p:nvPr/>
        </p:nvGrpSpPr>
        <p:grpSpPr>
          <a:xfrm>
            <a:off x="9262576" y="4000500"/>
            <a:ext cx="1087437" cy="381000"/>
            <a:chOff x="2097" y="0"/>
            <a:chExt cx="598" cy="480"/>
          </a:xfrm>
        </p:grpSpPr>
        <p:sp>
          <p:nvSpPr>
            <p:cNvPr id="489" name="Google Shape;489;p15"/>
            <p:cNvSpPr/>
            <p:nvPr/>
          </p:nvSpPr>
          <p:spPr>
            <a:xfrm>
              <a:off x="2126" y="0"/>
              <a:ext cx="540"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000"/>
                <a:buFont typeface="Noto Sans Symbols"/>
                <a:buNone/>
              </a:pPr>
              <a:r>
                <a:rPr lang="en-US" sz="1000">
                  <a:solidFill>
                    <a:schemeClr val="dk1"/>
                  </a:solidFill>
                  <a:latin typeface="Times New Roman"/>
                  <a:ea typeface="Times New Roman"/>
                  <a:cs typeface="Times New Roman"/>
                  <a:sym typeface="Times New Roman"/>
                </a:rPr>
                <a:t>232-234-1234</a:t>
              </a:r>
              <a:endParaRPr sz="2400">
                <a:solidFill>
                  <a:schemeClr val="dk1"/>
                </a:solidFill>
                <a:latin typeface="Times New Roman"/>
                <a:ea typeface="Times New Roman"/>
                <a:cs typeface="Times New Roman"/>
                <a:sym typeface="Times New Roman"/>
              </a:endParaRPr>
            </a:p>
          </p:txBody>
        </p:sp>
        <p:sp>
          <p:nvSpPr>
            <p:cNvPr id="490" name="Google Shape;490;p15"/>
            <p:cNvSpPr/>
            <p:nvPr/>
          </p:nvSpPr>
          <p:spPr>
            <a:xfrm>
              <a:off x="2097" y="0"/>
              <a:ext cx="598"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491" name="Google Shape;491;p15"/>
          <p:cNvGrpSpPr/>
          <p:nvPr/>
        </p:nvGrpSpPr>
        <p:grpSpPr>
          <a:xfrm>
            <a:off x="7282963" y="3619500"/>
            <a:ext cx="1063625" cy="381000"/>
            <a:chOff x="0" y="0"/>
            <a:chExt cx="627" cy="480"/>
          </a:xfrm>
        </p:grpSpPr>
        <p:sp>
          <p:nvSpPr>
            <p:cNvPr id="492" name="Google Shape;492;p15"/>
            <p:cNvSpPr/>
            <p:nvPr/>
          </p:nvSpPr>
          <p:spPr>
            <a:xfrm>
              <a:off x="29" y="0"/>
              <a:ext cx="569"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000"/>
                <a:buFont typeface="Noto Sans Symbols"/>
                <a:buNone/>
              </a:pPr>
              <a:r>
                <a:rPr lang="en-US" sz="1000">
                  <a:solidFill>
                    <a:schemeClr val="dk1"/>
                  </a:solidFill>
                  <a:latin typeface="Times New Roman"/>
                  <a:ea typeface="Times New Roman"/>
                  <a:cs typeface="Times New Roman"/>
                  <a:sym typeface="Times New Roman"/>
                </a:rPr>
                <a:t>0-321-32132-1</a:t>
              </a:r>
              <a:endParaRPr/>
            </a:p>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sp>
          <p:nvSpPr>
            <p:cNvPr id="493" name="Google Shape;493;p15"/>
            <p:cNvSpPr/>
            <p:nvPr/>
          </p:nvSpPr>
          <p:spPr>
            <a:xfrm>
              <a:off x="0" y="0"/>
              <a:ext cx="627"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494" name="Google Shape;494;p15"/>
          <p:cNvGrpSpPr/>
          <p:nvPr/>
        </p:nvGrpSpPr>
        <p:grpSpPr>
          <a:xfrm>
            <a:off x="8349763" y="3619500"/>
            <a:ext cx="911225" cy="381000"/>
            <a:chOff x="1549" y="0"/>
            <a:chExt cx="548" cy="480"/>
          </a:xfrm>
        </p:grpSpPr>
        <p:sp>
          <p:nvSpPr>
            <p:cNvPr id="495" name="Google Shape;495;p15"/>
            <p:cNvSpPr/>
            <p:nvPr/>
          </p:nvSpPr>
          <p:spPr>
            <a:xfrm>
              <a:off x="1578" y="0"/>
              <a:ext cx="490"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000"/>
                <a:buFont typeface="Noto Sans Symbols"/>
                <a:buNone/>
              </a:pPr>
              <a:r>
                <a:rPr lang="en-US" sz="1000">
                  <a:solidFill>
                    <a:schemeClr val="dk1"/>
                  </a:solidFill>
                  <a:latin typeface="Times New Roman"/>
                  <a:ea typeface="Times New Roman"/>
                  <a:cs typeface="Times New Roman"/>
                  <a:sym typeface="Times New Roman"/>
                </a:rPr>
                <a:t>Sleepy</a:t>
              </a:r>
              <a:endParaRPr sz="2400">
                <a:solidFill>
                  <a:schemeClr val="dk1"/>
                </a:solidFill>
                <a:latin typeface="Times New Roman"/>
                <a:ea typeface="Times New Roman"/>
                <a:cs typeface="Times New Roman"/>
                <a:sym typeface="Times New Roman"/>
              </a:endParaRPr>
            </a:p>
          </p:txBody>
        </p:sp>
        <p:sp>
          <p:nvSpPr>
            <p:cNvPr id="496" name="Google Shape;496;p15"/>
            <p:cNvSpPr/>
            <p:nvPr/>
          </p:nvSpPr>
          <p:spPr>
            <a:xfrm>
              <a:off x="1549" y="0"/>
              <a:ext cx="548"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grpSp>
        <p:nvGrpSpPr>
          <p:cNvPr id="497" name="Google Shape;497;p15"/>
          <p:cNvGrpSpPr/>
          <p:nvPr/>
        </p:nvGrpSpPr>
        <p:grpSpPr>
          <a:xfrm>
            <a:off x="9260987" y="3619500"/>
            <a:ext cx="1087438" cy="381000"/>
            <a:chOff x="2097" y="0"/>
            <a:chExt cx="598" cy="480"/>
          </a:xfrm>
        </p:grpSpPr>
        <p:sp>
          <p:nvSpPr>
            <p:cNvPr id="498" name="Google Shape;498;p15"/>
            <p:cNvSpPr/>
            <p:nvPr/>
          </p:nvSpPr>
          <p:spPr>
            <a:xfrm>
              <a:off x="2126" y="0"/>
              <a:ext cx="540" cy="4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000"/>
                <a:buFont typeface="Noto Sans Symbols"/>
                <a:buNone/>
              </a:pPr>
              <a:r>
                <a:rPr lang="en-US" sz="1000">
                  <a:solidFill>
                    <a:schemeClr val="dk1"/>
                  </a:solidFill>
                  <a:latin typeface="Times New Roman"/>
                  <a:ea typeface="Times New Roman"/>
                  <a:cs typeface="Times New Roman"/>
                  <a:sym typeface="Times New Roman"/>
                </a:rPr>
                <a:t>321-321-1111</a:t>
              </a:r>
              <a:endParaRPr sz="2400">
                <a:solidFill>
                  <a:schemeClr val="dk1"/>
                </a:solidFill>
                <a:latin typeface="Times New Roman"/>
                <a:ea typeface="Times New Roman"/>
                <a:cs typeface="Times New Roman"/>
                <a:sym typeface="Times New Roman"/>
              </a:endParaRPr>
            </a:p>
          </p:txBody>
        </p:sp>
        <p:sp>
          <p:nvSpPr>
            <p:cNvPr id="499" name="Google Shape;499;p15"/>
            <p:cNvSpPr/>
            <p:nvPr/>
          </p:nvSpPr>
          <p:spPr>
            <a:xfrm>
              <a:off x="2097" y="0"/>
              <a:ext cx="598" cy="480"/>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04"/>
        <p:cNvGrpSpPr/>
        <p:nvPr/>
      </p:nvGrpSpPr>
      <p:grpSpPr>
        <a:xfrm>
          <a:off x="0" y="0"/>
          <a:ext cx="0" cy="0"/>
          <a:chOff x="0" y="0"/>
          <a:chExt cx="0" cy="0"/>
        </a:xfrm>
      </p:grpSpPr>
      <p:sp>
        <p:nvSpPr>
          <p:cNvPr id="505" name="Google Shape;505;p16"/>
          <p:cNvSpPr txBox="1">
            <a:spLocks noGrp="1"/>
          </p:cNvSpPr>
          <p:nvPr>
            <p:ph type="body" idx="1"/>
          </p:nvPr>
        </p:nvSpPr>
        <p:spPr>
          <a:xfrm>
            <a:off x="1828800" y="1846384"/>
            <a:ext cx="8610600" cy="4402015"/>
          </a:xfrm>
          <a:prstGeom prst="rect">
            <a:avLst/>
          </a:prstGeom>
          <a:noFill/>
          <a:ln>
            <a:noFill/>
          </a:ln>
        </p:spPr>
        <p:txBody>
          <a:bodyPr spcFirstLastPara="1" wrap="square" lIns="0" tIns="45700" rIns="0" bIns="45700" anchor="t" anchorCtr="0">
            <a:normAutofit fontScale="92500" lnSpcReduction="20000"/>
          </a:bodyPr>
          <a:lstStyle/>
          <a:p>
            <a:pPr marL="609600" lvl="0" indent="-609600" algn="just" rtl="0">
              <a:lnSpc>
                <a:spcPct val="90000"/>
              </a:lnSpc>
              <a:spcBef>
                <a:spcPts val="0"/>
              </a:spcBef>
              <a:spcAft>
                <a:spcPts val="0"/>
              </a:spcAft>
              <a:buSzPct val="100000"/>
              <a:buNone/>
            </a:pPr>
            <a:r>
              <a:rPr lang="en-US" dirty="0"/>
              <a:t>For a table to be in 2NF, there are two requirements</a:t>
            </a:r>
            <a:endParaRPr dirty="0"/>
          </a:p>
          <a:p>
            <a:pPr marL="1100138" lvl="1" indent="-533400" algn="just" rtl="0">
              <a:lnSpc>
                <a:spcPct val="90000"/>
              </a:lnSpc>
              <a:spcBef>
                <a:spcPts val="400"/>
              </a:spcBef>
              <a:spcAft>
                <a:spcPts val="0"/>
              </a:spcAft>
              <a:buSzPct val="100000"/>
              <a:buChar char="◦"/>
            </a:pPr>
            <a:r>
              <a:rPr lang="en-US" dirty="0"/>
              <a:t>The database is in first normal form </a:t>
            </a:r>
            <a:endParaRPr dirty="0"/>
          </a:p>
          <a:p>
            <a:pPr marL="1100138" lvl="1" indent="-533400" algn="just" rtl="0">
              <a:lnSpc>
                <a:spcPct val="90000"/>
              </a:lnSpc>
              <a:spcBef>
                <a:spcPts val="600"/>
              </a:spcBef>
              <a:spcAft>
                <a:spcPts val="0"/>
              </a:spcAft>
              <a:buSzPct val="100000"/>
              <a:buChar char="◦"/>
            </a:pPr>
            <a:r>
              <a:rPr lang="en-US" dirty="0"/>
              <a:t>All </a:t>
            </a:r>
            <a:r>
              <a:rPr lang="en-US" b="1" dirty="0" err="1"/>
              <a:t>nonkey</a:t>
            </a:r>
            <a:r>
              <a:rPr lang="en-US" dirty="0"/>
              <a:t> attributes in the table must be functionally dependent on the entire primary key / Every non-key attribute is fully dependent on each candidate key of the relation.</a:t>
            </a:r>
            <a:endParaRPr dirty="0"/>
          </a:p>
          <a:p>
            <a:pPr marL="1100138" lvl="1" indent="-533400" algn="just" rtl="0">
              <a:lnSpc>
                <a:spcPct val="90000"/>
              </a:lnSpc>
              <a:spcBef>
                <a:spcPts val="600"/>
              </a:spcBef>
              <a:spcAft>
                <a:spcPts val="0"/>
              </a:spcAft>
              <a:buSzPct val="100000"/>
              <a:buChar char="◦"/>
            </a:pPr>
            <a:r>
              <a:rPr lang="en-US" dirty="0"/>
              <a:t>It is not partially dependent on a candidate key.</a:t>
            </a:r>
            <a:endParaRPr dirty="0"/>
          </a:p>
          <a:p>
            <a:pPr marL="609600" lvl="0" indent="-609600" algn="just" rtl="0">
              <a:lnSpc>
                <a:spcPct val="90000"/>
              </a:lnSpc>
              <a:spcBef>
                <a:spcPts val="1600"/>
              </a:spcBef>
              <a:spcAft>
                <a:spcPts val="0"/>
              </a:spcAft>
              <a:buSzPct val="100000"/>
              <a:buNone/>
            </a:pPr>
            <a:r>
              <a:rPr lang="en-US" b="1" i="1" dirty="0"/>
              <a:t>Note:</a:t>
            </a:r>
            <a:r>
              <a:rPr lang="en-US" i="1" dirty="0"/>
              <a:t> Remember that we are dealing with non-key attributes</a:t>
            </a:r>
            <a:endParaRPr dirty="0"/>
          </a:p>
          <a:p>
            <a:pPr marL="609600" lvl="0" indent="-609600" algn="just" rtl="0">
              <a:lnSpc>
                <a:spcPct val="90000"/>
              </a:lnSpc>
              <a:spcBef>
                <a:spcPts val="1400"/>
              </a:spcBef>
              <a:spcAft>
                <a:spcPts val="0"/>
              </a:spcAft>
              <a:buSzPct val="100000"/>
              <a:buNone/>
            </a:pPr>
            <a:endParaRPr dirty="0"/>
          </a:p>
          <a:p>
            <a:pPr marL="609600" lvl="0" indent="-609600" algn="just" rtl="0">
              <a:lnSpc>
                <a:spcPct val="90000"/>
              </a:lnSpc>
              <a:spcBef>
                <a:spcPts val="1400"/>
              </a:spcBef>
              <a:spcAft>
                <a:spcPts val="0"/>
              </a:spcAft>
              <a:buSzPct val="100000"/>
              <a:buNone/>
            </a:pPr>
            <a:r>
              <a:rPr lang="en-US" b="1" dirty="0">
                <a:solidFill>
                  <a:srgbClr val="CC0000"/>
                </a:solidFill>
              </a:rPr>
              <a:t>Example 1 (Not 2NF) </a:t>
            </a:r>
            <a:endParaRPr dirty="0"/>
          </a:p>
          <a:p>
            <a:pPr marL="609600" lvl="0" indent="-609600" algn="just" rtl="0">
              <a:lnSpc>
                <a:spcPct val="90000"/>
              </a:lnSpc>
              <a:spcBef>
                <a:spcPts val="1400"/>
              </a:spcBef>
              <a:spcAft>
                <a:spcPts val="0"/>
              </a:spcAft>
              <a:buSzPct val="100000"/>
              <a:buNone/>
            </a:pPr>
            <a:r>
              <a:rPr lang="en-US" dirty="0"/>
              <a:t>Schema -&gt;{Title, </a:t>
            </a:r>
            <a:r>
              <a:rPr lang="en-US" dirty="0" err="1"/>
              <a:t>PubId</a:t>
            </a:r>
            <a:r>
              <a:rPr lang="en-US" dirty="0"/>
              <a:t>, </a:t>
            </a:r>
            <a:r>
              <a:rPr lang="en-US" dirty="0" err="1"/>
              <a:t>AuId</a:t>
            </a:r>
            <a:r>
              <a:rPr lang="en-US" dirty="0"/>
              <a:t>, Price, </a:t>
            </a:r>
            <a:r>
              <a:rPr lang="en-US" dirty="0" err="1"/>
              <a:t>AuAddress</a:t>
            </a:r>
            <a:r>
              <a:rPr lang="en-US" dirty="0"/>
              <a:t>}</a:t>
            </a:r>
            <a:endParaRPr dirty="0"/>
          </a:p>
          <a:p>
            <a:pPr marL="1100138" lvl="1" indent="-533400" algn="just" rtl="0">
              <a:lnSpc>
                <a:spcPct val="90000"/>
              </a:lnSpc>
              <a:spcBef>
                <a:spcPts val="400"/>
              </a:spcBef>
              <a:spcAft>
                <a:spcPts val="0"/>
              </a:spcAft>
              <a:buSzPct val="100000"/>
              <a:buFont typeface="Calibri"/>
              <a:buAutoNum type="arabicPeriod"/>
            </a:pPr>
            <a:r>
              <a:rPr lang="en-US" dirty="0"/>
              <a:t>Key -&gt;{Title, </a:t>
            </a:r>
            <a:r>
              <a:rPr lang="en-US" dirty="0" err="1"/>
              <a:t>PubId</a:t>
            </a:r>
            <a:r>
              <a:rPr lang="en-US" dirty="0"/>
              <a:t>, </a:t>
            </a:r>
            <a:r>
              <a:rPr lang="en-US" dirty="0" err="1"/>
              <a:t>AuId</a:t>
            </a:r>
            <a:r>
              <a:rPr lang="en-US" dirty="0"/>
              <a:t>}</a:t>
            </a:r>
            <a:endParaRPr dirty="0"/>
          </a:p>
          <a:p>
            <a:pPr marL="1100138" lvl="1" indent="-533400" algn="just" rtl="0">
              <a:lnSpc>
                <a:spcPct val="90000"/>
              </a:lnSpc>
              <a:spcBef>
                <a:spcPts val="600"/>
              </a:spcBef>
              <a:spcAft>
                <a:spcPts val="0"/>
              </a:spcAft>
              <a:buSzPct val="100000"/>
              <a:buFont typeface="Calibri"/>
              <a:buAutoNum type="arabicPeriod"/>
            </a:pPr>
            <a:r>
              <a:rPr lang="en-US" dirty="0"/>
              <a:t>{Title, </a:t>
            </a:r>
            <a:r>
              <a:rPr lang="en-US" dirty="0" err="1"/>
              <a:t>PubId</a:t>
            </a:r>
            <a:r>
              <a:rPr lang="en-US" dirty="0"/>
              <a:t>, </a:t>
            </a:r>
            <a:r>
              <a:rPr lang="en-US" dirty="0" err="1"/>
              <a:t>AuID</a:t>
            </a:r>
            <a:r>
              <a:rPr lang="en-US" dirty="0"/>
              <a:t>} -&gt;{Price}</a:t>
            </a:r>
            <a:endParaRPr dirty="0"/>
          </a:p>
          <a:p>
            <a:pPr marL="1100138" lvl="1" indent="-533400" algn="just" rtl="0">
              <a:lnSpc>
                <a:spcPct val="90000"/>
              </a:lnSpc>
              <a:spcBef>
                <a:spcPts val="600"/>
              </a:spcBef>
              <a:spcAft>
                <a:spcPts val="0"/>
              </a:spcAft>
              <a:buSzPct val="100000"/>
              <a:buFont typeface="Calibri"/>
              <a:buAutoNum type="arabicPeriod"/>
            </a:pPr>
            <a:r>
              <a:rPr lang="en-US" dirty="0"/>
              <a:t>{</a:t>
            </a:r>
            <a:r>
              <a:rPr lang="en-US" dirty="0" err="1"/>
              <a:t>AuID</a:t>
            </a:r>
            <a:r>
              <a:rPr lang="en-US" dirty="0"/>
              <a:t>} -&gt;{</a:t>
            </a:r>
            <a:r>
              <a:rPr lang="en-US" dirty="0" err="1"/>
              <a:t>AuAddress</a:t>
            </a:r>
            <a:r>
              <a:rPr lang="en-US" dirty="0"/>
              <a:t>}</a:t>
            </a:r>
            <a:endParaRPr dirty="0"/>
          </a:p>
          <a:p>
            <a:pPr marL="1100138" lvl="1" indent="-533400" algn="just" rtl="0">
              <a:lnSpc>
                <a:spcPct val="90000"/>
              </a:lnSpc>
              <a:spcBef>
                <a:spcPts val="600"/>
              </a:spcBef>
              <a:spcAft>
                <a:spcPts val="0"/>
              </a:spcAft>
              <a:buSzPct val="100000"/>
              <a:buFont typeface="Calibri"/>
              <a:buAutoNum type="arabicPeriod"/>
            </a:pPr>
            <a:r>
              <a:rPr lang="en-US" dirty="0" err="1"/>
              <a:t>AuAddress</a:t>
            </a:r>
            <a:r>
              <a:rPr lang="en-US" dirty="0"/>
              <a:t> does not belong to a key</a:t>
            </a:r>
            <a:endParaRPr dirty="0"/>
          </a:p>
          <a:p>
            <a:pPr marL="1100138" lvl="1" indent="-533400" algn="just" rtl="0">
              <a:lnSpc>
                <a:spcPct val="90000"/>
              </a:lnSpc>
              <a:spcBef>
                <a:spcPts val="600"/>
              </a:spcBef>
              <a:spcAft>
                <a:spcPts val="0"/>
              </a:spcAft>
              <a:buSzPct val="100000"/>
              <a:buFont typeface="Calibri"/>
              <a:buAutoNum type="arabicPeriod"/>
            </a:pPr>
            <a:r>
              <a:rPr lang="en-US" dirty="0" err="1"/>
              <a:t>AuAddress</a:t>
            </a:r>
            <a:r>
              <a:rPr lang="en-US" dirty="0"/>
              <a:t> functionally depends on </a:t>
            </a:r>
            <a:r>
              <a:rPr lang="en-US" dirty="0" err="1"/>
              <a:t>AuId</a:t>
            </a:r>
            <a:r>
              <a:rPr lang="en-US" dirty="0"/>
              <a:t> which is a subset of a key</a:t>
            </a:r>
            <a:r>
              <a:rPr lang="en-US" dirty="0">
                <a:solidFill>
                  <a:srgbClr val="CC0000"/>
                </a:solidFill>
              </a:rPr>
              <a:t> </a:t>
            </a:r>
            <a:endParaRPr dirty="0"/>
          </a:p>
        </p:txBody>
      </p:sp>
      <p:sp>
        <p:nvSpPr>
          <p:cNvPr id="506" name="Google Shape;506;p16"/>
          <p:cNvSpPr/>
          <p:nvPr/>
        </p:nvSpPr>
        <p:spPr>
          <a:xfrm>
            <a:off x="2209800" y="76200"/>
            <a:ext cx="7772400" cy="11430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CC0000"/>
              </a:buClr>
              <a:buSzPts val="4400"/>
              <a:buFont typeface="Noto Sans Symbols"/>
              <a:buNone/>
            </a:pPr>
            <a:r>
              <a:rPr lang="en-US" sz="4400">
                <a:solidFill>
                  <a:srgbClr val="CC0000"/>
                </a:solidFill>
                <a:latin typeface="Arial"/>
                <a:ea typeface="Arial"/>
                <a:cs typeface="Arial"/>
                <a:sym typeface="Arial"/>
              </a:rPr>
              <a:t>Second Normal Form  (2NF)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11"/>
        <p:cNvGrpSpPr/>
        <p:nvPr/>
      </p:nvGrpSpPr>
      <p:grpSpPr>
        <a:xfrm>
          <a:off x="0" y="0"/>
          <a:ext cx="0" cy="0"/>
          <a:chOff x="0" y="0"/>
          <a:chExt cx="0" cy="0"/>
        </a:xfrm>
      </p:grpSpPr>
      <p:sp>
        <p:nvSpPr>
          <p:cNvPr id="512" name="Google Shape;512;p17"/>
          <p:cNvSpPr txBox="1">
            <a:spLocks noGrp="1"/>
          </p:cNvSpPr>
          <p:nvPr>
            <p:ph type="body" idx="4294967295"/>
          </p:nvPr>
        </p:nvSpPr>
        <p:spPr>
          <a:xfrm>
            <a:off x="1790700" y="1292469"/>
            <a:ext cx="8610600" cy="4724400"/>
          </a:xfrm>
          <a:prstGeom prst="rect">
            <a:avLst/>
          </a:prstGeom>
          <a:noFill/>
          <a:ln>
            <a:noFill/>
          </a:ln>
        </p:spPr>
        <p:txBody>
          <a:bodyPr spcFirstLastPara="1" wrap="square" lIns="0" tIns="45700" rIns="0" bIns="45700" anchor="t" anchorCtr="0">
            <a:normAutofit fontScale="92500" lnSpcReduction="20000"/>
          </a:bodyPr>
          <a:lstStyle/>
          <a:p>
            <a:pPr marL="609600" lvl="0" indent="-609600" algn="just" rtl="0">
              <a:lnSpc>
                <a:spcPct val="90000"/>
              </a:lnSpc>
              <a:spcBef>
                <a:spcPts val="0"/>
              </a:spcBef>
              <a:spcAft>
                <a:spcPts val="0"/>
              </a:spcAft>
              <a:buSzPct val="100000"/>
              <a:buNone/>
            </a:pPr>
            <a:r>
              <a:rPr lang="en-US" dirty="0">
                <a:solidFill>
                  <a:srgbClr val="CC0000"/>
                </a:solidFill>
              </a:rPr>
              <a:t>Example 2 (Not 2NF) </a:t>
            </a:r>
            <a:endParaRPr dirty="0"/>
          </a:p>
          <a:p>
            <a:pPr marL="609600" lvl="0" indent="-609600" algn="just" rtl="0">
              <a:lnSpc>
                <a:spcPct val="90000"/>
              </a:lnSpc>
              <a:spcBef>
                <a:spcPts val="1400"/>
              </a:spcBef>
              <a:spcAft>
                <a:spcPts val="0"/>
              </a:spcAft>
              <a:buSzPct val="100000"/>
              <a:buNone/>
            </a:pPr>
            <a:r>
              <a:rPr lang="en-US" sz="1800" dirty="0"/>
              <a:t>Schema -&gt;{studio, movie, budget, </a:t>
            </a:r>
            <a:r>
              <a:rPr lang="en-US" sz="1800" dirty="0" err="1"/>
              <a:t>studio_city</a:t>
            </a:r>
            <a:r>
              <a:rPr lang="en-US" sz="1800" dirty="0"/>
              <a:t>}	</a:t>
            </a:r>
            <a:endParaRPr dirty="0"/>
          </a:p>
          <a:p>
            <a:pPr marL="1100138" lvl="1" indent="-533400" algn="just" rtl="0">
              <a:lnSpc>
                <a:spcPct val="90000"/>
              </a:lnSpc>
              <a:spcBef>
                <a:spcPts val="400"/>
              </a:spcBef>
              <a:spcAft>
                <a:spcPts val="0"/>
              </a:spcAft>
              <a:buSzPct val="100000"/>
              <a:buFont typeface="Calibri"/>
              <a:buAutoNum type="arabicPeriod"/>
            </a:pPr>
            <a:r>
              <a:rPr lang="en-US" sz="1600" dirty="0"/>
              <a:t>Key -&gt;{studio, movie}</a:t>
            </a:r>
            <a:endParaRPr dirty="0"/>
          </a:p>
          <a:p>
            <a:pPr marL="1100138" lvl="1" indent="-533400" algn="just" rtl="0">
              <a:lnSpc>
                <a:spcPct val="90000"/>
              </a:lnSpc>
              <a:spcBef>
                <a:spcPts val="600"/>
              </a:spcBef>
              <a:spcAft>
                <a:spcPts val="0"/>
              </a:spcAft>
              <a:buSzPct val="100000"/>
              <a:buFont typeface="Calibri"/>
              <a:buAutoNum type="arabicPeriod"/>
            </a:pPr>
            <a:r>
              <a:rPr lang="en-US" sz="1600" dirty="0"/>
              <a:t>{studio, movie} -&gt;{budget}</a:t>
            </a:r>
            <a:endParaRPr dirty="0"/>
          </a:p>
          <a:p>
            <a:pPr marL="1100138" lvl="1" indent="-533400" algn="just" rtl="0">
              <a:lnSpc>
                <a:spcPct val="90000"/>
              </a:lnSpc>
              <a:spcBef>
                <a:spcPts val="600"/>
              </a:spcBef>
              <a:spcAft>
                <a:spcPts val="0"/>
              </a:spcAft>
              <a:buSzPct val="100000"/>
              <a:buFont typeface="Calibri"/>
              <a:buAutoNum type="arabicPeriod"/>
            </a:pPr>
            <a:r>
              <a:rPr lang="en-US" sz="1600" dirty="0"/>
              <a:t>{studio} -&gt;{</a:t>
            </a:r>
            <a:r>
              <a:rPr lang="en-US" sz="1600" dirty="0" err="1"/>
              <a:t>studio_city</a:t>
            </a:r>
            <a:r>
              <a:rPr lang="en-US" sz="1600" dirty="0"/>
              <a:t>}</a:t>
            </a:r>
            <a:endParaRPr dirty="0"/>
          </a:p>
          <a:p>
            <a:pPr marL="1100138" lvl="1" indent="-533400" algn="just" rtl="0">
              <a:lnSpc>
                <a:spcPct val="90000"/>
              </a:lnSpc>
              <a:spcBef>
                <a:spcPts val="600"/>
              </a:spcBef>
              <a:spcAft>
                <a:spcPts val="0"/>
              </a:spcAft>
              <a:buSzPct val="100000"/>
              <a:buFont typeface="Calibri"/>
              <a:buAutoNum type="arabicPeriod"/>
            </a:pPr>
            <a:r>
              <a:rPr lang="en-US" sz="1600" dirty="0" err="1"/>
              <a:t>studio_city</a:t>
            </a:r>
            <a:r>
              <a:rPr lang="en-US" sz="1600" dirty="0"/>
              <a:t> is not a part of a key </a:t>
            </a:r>
            <a:endParaRPr dirty="0"/>
          </a:p>
          <a:p>
            <a:pPr marL="1100138" lvl="1" indent="-533400" algn="just" rtl="0">
              <a:lnSpc>
                <a:spcPct val="90000"/>
              </a:lnSpc>
              <a:spcBef>
                <a:spcPts val="600"/>
              </a:spcBef>
              <a:spcAft>
                <a:spcPts val="0"/>
              </a:spcAft>
              <a:buSzPct val="100000"/>
              <a:buFont typeface="Calibri"/>
              <a:buAutoNum type="arabicPeriod"/>
            </a:pPr>
            <a:r>
              <a:rPr lang="en-US" sz="1600" dirty="0" err="1"/>
              <a:t>studio_city</a:t>
            </a:r>
            <a:r>
              <a:rPr lang="en-US" sz="1600" dirty="0"/>
              <a:t> functionally depends on studio which is a proper subset of the key</a:t>
            </a:r>
            <a:endParaRPr sz="2000" dirty="0">
              <a:solidFill>
                <a:srgbClr val="CC0000"/>
              </a:solidFill>
            </a:endParaRPr>
          </a:p>
          <a:p>
            <a:pPr marL="1100138" lvl="1" indent="-427672" algn="just" rtl="0">
              <a:lnSpc>
                <a:spcPct val="90000"/>
              </a:lnSpc>
              <a:spcBef>
                <a:spcPts val="600"/>
              </a:spcBef>
              <a:spcAft>
                <a:spcPts val="0"/>
              </a:spcAft>
              <a:buSzPct val="100000"/>
              <a:buFont typeface="Calibri"/>
              <a:buNone/>
            </a:pPr>
            <a:endParaRPr dirty="0">
              <a:solidFill>
                <a:srgbClr val="CC0000"/>
              </a:solidFill>
            </a:endParaRPr>
          </a:p>
          <a:p>
            <a:pPr marL="609600" lvl="0" indent="-609600" algn="just" rtl="0">
              <a:lnSpc>
                <a:spcPct val="90000"/>
              </a:lnSpc>
              <a:spcBef>
                <a:spcPts val="1600"/>
              </a:spcBef>
              <a:spcAft>
                <a:spcPts val="0"/>
              </a:spcAft>
              <a:buSzPct val="100000"/>
              <a:buNone/>
            </a:pPr>
            <a:r>
              <a:rPr lang="en-US" dirty="0">
                <a:solidFill>
                  <a:srgbClr val="CC0000"/>
                </a:solidFill>
              </a:rPr>
              <a:t>Example 3 (Not 2NF) </a:t>
            </a:r>
            <a:endParaRPr dirty="0"/>
          </a:p>
          <a:p>
            <a:pPr marL="609600" lvl="0" indent="-609600" algn="just" rtl="0">
              <a:lnSpc>
                <a:spcPct val="90000"/>
              </a:lnSpc>
              <a:spcBef>
                <a:spcPts val="1400"/>
              </a:spcBef>
              <a:spcAft>
                <a:spcPts val="0"/>
              </a:spcAft>
              <a:buSzPct val="100000"/>
              <a:buNone/>
            </a:pPr>
            <a:endParaRPr sz="1600" dirty="0"/>
          </a:p>
          <a:p>
            <a:pPr marL="609600" lvl="0" indent="-609600" algn="just" rtl="0">
              <a:lnSpc>
                <a:spcPct val="90000"/>
              </a:lnSpc>
              <a:spcBef>
                <a:spcPts val="1400"/>
              </a:spcBef>
              <a:spcAft>
                <a:spcPts val="0"/>
              </a:spcAft>
              <a:buSzPct val="100000"/>
              <a:buNone/>
            </a:pPr>
            <a:r>
              <a:rPr lang="en-US" sz="1800" dirty="0"/>
              <a:t>Schema -&gt;{City, Street, </a:t>
            </a:r>
            <a:r>
              <a:rPr lang="en-US" sz="1800" dirty="0" err="1"/>
              <a:t>HouseNumber</a:t>
            </a:r>
            <a:r>
              <a:rPr lang="en-US" sz="1800" dirty="0"/>
              <a:t>, </a:t>
            </a:r>
            <a:r>
              <a:rPr lang="en-US" sz="1800" dirty="0" err="1"/>
              <a:t>HouseColor</a:t>
            </a:r>
            <a:r>
              <a:rPr lang="en-US" sz="1800" dirty="0"/>
              <a:t>, </a:t>
            </a:r>
            <a:r>
              <a:rPr lang="en-US" sz="1800" dirty="0" err="1"/>
              <a:t>CityPopulation</a:t>
            </a:r>
            <a:r>
              <a:rPr lang="en-US" sz="1800" dirty="0"/>
              <a:t>}</a:t>
            </a:r>
            <a:endParaRPr dirty="0"/>
          </a:p>
          <a:p>
            <a:pPr marL="1100138" lvl="1" indent="-533400" algn="just" rtl="0">
              <a:lnSpc>
                <a:spcPct val="90000"/>
              </a:lnSpc>
              <a:spcBef>
                <a:spcPts val="400"/>
              </a:spcBef>
              <a:spcAft>
                <a:spcPts val="0"/>
              </a:spcAft>
              <a:buSzPct val="100000"/>
              <a:buFont typeface="Calibri"/>
              <a:buAutoNum type="arabicPeriod"/>
            </a:pPr>
            <a:r>
              <a:rPr lang="en-US" sz="1600" dirty="0"/>
              <a:t>key -&gt;{City, Street, </a:t>
            </a:r>
            <a:r>
              <a:rPr lang="en-US" sz="1600" dirty="0" err="1"/>
              <a:t>HouseNumber</a:t>
            </a:r>
            <a:r>
              <a:rPr lang="en-US" sz="1600" dirty="0"/>
              <a:t>}</a:t>
            </a:r>
            <a:endParaRPr dirty="0"/>
          </a:p>
          <a:p>
            <a:pPr marL="1100138" lvl="1" indent="-533400" algn="just" rtl="0">
              <a:lnSpc>
                <a:spcPct val="90000"/>
              </a:lnSpc>
              <a:spcBef>
                <a:spcPts val="600"/>
              </a:spcBef>
              <a:spcAft>
                <a:spcPts val="0"/>
              </a:spcAft>
              <a:buSzPct val="100000"/>
              <a:buFont typeface="Calibri"/>
              <a:buAutoNum type="arabicPeriod"/>
            </a:pPr>
            <a:r>
              <a:rPr lang="en-US" sz="1600" dirty="0"/>
              <a:t>{City, Street, </a:t>
            </a:r>
            <a:r>
              <a:rPr lang="en-US" sz="1600" dirty="0" err="1"/>
              <a:t>HouseNumber</a:t>
            </a:r>
            <a:r>
              <a:rPr lang="en-US" sz="1600" dirty="0"/>
              <a:t>} -&gt;{</a:t>
            </a:r>
            <a:r>
              <a:rPr lang="en-US" sz="1600" dirty="0" err="1"/>
              <a:t>HouseColor</a:t>
            </a:r>
            <a:r>
              <a:rPr lang="en-US" sz="1600" dirty="0"/>
              <a:t>}</a:t>
            </a:r>
            <a:endParaRPr sz="1600" dirty="0"/>
          </a:p>
          <a:p>
            <a:pPr marL="1100138" lvl="1" indent="-533400" algn="just" rtl="0">
              <a:lnSpc>
                <a:spcPct val="90000"/>
              </a:lnSpc>
              <a:spcBef>
                <a:spcPts val="600"/>
              </a:spcBef>
              <a:spcAft>
                <a:spcPts val="0"/>
              </a:spcAft>
              <a:buSzPct val="100000"/>
              <a:buFont typeface="Calibri"/>
              <a:buAutoNum type="arabicPeriod"/>
            </a:pPr>
            <a:r>
              <a:rPr lang="en-US" sz="1600" dirty="0"/>
              <a:t>{City} -&gt;{</a:t>
            </a:r>
            <a:r>
              <a:rPr lang="en-US" sz="1600" dirty="0" err="1"/>
              <a:t>CityPopulation</a:t>
            </a:r>
            <a:r>
              <a:rPr lang="en-US" sz="1600" dirty="0"/>
              <a:t>} </a:t>
            </a:r>
            <a:endParaRPr dirty="0"/>
          </a:p>
          <a:p>
            <a:pPr marL="1100138" lvl="1" indent="-533400" algn="just" rtl="0">
              <a:lnSpc>
                <a:spcPct val="90000"/>
              </a:lnSpc>
              <a:spcBef>
                <a:spcPts val="600"/>
              </a:spcBef>
              <a:spcAft>
                <a:spcPts val="0"/>
              </a:spcAft>
              <a:buSzPct val="100000"/>
              <a:buFont typeface="Calibri"/>
              <a:buAutoNum type="arabicPeriod"/>
            </a:pPr>
            <a:r>
              <a:rPr lang="en-US" sz="1600" dirty="0" err="1"/>
              <a:t>CityPopulation</a:t>
            </a:r>
            <a:r>
              <a:rPr lang="en-US" sz="1600" dirty="0"/>
              <a:t> does not belong to any key.</a:t>
            </a:r>
            <a:endParaRPr dirty="0"/>
          </a:p>
          <a:p>
            <a:pPr marL="1100138" lvl="1" indent="-533400" algn="just" rtl="0">
              <a:lnSpc>
                <a:spcPct val="90000"/>
              </a:lnSpc>
              <a:spcBef>
                <a:spcPts val="600"/>
              </a:spcBef>
              <a:spcAft>
                <a:spcPts val="0"/>
              </a:spcAft>
              <a:buSzPct val="100000"/>
              <a:buFont typeface="Calibri"/>
              <a:buAutoNum type="arabicPeriod"/>
            </a:pPr>
            <a:r>
              <a:rPr lang="en-US" sz="1600" dirty="0" err="1"/>
              <a:t>CityPopulation</a:t>
            </a:r>
            <a:r>
              <a:rPr lang="en-US" sz="1600" dirty="0"/>
              <a:t> is functionally dependent on the City which is a proper subset of  the key</a:t>
            </a:r>
            <a:r>
              <a:rPr lang="en-US" dirty="0">
                <a:solidFill>
                  <a:srgbClr val="CC0000"/>
                </a:solidFill>
              </a:rPr>
              <a:t> </a:t>
            </a:r>
            <a:endParaRPr dirty="0"/>
          </a:p>
          <a:p>
            <a:pPr marL="1100138" lvl="1" indent="-439419" algn="just" rtl="0">
              <a:lnSpc>
                <a:spcPct val="90000"/>
              </a:lnSpc>
              <a:spcBef>
                <a:spcPts val="600"/>
              </a:spcBef>
              <a:spcAft>
                <a:spcPts val="0"/>
              </a:spcAft>
              <a:buSzPct val="100000"/>
              <a:buFont typeface="Calibri"/>
              <a:buNone/>
            </a:pPr>
            <a:endParaRPr sz="1600" dirty="0"/>
          </a:p>
        </p:txBody>
      </p:sp>
      <p:sp>
        <p:nvSpPr>
          <p:cNvPr id="513" name="Google Shape;513;p17"/>
          <p:cNvSpPr/>
          <p:nvPr/>
        </p:nvSpPr>
        <p:spPr>
          <a:xfrm>
            <a:off x="2209800" y="76200"/>
            <a:ext cx="7772400" cy="11430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CC0000"/>
              </a:buClr>
              <a:buSzPts val="4400"/>
              <a:buFont typeface="Noto Sans Symbols"/>
              <a:buNone/>
            </a:pPr>
            <a:r>
              <a:rPr lang="en-US" sz="4400">
                <a:solidFill>
                  <a:srgbClr val="CC0000"/>
                </a:solidFill>
                <a:latin typeface="Arial"/>
                <a:ea typeface="Arial"/>
                <a:cs typeface="Arial"/>
                <a:sym typeface="Arial"/>
              </a:rPr>
              <a:t>Second Normal Form  (2NF)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17"/>
        <p:cNvGrpSpPr/>
        <p:nvPr/>
      </p:nvGrpSpPr>
      <p:grpSpPr>
        <a:xfrm>
          <a:off x="0" y="0"/>
          <a:ext cx="0" cy="0"/>
          <a:chOff x="0" y="0"/>
          <a:chExt cx="0" cy="0"/>
        </a:xfrm>
      </p:grpSpPr>
      <p:sp>
        <p:nvSpPr>
          <p:cNvPr id="518" name="Google Shape;518;p18"/>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CC0000"/>
              </a:buClr>
              <a:buSzPts val="4800"/>
              <a:buFont typeface="Arial"/>
              <a:buNone/>
            </a:pPr>
            <a:r>
              <a:rPr lang="en-US" sz="4800">
                <a:solidFill>
                  <a:srgbClr val="CC0000"/>
                </a:solidFill>
                <a:latin typeface="Arial"/>
                <a:ea typeface="Arial"/>
                <a:cs typeface="Arial"/>
                <a:sym typeface="Arial"/>
              </a:rPr>
              <a:t>2NF - </a:t>
            </a:r>
            <a:r>
              <a:rPr lang="en-US"/>
              <a:t>Condition for Partial Dependency</a:t>
            </a:r>
            <a:endParaRPr/>
          </a:p>
        </p:txBody>
      </p:sp>
      <p:sp>
        <p:nvSpPr>
          <p:cNvPr id="519" name="Google Shape;519;p18"/>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p>
            <a:pPr marL="91440" lvl="0" indent="-127000" algn="l" rtl="0">
              <a:lnSpc>
                <a:spcPct val="90000"/>
              </a:lnSpc>
              <a:spcBef>
                <a:spcPts val="0"/>
              </a:spcBef>
              <a:spcAft>
                <a:spcPts val="0"/>
              </a:spcAft>
              <a:buSzPts val="2000"/>
              <a:buChar char=" "/>
            </a:pPr>
            <a:r>
              <a:rPr lang="en-US" b="1"/>
              <a:t>Partial Dependency exists if LHS of the FD is a proper subset of Candidate Key </a:t>
            </a:r>
            <a:r>
              <a:rPr lang="en-US" sz="2800" b="1">
                <a:solidFill>
                  <a:srgbClr val="00B050"/>
                </a:solidFill>
              </a:rPr>
              <a:t>and</a:t>
            </a:r>
            <a:r>
              <a:rPr lang="en-US" b="1"/>
              <a:t> RHS is a non-prime attribute.</a:t>
            </a:r>
            <a:endParaRPr/>
          </a:p>
          <a:p>
            <a:pPr marL="91440" lvl="0" indent="-127000" algn="l" rtl="0">
              <a:lnSpc>
                <a:spcPct val="90000"/>
              </a:lnSpc>
              <a:spcBef>
                <a:spcPts val="1400"/>
              </a:spcBef>
              <a:spcAft>
                <a:spcPts val="0"/>
              </a:spcAft>
              <a:buSzPts val="2000"/>
              <a:buChar char=" "/>
            </a:pPr>
            <a:r>
              <a:rPr lang="en-US" b="1"/>
              <a:t>If a relation has at least one PD, then its not in 2NF</a:t>
            </a:r>
            <a:endParaRPr/>
          </a:p>
          <a:p>
            <a:pPr marL="91440" lvl="0" indent="-127000" algn="l" rtl="0">
              <a:lnSpc>
                <a:spcPct val="90000"/>
              </a:lnSpc>
              <a:spcBef>
                <a:spcPts val="1400"/>
              </a:spcBef>
              <a:spcAft>
                <a:spcPts val="0"/>
              </a:spcAft>
              <a:buSzPts val="2000"/>
              <a:buChar char=" "/>
            </a:pPr>
            <a:r>
              <a:rPr lang="en-US"/>
              <a:t>Eg:- R(ABCDEF)</a:t>
            </a:r>
            <a:endParaRPr/>
          </a:p>
          <a:p>
            <a:pPr marL="91440" lvl="0" indent="-127000" algn="l" rtl="0">
              <a:lnSpc>
                <a:spcPct val="90000"/>
              </a:lnSpc>
              <a:spcBef>
                <a:spcPts val="1400"/>
              </a:spcBef>
              <a:spcAft>
                <a:spcPts val="0"/>
              </a:spcAft>
              <a:buSzPts val="2000"/>
              <a:buChar char=" "/>
            </a:pPr>
            <a:r>
              <a:rPr lang="en-US"/>
              <a:t>FD={C-&gt;F, E-&gt;A, EC-&gt;D, A-&gt;B}</a:t>
            </a:r>
            <a:endParaRPr/>
          </a:p>
          <a:p>
            <a:pPr marL="91440" lvl="0" indent="-127000" algn="l" rtl="0">
              <a:lnSpc>
                <a:spcPct val="90000"/>
              </a:lnSpc>
              <a:spcBef>
                <a:spcPts val="1400"/>
              </a:spcBef>
              <a:spcAft>
                <a:spcPts val="0"/>
              </a:spcAft>
              <a:buSzPts val="2000"/>
              <a:buChar char=" "/>
            </a:pPr>
            <a:r>
              <a:rPr lang="en-US"/>
              <a:t>EC</a:t>
            </a:r>
            <a:r>
              <a:rPr lang="en-US" baseline="30000"/>
              <a:t>+</a:t>
            </a:r>
            <a:r>
              <a:rPr lang="en-US"/>
              <a:t>-&gt;ABCDEF-&gt;Candidate Key-&gt;No other candidate keys are existing</a:t>
            </a:r>
            <a:endParaRPr/>
          </a:p>
          <a:p>
            <a:pPr marL="91440" lvl="0" indent="-127000" algn="l" rtl="0">
              <a:lnSpc>
                <a:spcPct val="90000"/>
              </a:lnSpc>
              <a:spcBef>
                <a:spcPts val="1400"/>
              </a:spcBef>
              <a:spcAft>
                <a:spcPts val="0"/>
              </a:spcAft>
              <a:buSzPts val="2000"/>
              <a:buChar char=" "/>
            </a:pPr>
            <a:r>
              <a:rPr lang="en-US"/>
              <a:t>Prime Attributes-&gt;{E,C}</a:t>
            </a:r>
            <a:endParaRPr/>
          </a:p>
          <a:p>
            <a:pPr marL="91440" lvl="0" indent="-127000" algn="l" rtl="0">
              <a:lnSpc>
                <a:spcPct val="90000"/>
              </a:lnSpc>
              <a:spcBef>
                <a:spcPts val="1400"/>
              </a:spcBef>
              <a:spcAft>
                <a:spcPts val="0"/>
              </a:spcAft>
              <a:buSzPts val="2000"/>
              <a:buChar char=" "/>
            </a:pPr>
            <a:r>
              <a:rPr lang="en-US"/>
              <a:t>Non-Prime Attributes-&gt;{A,B,D,F}</a:t>
            </a:r>
            <a:endParaRPr/>
          </a:p>
          <a:p>
            <a:pPr marL="0" lvl="0" indent="0" algn="l" rtl="0">
              <a:lnSpc>
                <a:spcPct val="90000"/>
              </a:lnSpc>
              <a:spcBef>
                <a:spcPts val="1400"/>
              </a:spcBef>
              <a:spcAft>
                <a:spcPts val="0"/>
              </a:spcAft>
              <a:buSzPts val="2000"/>
              <a:buNone/>
            </a:pPr>
            <a:endParaRPr/>
          </a:p>
        </p:txBody>
      </p:sp>
      <p:graphicFrame>
        <p:nvGraphicFramePr>
          <p:cNvPr id="520" name="Google Shape;520;p18"/>
          <p:cNvGraphicFramePr/>
          <p:nvPr/>
        </p:nvGraphicFramePr>
        <p:xfrm>
          <a:off x="6126480" y="4423508"/>
          <a:ext cx="5628825" cy="1854250"/>
        </p:xfrm>
        <a:graphic>
          <a:graphicData uri="http://schemas.openxmlformats.org/drawingml/2006/table">
            <a:tbl>
              <a:tblPr firstRow="1" bandRow="1">
                <a:noFill/>
                <a:tableStyleId>{CAEFD402-7BAA-4683-8AB4-5E6667C64626}</a:tableStyleId>
              </a:tblPr>
              <a:tblGrid>
                <a:gridCol w="1363225">
                  <a:extLst>
                    <a:ext uri="{9D8B030D-6E8A-4147-A177-3AD203B41FA5}">
                      <a16:colId xmlns:a16="http://schemas.microsoft.com/office/drawing/2014/main" val="20000"/>
                    </a:ext>
                  </a:extLst>
                </a:gridCol>
                <a:gridCol w="2035550">
                  <a:extLst>
                    <a:ext uri="{9D8B030D-6E8A-4147-A177-3AD203B41FA5}">
                      <a16:colId xmlns:a16="http://schemas.microsoft.com/office/drawing/2014/main" val="20001"/>
                    </a:ext>
                  </a:extLst>
                </a:gridCol>
                <a:gridCol w="2230050">
                  <a:extLst>
                    <a:ext uri="{9D8B030D-6E8A-4147-A177-3AD203B41FA5}">
                      <a16:colId xmlns:a16="http://schemas.microsoft.com/office/drawing/2014/main" val="20002"/>
                    </a:ext>
                  </a:extLst>
                </a:gridCol>
              </a:tblGrid>
              <a:tr h="370850">
                <a:tc>
                  <a:txBody>
                    <a:bodyPr/>
                    <a:lstStyle/>
                    <a:p>
                      <a:pPr marL="0" marR="0" lvl="0" indent="0" algn="l" rtl="0">
                        <a:spcBef>
                          <a:spcPts val="0"/>
                        </a:spcBef>
                        <a:spcAft>
                          <a:spcPts val="0"/>
                        </a:spcAft>
                        <a:buNone/>
                      </a:pPr>
                      <a:r>
                        <a:rPr lang="en-US" sz="1800"/>
                        <a:t>FD</a:t>
                      </a:r>
                      <a:endParaRPr sz="1800"/>
                    </a:p>
                  </a:txBody>
                  <a:tcPr marL="91450" marR="91450" marT="45725" marB="45725"/>
                </a:tc>
                <a:tc>
                  <a:txBody>
                    <a:bodyPr/>
                    <a:lstStyle/>
                    <a:p>
                      <a:pPr marL="0" marR="0" lvl="0" indent="0" algn="l" rtl="0">
                        <a:spcBef>
                          <a:spcPts val="0"/>
                        </a:spcBef>
                        <a:spcAft>
                          <a:spcPts val="0"/>
                        </a:spcAft>
                        <a:buNone/>
                      </a:pPr>
                      <a:r>
                        <a:rPr lang="en-US" sz="1800"/>
                        <a:t>Partial Dependency</a:t>
                      </a:r>
                      <a:endParaRPr sz="1800"/>
                    </a:p>
                  </a:txBody>
                  <a:tcPr marL="91450" marR="91450" marT="45725" marB="45725"/>
                </a:tc>
                <a:tc>
                  <a:txBody>
                    <a:bodyPr/>
                    <a:lstStyle/>
                    <a:p>
                      <a:pPr marL="0" marR="0" lvl="0" indent="0" algn="l" rtl="0">
                        <a:spcBef>
                          <a:spcPts val="0"/>
                        </a:spcBef>
                        <a:spcAft>
                          <a:spcPts val="0"/>
                        </a:spcAft>
                        <a:buNone/>
                      </a:pPr>
                      <a:r>
                        <a:rPr lang="en-US" sz="1800"/>
                        <a:t>2NF</a:t>
                      </a:r>
                      <a:endParaRPr sz="1800"/>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800"/>
                        <a:t>C-&gt;F</a:t>
                      </a:r>
                      <a:endParaRPr sz="1800"/>
                    </a:p>
                  </a:txBody>
                  <a:tcPr marL="91450" marR="91450" marT="45725" marB="45725"/>
                </a:tc>
                <a:tc>
                  <a:txBody>
                    <a:bodyPr/>
                    <a:lstStyle/>
                    <a:p>
                      <a:pPr marL="0" marR="0" lvl="0" indent="0" algn="l" rtl="0">
                        <a:spcBef>
                          <a:spcPts val="0"/>
                        </a:spcBef>
                        <a:spcAft>
                          <a:spcPts val="0"/>
                        </a:spcAft>
                        <a:buNone/>
                      </a:pPr>
                      <a:r>
                        <a:rPr lang="en-US" sz="1800"/>
                        <a:t>Yes</a:t>
                      </a:r>
                      <a:endParaRPr sz="1800"/>
                    </a:p>
                  </a:txBody>
                  <a:tcPr marL="91450" marR="91450" marT="45725" marB="45725"/>
                </a:tc>
                <a:tc>
                  <a:txBody>
                    <a:bodyPr/>
                    <a:lstStyle/>
                    <a:p>
                      <a:pPr marL="0" marR="0" lvl="0" indent="0" algn="l" rtl="0">
                        <a:spcBef>
                          <a:spcPts val="0"/>
                        </a:spcBef>
                        <a:spcAft>
                          <a:spcPts val="0"/>
                        </a:spcAft>
                        <a:buNone/>
                      </a:pPr>
                      <a:r>
                        <a:rPr lang="en-US" sz="1800"/>
                        <a:t>No</a:t>
                      </a:r>
                      <a:endParaRPr sz="1800"/>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US" sz="1800"/>
                        <a:t>E-&gt;A</a:t>
                      </a:r>
                      <a:endParaRPr sz="1800"/>
                    </a:p>
                  </a:txBody>
                  <a:tcPr marL="91450" marR="91450" marT="45725" marB="45725"/>
                </a:tc>
                <a:tc>
                  <a:txBody>
                    <a:bodyPr/>
                    <a:lstStyle/>
                    <a:p>
                      <a:pPr marL="0" marR="0" lvl="0" indent="0" algn="l" rtl="0">
                        <a:spcBef>
                          <a:spcPts val="0"/>
                        </a:spcBef>
                        <a:spcAft>
                          <a:spcPts val="0"/>
                        </a:spcAft>
                        <a:buNone/>
                      </a:pPr>
                      <a:r>
                        <a:rPr lang="en-US" sz="1800"/>
                        <a:t>Yes</a:t>
                      </a:r>
                      <a:endParaRPr sz="1800"/>
                    </a:p>
                  </a:txBody>
                  <a:tcPr marL="91450" marR="91450" marT="45725" marB="45725"/>
                </a:tc>
                <a:tc>
                  <a:txBody>
                    <a:bodyPr/>
                    <a:lstStyle/>
                    <a:p>
                      <a:pPr marL="0" marR="0" lvl="0" indent="0" algn="l" rtl="0">
                        <a:spcBef>
                          <a:spcPts val="0"/>
                        </a:spcBef>
                        <a:spcAft>
                          <a:spcPts val="0"/>
                        </a:spcAft>
                        <a:buNone/>
                      </a:pPr>
                      <a:r>
                        <a:rPr lang="en-US" sz="1800"/>
                        <a:t>No</a:t>
                      </a:r>
                      <a:endParaRPr sz="1800"/>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r>
                        <a:rPr lang="en-US" sz="1800"/>
                        <a:t>EC-&gt;D</a:t>
                      </a:r>
                      <a:endParaRPr sz="1800"/>
                    </a:p>
                  </a:txBody>
                  <a:tcPr marL="91450" marR="91450" marT="45725" marB="45725"/>
                </a:tc>
                <a:tc>
                  <a:txBody>
                    <a:bodyPr/>
                    <a:lstStyle/>
                    <a:p>
                      <a:pPr marL="0" marR="0" lvl="0" indent="0" algn="l" rtl="0">
                        <a:spcBef>
                          <a:spcPts val="0"/>
                        </a:spcBef>
                        <a:spcAft>
                          <a:spcPts val="0"/>
                        </a:spcAft>
                        <a:buNone/>
                      </a:pPr>
                      <a:r>
                        <a:rPr lang="en-US" sz="1800"/>
                        <a:t>No</a:t>
                      </a:r>
                      <a:endParaRPr sz="1800"/>
                    </a:p>
                  </a:txBody>
                  <a:tcPr marL="91450" marR="91450" marT="45725" marB="45725"/>
                </a:tc>
                <a:tc>
                  <a:txBody>
                    <a:bodyPr/>
                    <a:lstStyle/>
                    <a:p>
                      <a:pPr marL="0" marR="0" lvl="0" indent="0" algn="l" rtl="0">
                        <a:spcBef>
                          <a:spcPts val="0"/>
                        </a:spcBef>
                        <a:spcAft>
                          <a:spcPts val="0"/>
                        </a:spcAft>
                        <a:buNone/>
                      </a:pPr>
                      <a:r>
                        <a:rPr lang="en-US" sz="1800"/>
                        <a:t>Yes</a:t>
                      </a:r>
                      <a:endParaRPr sz="1800"/>
                    </a:p>
                  </a:txBody>
                  <a:tcPr marL="91450" marR="91450" marT="45725" marB="45725"/>
                </a:tc>
                <a:extLst>
                  <a:ext uri="{0D108BD9-81ED-4DB2-BD59-A6C34878D82A}">
                    <a16:rowId xmlns:a16="http://schemas.microsoft.com/office/drawing/2014/main" val="10003"/>
                  </a:ext>
                </a:extLst>
              </a:tr>
              <a:tr h="370850">
                <a:tc>
                  <a:txBody>
                    <a:bodyPr/>
                    <a:lstStyle/>
                    <a:p>
                      <a:pPr marL="0" marR="0" lvl="0" indent="0" algn="l" rtl="0">
                        <a:spcBef>
                          <a:spcPts val="0"/>
                        </a:spcBef>
                        <a:spcAft>
                          <a:spcPts val="0"/>
                        </a:spcAft>
                        <a:buNone/>
                      </a:pPr>
                      <a:r>
                        <a:rPr lang="en-US" sz="1800"/>
                        <a:t>A-&gt;B</a:t>
                      </a:r>
                      <a:endParaRPr sz="1800"/>
                    </a:p>
                  </a:txBody>
                  <a:tcPr marL="91450" marR="91450" marT="45725" marB="45725"/>
                </a:tc>
                <a:tc>
                  <a:txBody>
                    <a:bodyPr/>
                    <a:lstStyle/>
                    <a:p>
                      <a:pPr marL="0" marR="0" lvl="0" indent="0" algn="l" rtl="0">
                        <a:spcBef>
                          <a:spcPts val="0"/>
                        </a:spcBef>
                        <a:spcAft>
                          <a:spcPts val="0"/>
                        </a:spcAft>
                        <a:buNone/>
                      </a:pPr>
                      <a:r>
                        <a:rPr lang="en-US" sz="1800"/>
                        <a:t>No</a:t>
                      </a:r>
                      <a:endParaRPr sz="1800"/>
                    </a:p>
                  </a:txBody>
                  <a:tcPr marL="91450" marR="91450" marT="45725" marB="45725"/>
                </a:tc>
                <a:tc>
                  <a:txBody>
                    <a:bodyPr/>
                    <a:lstStyle/>
                    <a:p>
                      <a:pPr marL="0" marR="0" lvl="0" indent="0" algn="l" rtl="0">
                        <a:spcBef>
                          <a:spcPts val="0"/>
                        </a:spcBef>
                        <a:spcAft>
                          <a:spcPts val="0"/>
                        </a:spcAft>
                        <a:buNone/>
                      </a:pPr>
                      <a:r>
                        <a:rPr lang="en-US" sz="1800"/>
                        <a:t>Yes</a:t>
                      </a:r>
                      <a:endParaRPr sz="1800"/>
                    </a:p>
                  </a:txBody>
                  <a:tcPr marL="91450" marR="91450" marT="45725" marB="45725"/>
                </a:tc>
                <a:extLst>
                  <a:ext uri="{0D108BD9-81ED-4DB2-BD59-A6C34878D82A}">
                    <a16:rowId xmlns:a16="http://schemas.microsoft.com/office/drawing/2014/main" val="10004"/>
                  </a:ext>
                </a:extLst>
              </a:tr>
            </a:tbl>
          </a:graphicData>
        </a:graphic>
      </p:graphicFrame>
      <p:sp>
        <p:nvSpPr>
          <p:cNvPr id="521" name="Google Shape;521;p18"/>
          <p:cNvSpPr/>
          <p:nvPr/>
        </p:nvSpPr>
        <p:spPr>
          <a:xfrm>
            <a:off x="942244" y="5318586"/>
            <a:ext cx="4025410" cy="1087099"/>
          </a:xfrm>
          <a:prstGeom prst="rect">
            <a:avLst/>
          </a:prstGeom>
          <a:solidFill>
            <a:srgbClr val="AB620D"/>
          </a:solidFill>
          <a:ln w="15875" cap="flat" cmpd="sng">
            <a:solidFill>
              <a:srgbClr val="A65F0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lt1"/>
                </a:solidFill>
                <a:latin typeface="Calibri"/>
                <a:ea typeface="Calibri"/>
                <a:cs typeface="Calibri"/>
                <a:sym typeface="Calibri"/>
              </a:rPr>
              <a:t>If any one FD is not in 2NF, then the entire relation is not in 2NF. </a:t>
            </a:r>
            <a:r>
              <a:rPr lang="en-US" sz="1800">
                <a:solidFill>
                  <a:schemeClr val="lt1"/>
                </a:solidFill>
                <a:latin typeface="Calibri"/>
                <a:ea typeface="Calibri"/>
                <a:cs typeface="Calibri"/>
                <a:sym typeface="Calibri"/>
              </a:rPr>
              <a:t>Therefore the above relation is not in 2NF</a:t>
            </a:r>
            <a:endParaRPr sz="1800">
              <a:solidFill>
                <a:schemeClr val="lt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25"/>
        <p:cNvGrpSpPr/>
        <p:nvPr/>
      </p:nvGrpSpPr>
      <p:grpSpPr>
        <a:xfrm>
          <a:off x="0" y="0"/>
          <a:ext cx="0" cy="0"/>
          <a:chOff x="0" y="0"/>
          <a:chExt cx="0" cy="0"/>
        </a:xfrm>
      </p:grpSpPr>
      <p:sp>
        <p:nvSpPr>
          <p:cNvPr id="526" name="Google Shape;526;p19"/>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Third Normal Form</a:t>
            </a:r>
            <a:endParaRPr/>
          </a:p>
        </p:txBody>
      </p:sp>
      <p:sp>
        <p:nvSpPr>
          <p:cNvPr id="527" name="Google Shape;527;p19"/>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fontScale="77500" lnSpcReduction="20000"/>
          </a:bodyPr>
          <a:lstStyle/>
          <a:p>
            <a:pPr marL="91440" lvl="0" indent="-98425" algn="l" rtl="0">
              <a:lnSpc>
                <a:spcPct val="90000"/>
              </a:lnSpc>
              <a:spcBef>
                <a:spcPts val="0"/>
              </a:spcBef>
              <a:spcAft>
                <a:spcPts val="0"/>
              </a:spcAft>
              <a:buSzPct val="100000"/>
              <a:buChar char=" "/>
            </a:pPr>
            <a:r>
              <a:rPr lang="en-US" b="1"/>
              <a:t>Third Normal Form (3NF)</a:t>
            </a:r>
            <a:r>
              <a:rPr lang="en-US"/>
              <a:t> ensures that a table is well-structured by eliminating redundant data and avoiding unnecessary dependencies.</a:t>
            </a:r>
            <a:endParaRPr/>
          </a:p>
          <a:p>
            <a:pPr marL="91440" lvl="0" indent="-98425" algn="l" rtl="0">
              <a:lnSpc>
                <a:spcPct val="90000"/>
              </a:lnSpc>
              <a:spcBef>
                <a:spcPts val="1400"/>
              </a:spcBef>
              <a:spcAft>
                <a:spcPts val="0"/>
              </a:spcAft>
              <a:buSzPct val="100000"/>
              <a:buChar char=" "/>
            </a:pPr>
            <a:r>
              <a:rPr lang="en-US"/>
              <a:t>A table is in </a:t>
            </a:r>
            <a:r>
              <a:rPr lang="en-US" b="1"/>
              <a:t>3NF</a:t>
            </a:r>
            <a:r>
              <a:rPr lang="en-US"/>
              <a:t> if:</a:t>
            </a:r>
            <a:endParaRPr/>
          </a:p>
          <a:p>
            <a:pPr marL="749808" lvl="1" indent="-457200" algn="l" rtl="0">
              <a:lnSpc>
                <a:spcPct val="90000"/>
              </a:lnSpc>
              <a:spcBef>
                <a:spcPts val="400"/>
              </a:spcBef>
              <a:spcAft>
                <a:spcPts val="0"/>
              </a:spcAft>
              <a:buSzPct val="100000"/>
              <a:buFont typeface="Calibri"/>
              <a:buAutoNum type="arabicPeriod"/>
            </a:pPr>
            <a:r>
              <a:rPr lang="en-US"/>
              <a:t>It is already in </a:t>
            </a:r>
            <a:r>
              <a:rPr lang="en-US" b="1"/>
              <a:t>Second Normal Form (2NF)</a:t>
            </a:r>
            <a:r>
              <a:rPr lang="en-US"/>
              <a:t> (i.e., no partial dependencies).</a:t>
            </a:r>
            <a:endParaRPr/>
          </a:p>
          <a:p>
            <a:pPr marL="749808" lvl="1" indent="-457200" algn="l" rtl="0">
              <a:lnSpc>
                <a:spcPct val="90000"/>
              </a:lnSpc>
              <a:spcBef>
                <a:spcPts val="600"/>
              </a:spcBef>
              <a:spcAft>
                <a:spcPts val="0"/>
              </a:spcAft>
              <a:buSzPct val="100000"/>
              <a:buFont typeface="Calibri"/>
              <a:buAutoNum type="arabicPeriod"/>
            </a:pPr>
            <a:r>
              <a:rPr lang="en-US" b="1"/>
              <a:t>Every non-key attribute depends only on the primary key</a:t>
            </a:r>
            <a:r>
              <a:rPr lang="en-US"/>
              <a:t> and </a:t>
            </a:r>
            <a:r>
              <a:rPr lang="en-US" b="1"/>
              <a:t>not on another non-key attribute</a:t>
            </a:r>
            <a:r>
              <a:rPr lang="en-US"/>
              <a:t> (i.e., </a:t>
            </a:r>
            <a:r>
              <a:rPr lang="en-US" sz="2600" b="1"/>
              <a:t>no</a:t>
            </a:r>
            <a:r>
              <a:rPr lang="en-US"/>
              <a:t> transitive dependencies).</a:t>
            </a:r>
            <a:endParaRPr/>
          </a:p>
          <a:p>
            <a:pPr marL="91440" lvl="0" indent="-98425" algn="l" rtl="0">
              <a:lnSpc>
                <a:spcPct val="90000"/>
              </a:lnSpc>
              <a:spcBef>
                <a:spcPts val="1600"/>
              </a:spcBef>
              <a:spcAft>
                <a:spcPts val="0"/>
              </a:spcAft>
              <a:buSzPct val="100000"/>
              <a:buChar char=" "/>
            </a:pPr>
            <a:r>
              <a:rPr lang="en-US" b="1"/>
              <a:t>Explanation:</a:t>
            </a:r>
            <a:endParaRPr/>
          </a:p>
          <a:p>
            <a:pPr marL="91440" lvl="0" indent="-98425" algn="l" rtl="0">
              <a:lnSpc>
                <a:spcPct val="90000"/>
              </a:lnSpc>
              <a:spcBef>
                <a:spcPts val="1400"/>
              </a:spcBef>
              <a:spcAft>
                <a:spcPts val="0"/>
              </a:spcAft>
              <a:buSzPct val="100000"/>
              <a:buFont typeface="Arial"/>
              <a:buChar char="•"/>
            </a:pPr>
            <a:r>
              <a:rPr lang="en-US"/>
              <a:t>Every column should depend </a:t>
            </a:r>
            <a:r>
              <a:rPr lang="en-US" b="1"/>
              <a:t>only on the primary key</a:t>
            </a:r>
            <a:r>
              <a:rPr lang="en-US"/>
              <a:t>, not on other non-key columns.</a:t>
            </a:r>
            <a:endParaRPr/>
          </a:p>
          <a:p>
            <a:pPr marL="91440" lvl="0" indent="-98425" algn="l" rtl="0">
              <a:lnSpc>
                <a:spcPct val="90000"/>
              </a:lnSpc>
              <a:spcBef>
                <a:spcPts val="1400"/>
              </a:spcBef>
              <a:spcAft>
                <a:spcPts val="0"/>
              </a:spcAft>
              <a:buSzPct val="100000"/>
              <a:buFont typeface="Arial"/>
              <a:buChar char="•"/>
            </a:pPr>
            <a:r>
              <a:rPr lang="en-US"/>
              <a:t>If one non-key column determines another, that means there is a </a:t>
            </a:r>
            <a:r>
              <a:rPr lang="en-US" b="1"/>
              <a:t>transitive dependency</a:t>
            </a:r>
            <a:r>
              <a:rPr lang="en-US"/>
              <a:t>, and we need to </a:t>
            </a:r>
            <a:r>
              <a:rPr lang="en-US" b="1"/>
              <a:t>split the table</a:t>
            </a:r>
            <a:r>
              <a:rPr lang="en-US"/>
              <a:t>.</a:t>
            </a:r>
            <a:endParaRPr/>
          </a:p>
          <a:p>
            <a:pPr marL="91440" lvl="0" indent="-98425" algn="l" rtl="0">
              <a:lnSpc>
                <a:spcPct val="90000"/>
              </a:lnSpc>
              <a:spcBef>
                <a:spcPts val="1400"/>
              </a:spcBef>
              <a:spcAft>
                <a:spcPts val="0"/>
              </a:spcAft>
              <a:buSzPct val="100000"/>
              <a:buChar char=" "/>
            </a:pPr>
            <a:r>
              <a:rPr lang="en-US" b="1"/>
              <a:t>Definition</a:t>
            </a:r>
            <a:endParaRPr/>
          </a:p>
          <a:p>
            <a:pPr marL="91440" lvl="0" indent="-98425" algn="l" rtl="0">
              <a:lnSpc>
                <a:spcPct val="90000"/>
              </a:lnSpc>
              <a:spcBef>
                <a:spcPts val="1400"/>
              </a:spcBef>
              <a:spcAft>
                <a:spcPts val="0"/>
              </a:spcAft>
              <a:buSzPct val="100000"/>
              <a:buChar char=" "/>
            </a:pPr>
            <a:r>
              <a:rPr lang="en-US"/>
              <a:t>Reln R with FDs </a:t>
            </a:r>
            <a:r>
              <a:rPr lang="en-US" i="1"/>
              <a:t>F</a:t>
            </a:r>
            <a:r>
              <a:rPr lang="en-US"/>
              <a:t> is in </a:t>
            </a:r>
            <a:r>
              <a:rPr lang="en-US">
                <a:solidFill>
                  <a:schemeClr val="accent2"/>
                </a:solidFill>
              </a:rPr>
              <a:t>3NF</a:t>
            </a:r>
            <a:r>
              <a:rPr lang="en-US"/>
              <a:t> if, for all X -&gt; A  in F</a:t>
            </a:r>
            <a:r>
              <a:rPr lang="en-US" baseline="30000"/>
              <a:t>+</a:t>
            </a:r>
            <a:endParaRPr/>
          </a:p>
          <a:p>
            <a:pPr marL="384048" lvl="1" indent="-182879" algn="l" rtl="0">
              <a:lnSpc>
                <a:spcPct val="90000"/>
              </a:lnSpc>
              <a:spcBef>
                <a:spcPts val="400"/>
              </a:spcBef>
              <a:spcAft>
                <a:spcPts val="0"/>
              </a:spcAft>
              <a:buSzPct val="75000"/>
              <a:buChar char="◦"/>
            </a:pPr>
            <a:r>
              <a:rPr lang="en-US"/>
              <a:t>A -&gt; X   (called a </a:t>
            </a:r>
            <a:r>
              <a:rPr lang="en-US" i="1"/>
              <a:t>trivial</a:t>
            </a:r>
            <a:r>
              <a:rPr lang="en-US"/>
              <a:t> FD), or</a:t>
            </a:r>
            <a:endParaRPr/>
          </a:p>
          <a:p>
            <a:pPr marL="384048" lvl="1" indent="-182879" algn="l" rtl="0">
              <a:lnSpc>
                <a:spcPct val="90000"/>
              </a:lnSpc>
              <a:spcBef>
                <a:spcPts val="600"/>
              </a:spcBef>
              <a:spcAft>
                <a:spcPts val="0"/>
              </a:spcAft>
              <a:buSzPct val="75000"/>
              <a:buChar char="◦"/>
            </a:pPr>
            <a:r>
              <a:rPr lang="en-US"/>
              <a:t>X contains a key for R, or</a:t>
            </a:r>
            <a:endParaRPr/>
          </a:p>
          <a:p>
            <a:pPr marL="384048" lvl="1" indent="-182879" algn="l" rtl="0">
              <a:lnSpc>
                <a:spcPct val="90000"/>
              </a:lnSpc>
              <a:spcBef>
                <a:spcPts val="600"/>
              </a:spcBef>
              <a:spcAft>
                <a:spcPts val="0"/>
              </a:spcAft>
              <a:buSzPct val="75000"/>
              <a:buChar char="◦"/>
            </a:pPr>
            <a:r>
              <a:rPr lang="en-US"/>
              <a:t>A is part of some key for R.</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31"/>
        <p:cNvGrpSpPr/>
        <p:nvPr/>
      </p:nvGrpSpPr>
      <p:grpSpPr>
        <a:xfrm>
          <a:off x="0" y="0"/>
          <a:ext cx="0" cy="0"/>
          <a:chOff x="0" y="0"/>
          <a:chExt cx="0" cy="0"/>
        </a:xfrm>
      </p:grpSpPr>
      <p:sp>
        <p:nvSpPr>
          <p:cNvPr id="532" name="Google Shape;532;p20"/>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Example</a:t>
            </a:r>
            <a:endParaRPr/>
          </a:p>
        </p:txBody>
      </p:sp>
      <p:sp>
        <p:nvSpPr>
          <p:cNvPr id="533" name="Google Shape;533;p20"/>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p>
            <a:pPr marL="609600" lvl="0" indent="-609600" algn="just" rtl="0">
              <a:lnSpc>
                <a:spcPct val="90000"/>
              </a:lnSpc>
              <a:spcBef>
                <a:spcPts val="0"/>
              </a:spcBef>
              <a:spcAft>
                <a:spcPts val="0"/>
              </a:spcAft>
              <a:buSzPts val="2000"/>
              <a:buNone/>
            </a:pPr>
            <a:r>
              <a:rPr lang="en-US" dirty="0">
                <a:solidFill>
                  <a:srgbClr val="CC0000"/>
                </a:solidFill>
              </a:rPr>
              <a:t>Example (Not in 3NF)</a:t>
            </a:r>
            <a:endParaRPr dirty="0"/>
          </a:p>
          <a:p>
            <a:pPr marL="609600" lvl="0" indent="-609600" algn="just" rtl="0">
              <a:lnSpc>
                <a:spcPct val="90000"/>
              </a:lnSpc>
              <a:spcBef>
                <a:spcPts val="1400"/>
              </a:spcBef>
              <a:spcAft>
                <a:spcPts val="0"/>
              </a:spcAft>
              <a:buSzPts val="2000"/>
              <a:buNone/>
            </a:pPr>
            <a:r>
              <a:rPr lang="en-US" dirty="0"/>
              <a:t>Scheme -&gt;{Title, </a:t>
            </a:r>
            <a:r>
              <a:rPr lang="en-US" dirty="0" err="1"/>
              <a:t>PubID</a:t>
            </a:r>
            <a:r>
              <a:rPr lang="en-US" dirty="0"/>
              <a:t>, </a:t>
            </a:r>
            <a:r>
              <a:rPr lang="en-US" dirty="0" err="1"/>
              <a:t>PageCount</a:t>
            </a:r>
            <a:r>
              <a:rPr lang="en-US" dirty="0"/>
              <a:t>, Price }</a:t>
            </a:r>
            <a:endParaRPr dirty="0"/>
          </a:p>
          <a:p>
            <a:pPr marL="1100138" lvl="1" indent="-533400" algn="just" rtl="0">
              <a:lnSpc>
                <a:spcPct val="90000"/>
              </a:lnSpc>
              <a:spcBef>
                <a:spcPts val="400"/>
              </a:spcBef>
              <a:spcAft>
                <a:spcPts val="0"/>
              </a:spcAft>
              <a:buSzPts val="1800"/>
              <a:buFont typeface="Calibri"/>
              <a:buAutoNum type="arabicPeriod"/>
            </a:pPr>
            <a:r>
              <a:rPr lang="en-US" dirty="0"/>
              <a:t>Key -&gt;{Title, </a:t>
            </a:r>
            <a:r>
              <a:rPr lang="en-US" dirty="0" err="1"/>
              <a:t>PubId</a:t>
            </a:r>
            <a:r>
              <a:rPr lang="en-US" dirty="0"/>
              <a:t>}</a:t>
            </a:r>
            <a:endParaRPr dirty="0"/>
          </a:p>
          <a:p>
            <a:pPr marL="1100138" lvl="1" indent="-533400" algn="just" rtl="0">
              <a:lnSpc>
                <a:spcPct val="90000"/>
              </a:lnSpc>
              <a:spcBef>
                <a:spcPts val="600"/>
              </a:spcBef>
              <a:spcAft>
                <a:spcPts val="0"/>
              </a:spcAft>
              <a:buSzPts val="1800"/>
              <a:buFont typeface="Calibri"/>
              <a:buAutoNum type="arabicPeriod"/>
            </a:pPr>
            <a:r>
              <a:rPr lang="en-US" dirty="0"/>
              <a:t>{Title, </a:t>
            </a:r>
            <a:r>
              <a:rPr lang="en-US" dirty="0" err="1"/>
              <a:t>PubId</a:t>
            </a:r>
            <a:r>
              <a:rPr lang="en-US" dirty="0"/>
              <a:t>} -&gt;{</a:t>
            </a:r>
            <a:r>
              <a:rPr lang="en-US" dirty="0" err="1"/>
              <a:t>PageCount</a:t>
            </a:r>
            <a:r>
              <a:rPr lang="en-US" dirty="0"/>
              <a:t>}</a:t>
            </a:r>
            <a:endParaRPr dirty="0"/>
          </a:p>
          <a:p>
            <a:pPr marL="1100138" lvl="1" indent="-533400" algn="just" rtl="0">
              <a:lnSpc>
                <a:spcPct val="90000"/>
              </a:lnSpc>
              <a:spcBef>
                <a:spcPts val="600"/>
              </a:spcBef>
              <a:spcAft>
                <a:spcPts val="0"/>
              </a:spcAft>
              <a:buSzPts val="1800"/>
              <a:buFont typeface="Calibri"/>
              <a:buAutoNum type="arabicPeriod"/>
            </a:pPr>
            <a:r>
              <a:rPr lang="en-US" dirty="0"/>
              <a:t>{</a:t>
            </a:r>
            <a:r>
              <a:rPr lang="en-US" dirty="0" err="1"/>
              <a:t>PageCount</a:t>
            </a:r>
            <a:r>
              <a:rPr lang="en-US" dirty="0"/>
              <a:t>} -&gt;{Price}</a:t>
            </a:r>
            <a:endParaRPr dirty="0"/>
          </a:p>
          <a:p>
            <a:pPr marL="1100138" lvl="1" indent="-533400" algn="just" rtl="0">
              <a:lnSpc>
                <a:spcPct val="90000"/>
              </a:lnSpc>
              <a:spcBef>
                <a:spcPts val="600"/>
              </a:spcBef>
              <a:spcAft>
                <a:spcPts val="0"/>
              </a:spcAft>
              <a:buSzPts val="1800"/>
              <a:buFont typeface="Calibri"/>
              <a:buAutoNum type="arabicPeriod"/>
            </a:pPr>
            <a:r>
              <a:rPr lang="en-US" dirty="0"/>
              <a:t>Both Price and </a:t>
            </a:r>
            <a:r>
              <a:rPr lang="en-US" dirty="0" err="1"/>
              <a:t>PageCount</a:t>
            </a:r>
            <a:r>
              <a:rPr lang="en-US" dirty="0"/>
              <a:t> depend on a key hence 2NF</a:t>
            </a:r>
            <a:endParaRPr dirty="0"/>
          </a:p>
          <a:p>
            <a:pPr marL="1100138" lvl="1" indent="-533400" algn="just" rtl="0">
              <a:lnSpc>
                <a:spcPct val="90000"/>
              </a:lnSpc>
              <a:spcBef>
                <a:spcPts val="600"/>
              </a:spcBef>
              <a:spcAft>
                <a:spcPts val="0"/>
              </a:spcAft>
              <a:buSzPts val="1800"/>
              <a:buFont typeface="Calibri"/>
              <a:buAutoNum type="arabicPeriod"/>
            </a:pPr>
            <a:r>
              <a:rPr lang="en-US" dirty="0"/>
              <a:t>Transitively {Title, </a:t>
            </a:r>
            <a:r>
              <a:rPr lang="en-US" dirty="0" err="1"/>
              <a:t>PubID</a:t>
            </a:r>
            <a:r>
              <a:rPr lang="en-US" dirty="0"/>
              <a:t>} -&gt;{Price} hence not in 3NF</a:t>
            </a:r>
            <a:endParaRPr dirty="0"/>
          </a:p>
          <a:p>
            <a:pPr marL="91440" lvl="0" indent="0" algn="l" rtl="0">
              <a:lnSpc>
                <a:spcPct val="90000"/>
              </a:lnSpc>
              <a:spcBef>
                <a:spcPts val="1600"/>
              </a:spcBef>
              <a:spcAft>
                <a:spcPts val="0"/>
              </a:spcAft>
              <a:buSzPts val="2000"/>
              <a:buNone/>
            </a:pPr>
            <a:endParaRP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sp>
        <p:nvSpPr>
          <p:cNvPr id="538" name="Google Shape;538;p21"/>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Example</a:t>
            </a:r>
            <a:endParaRPr/>
          </a:p>
        </p:txBody>
      </p:sp>
      <p:sp>
        <p:nvSpPr>
          <p:cNvPr id="539" name="Google Shape;539;p21"/>
          <p:cNvSpPr txBox="1">
            <a:spLocks noGrp="1"/>
          </p:cNvSpPr>
          <p:nvPr>
            <p:ph type="body" idx="1"/>
          </p:nvPr>
        </p:nvSpPr>
        <p:spPr>
          <a:xfrm>
            <a:off x="1096963" y="1846263"/>
            <a:ext cx="10058400" cy="4022725"/>
          </a:xfrm>
          <a:prstGeom prst="rect">
            <a:avLst/>
          </a:prstGeom>
          <a:noFill/>
          <a:ln>
            <a:noFill/>
          </a:ln>
        </p:spPr>
        <p:txBody>
          <a:bodyPr spcFirstLastPara="1" wrap="square" lIns="0" tIns="45700" rIns="0" bIns="45700" anchor="t" anchorCtr="0">
            <a:normAutofit fontScale="77500" lnSpcReduction="20000"/>
          </a:bodyPr>
          <a:lstStyle/>
          <a:p>
            <a:pPr marL="609600" lvl="0" indent="-609600" algn="just" rtl="0">
              <a:lnSpc>
                <a:spcPct val="90000"/>
              </a:lnSpc>
              <a:spcBef>
                <a:spcPts val="0"/>
              </a:spcBef>
              <a:spcAft>
                <a:spcPts val="0"/>
              </a:spcAft>
              <a:buSzPct val="100000"/>
              <a:buFont typeface="Calibri"/>
              <a:buNone/>
            </a:pPr>
            <a:r>
              <a:rPr lang="en-US" sz="2000" dirty="0">
                <a:solidFill>
                  <a:srgbClr val="CC0000"/>
                </a:solidFill>
              </a:rPr>
              <a:t>Example 2 (Not in 3NF) </a:t>
            </a:r>
            <a:endParaRPr dirty="0"/>
          </a:p>
          <a:p>
            <a:pPr marL="609600" lvl="0" indent="-609600" algn="just" rtl="0">
              <a:lnSpc>
                <a:spcPct val="90000"/>
              </a:lnSpc>
              <a:spcBef>
                <a:spcPts val="1400"/>
              </a:spcBef>
              <a:spcAft>
                <a:spcPts val="0"/>
              </a:spcAft>
              <a:buSzPct val="100000"/>
              <a:buFont typeface="Calibri"/>
              <a:buNone/>
            </a:pPr>
            <a:r>
              <a:rPr lang="en-US" sz="1800" dirty="0"/>
              <a:t>Scheme -&gt;{</a:t>
            </a:r>
            <a:r>
              <a:rPr lang="en-US" sz="1800" u="sng" dirty="0"/>
              <a:t>Studio</a:t>
            </a:r>
            <a:r>
              <a:rPr lang="en-US" sz="1800" dirty="0"/>
              <a:t>, </a:t>
            </a:r>
            <a:r>
              <a:rPr lang="en-US" sz="1800" dirty="0" err="1"/>
              <a:t>StudioCity</a:t>
            </a:r>
            <a:r>
              <a:rPr lang="en-US" sz="1800" dirty="0"/>
              <a:t>, </a:t>
            </a:r>
            <a:r>
              <a:rPr lang="en-US" sz="1800" dirty="0" err="1"/>
              <a:t>CityTemp</a:t>
            </a:r>
            <a:r>
              <a:rPr lang="en-US" sz="1800" dirty="0"/>
              <a:t>}	</a:t>
            </a:r>
            <a:endParaRPr dirty="0"/>
          </a:p>
          <a:p>
            <a:pPr marL="1100138" lvl="1" indent="-533400" algn="just" rtl="0">
              <a:lnSpc>
                <a:spcPct val="90000"/>
              </a:lnSpc>
              <a:spcBef>
                <a:spcPts val="400"/>
              </a:spcBef>
              <a:spcAft>
                <a:spcPts val="0"/>
              </a:spcAft>
              <a:buSzPct val="100000"/>
              <a:buFont typeface="Calibri"/>
              <a:buAutoNum type="arabicPeriod"/>
            </a:pPr>
            <a:r>
              <a:rPr lang="en-US" sz="1600" dirty="0"/>
              <a:t>Primary Key -&gt;{Studio}</a:t>
            </a:r>
            <a:endParaRPr dirty="0"/>
          </a:p>
          <a:p>
            <a:pPr marL="1100138" lvl="1" indent="-533400" algn="just" rtl="0">
              <a:lnSpc>
                <a:spcPct val="90000"/>
              </a:lnSpc>
              <a:spcBef>
                <a:spcPts val="600"/>
              </a:spcBef>
              <a:spcAft>
                <a:spcPts val="0"/>
              </a:spcAft>
              <a:buSzPct val="100000"/>
              <a:buFont typeface="Calibri"/>
              <a:buAutoNum type="arabicPeriod"/>
            </a:pPr>
            <a:r>
              <a:rPr lang="en-US" sz="1600" dirty="0"/>
              <a:t>{Studio} -&gt;{</a:t>
            </a:r>
            <a:r>
              <a:rPr lang="en-US" sz="1600" dirty="0" err="1"/>
              <a:t>StudioCity</a:t>
            </a:r>
            <a:r>
              <a:rPr lang="en-US" sz="1600" dirty="0"/>
              <a:t>}</a:t>
            </a:r>
            <a:endParaRPr dirty="0"/>
          </a:p>
          <a:p>
            <a:pPr marL="1100138" lvl="1" indent="-533400" algn="just" rtl="0">
              <a:lnSpc>
                <a:spcPct val="90000"/>
              </a:lnSpc>
              <a:spcBef>
                <a:spcPts val="600"/>
              </a:spcBef>
              <a:spcAft>
                <a:spcPts val="0"/>
              </a:spcAft>
              <a:buSzPct val="100000"/>
              <a:buFont typeface="Calibri"/>
              <a:buAutoNum type="arabicPeriod"/>
            </a:pPr>
            <a:r>
              <a:rPr lang="en-US" sz="1600" dirty="0"/>
              <a:t>{</a:t>
            </a:r>
            <a:r>
              <a:rPr lang="en-US" sz="1600" dirty="0" err="1"/>
              <a:t>StudioCity</a:t>
            </a:r>
            <a:r>
              <a:rPr lang="en-US" sz="1600" dirty="0"/>
              <a:t>} -&gt;{</a:t>
            </a:r>
            <a:r>
              <a:rPr lang="en-US" sz="1600" dirty="0" err="1"/>
              <a:t>CityTemp</a:t>
            </a:r>
            <a:r>
              <a:rPr lang="en-US" sz="1600" dirty="0"/>
              <a:t>}</a:t>
            </a:r>
            <a:endParaRPr dirty="0"/>
          </a:p>
          <a:p>
            <a:pPr marL="1100138" lvl="1" indent="-533400" algn="just" rtl="0">
              <a:lnSpc>
                <a:spcPct val="90000"/>
              </a:lnSpc>
              <a:spcBef>
                <a:spcPts val="600"/>
              </a:spcBef>
              <a:spcAft>
                <a:spcPts val="0"/>
              </a:spcAft>
              <a:buSzPct val="100000"/>
              <a:buFont typeface="Calibri"/>
              <a:buAutoNum type="arabicPeriod"/>
            </a:pPr>
            <a:r>
              <a:rPr lang="en-US" sz="1600" dirty="0"/>
              <a:t>{Studio} -&gt;{</a:t>
            </a:r>
            <a:r>
              <a:rPr lang="en-US" sz="1600" dirty="0" err="1"/>
              <a:t>CityTemp</a:t>
            </a:r>
            <a:r>
              <a:rPr lang="en-US" sz="1600" dirty="0"/>
              <a:t>}</a:t>
            </a:r>
            <a:endParaRPr sz="1600" dirty="0"/>
          </a:p>
          <a:p>
            <a:pPr marL="1100138" lvl="1" indent="-533400" algn="just" rtl="0">
              <a:lnSpc>
                <a:spcPct val="90000"/>
              </a:lnSpc>
              <a:spcBef>
                <a:spcPts val="600"/>
              </a:spcBef>
              <a:spcAft>
                <a:spcPts val="0"/>
              </a:spcAft>
              <a:buSzPct val="100000"/>
              <a:buFont typeface="Calibri"/>
              <a:buAutoNum type="arabicPeriod"/>
            </a:pPr>
            <a:r>
              <a:rPr lang="en-US" sz="1600" dirty="0"/>
              <a:t>Both </a:t>
            </a:r>
            <a:r>
              <a:rPr lang="en-US" sz="1600" dirty="0" err="1"/>
              <a:t>StudioCity</a:t>
            </a:r>
            <a:r>
              <a:rPr lang="en-US" sz="1600" dirty="0"/>
              <a:t> and </a:t>
            </a:r>
            <a:r>
              <a:rPr lang="en-US" sz="1600" dirty="0" err="1"/>
              <a:t>CityTemp</a:t>
            </a:r>
            <a:r>
              <a:rPr lang="en-US" sz="1600" dirty="0"/>
              <a:t> depend on the entire key hence 2NF</a:t>
            </a:r>
            <a:endParaRPr dirty="0"/>
          </a:p>
          <a:p>
            <a:pPr marL="1100138" lvl="1" indent="-533400" algn="just" rtl="0">
              <a:lnSpc>
                <a:spcPct val="90000"/>
              </a:lnSpc>
              <a:spcBef>
                <a:spcPts val="600"/>
              </a:spcBef>
              <a:spcAft>
                <a:spcPts val="0"/>
              </a:spcAft>
              <a:buSzPct val="100000"/>
              <a:buFont typeface="Calibri"/>
              <a:buAutoNum type="arabicPeriod"/>
            </a:pPr>
            <a:r>
              <a:rPr lang="en-US" sz="1600" dirty="0" err="1"/>
              <a:t>CityTemp</a:t>
            </a:r>
            <a:r>
              <a:rPr lang="en-US" sz="1600" dirty="0"/>
              <a:t> transitively depends on Studio hence violates 3NF </a:t>
            </a:r>
            <a:endParaRPr dirty="0"/>
          </a:p>
          <a:p>
            <a:pPr marL="1100138" lvl="1" indent="-533400" algn="just" rtl="0">
              <a:lnSpc>
                <a:spcPct val="90000"/>
              </a:lnSpc>
              <a:spcBef>
                <a:spcPts val="600"/>
              </a:spcBef>
              <a:spcAft>
                <a:spcPts val="0"/>
              </a:spcAft>
              <a:buSzPct val="100000"/>
              <a:buFont typeface="Calibri"/>
              <a:buNone/>
            </a:pPr>
            <a:endParaRPr sz="1600" dirty="0"/>
          </a:p>
          <a:p>
            <a:pPr marL="609600" lvl="0" indent="-609600" algn="just" rtl="0">
              <a:lnSpc>
                <a:spcPct val="90000"/>
              </a:lnSpc>
              <a:spcBef>
                <a:spcPts val="1600"/>
              </a:spcBef>
              <a:spcAft>
                <a:spcPts val="0"/>
              </a:spcAft>
              <a:buSzPct val="100000"/>
              <a:buFont typeface="Calibri"/>
              <a:buNone/>
            </a:pPr>
            <a:r>
              <a:rPr lang="en-US" sz="2000" dirty="0">
                <a:solidFill>
                  <a:srgbClr val="CC0000"/>
                </a:solidFill>
              </a:rPr>
              <a:t>Example 3 (Not in 3NF) </a:t>
            </a:r>
            <a:endParaRPr dirty="0"/>
          </a:p>
          <a:p>
            <a:pPr marL="609600" lvl="0" indent="-609600" algn="just" rtl="0">
              <a:lnSpc>
                <a:spcPct val="90000"/>
              </a:lnSpc>
              <a:spcBef>
                <a:spcPts val="1400"/>
              </a:spcBef>
              <a:spcAft>
                <a:spcPts val="0"/>
              </a:spcAft>
              <a:buSzPct val="100000"/>
              <a:buFont typeface="Calibri"/>
              <a:buNone/>
            </a:pPr>
            <a:r>
              <a:rPr lang="en-US" sz="1800" dirty="0"/>
              <a:t>Scheme -&gt;{</a:t>
            </a:r>
            <a:r>
              <a:rPr lang="en-US" sz="1800" dirty="0" err="1"/>
              <a:t>BuildingID</a:t>
            </a:r>
            <a:r>
              <a:rPr lang="en-US" sz="1800" dirty="0"/>
              <a:t>, Contractor, Fee}</a:t>
            </a:r>
            <a:endParaRPr dirty="0"/>
          </a:p>
          <a:p>
            <a:pPr marL="1100138" lvl="1" indent="-533400" algn="just" rtl="0">
              <a:lnSpc>
                <a:spcPct val="90000"/>
              </a:lnSpc>
              <a:spcBef>
                <a:spcPts val="400"/>
              </a:spcBef>
              <a:spcAft>
                <a:spcPts val="0"/>
              </a:spcAft>
              <a:buSzPct val="100000"/>
              <a:buFont typeface="Calibri"/>
              <a:buAutoNum type="arabicPeriod"/>
            </a:pPr>
            <a:r>
              <a:rPr lang="en-US" sz="1600" dirty="0"/>
              <a:t>Primary Key -&gt;{</a:t>
            </a:r>
            <a:r>
              <a:rPr lang="en-US" sz="1600" dirty="0" err="1"/>
              <a:t>BuildingID</a:t>
            </a:r>
            <a:r>
              <a:rPr lang="en-US" sz="1600" dirty="0"/>
              <a:t>}</a:t>
            </a:r>
            <a:endParaRPr dirty="0"/>
          </a:p>
          <a:p>
            <a:pPr marL="1100138" lvl="1" indent="-533400" algn="just" rtl="0">
              <a:lnSpc>
                <a:spcPct val="90000"/>
              </a:lnSpc>
              <a:spcBef>
                <a:spcPts val="600"/>
              </a:spcBef>
              <a:spcAft>
                <a:spcPts val="0"/>
              </a:spcAft>
              <a:buSzPct val="100000"/>
              <a:buFont typeface="Calibri"/>
              <a:buAutoNum type="arabicPeriod"/>
            </a:pPr>
            <a:r>
              <a:rPr lang="en-US" sz="1600" dirty="0"/>
              <a:t>{</a:t>
            </a:r>
            <a:r>
              <a:rPr lang="en-US" sz="1600" dirty="0" err="1"/>
              <a:t>BuildingID</a:t>
            </a:r>
            <a:r>
              <a:rPr lang="en-US" sz="1600" dirty="0"/>
              <a:t>} -&gt;{Contractor}</a:t>
            </a:r>
            <a:endParaRPr sz="1600" dirty="0"/>
          </a:p>
          <a:p>
            <a:pPr marL="1100138" lvl="1" indent="-533400" algn="just" rtl="0">
              <a:lnSpc>
                <a:spcPct val="90000"/>
              </a:lnSpc>
              <a:spcBef>
                <a:spcPts val="600"/>
              </a:spcBef>
              <a:spcAft>
                <a:spcPts val="0"/>
              </a:spcAft>
              <a:buSzPct val="100000"/>
              <a:buFont typeface="Calibri"/>
              <a:buAutoNum type="arabicPeriod"/>
            </a:pPr>
            <a:r>
              <a:rPr lang="en-US" sz="1600" dirty="0"/>
              <a:t>{Contractor} -&gt;{Fee} </a:t>
            </a:r>
            <a:endParaRPr dirty="0"/>
          </a:p>
          <a:p>
            <a:pPr marL="1100138" lvl="1" indent="-533400" algn="just" rtl="0">
              <a:lnSpc>
                <a:spcPct val="90000"/>
              </a:lnSpc>
              <a:spcBef>
                <a:spcPts val="600"/>
              </a:spcBef>
              <a:spcAft>
                <a:spcPts val="0"/>
              </a:spcAft>
              <a:buSzPct val="100000"/>
              <a:buFont typeface="Calibri"/>
              <a:buAutoNum type="arabicPeriod"/>
            </a:pPr>
            <a:r>
              <a:rPr lang="en-US" sz="1600" dirty="0"/>
              <a:t>{</a:t>
            </a:r>
            <a:r>
              <a:rPr lang="en-US" sz="1600" dirty="0" err="1"/>
              <a:t>BuildingID</a:t>
            </a:r>
            <a:r>
              <a:rPr lang="en-US" sz="1600" dirty="0"/>
              <a:t>} -&gt;{Fee}</a:t>
            </a:r>
            <a:endParaRPr dirty="0"/>
          </a:p>
          <a:p>
            <a:pPr marL="1100138" lvl="1" indent="-533400" algn="just" rtl="0">
              <a:lnSpc>
                <a:spcPct val="90000"/>
              </a:lnSpc>
              <a:spcBef>
                <a:spcPts val="600"/>
              </a:spcBef>
              <a:spcAft>
                <a:spcPts val="0"/>
              </a:spcAft>
              <a:buSzPct val="100000"/>
              <a:buFont typeface="Calibri"/>
              <a:buAutoNum type="arabicPeriod"/>
            </a:pPr>
            <a:r>
              <a:rPr lang="en-US" sz="1600" dirty="0"/>
              <a:t>Fee transitively depends on the </a:t>
            </a:r>
            <a:r>
              <a:rPr lang="en-US" sz="1600" dirty="0" err="1"/>
              <a:t>BuildingID</a:t>
            </a:r>
            <a:endParaRPr sz="1600" dirty="0"/>
          </a:p>
          <a:p>
            <a:pPr marL="1100138" lvl="1" indent="-533400" algn="just" rtl="0">
              <a:lnSpc>
                <a:spcPct val="90000"/>
              </a:lnSpc>
              <a:spcBef>
                <a:spcPts val="600"/>
              </a:spcBef>
              <a:spcAft>
                <a:spcPts val="0"/>
              </a:spcAft>
              <a:buSzPct val="100000"/>
              <a:buFont typeface="Calibri"/>
              <a:buAutoNum type="arabicPeriod"/>
            </a:pPr>
            <a:r>
              <a:rPr lang="en-US" sz="1600" dirty="0"/>
              <a:t>Both Contractor and Fee depend on the entire key hence 2NF</a:t>
            </a:r>
            <a:endParaRPr sz="1600" dirty="0"/>
          </a:p>
        </p:txBody>
      </p:sp>
      <p:grpSp>
        <p:nvGrpSpPr>
          <p:cNvPr id="540" name="Google Shape;540;p21"/>
          <p:cNvGrpSpPr/>
          <p:nvPr/>
        </p:nvGrpSpPr>
        <p:grpSpPr>
          <a:xfrm>
            <a:off x="8102283" y="4013200"/>
            <a:ext cx="1011237" cy="319088"/>
            <a:chOff x="0" y="0"/>
            <a:chExt cx="637" cy="403"/>
          </a:xfrm>
        </p:grpSpPr>
        <p:sp>
          <p:nvSpPr>
            <p:cNvPr id="541" name="Google Shape;541;p21"/>
            <p:cNvSpPr/>
            <p:nvPr/>
          </p:nvSpPr>
          <p:spPr>
            <a:xfrm>
              <a:off x="43" y="0"/>
              <a:ext cx="551" cy="403"/>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a:solidFill>
                    <a:schemeClr val="dk1"/>
                  </a:solidFill>
                  <a:latin typeface="Arimo"/>
                  <a:ea typeface="Arimo"/>
                  <a:cs typeface="Arimo"/>
                  <a:sym typeface="Arimo"/>
                </a:rPr>
                <a:t>BuildingID</a:t>
              </a:r>
              <a:endParaRPr/>
            </a:p>
            <a:p>
              <a:pPr marL="0" marR="0" lvl="0" indent="0" algn="just" rtl="0">
                <a:spcBef>
                  <a:spcPts val="0"/>
                </a:spcBef>
                <a:spcAft>
                  <a:spcPts val="0"/>
                </a:spcAft>
                <a:buNone/>
              </a:pPr>
              <a:endParaRPr sz="1800" b="0">
                <a:solidFill>
                  <a:schemeClr val="dk1"/>
                </a:solidFill>
                <a:latin typeface="Times New Roman"/>
                <a:ea typeface="Times New Roman"/>
                <a:cs typeface="Times New Roman"/>
                <a:sym typeface="Times New Roman"/>
              </a:endParaRPr>
            </a:p>
          </p:txBody>
        </p:sp>
        <p:sp>
          <p:nvSpPr>
            <p:cNvPr id="542" name="Google Shape;542;p21"/>
            <p:cNvSpPr/>
            <p:nvPr/>
          </p:nvSpPr>
          <p:spPr>
            <a:xfrm>
              <a:off x="0" y="0"/>
              <a:ext cx="637" cy="403"/>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543" name="Google Shape;543;p21"/>
          <p:cNvGrpSpPr/>
          <p:nvPr/>
        </p:nvGrpSpPr>
        <p:grpSpPr>
          <a:xfrm>
            <a:off x="9113520" y="4013200"/>
            <a:ext cx="968375" cy="319088"/>
            <a:chOff x="637" y="0"/>
            <a:chExt cx="610" cy="403"/>
          </a:xfrm>
        </p:grpSpPr>
        <p:sp>
          <p:nvSpPr>
            <p:cNvPr id="544" name="Google Shape;544;p21"/>
            <p:cNvSpPr/>
            <p:nvPr/>
          </p:nvSpPr>
          <p:spPr>
            <a:xfrm>
              <a:off x="680" y="0"/>
              <a:ext cx="524" cy="403"/>
            </a:xfrm>
            <a:prstGeom prst="rect">
              <a:avLst/>
            </a:prstGeom>
            <a:noFill/>
            <a:ln>
              <a:noFill/>
            </a:ln>
          </p:spPr>
          <p:txBody>
            <a:bodyPr spcFirstLastPara="1" wrap="square" lIns="0" tIns="0" rIns="0" bIns="0" anchor="t" anchorCtr="0">
              <a:noAutofit/>
            </a:bodyPr>
            <a:lstStyle/>
            <a:p>
              <a:pPr marL="0" marR="0" lvl="0" indent="0" algn="just" rtl="0">
                <a:spcBef>
                  <a:spcPts val="0"/>
                </a:spcBef>
                <a:spcAft>
                  <a:spcPts val="0"/>
                </a:spcAft>
                <a:buNone/>
              </a:pPr>
              <a:r>
                <a:rPr lang="en-US" sz="1200">
                  <a:solidFill>
                    <a:schemeClr val="dk1"/>
                  </a:solidFill>
                  <a:latin typeface="Calibri"/>
                  <a:ea typeface="Calibri"/>
                  <a:cs typeface="Calibri"/>
                  <a:sym typeface="Calibri"/>
                </a:rPr>
                <a:t>Contractor</a:t>
              </a:r>
              <a:endParaRPr sz="120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endParaRPr sz="1800" b="0">
                <a:solidFill>
                  <a:schemeClr val="dk1"/>
                </a:solidFill>
                <a:latin typeface="Times New Roman"/>
                <a:ea typeface="Times New Roman"/>
                <a:cs typeface="Times New Roman"/>
                <a:sym typeface="Times New Roman"/>
              </a:endParaRPr>
            </a:p>
          </p:txBody>
        </p:sp>
        <p:sp>
          <p:nvSpPr>
            <p:cNvPr id="545" name="Google Shape;545;p21"/>
            <p:cNvSpPr/>
            <p:nvPr/>
          </p:nvSpPr>
          <p:spPr>
            <a:xfrm>
              <a:off x="637" y="0"/>
              <a:ext cx="610" cy="403"/>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546" name="Google Shape;546;p21"/>
          <p:cNvGrpSpPr/>
          <p:nvPr/>
        </p:nvGrpSpPr>
        <p:grpSpPr>
          <a:xfrm>
            <a:off x="10081895" y="4013200"/>
            <a:ext cx="657225" cy="319088"/>
            <a:chOff x="1247" y="0"/>
            <a:chExt cx="414" cy="403"/>
          </a:xfrm>
        </p:grpSpPr>
        <p:sp>
          <p:nvSpPr>
            <p:cNvPr id="547" name="Google Shape;547;p21"/>
            <p:cNvSpPr/>
            <p:nvPr/>
          </p:nvSpPr>
          <p:spPr>
            <a:xfrm>
              <a:off x="1290" y="0"/>
              <a:ext cx="328" cy="403"/>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a:solidFill>
                    <a:schemeClr val="dk1"/>
                  </a:solidFill>
                  <a:latin typeface="Arimo"/>
                  <a:ea typeface="Arimo"/>
                  <a:cs typeface="Arimo"/>
                  <a:sym typeface="Arimo"/>
                </a:rPr>
                <a:t>Fee</a:t>
              </a:r>
              <a:endParaRPr/>
            </a:p>
            <a:p>
              <a:pPr marL="0" marR="0" lvl="0" indent="0" algn="just" rtl="0">
                <a:spcBef>
                  <a:spcPts val="0"/>
                </a:spcBef>
                <a:spcAft>
                  <a:spcPts val="0"/>
                </a:spcAft>
                <a:buNone/>
              </a:pPr>
              <a:endParaRPr sz="1800" b="0">
                <a:solidFill>
                  <a:schemeClr val="dk1"/>
                </a:solidFill>
                <a:latin typeface="Times New Roman"/>
                <a:ea typeface="Times New Roman"/>
                <a:cs typeface="Times New Roman"/>
                <a:sym typeface="Times New Roman"/>
              </a:endParaRPr>
            </a:p>
          </p:txBody>
        </p:sp>
        <p:sp>
          <p:nvSpPr>
            <p:cNvPr id="548" name="Google Shape;548;p21"/>
            <p:cNvSpPr/>
            <p:nvPr/>
          </p:nvSpPr>
          <p:spPr>
            <a:xfrm>
              <a:off x="1247" y="0"/>
              <a:ext cx="414" cy="403"/>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549" name="Google Shape;549;p21"/>
          <p:cNvGrpSpPr/>
          <p:nvPr/>
        </p:nvGrpSpPr>
        <p:grpSpPr>
          <a:xfrm>
            <a:off x="8102283" y="4338638"/>
            <a:ext cx="1011237" cy="288925"/>
            <a:chOff x="0" y="403"/>
            <a:chExt cx="637" cy="403"/>
          </a:xfrm>
        </p:grpSpPr>
        <p:sp>
          <p:nvSpPr>
            <p:cNvPr id="550" name="Google Shape;550;p21"/>
            <p:cNvSpPr/>
            <p:nvPr/>
          </p:nvSpPr>
          <p:spPr>
            <a:xfrm>
              <a:off x="43" y="403"/>
              <a:ext cx="551" cy="403"/>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200" b="0">
                  <a:solidFill>
                    <a:schemeClr val="dk1"/>
                  </a:solidFill>
                  <a:latin typeface="Arimo"/>
                  <a:ea typeface="Arimo"/>
                  <a:cs typeface="Arimo"/>
                  <a:sym typeface="Arimo"/>
                </a:rPr>
                <a:t> 100</a:t>
              </a:r>
              <a:endParaRPr/>
            </a:p>
            <a:p>
              <a:pPr marL="0" marR="0" lvl="0" indent="0" algn="ctr" rtl="0">
                <a:spcBef>
                  <a:spcPts val="0"/>
                </a:spcBef>
                <a:spcAft>
                  <a:spcPts val="0"/>
                </a:spcAft>
                <a:buNone/>
              </a:pPr>
              <a:endParaRPr sz="1800" b="0">
                <a:solidFill>
                  <a:schemeClr val="dk1"/>
                </a:solidFill>
                <a:latin typeface="Times New Roman"/>
                <a:ea typeface="Times New Roman"/>
                <a:cs typeface="Times New Roman"/>
                <a:sym typeface="Times New Roman"/>
              </a:endParaRPr>
            </a:p>
          </p:txBody>
        </p:sp>
        <p:sp>
          <p:nvSpPr>
            <p:cNvPr id="551" name="Google Shape;551;p21"/>
            <p:cNvSpPr/>
            <p:nvPr/>
          </p:nvSpPr>
          <p:spPr>
            <a:xfrm>
              <a:off x="0" y="403"/>
              <a:ext cx="637" cy="403"/>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552" name="Google Shape;552;p21"/>
          <p:cNvGrpSpPr/>
          <p:nvPr/>
        </p:nvGrpSpPr>
        <p:grpSpPr>
          <a:xfrm>
            <a:off x="9113520" y="4338638"/>
            <a:ext cx="968375" cy="288925"/>
            <a:chOff x="637" y="403"/>
            <a:chExt cx="610" cy="403"/>
          </a:xfrm>
        </p:grpSpPr>
        <p:sp>
          <p:nvSpPr>
            <p:cNvPr id="553" name="Google Shape;553;p21"/>
            <p:cNvSpPr/>
            <p:nvPr/>
          </p:nvSpPr>
          <p:spPr>
            <a:xfrm>
              <a:off x="680" y="403"/>
              <a:ext cx="524" cy="403"/>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200" b="0">
                  <a:solidFill>
                    <a:schemeClr val="dk1"/>
                  </a:solidFill>
                  <a:latin typeface="Arimo"/>
                  <a:ea typeface="Arimo"/>
                  <a:cs typeface="Arimo"/>
                  <a:sym typeface="Arimo"/>
                </a:rPr>
                <a:t>Randolph</a:t>
              </a:r>
              <a:endParaRPr/>
            </a:p>
            <a:p>
              <a:pPr marL="0" marR="0" lvl="0" indent="0" algn="ctr" rtl="0">
                <a:spcBef>
                  <a:spcPts val="0"/>
                </a:spcBef>
                <a:spcAft>
                  <a:spcPts val="0"/>
                </a:spcAft>
                <a:buNone/>
              </a:pPr>
              <a:endParaRPr sz="1800" b="0">
                <a:solidFill>
                  <a:schemeClr val="dk1"/>
                </a:solidFill>
                <a:latin typeface="Times New Roman"/>
                <a:ea typeface="Times New Roman"/>
                <a:cs typeface="Times New Roman"/>
                <a:sym typeface="Times New Roman"/>
              </a:endParaRPr>
            </a:p>
          </p:txBody>
        </p:sp>
        <p:sp>
          <p:nvSpPr>
            <p:cNvPr id="554" name="Google Shape;554;p21"/>
            <p:cNvSpPr/>
            <p:nvPr/>
          </p:nvSpPr>
          <p:spPr>
            <a:xfrm>
              <a:off x="637" y="403"/>
              <a:ext cx="610" cy="403"/>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555" name="Google Shape;555;p21"/>
          <p:cNvGrpSpPr/>
          <p:nvPr/>
        </p:nvGrpSpPr>
        <p:grpSpPr>
          <a:xfrm>
            <a:off x="10081895" y="4338638"/>
            <a:ext cx="657225" cy="288925"/>
            <a:chOff x="1247" y="403"/>
            <a:chExt cx="414" cy="403"/>
          </a:xfrm>
        </p:grpSpPr>
        <p:sp>
          <p:nvSpPr>
            <p:cNvPr id="556" name="Google Shape;556;p21"/>
            <p:cNvSpPr/>
            <p:nvPr/>
          </p:nvSpPr>
          <p:spPr>
            <a:xfrm>
              <a:off x="1290" y="403"/>
              <a:ext cx="328" cy="403"/>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200" b="0">
                  <a:solidFill>
                    <a:schemeClr val="dk1"/>
                  </a:solidFill>
                  <a:latin typeface="Arimo"/>
                  <a:ea typeface="Arimo"/>
                  <a:cs typeface="Arimo"/>
                  <a:sym typeface="Arimo"/>
                </a:rPr>
                <a:t>1200</a:t>
              </a:r>
              <a:endParaRPr/>
            </a:p>
            <a:p>
              <a:pPr marL="0" marR="0" lvl="0" indent="0" algn="ctr" rtl="0">
                <a:spcBef>
                  <a:spcPts val="0"/>
                </a:spcBef>
                <a:spcAft>
                  <a:spcPts val="0"/>
                </a:spcAft>
                <a:buNone/>
              </a:pPr>
              <a:endParaRPr sz="1800" b="0">
                <a:solidFill>
                  <a:schemeClr val="dk1"/>
                </a:solidFill>
                <a:latin typeface="Times New Roman"/>
                <a:ea typeface="Times New Roman"/>
                <a:cs typeface="Times New Roman"/>
                <a:sym typeface="Times New Roman"/>
              </a:endParaRPr>
            </a:p>
          </p:txBody>
        </p:sp>
        <p:sp>
          <p:nvSpPr>
            <p:cNvPr id="557" name="Google Shape;557;p21"/>
            <p:cNvSpPr/>
            <p:nvPr/>
          </p:nvSpPr>
          <p:spPr>
            <a:xfrm>
              <a:off x="1247" y="403"/>
              <a:ext cx="414" cy="403"/>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558" name="Google Shape;558;p21"/>
          <p:cNvGrpSpPr/>
          <p:nvPr/>
        </p:nvGrpSpPr>
        <p:grpSpPr>
          <a:xfrm>
            <a:off x="8102283" y="4627563"/>
            <a:ext cx="1011237" cy="258762"/>
            <a:chOff x="0" y="806"/>
            <a:chExt cx="637" cy="403"/>
          </a:xfrm>
        </p:grpSpPr>
        <p:sp>
          <p:nvSpPr>
            <p:cNvPr id="559" name="Google Shape;559;p21"/>
            <p:cNvSpPr/>
            <p:nvPr/>
          </p:nvSpPr>
          <p:spPr>
            <a:xfrm>
              <a:off x="43" y="806"/>
              <a:ext cx="551" cy="403"/>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200" b="0">
                  <a:solidFill>
                    <a:schemeClr val="dk1"/>
                  </a:solidFill>
                  <a:latin typeface="Arimo"/>
                  <a:ea typeface="Arimo"/>
                  <a:cs typeface="Arimo"/>
                  <a:sym typeface="Arimo"/>
                </a:rPr>
                <a:t>150</a:t>
              </a:r>
              <a:endParaRPr/>
            </a:p>
            <a:p>
              <a:pPr marL="0" marR="0" lvl="0" indent="0" algn="ctr" rtl="0">
                <a:spcBef>
                  <a:spcPts val="0"/>
                </a:spcBef>
                <a:spcAft>
                  <a:spcPts val="0"/>
                </a:spcAft>
                <a:buNone/>
              </a:pPr>
              <a:endParaRPr sz="1800" b="0">
                <a:solidFill>
                  <a:schemeClr val="dk1"/>
                </a:solidFill>
                <a:latin typeface="Times New Roman"/>
                <a:ea typeface="Times New Roman"/>
                <a:cs typeface="Times New Roman"/>
                <a:sym typeface="Times New Roman"/>
              </a:endParaRPr>
            </a:p>
          </p:txBody>
        </p:sp>
        <p:sp>
          <p:nvSpPr>
            <p:cNvPr id="560" name="Google Shape;560;p21"/>
            <p:cNvSpPr/>
            <p:nvPr/>
          </p:nvSpPr>
          <p:spPr>
            <a:xfrm>
              <a:off x="0" y="806"/>
              <a:ext cx="637" cy="403"/>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561" name="Google Shape;561;p21"/>
          <p:cNvGrpSpPr/>
          <p:nvPr/>
        </p:nvGrpSpPr>
        <p:grpSpPr>
          <a:xfrm>
            <a:off x="9113520" y="4627563"/>
            <a:ext cx="968375" cy="258762"/>
            <a:chOff x="637" y="806"/>
            <a:chExt cx="610" cy="403"/>
          </a:xfrm>
        </p:grpSpPr>
        <p:sp>
          <p:nvSpPr>
            <p:cNvPr id="562" name="Google Shape;562;p21"/>
            <p:cNvSpPr/>
            <p:nvPr/>
          </p:nvSpPr>
          <p:spPr>
            <a:xfrm>
              <a:off x="680" y="806"/>
              <a:ext cx="524" cy="403"/>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200" b="0">
                  <a:solidFill>
                    <a:schemeClr val="dk1"/>
                  </a:solidFill>
                  <a:latin typeface="Arimo"/>
                  <a:ea typeface="Arimo"/>
                  <a:cs typeface="Arimo"/>
                  <a:sym typeface="Arimo"/>
                </a:rPr>
                <a:t>Ingersoll</a:t>
              </a:r>
              <a:endParaRPr/>
            </a:p>
            <a:p>
              <a:pPr marL="0" marR="0" lvl="0" indent="0" algn="ctr" rtl="0">
                <a:spcBef>
                  <a:spcPts val="0"/>
                </a:spcBef>
                <a:spcAft>
                  <a:spcPts val="0"/>
                </a:spcAft>
                <a:buNone/>
              </a:pPr>
              <a:endParaRPr sz="1800" b="0">
                <a:solidFill>
                  <a:schemeClr val="dk1"/>
                </a:solidFill>
                <a:latin typeface="Times New Roman"/>
                <a:ea typeface="Times New Roman"/>
                <a:cs typeface="Times New Roman"/>
                <a:sym typeface="Times New Roman"/>
              </a:endParaRPr>
            </a:p>
          </p:txBody>
        </p:sp>
        <p:sp>
          <p:nvSpPr>
            <p:cNvPr id="563" name="Google Shape;563;p21"/>
            <p:cNvSpPr/>
            <p:nvPr/>
          </p:nvSpPr>
          <p:spPr>
            <a:xfrm>
              <a:off x="637" y="806"/>
              <a:ext cx="610" cy="403"/>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564" name="Google Shape;564;p21"/>
          <p:cNvGrpSpPr/>
          <p:nvPr/>
        </p:nvGrpSpPr>
        <p:grpSpPr>
          <a:xfrm>
            <a:off x="10081895" y="4627563"/>
            <a:ext cx="657225" cy="258762"/>
            <a:chOff x="1247" y="806"/>
            <a:chExt cx="414" cy="403"/>
          </a:xfrm>
        </p:grpSpPr>
        <p:sp>
          <p:nvSpPr>
            <p:cNvPr id="565" name="Google Shape;565;p21"/>
            <p:cNvSpPr/>
            <p:nvPr/>
          </p:nvSpPr>
          <p:spPr>
            <a:xfrm>
              <a:off x="1290" y="806"/>
              <a:ext cx="328" cy="403"/>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200" b="0">
                  <a:solidFill>
                    <a:schemeClr val="dk1"/>
                  </a:solidFill>
                  <a:latin typeface="Arimo"/>
                  <a:ea typeface="Arimo"/>
                  <a:cs typeface="Arimo"/>
                  <a:sym typeface="Arimo"/>
                </a:rPr>
                <a:t>1100</a:t>
              </a:r>
              <a:endParaRPr/>
            </a:p>
            <a:p>
              <a:pPr marL="0" marR="0" lvl="0" indent="0" algn="ctr" rtl="0">
                <a:spcBef>
                  <a:spcPts val="0"/>
                </a:spcBef>
                <a:spcAft>
                  <a:spcPts val="0"/>
                </a:spcAft>
                <a:buNone/>
              </a:pPr>
              <a:endParaRPr sz="1800" b="0">
                <a:solidFill>
                  <a:schemeClr val="dk1"/>
                </a:solidFill>
                <a:latin typeface="Times New Roman"/>
                <a:ea typeface="Times New Roman"/>
                <a:cs typeface="Times New Roman"/>
                <a:sym typeface="Times New Roman"/>
              </a:endParaRPr>
            </a:p>
          </p:txBody>
        </p:sp>
        <p:sp>
          <p:nvSpPr>
            <p:cNvPr id="566" name="Google Shape;566;p21"/>
            <p:cNvSpPr/>
            <p:nvPr/>
          </p:nvSpPr>
          <p:spPr>
            <a:xfrm>
              <a:off x="1247" y="806"/>
              <a:ext cx="414" cy="403"/>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567" name="Google Shape;567;p21"/>
          <p:cNvGrpSpPr/>
          <p:nvPr/>
        </p:nvGrpSpPr>
        <p:grpSpPr>
          <a:xfrm>
            <a:off x="8102283" y="4884738"/>
            <a:ext cx="1011237" cy="304800"/>
            <a:chOff x="0" y="1209"/>
            <a:chExt cx="637" cy="403"/>
          </a:xfrm>
        </p:grpSpPr>
        <p:sp>
          <p:nvSpPr>
            <p:cNvPr id="568" name="Google Shape;568;p21"/>
            <p:cNvSpPr/>
            <p:nvPr/>
          </p:nvSpPr>
          <p:spPr>
            <a:xfrm>
              <a:off x="43" y="1209"/>
              <a:ext cx="551" cy="403"/>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200" b="0">
                  <a:solidFill>
                    <a:schemeClr val="dk1"/>
                  </a:solidFill>
                  <a:latin typeface="Arimo"/>
                  <a:ea typeface="Arimo"/>
                  <a:cs typeface="Arimo"/>
                  <a:sym typeface="Arimo"/>
                </a:rPr>
                <a:t>200</a:t>
              </a:r>
              <a:endParaRPr/>
            </a:p>
            <a:p>
              <a:pPr marL="0" marR="0" lvl="0" indent="0" algn="ctr" rtl="0">
                <a:spcBef>
                  <a:spcPts val="0"/>
                </a:spcBef>
                <a:spcAft>
                  <a:spcPts val="0"/>
                </a:spcAft>
                <a:buNone/>
              </a:pPr>
              <a:endParaRPr sz="1800" b="0">
                <a:solidFill>
                  <a:schemeClr val="dk1"/>
                </a:solidFill>
                <a:latin typeface="Times New Roman"/>
                <a:ea typeface="Times New Roman"/>
                <a:cs typeface="Times New Roman"/>
                <a:sym typeface="Times New Roman"/>
              </a:endParaRPr>
            </a:p>
          </p:txBody>
        </p:sp>
        <p:sp>
          <p:nvSpPr>
            <p:cNvPr id="569" name="Google Shape;569;p21"/>
            <p:cNvSpPr/>
            <p:nvPr/>
          </p:nvSpPr>
          <p:spPr>
            <a:xfrm>
              <a:off x="0" y="1209"/>
              <a:ext cx="637" cy="403"/>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570" name="Google Shape;570;p21"/>
          <p:cNvGrpSpPr/>
          <p:nvPr/>
        </p:nvGrpSpPr>
        <p:grpSpPr>
          <a:xfrm>
            <a:off x="9113520" y="4884738"/>
            <a:ext cx="968375" cy="304800"/>
            <a:chOff x="637" y="1209"/>
            <a:chExt cx="610" cy="403"/>
          </a:xfrm>
        </p:grpSpPr>
        <p:sp>
          <p:nvSpPr>
            <p:cNvPr id="571" name="Google Shape;571;p21"/>
            <p:cNvSpPr/>
            <p:nvPr/>
          </p:nvSpPr>
          <p:spPr>
            <a:xfrm>
              <a:off x="680" y="1209"/>
              <a:ext cx="524" cy="403"/>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200" b="0">
                  <a:solidFill>
                    <a:schemeClr val="dk1"/>
                  </a:solidFill>
                  <a:latin typeface="Arimo"/>
                  <a:ea typeface="Arimo"/>
                  <a:cs typeface="Arimo"/>
                  <a:sym typeface="Arimo"/>
                </a:rPr>
                <a:t>Randolph</a:t>
              </a:r>
              <a:endParaRPr/>
            </a:p>
            <a:p>
              <a:pPr marL="0" marR="0" lvl="0" indent="0" algn="ctr" rtl="0">
                <a:spcBef>
                  <a:spcPts val="0"/>
                </a:spcBef>
                <a:spcAft>
                  <a:spcPts val="0"/>
                </a:spcAft>
                <a:buNone/>
              </a:pPr>
              <a:endParaRPr sz="1800" b="0">
                <a:solidFill>
                  <a:schemeClr val="dk1"/>
                </a:solidFill>
                <a:latin typeface="Times New Roman"/>
                <a:ea typeface="Times New Roman"/>
                <a:cs typeface="Times New Roman"/>
                <a:sym typeface="Times New Roman"/>
              </a:endParaRPr>
            </a:p>
          </p:txBody>
        </p:sp>
        <p:sp>
          <p:nvSpPr>
            <p:cNvPr id="572" name="Google Shape;572;p21"/>
            <p:cNvSpPr/>
            <p:nvPr/>
          </p:nvSpPr>
          <p:spPr>
            <a:xfrm>
              <a:off x="637" y="1209"/>
              <a:ext cx="610" cy="403"/>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573" name="Google Shape;573;p21"/>
          <p:cNvGrpSpPr/>
          <p:nvPr/>
        </p:nvGrpSpPr>
        <p:grpSpPr>
          <a:xfrm>
            <a:off x="10081895" y="4884738"/>
            <a:ext cx="657225" cy="304800"/>
            <a:chOff x="1247" y="1209"/>
            <a:chExt cx="414" cy="403"/>
          </a:xfrm>
        </p:grpSpPr>
        <p:sp>
          <p:nvSpPr>
            <p:cNvPr id="574" name="Google Shape;574;p21"/>
            <p:cNvSpPr/>
            <p:nvPr/>
          </p:nvSpPr>
          <p:spPr>
            <a:xfrm>
              <a:off x="1290" y="1209"/>
              <a:ext cx="328" cy="403"/>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200" b="0">
                  <a:solidFill>
                    <a:schemeClr val="dk1"/>
                  </a:solidFill>
                  <a:latin typeface="Arimo"/>
                  <a:ea typeface="Arimo"/>
                  <a:cs typeface="Arimo"/>
                  <a:sym typeface="Arimo"/>
                </a:rPr>
                <a:t>1200</a:t>
              </a:r>
              <a:endParaRPr/>
            </a:p>
            <a:p>
              <a:pPr marL="0" marR="0" lvl="0" indent="0" algn="ctr" rtl="0">
                <a:spcBef>
                  <a:spcPts val="0"/>
                </a:spcBef>
                <a:spcAft>
                  <a:spcPts val="0"/>
                </a:spcAft>
                <a:buNone/>
              </a:pPr>
              <a:endParaRPr sz="1800" b="0">
                <a:solidFill>
                  <a:schemeClr val="dk1"/>
                </a:solidFill>
                <a:latin typeface="Times New Roman"/>
                <a:ea typeface="Times New Roman"/>
                <a:cs typeface="Times New Roman"/>
                <a:sym typeface="Times New Roman"/>
              </a:endParaRPr>
            </a:p>
          </p:txBody>
        </p:sp>
        <p:sp>
          <p:nvSpPr>
            <p:cNvPr id="575" name="Google Shape;575;p21"/>
            <p:cNvSpPr/>
            <p:nvPr/>
          </p:nvSpPr>
          <p:spPr>
            <a:xfrm>
              <a:off x="1247" y="1209"/>
              <a:ext cx="414" cy="403"/>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576" name="Google Shape;576;p21"/>
          <p:cNvGrpSpPr/>
          <p:nvPr/>
        </p:nvGrpSpPr>
        <p:grpSpPr>
          <a:xfrm>
            <a:off x="8102283" y="5191125"/>
            <a:ext cx="1011237" cy="274638"/>
            <a:chOff x="0" y="1612"/>
            <a:chExt cx="637" cy="403"/>
          </a:xfrm>
        </p:grpSpPr>
        <p:sp>
          <p:nvSpPr>
            <p:cNvPr id="577" name="Google Shape;577;p21"/>
            <p:cNvSpPr/>
            <p:nvPr/>
          </p:nvSpPr>
          <p:spPr>
            <a:xfrm>
              <a:off x="43" y="1612"/>
              <a:ext cx="551" cy="403"/>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200" b="0">
                  <a:solidFill>
                    <a:schemeClr val="dk1"/>
                  </a:solidFill>
                  <a:latin typeface="Arimo"/>
                  <a:ea typeface="Arimo"/>
                  <a:cs typeface="Arimo"/>
                  <a:sym typeface="Arimo"/>
                </a:rPr>
                <a:t>250</a:t>
              </a:r>
              <a:endParaRPr/>
            </a:p>
            <a:p>
              <a:pPr marL="0" marR="0" lvl="0" indent="0" algn="ctr" rtl="0">
                <a:spcBef>
                  <a:spcPts val="0"/>
                </a:spcBef>
                <a:spcAft>
                  <a:spcPts val="0"/>
                </a:spcAft>
                <a:buNone/>
              </a:pPr>
              <a:endParaRPr sz="1800" b="0">
                <a:solidFill>
                  <a:schemeClr val="dk1"/>
                </a:solidFill>
                <a:latin typeface="Times New Roman"/>
                <a:ea typeface="Times New Roman"/>
                <a:cs typeface="Times New Roman"/>
                <a:sym typeface="Times New Roman"/>
              </a:endParaRPr>
            </a:p>
          </p:txBody>
        </p:sp>
        <p:sp>
          <p:nvSpPr>
            <p:cNvPr id="578" name="Google Shape;578;p21"/>
            <p:cNvSpPr/>
            <p:nvPr/>
          </p:nvSpPr>
          <p:spPr>
            <a:xfrm>
              <a:off x="0" y="1612"/>
              <a:ext cx="637" cy="403"/>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579" name="Google Shape;579;p21"/>
          <p:cNvGrpSpPr/>
          <p:nvPr/>
        </p:nvGrpSpPr>
        <p:grpSpPr>
          <a:xfrm>
            <a:off x="9113520" y="5191125"/>
            <a:ext cx="968375" cy="274638"/>
            <a:chOff x="637" y="1612"/>
            <a:chExt cx="610" cy="403"/>
          </a:xfrm>
        </p:grpSpPr>
        <p:sp>
          <p:nvSpPr>
            <p:cNvPr id="580" name="Google Shape;580;p21"/>
            <p:cNvSpPr/>
            <p:nvPr/>
          </p:nvSpPr>
          <p:spPr>
            <a:xfrm>
              <a:off x="680" y="1612"/>
              <a:ext cx="524" cy="403"/>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200" b="0">
                  <a:solidFill>
                    <a:schemeClr val="dk1"/>
                  </a:solidFill>
                  <a:latin typeface="Arimo"/>
                  <a:ea typeface="Arimo"/>
                  <a:cs typeface="Arimo"/>
                  <a:sym typeface="Arimo"/>
                </a:rPr>
                <a:t>Pitkin</a:t>
              </a:r>
              <a:endParaRPr/>
            </a:p>
            <a:p>
              <a:pPr marL="0" marR="0" lvl="0" indent="0" algn="ctr" rtl="0">
                <a:spcBef>
                  <a:spcPts val="0"/>
                </a:spcBef>
                <a:spcAft>
                  <a:spcPts val="0"/>
                </a:spcAft>
                <a:buNone/>
              </a:pPr>
              <a:endParaRPr sz="1800" b="0">
                <a:solidFill>
                  <a:schemeClr val="dk1"/>
                </a:solidFill>
                <a:latin typeface="Times New Roman"/>
                <a:ea typeface="Times New Roman"/>
                <a:cs typeface="Times New Roman"/>
                <a:sym typeface="Times New Roman"/>
              </a:endParaRPr>
            </a:p>
          </p:txBody>
        </p:sp>
        <p:sp>
          <p:nvSpPr>
            <p:cNvPr id="581" name="Google Shape;581;p21"/>
            <p:cNvSpPr/>
            <p:nvPr/>
          </p:nvSpPr>
          <p:spPr>
            <a:xfrm>
              <a:off x="637" y="1612"/>
              <a:ext cx="610" cy="403"/>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582" name="Google Shape;582;p21"/>
          <p:cNvGrpSpPr/>
          <p:nvPr/>
        </p:nvGrpSpPr>
        <p:grpSpPr>
          <a:xfrm>
            <a:off x="10081895" y="5191125"/>
            <a:ext cx="657225" cy="274638"/>
            <a:chOff x="1247" y="1612"/>
            <a:chExt cx="414" cy="403"/>
          </a:xfrm>
        </p:grpSpPr>
        <p:sp>
          <p:nvSpPr>
            <p:cNvPr id="583" name="Google Shape;583;p21"/>
            <p:cNvSpPr/>
            <p:nvPr/>
          </p:nvSpPr>
          <p:spPr>
            <a:xfrm>
              <a:off x="1290" y="1612"/>
              <a:ext cx="328" cy="403"/>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200" b="0">
                  <a:solidFill>
                    <a:schemeClr val="dk1"/>
                  </a:solidFill>
                  <a:latin typeface="Arimo"/>
                  <a:ea typeface="Arimo"/>
                  <a:cs typeface="Arimo"/>
                  <a:sym typeface="Arimo"/>
                </a:rPr>
                <a:t>1100</a:t>
              </a:r>
              <a:endParaRPr/>
            </a:p>
            <a:p>
              <a:pPr marL="0" marR="0" lvl="0" indent="0" algn="ctr" rtl="0">
                <a:spcBef>
                  <a:spcPts val="0"/>
                </a:spcBef>
                <a:spcAft>
                  <a:spcPts val="0"/>
                </a:spcAft>
                <a:buNone/>
              </a:pPr>
              <a:endParaRPr sz="1800" b="0">
                <a:solidFill>
                  <a:schemeClr val="dk1"/>
                </a:solidFill>
                <a:latin typeface="Times New Roman"/>
                <a:ea typeface="Times New Roman"/>
                <a:cs typeface="Times New Roman"/>
                <a:sym typeface="Times New Roman"/>
              </a:endParaRPr>
            </a:p>
          </p:txBody>
        </p:sp>
        <p:sp>
          <p:nvSpPr>
            <p:cNvPr id="584" name="Google Shape;584;p21"/>
            <p:cNvSpPr/>
            <p:nvPr/>
          </p:nvSpPr>
          <p:spPr>
            <a:xfrm>
              <a:off x="1247" y="1612"/>
              <a:ext cx="414" cy="403"/>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585" name="Google Shape;585;p21"/>
          <p:cNvGrpSpPr/>
          <p:nvPr/>
        </p:nvGrpSpPr>
        <p:grpSpPr>
          <a:xfrm>
            <a:off x="8102283" y="5465763"/>
            <a:ext cx="1011237" cy="320675"/>
            <a:chOff x="0" y="2015"/>
            <a:chExt cx="637" cy="403"/>
          </a:xfrm>
        </p:grpSpPr>
        <p:sp>
          <p:nvSpPr>
            <p:cNvPr id="586" name="Google Shape;586;p21"/>
            <p:cNvSpPr/>
            <p:nvPr/>
          </p:nvSpPr>
          <p:spPr>
            <a:xfrm>
              <a:off x="43" y="2015"/>
              <a:ext cx="551" cy="403"/>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200" b="0">
                  <a:solidFill>
                    <a:schemeClr val="dk1"/>
                  </a:solidFill>
                  <a:latin typeface="Arimo"/>
                  <a:ea typeface="Arimo"/>
                  <a:cs typeface="Arimo"/>
                  <a:sym typeface="Arimo"/>
                </a:rPr>
                <a:t>300</a:t>
              </a:r>
              <a:endParaRPr/>
            </a:p>
            <a:p>
              <a:pPr marL="0" marR="0" lvl="0" indent="0" algn="ctr" rtl="0">
                <a:spcBef>
                  <a:spcPts val="0"/>
                </a:spcBef>
                <a:spcAft>
                  <a:spcPts val="0"/>
                </a:spcAft>
                <a:buNone/>
              </a:pPr>
              <a:endParaRPr sz="1800" b="0">
                <a:solidFill>
                  <a:schemeClr val="dk1"/>
                </a:solidFill>
                <a:latin typeface="Times New Roman"/>
                <a:ea typeface="Times New Roman"/>
                <a:cs typeface="Times New Roman"/>
                <a:sym typeface="Times New Roman"/>
              </a:endParaRPr>
            </a:p>
          </p:txBody>
        </p:sp>
        <p:sp>
          <p:nvSpPr>
            <p:cNvPr id="587" name="Google Shape;587;p21"/>
            <p:cNvSpPr/>
            <p:nvPr/>
          </p:nvSpPr>
          <p:spPr>
            <a:xfrm>
              <a:off x="0" y="2015"/>
              <a:ext cx="637" cy="403"/>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588" name="Google Shape;588;p21"/>
          <p:cNvGrpSpPr/>
          <p:nvPr/>
        </p:nvGrpSpPr>
        <p:grpSpPr>
          <a:xfrm>
            <a:off x="9113520" y="5465763"/>
            <a:ext cx="968375" cy="320675"/>
            <a:chOff x="637" y="2015"/>
            <a:chExt cx="610" cy="403"/>
          </a:xfrm>
        </p:grpSpPr>
        <p:sp>
          <p:nvSpPr>
            <p:cNvPr id="589" name="Google Shape;589;p21"/>
            <p:cNvSpPr/>
            <p:nvPr/>
          </p:nvSpPr>
          <p:spPr>
            <a:xfrm>
              <a:off x="680" y="2015"/>
              <a:ext cx="524" cy="403"/>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200" b="0">
                  <a:solidFill>
                    <a:schemeClr val="dk1"/>
                  </a:solidFill>
                  <a:latin typeface="Arimo"/>
                  <a:ea typeface="Arimo"/>
                  <a:cs typeface="Arimo"/>
                  <a:sym typeface="Arimo"/>
                </a:rPr>
                <a:t>Randolph</a:t>
              </a:r>
              <a:endParaRPr/>
            </a:p>
            <a:p>
              <a:pPr marL="0" marR="0" lvl="0" indent="0" algn="ctr" rtl="0">
                <a:spcBef>
                  <a:spcPts val="0"/>
                </a:spcBef>
                <a:spcAft>
                  <a:spcPts val="0"/>
                </a:spcAft>
                <a:buNone/>
              </a:pPr>
              <a:endParaRPr sz="1800" b="0">
                <a:solidFill>
                  <a:schemeClr val="dk1"/>
                </a:solidFill>
                <a:latin typeface="Times New Roman"/>
                <a:ea typeface="Times New Roman"/>
                <a:cs typeface="Times New Roman"/>
                <a:sym typeface="Times New Roman"/>
              </a:endParaRPr>
            </a:p>
          </p:txBody>
        </p:sp>
        <p:sp>
          <p:nvSpPr>
            <p:cNvPr id="590" name="Google Shape;590;p21"/>
            <p:cNvSpPr/>
            <p:nvPr/>
          </p:nvSpPr>
          <p:spPr>
            <a:xfrm>
              <a:off x="637" y="2015"/>
              <a:ext cx="610" cy="403"/>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591" name="Google Shape;591;p21"/>
          <p:cNvGrpSpPr/>
          <p:nvPr/>
        </p:nvGrpSpPr>
        <p:grpSpPr>
          <a:xfrm>
            <a:off x="10081895" y="5465763"/>
            <a:ext cx="657225" cy="320675"/>
            <a:chOff x="1247" y="2015"/>
            <a:chExt cx="414" cy="403"/>
          </a:xfrm>
        </p:grpSpPr>
        <p:sp>
          <p:nvSpPr>
            <p:cNvPr id="592" name="Google Shape;592;p21"/>
            <p:cNvSpPr/>
            <p:nvPr/>
          </p:nvSpPr>
          <p:spPr>
            <a:xfrm>
              <a:off x="1290" y="2015"/>
              <a:ext cx="328" cy="403"/>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200" b="0">
                  <a:solidFill>
                    <a:schemeClr val="dk1"/>
                  </a:solidFill>
                  <a:latin typeface="Arimo"/>
                  <a:ea typeface="Arimo"/>
                  <a:cs typeface="Arimo"/>
                  <a:sym typeface="Arimo"/>
                </a:rPr>
                <a:t>1200</a:t>
              </a:r>
              <a:endParaRPr/>
            </a:p>
            <a:p>
              <a:pPr marL="0" marR="0" lvl="0" indent="0" algn="ctr" rtl="0">
                <a:spcBef>
                  <a:spcPts val="0"/>
                </a:spcBef>
                <a:spcAft>
                  <a:spcPts val="0"/>
                </a:spcAft>
                <a:buNone/>
              </a:pPr>
              <a:endParaRPr sz="1800" b="0">
                <a:solidFill>
                  <a:schemeClr val="dk1"/>
                </a:solidFill>
                <a:latin typeface="Times New Roman"/>
                <a:ea typeface="Times New Roman"/>
                <a:cs typeface="Times New Roman"/>
                <a:sym typeface="Times New Roman"/>
              </a:endParaRPr>
            </a:p>
          </p:txBody>
        </p:sp>
        <p:sp>
          <p:nvSpPr>
            <p:cNvPr id="593" name="Google Shape;593;p21"/>
            <p:cNvSpPr/>
            <p:nvPr/>
          </p:nvSpPr>
          <p:spPr>
            <a:xfrm>
              <a:off x="1247" y="2015"/>
              <a:ext cx="414" cy="403"/>
            </a:xfrm>
            <a:prstGeom prst="rect">
              <a:avLst/>
            </a:prstGeom>
            <a:no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97"/>
        <p:cNvGrpSpPr/>
        <p:nvPr/>
      </p:nvGrpSpPr>
      <p:grpSpPr>
        <a:xfrm>
          <a:off x="0" y="0"/>
          <a:ext cx="0" cy="0"/>
          <a:chOff x="0" y="0"/>
          <a:chExt cx="0" cy="0"/>
        </a:xfrm>
      </p:grpSpPr>
      <p:sp>
        <p:nvSpPr>
          <p:cNvPr id="598" name="Google Shape;598;p22"/>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Condition for 3NF</a:t>
            </a:r>
            <a:endParaRPr/>
          </a:p>
        </p:txBody>
      </p:sp>
      <p:sp>
        <p:nvSpPr>
          <p:cNvPr id="599" name="Google Shape;599;p22"/>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p>
            <a:pPr marL="0" lvl="0" indent="0" algn="l" rtl="0">
              <a:lnSpc>
                <a:spcPct val="90000"/>
              </a:lnSpc>
              <a:spcBef>
                <a:spcPts val="0"/>
              </a:spcBef>
              <a:spcAft>
                <a:spcPts val="0"/>
              </a:spcAft>
              <a:buSzPts val="2000"/>
              <a:buNone/>
            </a:pPr>
            <a:r>
              <a:rPr lang="en-US" b="1"/>
              <a:t>For a relation to be in 3NF, then for each FD, LHS must be a candidate Key /Super key</a:t>
            </a:r>
            <a:endParaRPr/>
          </a:p>
          <a:p>
            <a:pPr marL="0" lvl="0" indent="0" algn="l" rtl="0">
              <a:lnSpc>
                <a:spcPct val="90000"/>
              </a:lnSpc>
              <a:spcBef>
                <a:spcPts val="1400"/>
              </a:spcBef>
              <a:spcAft>
                <a:spcPts val="0"/>
              </a:spcAft>
              <a:buSzPts val="2000"/>
              <a:buNone/>
            </a:pPr>
            <a:r>
              <a:rPr lang="en-US" b="1"/>
              <a:t> </a:t>
            </a:r>
            <a:r>
              <a:rPr lang="en-US" sz="2800" b="1">
                <a:solidFill>
                  <a:srgbClr val="00B050"/>
                </a:solidFill>
              </a:rPr>
              <a:t>OR</a:t>
            </a:r>
            <a:r>
              <a:rPr lang="en-US" b="1"/>
              <a:t> </a:t>
            </a:r>
            <a:endParaRPr/>
          </a:p>
          <a:p>
            <a:pPr marL="0" lvl="0" indent="0" algn="l" rtl="0">
              <a:lnSpc>
                <a:spcPct val="90000"/>
              </a:lnSpc>
              <a:spcBef>
                <a:spcPts val="1400"/>
              </a:spcBef>
              <a:spcAft>
                <a:spcPts val="0"/>
              </a:spcAft>
              <a:buSzPts val="2000"/>
              <a:buNone/>
            </a:pPr>
            <a:r>
              <a:rPr lang="en-US" b="1"/>
              <a:t>RHS is a prime attribute</a:t>
            </a:r>
            <a:endParaRPr b="1"/>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03"/>
        <p:cNvGrpSpPr/>
        <p:nvPr/>
      </p:nvGrpSpPr>
      <p:grpSpPr>
        <a:xfrm>
          <a:off x="0" y="0"/>
          <a:ext cx="0" cy="0"/>
          <a:chOff x="0" y="0"/>
          <a:chExt cx="0" cy="0"/>
        </a:xfrm>
      </p:grpSpPr>
      <p:sp>
        <p:nvSpPr>
          <p:cNvPr id="604" name="Google Shape;604;p23"/>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Example</a:t>
            </a:r>
            <a:endParaRPr/>
          </a:p>
        </p:txBody>
      </p:sp>
      <p:graphicFrame>
        <p:nvGraphicFramePr>
          <p:cNvPr id="605" name="Google Shape;605;p23"/>
          <p:cNvGraphicFramePr/>
          <p:nvPr/>
        </p:nvGraphicFramePr>
        <p:xfrm>
          <a:off x="294641" y="1846263"/>
          <a:ext cx="5283225" cy="3337650"/>
        </p:xfrm>
        <a:graphic>
          <a:graphicData uri="http://schemas.openxmlformats.org/drawingml/2006/table">
            <a:tbl>
              <a:tblPr firstRow="1" bandRow="1">
                <a:noFill/>
                <a:tableStyleId>{CAEFD402-7BAA-4683-8AB4-5E6667C64626}</a:tableStyleId>
              </a:tblPr>
              <a:tblGrid>
                <a:gridCol w="937825">
                  <a:extLst>
                    <a:ext uri="{9D8B030D-6E8A-4147-A177-3AD203B41FA5}">
                      <a16:colId xmlns:a16="http://schemas.microsoft.com/office/drawing/2014/main" val="20000"/>
                    </a:ext>
                  </a:extLst>
                </a:gridCol>
                <a:gridCol w="1361250">
                  <a:extLst>
                    <a:ext uri="{9D8B030D-6E8A-4147-A177-3AD203B41FA5}">
                      <a16:colId xmlns:a16="http://schemas.microsoft.com/office/drawing/2014/main" val="20001"/>
                    </a:ext>
                  </a:extLst>
                </a:gridCol>
                <a:gridCol w="2984150">
                  <a:extLst>
                    <a:ext uri="{9D8B030D-6E8A-4147-A177-3AD203B41FA5}">
                      <a16:colId xmlns:a16="http://schemas.microsoft.com/office/drawing/2014/main" val="20002"/>
                    </a:ext>
                  </a:extLst>
                </a:gridCol>
              </a:tblGrid>
              <a:tr h="370850">
                <a:tc>
                  <a:txBody>
                    <a:bodyPr/>
                    <a:lstStyle/>
                    <a:p>
                      <a:pPr marL="0" marR="0" lvl="0" indent="0" algn="l" rtl="0">
                        <a:spcBef>
                          <a:spcPts val="0"/>
                        </a:spcBef>
                        <a:spcAft>
                          <a:spcPts val="0"/>
                        </a:spcAft>
                        <a:buNone/>
                      </a:pPr>
                      <a:r>
                        <a:rPr lang="en-US" sz="1800"/>
                        <a:t>Roll No</a:t>
                      </a:r>
                      <a:endParaRPr/>
                    </a:p>
                  </a:txBody>
                  <a:tcPr marL="91450" marR="91450" marT="45725" marB="45725"/>
                </a:tc>
                <a:tc>
                  <a:txBody>
                    <a:bodyPr/>
                    <a:lstStyle/>
                    <a:p>
                      <a:pPr marL="0" marR="0" lvl="0" indent="0" algn="l" rtl="0">
                        <a:spcBef>
                          <a:spcPts val="0"/>
                        </a:spcBef>
                        <a:spcAft>
                          <a:spcPts val="0"/>
                        </a:spcAft>
                        <a:buNone/>
                      </a:pPr>
                      <a:r>
                        <a:rPr lang="en-US" sz="1800"/>
                        <a:t>State</a:t>
                      </a:r>
                      <a:endParaRPr/>
                    </a:p>
                  </a:txBody>
                  <a:tcPr marL="91450" marR="91450" marT="45725" marB="45725"/>
                </a:tc>
                <a:tc>
                  <a:txBody>
                    <a:bodyPr/>
                    <a:lstStyle/>
                    <a:p>
                      <a:pPr marL="0" marR="0" lvl="0" indent="0" algn="l" rtl="0">
                        <a:spcBef>
                          <a:spcPts val="0"/>
                        </a:spcBef>
                        <a:spcAft>
                          <a:spcPts val="0"/>
                        </a:spcAft>
                        <a:buNone/>
                      </a:pPr>
                      <a:r>
                        <a:rPr lang="en-US" sz="1800"/>
                        <a:t>Capital</a:t>
                      </a:r>
                      <a:endParaRPr/>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800"/>
                        <a:t>1</a:t>
                      </a:r>
                      <a:endParaRPr/>
                    </a:p>
                  </a:txBody>
                  <a:tcPr marL="91450" marR="91450" marT="45725" marB="45725"/>
                </a:tc>
                <a:tc>
                  <a:txBody>
                    <a:bodyPr/>
                    <a:lstStyle/>
                    <a:p>
                      <a:pPr marL="0" marR="0" lvl="0" indent="0" algn="l" rtl="0">
                        <a:spcBef>
                          <a:spcPts val="0"/>
                        </a:spcBef>
                        <a:spcAft>
                          <a:spcPts val="0"/>
                        </a:spcAft>
                        <a:buNone/>
                      </a:pPr>
                      <a:r>
                        <a:rPr lang="en-US" sz="1800"/>
                        <a:t>Kerala</a:t>
                      </a:r>
                      <a:endParaRPr/>
                    </a:p>
                  </a:txBody>
                  <a:tcPr marL="91450" marR="91450" marT="45725" marB="45725"/>
                </a:tc>
                <a:tc>
                  <a:txBody>
                    <a:bodyPr/>
                    <a:lstStyle/>
                    <a:p>
                      <a:pPr marL="0" marR="0" lvl="0" indent="0" algn="l" rtl="0">
                        <a:spcBef>
                          <a:spcPts val="0"/>
                        </a:spcBef>
                        <a:spcAft>
                          <a:spcPts val="0"/>
                        </a:spcAft>
                        <a:buNone/>
                      </a:pPr>
                      <a:r>
                        <a:rPr lang="en-US" sz="1800"/>
                        <a:t>Thiruvananthapuram</a:t>
                      </a:r>
                      <a:endParaRPr/>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US" sz="1800"/>
                        <a:t>2</a:t>
                      </a:r>
                      <a:endParaRPr/>
                    </a:p>
                  </a:txBody>
                  <a:tcPr marL="91450" marR="91450" marT="45725" marB="45725"/>
                </a:tc>
                <a:tc>
                  <a:txBody>
                    <a:bodyPr/>
                    <a:lstStyle/>
                    <a:p>
                      <a:pPr marL="0" marR="0" lvl="0" indent="0" algn="l" rtl="0">
                        <a:spcBef>
                          <a:spcPts val="0"/>
                        </a:spcBef>
                        <a:spcAft>
                          <a:spcPts val="0"/>
                        </a:spcAft>
                        <a:buNone/>
                      </a:pPr>
                      <a:r>
                        <a:rPr lang="en-US" sz="1800"/>
                        <a:t>Tamil Nadu</a:t>
                      </a:r>
                      <a:endParaRPr/>
                    </a:p>
                  </a:txBody>
                  <a:tcPr marL="91450" marR="91450" marT="45725" marB="45725"/>
                </a:tc>
                <a:tc>
                  <a:txBody>
                    <a:bodyPr/>
                    <a:lstStyle/>
                    <a:p>
                      <a:pPr marL="0" marR="0" lvl="0" indent="0" algn="l" rtl="0">
                        <a:spcBef>
                          <a:spcPts val="0"/>
                        </a:spcBef>
                        <a:spcAft>
                          <a:spcPts val="0"/>
                        </a:spcAft>
                        <a:buNone/>
                      </a:pPr>
                      <a:r>
                        <a:rPr lang="en-US" sz="1800"/>
                        <a:t>Chennai</a:t>
                      </a:r>
                      <a:endParaRPr/>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r>
                        <a:rPr lang="en-US" sz="1800"/>
                        <a:t>3</a:t>
                      </a:r>
                      <a:endParaRPr/>
                    </a:p>
                  </a:txBody>
                  <a:tcPr marL="91450" marR="91450" marT="45725" marB="45725"/>
                </a:tc>
                <a:tc>
                  <a:txBody>
                    <a:bodyPr/>
                    <a:lstStyle/>
                    <a:p>
                      <a:pPr marL="0" marR="0" lvl="0" indent="0" algn="l" rtl="0">
                        <a:spcBef>
                          <a:spcPts val="0"/>
                        </a:spcBef>
                        <a:spcAft>
                          <a:spcPts val="0"/>
                        </a:spcAft>
                        <a:buNone/>
                      </a:pPr>
                      <a:r>
                        <a:rPr lang="en-US" sz="1800"/>
                        <a:t>Karnataka</a:t>
                      </a:r>
                      <a:endParaRPr/>
                    </a:p>
                  </a:txBody>
                  <a:tcPr marL="91450" marR="91450" marT="45725" marB="45725"/>
                </a:tc>
                <a:tc>
                  <a:txBody>
                    <a:bodyPr/>
                    <a:lstStyle/>
                    <a:p>
                      <a:pPr marL="0" marR="0" lvl="0" indent="0" algn="l" rtl="0">
                        <a:spcBef>
                          <a:spcPts val="0"/>
                        </a:spcBef>
                        <a:spcAft>
                          <a:spcPts val="0"/>
                        </a:spcAft>
                        <a:buNone/>
                      </a:pPr>
                      <a:r>
                        <a:rPr lang="en-US" sz="1800"/>
                        <a:t>Bangalore</a:t>
                      </a:r>
                      <a:endParaRPr/>
                    </a:p>
                  </a:txBody>
                  <a:tcPr marL="91450" marR="91450" marT="45725" marB="45725"/>
                </a:tc>
                <a:extLst>
                  <a:ext uri="{0D108BD9-81ED-4DB2-BD59-A6C34878D82A}">
                    <a16:rowId xmlns:a16="http://schemas.microsoft.com/office/drawing/2014/main" val="10003"/>
                  </a:ext>
                </a:extLst>
              </a:tr>
              <a:tr h="370850">
                <a:tc>
                  <a:txBody>
                    <a:bodyPr/>
                    <a:lstStyle/>
                    <a:p>
                      <a:pPr marL="0" marR="0" lvl="0" indent="0" algn="l" rtl="0">
                        <a:spcBef>
                          <a:spcPts val="0"/>
                        </a:spcBef>
                        <a:spcAft>
                          <a:spcPts val="0"/>
                        </a:spcAft>
                        <a:buNone/>
                      </a:pPr>
                      <a:r>
                        <a:rPr lang="en-US" sz="1800"/>
                        <a:t>4</a:t>
                      </a:r>
                      <a:endParaRPr/>
                    </a:p>
                  </a:txBody>
                  <a:tcPr marL="91450" marR="91450" marT="45725" marB="45725"/>
                </a:tc>
                <a:tc>
                  <a:txBody>
                    <a:bodyPr/>
                    <a:lstStyle/>
                    <a:p>
                      <a:pPr marL="0" marR="0" lvl="0" indent="0" algn="l" rtl="0">
                        <a:spcBef>
                          <a:spcPts val="0"/>
                        </a:spcBef>
                        <a:spcAft>
                          <a:spcPts val="0"/>
                        </a:spcAft>
                        <a:buNone/>
                      </a:pPr>
                      <a:r>
                        <a:rPr lang="en-US" sz="1800"/>
                        <a:t>Telengana</a:t>
                      </a:r>
                      <a:endParaRPr/>
                    </a:p>
                  </a:txBody>
                  <a:tcPr marL="91450" marR="91450" marT="45725" marB="45725"/>
                </a:tc>
                <a:tc>
                  <a:txBody>
                    <a:bodyPr/>
                    <a:lstStyle/>
                    <a:p>
                      <a:pPr marL="0" marR="0" lvl="0" indent="0" algn="l" rtl="0">
                        <a:spcBef>
                          <a:spcPts val="0"/>
                        </a:spcBef>
                        <a:spcAft>
                          <a:spcPts val="0"/>
                        </a:spcAft>
                        <a:buNone/>
                      </a:pPr>
                      <a:r>
                        <a:rPr lang="en-US" sz="1800"/>
                        <a:t>Hyderabad</a:t>
                      </a:r>
                      <a:endParaRPr/>
                    </a:p>
                  </a:txBody>
                  <a:tcPr marL="91450" marR="91450" marT="45725" marB="45725"/>
                </a:tc>
                <a:extLst>
                  <a:ext uri="{0D108BD9-81ED-4DB2-BD59-A6C34878D82A}">
                    <a16:rowId xmlns:a16="http://schemas.microsoft.com/office/drawing/2014/main" val="10004"/>
                  </a:ext>
                </a:extLst>
              </a:tr>
              <a:tr h="370850">
                <a:tc>
                  <a:txBody>
                    <a:bodyPr/>
                    <a:lstStyle/>
                    <a:p>
                      <a:pPr marL="0" marR="0" lvl="0" indent="0" algn="l" rtl="0">
                        <a:spcBef>
                          <a:spcPts val="0"/>
                        </a:spcBef>
                        <a:spcAft>
                          <a:spcPts val="0"/>
                        </a:spcAft>
                        <a:buNone/>
                      </a:pPr>
                      <a:r>
                        <a:rPr lang="en-US" sz="1800"/>
                        <a:t>5</a:t>
                      </a:r>
                      <a:endParaRPr/>
                    </a:p>
                  </a:txBody>
                  <a:tcPr marL="91450" marR="91450" marT="45725" marB="45725"/>
                </a:tc>
                <a:tc>
                  <a:txBody>
                    <a:bodyPr/>
                    <a:lstStyle/>
                    <a:p>
                      <a:pPr marL="0" marR="0" lvl="0" indent="0" algn="l" rtl="0">
                        <a:spcBef>
                          <a:spcPts val="0"/>
                        </a:spcBef>
                        <a:spcAft>
                          <a:spcPts val="0"/>
                        </a:spcAft>
                        <a:buNone/>
                      </a:pPr>
                      <a:r>
                        <a:rPr lang="en-US" sz="1800"/>
                        <a:t>Kerala</a:t>
                      </a:r>
                      <a:endParaRPr/>
                    </a:p>
                  </a:txBody>
                  <a:tcPr marL="91450" marR="91450" marT="45725" marB="45725"/>
                </a:tc>
                <a:tc>
                  <a:txBody>
                    <a:bodyPr/>
                    <a:lstStyle/>
                    <a:p>
                      <a:pPr marL="0" marR="0" lvl="0" indent="0" algn="l" rtl="0">
                        <a:spcBef>
                          <a:spcPts val="0"/>
                        </a:spcBef>
                        <a:spcAft>
                          <a:spcPts val="0"/>
                        </a:spcAft>
                        <a:buNone/>
                      </a:pPr>
                      <a:r>
                        <a:rPr lang="en-US" sz="1800"/>
                        <a:t>Thiruvananthapuram</a:t>
                      </a:r>
                      <a:endParaRPr/>
                    </a:p>
                  </a:txBody>
                  <a:tcPr marL="91450" marR="91450" marT="45725" marB="45725"/>
                </a:tc>
                <a:extLst>
                  <a:ext uri="{0D108BD9-81ED-4DB2-BD59-A6C34878D82A}">
                    <a16:rowId xmlns:a16="http://schemas.microsoft.com/office/drawing/2014/main" val="10005"/>
                  </a:ext>
                </a:extLst>
              </a:tr>
              <a:tr h="370850">
                <a:tc>
                  <a:txBody>
                    <a:bodyPr/>
                    <a:lstStyle/>
                    <a:p>
                      <a:pPr marL="0" marR="0" lvl="0" indent="0" algn="l" rtl="0">
                        <a:spcBef>
                          <a:spcPts val="0"/>
                        </a:spcBef>
                        <a:spcAft>
                          <a:spcPts val="0"/>
                        </a:spcAft>
                        <a:buNone/>
                      </a:pPr>
                      <a:r>
                        <a:rPr lang="en-US" sz="1800"/>
                        <a:t>6</a:t>
                      </a:r>
                      <a:endParaRPr/>
                    </a:p>
                  </a:txBody>
                  <a:tcPr marL="91450" marR="91450" marT="45725" marB="45725"/>
                </a:tc>
                <a:tc>
                  <a:txBody>
                    <a:bodyPr/>
                    <a:lstStyle/>
                    <a:p>
                      <a:pPr marL="0" marR="0" lvl="0" indent="0" algn="l" rtl="0">
                        <a:spcBef>
                          <a:spcPts val="0"/>
                        </a:spcBef>
                        <a:spcAft>
                          <a:spcPts val="0"/>
                        </a:spcAft>
                        <a:buNone/>
                      </a:pPr>
                      <a:r>
                        <a:rPr lang="en-US" sz="1800"/>
                        <a:t>Telengana</a:t>
                      </a:r>
                      <a:endParaRPr/>
                    </a:p>
                  </a:txBody>
                  <a:tcPr marL="91450" marR="91450" marT="45725" marB="45725"/>
                </a:tc>
                <a:tc>
                  <a:txBody>
                    <a:bodyPr/>
                    <a:lstStyle/>
                    <a:p>
                      <a:pPr marL="0" marR="0" lvl="0" indent="0" algn="l" rtl="0">
                        <a:spcBef>
                          <a:spcPts val="0"/>
                        </a:spcBef>
                        <a:spcAft>
                          <a:spcPts val="0"/>
                        </a:spcAft>
                        <a:buNone/>
                      </a:pPr>
                      <a:r>
                        <a:rPr lang="en-US" sz="1800"/>
                        <a:t>Hyderabad</a:t>
                      </a:r>
                      <a:endParaRPr/>
                    </a:p>
                  </a:txBody>
                  <a:tcPr marL="91450" marR="91450" marT="45725" marB="45725"/>
                </a:tc>
                <a:extLst>
                  <a:ext uri="{0D108BD9-81ED-4DB2-BD59-A6C34878D82A}">
                    <a16:rowId xmlns:a16="http://schemas.microsoft.com/office/drawing/2014/main" val="10006"/>
                  </a:ext>
                </a:extLst>
              </a:tr>
              <a:tr h="370850">
                <a:tc>
                  <a:txBody>
                    <a:bodyPr/>
                    <a:lstStyle/>
                    <a:p>
                      <a:pPr marL="0" marR="0" lvl="0" indent="0" algn="l" rtl="0">
                        <a:spcBef>
                          <a:spcPts val="0"/>
                        </a:spcBef>
                        <a:spcAft>
                          <a:spcPts val="0"/>
                        </a:spcAft>
                        <a:buNone/>
                      </a:pPr>
                      <a:r>
                        <a:rPr lang="en-US" sz="1800"/>
                        <a:t>7</a:t>
                      </a:r>
                      <a:endParaRPr/>
                    </a:p>
                  </a:txBody>
                  <a:tcPr marL="91450" marR="91450" marT="45725" marB="45725"/>
                </a:tc>
                <a:tc>
                  <a:txBody>
                    <a:bodyPr/>
                    <a:lstStyle/>
                    <a:p>
                      <a:pPr marL="0" marR="0" lvl="0" indent="0" algn="l" rtl="0">
                        <a:spcBef>
                          <a:spcPts val="0"/>
                        </a:spcBef>
                        <a:spcAft>
                          <a:spcPts val="0"/>
                        </a:spcAft>
                        <a:buNone/>
                      </a:pPr>
                      <a:r>
                        <a:rPr lang="en-US" sz="1800"/>
                        <a:t>Karnataka</a:t>
                      </a:r>
                      <a:endParaRPr/>
                    </a:p>
                  </a:txBody>
                  <a:tcPr marL="91450" marR="91450" marT="45725" marB="45725"/>
                </a:tc>
                <a:tc>
                  <a:txBody>
                    <a:bodyPr/>
                    <a:lstStyle/>
                    <a:p>
                      <a:pPr marL="0" marR="0" lvl="0" indent="0" algn="l" rtl="0">
                        <a:spcBef>
                          <a:spcPts val="0"/>
                        </a:spcBef>
                        <a:spcAft>
                          <a:spcPts val="0"/>
                        </a:spcAft>
                        <a:buNone/>
                      </a:pPr>
                      <a:r>
                        <a:rPr lang="en-US" sz="1800"/>
                        <a:t>Bangalore</a:t>
                      </a:r>
                      <a:endParaRPr/>
                    </a:p>
                  </a:txBody>
                  <a:tcPr marL="91450" marR="91450" marT="45725" marB="45725"/>
                </a:tc>
                <a:extLst>
                  <a:ext uri="{0D108BD9-81ED-4DB2-BD59-A6C34878D82A}">
                    <a16:rowId xmlns:a16="http://schemas.microsoft.com/office/drawing/2014/main" val="10007"/>
                  </a:ext>
                </a:extLst>
              </a:tr>
              <a:tr h="370850">
                <a:tc>
                  <a:txBody>
                    <a:bodyPr/>
                    <a:lstStyle/>
                    <a:p>
                      <a:pPr marL="0" marR="0" lvl="0" indent="0" algn="l" rtl="0">
                        <a:spcBef>
                          <a:spcPts val="0"/>
                        </a:spcBef>
                        <a:spcAft>
                          <a:spcPts val="0"/>
                        </a:spcAft>
                        <a:buNone/>
                      </a:pPr>
                      <a:r>
                        <a:rPr lang="en-US" sz="1800"/>
                        <a:t>8</a:t>
                      </a:r>
                      <a:endParaRPr/>
                    </a:p>
                  </a:txBody>
                  <a:tcPr marL="91450" marR="91450" marT="45725" marB="45725"/>
                </a:tc>
                <a:tc>
                  <a:txBody>
                    <a:bodyPr/>
                    <a:lstStyle/>
                    <a:p>
                      <a:pPr marL="0" marR="0" lvl="0" indent="0" algn="l" rtl="0">
                        <a:spcBef>
                          <a:spcPts val="0"/>
                        </a:spcBef>
                        <a:spcAft>
                          <a:spcPts val="0"/>
                        </a:spcAft>
                        <a:buNone/>
                      </a:pPr>
                      <a:r>
                        <a:rPr lang="en-US" sz="1800"/>
                        <a:t>Kerala</a:t>
                      </a:r>
                      <a:endParaRPr/>
                    </a:p>
                  </a:txBody>
                  <a:tcPr marL="91450" marR="91450" marT="45725" marB="45725"/>
                </a:tc>
                <a:tc>
                  <a:txBody>
                    <a:bodyPr/>
                    <a:lstStyle/>
                    <a:p>
                      <a:pPr marL="0" marR="0" lvl="0" indent="0" algn="l" rtl="0">
                        <a:spcBef>
                          <a:spcPts val="0"/>
                        </a:spcBef>
                        <a:spcAft>
                          <a:spcPts val="0"/>
                        </a:spcAft>
                        <a:buNone/>
                      </a:pPr>
                      <a:r>
                        <a:rPr lang="en-US" sz="1800"/>
                        <a:t>Thiruvananthapuram</a:t>
                      </a:r>
                      <a:endParaRPr/>
                    </a:p>
                  </a:txBody>
                  <a:tcPr marL="91450" marR="91450" marT="45725" marB="45725"/>
                </a:tc>
                <a:extLst>
                  <a:ext uri="{0D108BD9-81ED-4DB2-BD59-A6C34878D82A}">
                    <a16:rowId xmlns:a16="http://schemas.microsoft.com/office/drawing/2014/main" val="10008"/>
                  </a:ext>
                </a:extLst>
              </a:tr>
            </a:tbl>
          </a:graphicData>
        </a:graphic>
      </p:graphicFrame>
      <p:sp>
        <p:nvSpPr>
          <p:cNvPr id="606" name="Google Shape;606;p23"/>
          <p:cNvSpPr txBox="1"/>
          <p:nvPr/>
        </p:nvSpPr>
        <p:spPr>
          <a:xfrm>
            <a:off x="7843520" y="1846263"/>
            <a:ext cx="4053840" cy="23083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FDs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R-&gt;S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S-&gt;C</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Candidate Key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R</a:t>
            </a:r>
            <a:r>
              <a:rPr lang="en-US" sz="1800" baseline="30000">
                <a:solidFill>
                  <a:schemeClr val="dk1"/>
                </a:solidFill>
                <a:latin typeface="Calibri"/>
                <a:ea typeface="Calibri"/>
                <a:cs typeface="Calibri"/>
                <a:sym typeface="Calibri"/>
              </a:rPr>
              <a:t>+</a:t>
            </a:r>
            <a:r>
              <a:rPr lang="en-US" sz="1800">
                <a:solidFill>
                  <a:schemeClr val="dk1"/>
                </a:solidFill>
                <a:latin typeface="Calibri"/>
                <a:ea typeface="Calibri"/>
                <a:cs typeface="Calibri"/>
                <a:sym typeface="Calibri"/>
              </a:rPr>
              <a:t>={RSC}</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Candidate Key={R}</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Prime Attributes={R}</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Non-Prime Attributes={S,C}</a:t>
            </a:r>
            <a:endParaRPr/>
          </a:p>
        </p:txBody>
      </p:sp>
      <p:graphicFrame>
        <p:nvGraphicFramePr>
          <p:cNvPr id="607" name="Google Shape;607;p23"/>
          <p:cNvGraphicFramePr/>
          <p:nvPr/>
        </p:nvGraphicFramePr>
        <p:xfrm>
          <a:off x="5882640" y="4423509"/>
          <a:ext cx="6309350" cy="1920270"/>
        </p:xfrm>
        <a:graphic>
          <a:graphicData uri="http://schemas.openxmlformats.org/drawingml/2006/table">
            <a:tbl>
              <a:tblPr firstRow="1" bandRow="1">
                <a:noFill/>
                <a:tableStyleId>{CAEFD402-7BAA-4683-8AB4-5E6667C64626}</a:tableStyleId>
              </a:tblPr>
              <a:tblGrid>
                <a:gridCol w="1094450">
                  <a:extLst>
                    <a:ext uri="{9D8B030D-6E8A-4147-A177-3AD203B41FA5}">
                      <a16:colId xmlns:a16="http://schemas.microsoft.com/office/drawing/2014/main" val="20000"/>
                    </a:ext>
                  </a:extLst>
                </a:gridCol>
                <a:gridCol w="1634200">
                  <a:extLst>
                    <a:ext uri="{9D8B030D-6E8A-4147-A177-3AD203B41FA5}">
                      <a16:colId xmlns:a16="http://schemas.microsoft.com/office/drawing/2014/main" val="20001"/>
                    </a:ext>
                  </a:extLst>
                </a:gridCol>
                <a:gridCol w="733400">
                  <a:extLst>
                    <a:ext uri="{9D8B030D-6E8A-4147-A177-3AD203B41FA5}">
                      <a16:colId xmlns:a16="http://schemas.microsoft.com/office/drawing/2014/main" val="20002"/>
                    </a:ext>
                  </a:extLst>
                </a:gridCol>
                <a:gridCol w="2847300">
                  <a:extLst>
                    <a:ext uri="{9D8B030D-6E8A-4147-A177-3AD203B41FA5}">
                      <a16:colId xmlns:a16="http://schemas.microsoft.com/office/drawing/2014/main" val="20003"/>
                    </a:ext>
                  </a:extLst>
                </a:gridCol>
              </a:tblGrid>
              <a:tr h="550725">
                <a:tc>
                  <a:txBody>
                    <a:bodyPr/>
                    <a:lstStyle/>
                    <a:p>
                      <a:pPr marL="0" marR="0" lvl="0" indent="0" algn="l" rtl="0">
                        <a:spcBef>
                          <a:spcPts val="0"/>
                        </a:spcBef>
                        <a:spcAft>
                          <a:spcPts val="0"/>
                        </a:spcAft>
                        <a:buNone/>
                      </a:pPr>
                      <a:r>
                        <a:rPr lang="en-US" sz="1800"/>
                        <a:t>FD</a:t>
                      </a:r>
                      <a:endParaRPr sz="1800"/>
                    </a:p>
                  </a:txBody>
                  <a:tcPr marL="91450" marR="91450" marT="45725" marB="45725"/>
                </a:tc>
                <a:tc>
                  <a:txBody>
                    <a:bodyPr/>
                    <a:lstStyle/>
                    <a:p>
                      <a:pPr marL="0" marR="0" lvl="0" indent="0" algn="l" rtl="0">
                        <a:spcBef>
                          <a:spcPts val="0"/>
                        </a:spcBef>
                        <a:spcAft>
                          <a:spcPts val="0"/>
                        </a:spcAft>
                        <a:buNone/>
                      </a:pPr>
                      <a:r>
                        <a:rPr lang="en-US" sz="1800"/>
                        <a:t>Partial Dependency</a:t>
                      </a:r>
                      <a:endParaRPr sz="1800"/>
                    </a:p>
                  </a:txBody>
                  <a:tcPr marL="91450" marR="91450" marT="45725" marB="45725"/>
                </a:tc>
                <a:tc>
                  <a:txBody>
                    <a:bodyPr/>
                    <a:lstStyle/>
                    <a:p>
                      <a:pPr marL="0" marR="0" lvl="0" indent="0" algn="l" rtl="0">
                        <a:spcBef>
                          <a:spcPts val="0"/>
                        </a:spcBef>
                        <a:spcAft>
                          <a:spcPts val="0"/>
                        </a:spcAft>
                        <a:buNone/>
                      </a:pPr>
                      <a:r>
                        <a:rPr lang="en-US" sz="1800"/>
                        <a:t>2NF</a:t>
                      </a:r>
                      <a:endParaRPr sz="1800"/>
                    </a:p>
                  </a:txBody>
                  <a:tcPr marL="91450" marR="91450" marT="45725" marB="45725"/>
                </a:tc>
                <a:tc>
                  <a:txBody>
                    <a:bodyPr/>
                    <a:lstStyle/>
                    <a:p>
                      <a:pPr marL="0" marR="0" lvl="0" indent="0" algn="l" rtl="0">
                        <a:spcBef>
                          <a:spcPts val="0"/>
                        </a:spcBef>
                        <a:spcAft>
                          <a:spcPts val="0"/>
                        </a:spcAft>
                        <a:buNone/>
                      </a:pPr>
                      <a:r>
                        <a:rPr lang="en-US" sz="1800"/>
                        <a:t>3NF</a:t>
                      </a:r>
                      <a:endParaRPr/>
                    </a:p>
                  </a:txBody>
                  <a:tcPr marL="91450" marR="91450" marT="45725" marB="45725"/>
                </a:tc>
                <a:extLst>
                  <a:ext uri="{0D108BD9-81ED-4DB2-BD59-A6C34878D82A}">
                    <a16:rowId xmlns:a16="http://schemas.microsoft.com/office/drawing/2014/main" val="10000"/>
                  </a:ext>
                </a:extLst>
              </a:tr>
              <a:tr h="314700">
                <a:tc>
                  <a:txBody>
                    <a:bodyPr/>
                    <a:lstStyle/>
                    <a:p>
                      <a:pPr marL="0" marR="0" lvl="0" indent="0" algn="l" rtl="0">
                        <a:spcBef>
                          <a:spcPts val="0"/>
                        </a:spcBef>
                        <a:spcAft>
                          <a:spcPts val="0"/>
                        </a:spcAft>
                        <a:buNone/>
                      </a:pPr>
                      <a:r>
                        <a:rPr lang="en-US" sz="1800"/>
                        <a:t>R-&gt;S</a:t>
                      </a:r>
                      <a:endParaRPr sz="1800"/>
                    </a:p>
                  </a:txBody>
                  <a:tcPr marL="91450" marR="91450" marT="45725" marB="45725"/>
                </a:tc>
                <a:tc>
                  <a:txBody>
                    <a:bodyPr/>
                    <a:lstStyle/>
                    <a:p>
                      <a:pPr marL="0" marR="0" lvl="0" indent="0" algn="l" rtl="0">
                        <a:spcBef>
                          <a:spcPts val="0"/>
                        </a:spcBef>
                        <a:spcAft>
                          <a:spcPts val="0"/>
                        </a:spcAft>
                        <a:buNone/>
                      </a:pPr>
                      <a:r>
                        <a:rPr lang="en-US" sz="1800"/>
                        <a:t>No</a:t>
                      </a:r>
                      <a:endParaRPr sz="1800"/>
                    </a:p>
                  </a:txBody>
                  <a:tcPr marL="91450" marR="91450" marT="45725" marB="45725"/>
                </a:tc>
                <a:tc>
                  <a:txBody>
                    <a:bodyPr/>
                    <a:lstStyle/>
                    <a:p>
                      <a:pPr marL="0" marR="0" lvl="0" indent="0" algn="l" rtl="0">
                        <a:spcBef>
                          <a:spcPts val="0"/>
                        </a:spcBef>
                        <a:spcAft>
                          <a:spcPts val="0"/>
                        </a:spcAft>
                        <a:buNone/>
                      </a:pPr>
                      <a:r>
                        <a:rPr lang="en-US" sz="1800"/>
                        <a:t>Yes</a:t>
                      </a:r>
                      <a:endParaRPr sz="1800"/>
                    </a:p>
                  </a:txBody>
                  <a:tcPr marL="91450" marR="91450" marT="45725" marB="45725"/>
                </a:tc>
                <a:tc>
                  <a:txBody>
                    <a:bodyPr/>
                    <a:lstStyle/>
                    <a:p>
                      <a:pPr marL="0" marR="0" lvl="0" indent="0" algn="l" rtl="0">
                        <a:spcBef>
                          <a:spcPts val="0"/>
                        </a:spcBef>
                        <a:spcAft>
                          <a:spcPts val="0"/>
                        </a:spcAft>
                        <a:buNone/>
                      </a:pPr>
                      <a:r>
                        <a:rPr lang="en-US" sz="1800"/>
                        <a:t>Yes</a:t>
                      </a:r>
                      <a:endParaRPr/>
                    </a:p>
                  </a:txBody>
                  <a:tcPr marL="91450" marR="91450" marT="45725" marB="45725"/>
                </a:tc>
                <a:extLst>
                  <a:ext uri="{0D108BD9-81ED-4DB2-BD59-A6C34878D82A}">
                    <a16:rowId xmlns:a16="http://schemas.microsoft.com/office/drawing/2014/main" val="10001"/>
                  </a:ext>
                </a:extLst>
              </a:tr>
              <a:tr h="786750">
                <a:tc>
                  <a:txBody>
                    <a:bodyPr/>
                    <a:lstStyle/>
                    <a:p>
                      <a:pPr marL="0" marR="0" lvl="0" indent="0" algn="l" rtl="0">
                        <a:spcBef>
                          <a:spcPts val="0"/>
                        </a:spcBef>
                        <a:spcAft>
                          <a:spcPts val="0"/>
                        </a:spcAft>
                        <a:buNone/>
                      </a:pPr>
                      <a:r>
                        <a:rPr lang="en-US" sz="1800"/>
                        <a:t>S-&gt;C</a:t>
                      </a:r>
                      <a:endParaRPr sz="1800"/>
                    </a:p>
                  </a:txBody>
                  <a:tcPr marL="91450" marR="91450" marT="45725" marB="45725"/>
                </a:tc>
                <a:tc>
                  <a:txBody>
                    <a:bodyPr/>
                    <a:lstStyle/>
                    <a:p>
                      <a:pPr marL="0" marR="0" lvl="0" indent="0" algn="l" rtl="0">
                        <a:spcBef>
                          <a:spcPts val="0"/>
                        </a:spcBef>
                        <a:spcAft>
                          <a:spcPts val="0"/>
                        </a:spcAft>
                        <a:buNone/>
                      </a:pPr>
                      <a:r>
                        <a:rPr lang="en-US" sz="1800"/>
                        <a:t>No</a:t>
                      </a:r>
                      <a:endParaRPr sz="1800"/>
                    </a:p>
                  </a:txBody>
                  <a:tcPr marL="91450" marR="91450" marT="45725" marB="45725"/>
                </a:tc>
                <a:tc>
                  <a:txBody>
                    <a:bodyPr/>
                    <a:lstStyle/>
                    <a:p>
                      <a:pPr marL="0" marR="0" lvl="0" indent="0" algn="l" rtl="0">
                        <a:spcBef>
                          <a:spcPts val="0"/>
                        </a:spcBef>
                        <a:spcAft>
                          <a:spcPts val="0"/>
                        </a:spcAft>
                        <a:buNone/>
                      </a:pPr>
                      <a:r>
                        <a:rPr lang="en-US" sz="1800"/>
                        <a:t>Yes</a:t>
                      </a:r>
                      <a:endParaRPr sz="1800"/>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Calibri"/>
                        <a:buNone/>
                      </a:pPr>
                      <a:r>
                        <a:rPr lang="en-US" sz="1800"/>
                        <a:t>No</a:t>
                      </a:r>
                      <a:endParaRPr/>
                    </a:p>
                    <a:p>
                      <a:pPr marL="0" marR="0" lvl="0" indent="0" algn="l" rtl="0">
                        <a:lnSpc>
                          <a:spcPct val="100000"/>
                        </a:lnSpc>
                        <a:spcBef>
                          <a:spcPts val="0"/>
                        </a:spcBef>
                        <a:spcAft>
                          <a:spcPts val="0"/>
                        </a:spcAft>
                        <a:buClr>
                          <a:schemeClr val="dk1"/>
                        </a:buClr>
                        <a:buSzPts val="1800"/>
                        <a:buFont typeface="Calibri"/>
                        <a:buNone/>
                      </a:pPr>
                      <a:r>
                        <a:rPr lang="en-US" sz="1800"/>
                        <a:t>(Transitive Dependency)</a:t>
                      </a:r>
                      <a:endParaRPr/>
                    </a:p>
                    <a:p>
                      <a:pPr marL="0" marR="0" lvl="0" indent="0" algn="l" rtl="0">
                        <a:spcBef>
                          <a:spcPts val="0"/>
                        </a:spcBef>
                        <a:spcAft>
                          <a:spcPts val="0"/>
                        </a:spcAft>
                        <a:buNone/>
                      </a:pPr>
                      <a:endParaRPr sz="1800"/>
                    </a:p>
                  </a:txBody>
                  <a:tcPr marL="91450" marR="91450" marT="45725" marB="45725"/>
                </a:tc>
                <a:extLst>
                  <a:ext uri="{0D108BD9-81ED-4DB2-BD59-A6C34878D82A}">
                    <a16:rowId xmlns:a16="http://schemas.microsoft.com/office/drawing/2014/main" val="10002"/>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11"/>
        <p:cNvGrpSpPr/>
        <p:nvPr/>
      </p:nvGrpSpPr>
      <p:grpSpPr>
        <a:xfrm>
          <a:off x="0" y="0"/>
          <a:ext cx="0" cy="0"/>
          <a:chOff x="0" y="0"/>
          <a:chExt cx="0" cy="0"/>
        </a:xfrm>
      </p:grpSpPr>
      <p:sp>
        <p:nvSpPr>
          <p:cNvPr id="612" name="Google Shape;612;p24"/>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Problems: Check for 3NF</a:t>
            </a:r>
            <a:endParaRPr/>
          </a:p>
        </p:txBody>
      </p:sp>
      <p:sp>
        <p:nvSpPr>
          <p:cNvPr id="613" name="Google Shape;613;p24"/>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p>
            <a:pPr marL="91440" lvl="0" indent="-127000" algn="l" rtl="0">
              <a:lnSpc>
                <a:spcPct val="90000"/>
              </a:lnSpc>
              <a:spcBef>
                <a:spcPts val="0"/>
              </a:spcBef>
              <a:spcAft>
                <a:spcPts val="0"/>
              </a:spcAft>
              <a:buSzPts val="2000"/>
              <a:buChar char=" "/>
            </a:pPr>
            <a:r>
              <a:rPr lang="en-US"/>
              <a:t>1. R(ABCD)</a:t>
            </a:r>
            <a:endParaRPr/>
          </a:p>
          <a:p>
            <a:pPr marL="91440" lvl="0" indent="-127000" algn="l" rtl="0">
              <a:lnSpc>
                <a:spcPct val="90000"/>
              </a:lnSpc>
              <a:spcBef>
                <a:spcPts val="1400"/>
              </a:spcBef>
              <a:spcAft>
                <a:spcPts val="0"/>
              </a:spcAft>
              <a:buSzPts val="2000"/>
              <a:buChar char=" "/>
            </a:pPr>
            <a:r>
              <a:rPr lang="en-US"/>
              <a:t>FD’s={AB-&gt;C,C-&gt;D}</a:t>
            </a:r>
            <a:endParaRPr/>
          </a:p>
          <a:p>
            <a:pPr marL="91440" lvl="0" indent="-127000" algn="l" rtl="0">
              <a:lnSpc>
                <a:spcPct val="90000"/>
              </a:lnSpc>
              <a:spcBef>
                <a:spcPts val="1400"/>
              </a:spcBef>
              <a:spcAft>
                <a:spcPts val="0"/>
              </a:spcAft>
              <a:buSzPts val="2000"/>
              <a:buChar char=" "/>
            </a:pPr>
            <a:r>
              <a:rPr lang="en-US"/>
              <a:t>2. R(ABCD)</a:t>
            </a:r>
            <a:endParaRPr/>
          </a:p>
          <a:p>
            <a:pPr marL="91440" lvl="0" indent="-127000" algn="l" rtl="0">
              <a:lnSpc>
                <a:spcPct val="90000"/>
              </a:lnSpc>
              <a:spcBef>
                <a:spcPts val="1400"/>
              </a:spcBef>
              <a:spcAft>
                <a:spcPts val="0"/>
              </a:spcAft>
              <a:buSzPts val="2000"/>
              <a:buChar char=" "/>
            </a:pPr>
            <a:r>
              <a:rPr lang="en-US"/>
              <a:t>FD’s={AB-&gt;CD,D-&gt;A}</a:t>
            </a:r>
            <a:endParaRPr/>
          </a:p>
          <a:p>
            <a:pPr marL="91440" lvl="0" indent="0" algn="l" rtl="0">
              <a:lnSpc>
                <a:spcPct val="90000"/>
              </a:lnSpc>
              <a:spcBef>
                <a:spcPts val="1400"/>
              </a:spcBef>
              <a:spcAft>
                <a:spcPts val="0"/>
              </a:spcAft>
              <a:buSzPts val="2000"/>
              <a:buNone/>
            </a:pP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17"/>
        <p:cNvGrpSpPr/>
        <p:nvPr/>
      </p:nvGrpSpPr>
      <p:grpSpPr>
        <a:xfrm>
          <a:off x="0" y="0"/>
          <a:ext cx="0" cy="0"/>
          <a:chOff x="0" y="0"/>
          <a:chExt cx="0" cy="0"/>
        </a:xfrm>
      </p:grpSpPr>
      <p:sp>
        <p:nvSpPr>
          <p:cNvPr id="618" name="Google Shape;618;p25"/>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BCNF</a:t>
            </a:r>
            <a:endParaRPr/>
          </a:p>
        </p:txBody>
      </p:sp>
      <p:sp>
        <p:nvSpPr>
          <p:cNvPr id="619" name="Google Shape;619;p25"/>
          <p:cNvSpPr txBox="1">
            <a:spLocks noGrp="1"/>
          </p:cNvSpPr>
          <p:nvPr>
            <p:ph type="body" idx="1"/>
          </p:nvPr>
        </p:nvSpPr>
        <p:spPr>
          <a:xfrm>
            <a:off x="1097280" y="1845734"/>
            <a:ext cx="10058400" cy="2805397"/>
          </a:xfrm>
          <a:prstGeom prst="rect">
            <a:avLst/>
          </a:prstGeom>
          <a:noFill/>
          <a:ln>
            <a:noFill/>
          </a:ln>
        </p:spPr>
        <p:txBody>
          <a:bodyPr spcFirstLastPara="1" wrap="square" lIns="0" tIns="45700" rIns="0" bIns="45700" anchor="t" anchorCtr="0">
            <a:normAutofit/>
          </a:bodyPr>
          <a:lstStyle/>
          <a:p>
            <a:pPr marL="91440" lvl="0" indent="-127000" algn="l" rtl="0">
              <a:lnSpc>
                <a:spcPct val="90000"/>
              </a:lnSpc>
              <a:spcBef>
                <a:spcPts val="0"/>
              </a:spcBef>
              <a:spcAft>
                <a:spcPts val="0"/>
              </a:spcAft>
              <a:buSzPts val="2000"/>
              <a:buChar char=" "/>
            </a:pPr>
            <a:r>
              <a:rPr lang="en-US" b="0" i="0">
                <a:solidFill>
                  <a:srgbClr val="273239"/>
                </a:solidFill>
              </a:rPr>
              <a:t>BCNF is a stricter form of 3NF that ensures that each determinant in a table is a candidate key. In other words, BCNF ensures that each non-key attribute is dependent only on the candidate key.</a:t>
            </a:r>
            <a:endParaRPr/>
          </a:p>
          <a:p>
            <a:pPr marL="91440" lvl="0" indent="-127000" algn="just" rtl="0">
              <a:lnSpc>
                <a:spcPct val="90000"/>
              </a:lnSpc>
              <a:spcBef>
                <a:spcPts val="1400"/>
              </a:spcBef>
              <a:spcAft>
                <a:spcPts val="0"/>
              </a:spcAft>
              <a:buSzPts val="2000"/>
              <a:buChar char=" "/>
            </a:pPr>
            <a:r>
              <a:rPr lang="en-US" b="0" i="0">
                <a:solidFill>
                  <a:srgbClr val="273239"/>
                </a:solidFill>
              </a:rPr>
              <a:t>The basic condition for any relation to be in BCNF is that it must be in Third Normal Form.</a:t>
            </a:r>
            <a:endParaRPr/>
          </a:p>
          <a:p>
            <a:pPr marL="91440" lvl="0" indent="-127000" algn="just" rtl="0">
              <a:lnSpc>
                <a:spcPct val="90000"/>
              </a:lnSpc>
              <a:spcBef>
                <a:spcPts val="1400"/>
              </a:spcBef>
              <a:spcAft>
                <a:spcPts val="0"/>
              </a:spcAft>
              <a:buSzPts val="2000"/>
              <a:buChar char=" "/>
            </a:pPr>
            <a:r>
              <a:rPr lang="en-US" b="0" i="0">
                <a:solidFill>
                  <a:srgbClr val="273239"/>
                </a:solidFill>
              </a:rPr>
              <a:t>In simpler words, if any column in the table determines another column’s value, the determining column must be unique (a candidate key). BCNF fixes any issues left by 3NF</a:t>
            </a:r>
            <a:endParaRPr/>
          </a:p>
          <a:p>
            <a:pPr marL="91440" lvl="0" indent="0" algn="l" rtl="0">
              <a:lnSpc>
                <a:spcPct val="90000"/>
              </a:lnSpc>
              <a:spcBef>
                <a:spcPts val="1400"/>
              </a:spcBef>
              <a:spcAft>
                <a:spcPts val="0"/>
              </a:spcAft>
              <a:buSzPts val="2000"/>
              <a:buNone/>
            </a:pPr>
            <a:endParaRPr/>
          </a:p>
        </p:txBody>
      </p:sp>
      <p:sp>
        <p:nvSpPr>
          <p:cNvPr id="620" name="Google Shape;620;p25"/>
          <p:cNvSpPr txBox="1"/>
          <p:nvPr/>
        </p:nvSpPr>
        <p:spPr>
          <a:xfrm>
            <a:off x="1237516" y="4651131"/>
            <a:ext cx="10058400" cy="153888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Basic rule for BCNF:</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1. Table must be in Third Normal Form.</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2. In relation X-&gt;Y, X must be a super-key in a relation</a:t>
            </a:r>
            <a:r>
              <a:rPr lang="en-US" sz="2000" b="1">
                <a:solidFill>
                  <a:schemeClr val="dk1"/>
                </a:solidFill>
                <a:latin typeface="Calibri"/>
                <a:ea typeface="Calibri"/>
                <a:cs typeface="Calibri"/>
                <a:sym typeface="Calibri"/>
              </a:rPr>
              <a:t>.(LHS of each FD Should be a candidate key/super key)</a:t>
            </a:r>
            <a:endParaRPr sz="1800" b="1">
              <a:solidFill>
                <a:schemeClr val="dk1"/>
              </a:solidFill>
              <a:latin typeface="Calibri"/>
              <a:ea typeface="Calibri"/>
              <a:cs typeface="Calibri"/>
              <a:sym typeface="Calibri"/>
            </a:endParaRPr>
          </a:p>
        </p:txBody>
      </p:sp>
      <p:pic>
        <p:nvPicPr>
          <p:cNvPr id="621" name="Google Shape;621;p25"/>
          <p:cNvPicPr preferRelativeResize="0"/>
          <p:nvPr/>
        </p:nvPicPr>
        <p:blipFill rotWithShape="1">
          <a:blip r:embed="rId3">
            <a:alphaModFix/>
          </a:blip>
          <a:srcRect/>
          <a:stretch/>
        </p:blipFill>
        <p:spPr>
          <a:xfrm>
            <a:off x="6467765" y="4412493"/>
            <a:ext cx="3625362" cy="981702"/>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25"/>
        <p:cNvGrpSpPr/>
        <p:nvPr/>
      </p:nvGrpSpPr>
      <p:grpSpPr>
        <a:xfrm>
          <a:off x="0" y="0"/>
          <a:ext cx="0" cy="0"/>
          <a:chOff x="0" y="0"/>
          <a:chExt cx="0" cy="0"/>
        </a:xfrm>
      </p:grpSpPr>
      <p:sp>
        <p:nvSpPr>
          <p:cNvPr id="626" name="Google Shape;626;p26"/>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Example</a:t>
            </a:r>
            <a:endParaRPr/>
          </a:p>
        </p:txBody>
      </p:sp>
      <p:graphicFrame>
        <p:nvGraphicFramePr>
          <p:cNvPr id="627" name="Google Shape;627;p26"/>
          <p:cNvGraphicFramePr/>
          <p:nvPr/>
        </p:nvGraphicFramePr>
        <p:xfrm>
          <a:off x="1096963" y="1846263"/>
          <a:ext cx="10058400" cy="1854250"/>
        </p:xfrm>
        <a:graphic>
          <a:graphicData uri="http://schemas.openxmlformats.org/drawingml/2006/table">
            <a:tbl>
              <a:tblPr firstRow="1" bandRow="1">
                <a:noFill/>
                <a:tableStyleId>{CAEFD402-7BAA-4683-8AB4-5E6667C64626}</a:tableStyleId>
              </a:tblPr>
              <a:tblGrid>
                <a:gridCol w="251460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gridCol w="2514600">
                  <a:extLst>
                    <a:ext uri="{9D8B030D-6E8A-4147-A177-3AD203B41FA5}">
                      <a16:colId xmlns:a16="http://schemas.microsoft.com/office/drawing/2014/main" val="20003"/>
                    </a:ext>
                  </a:extLst>
                </a:gridCol>
              </a:tblGrid>
              <a:tr h="370850">
                <a:tc>
                  <a:txBody>
                    <a:bodyPr/>
                    <a:lstStyle/>
                    <a:p>
                      <a:pPr marL="0" marR="0" lvl="0" indent="0" algn="l" rtl="0">
                        <a:spcBef>
                          <a:spcPts val="0"/>
                        </a:spcBef>
                        <a:spcAft>
                          <a:spcPts val="0"/>
                        </a:spcAft>
                        <a:buNone/>
                      </a:pPr>
                      <a:r>
                        <a:rPr lang="en-US" sz="1800"/>
                        <a:t>Roll No</a:t>
                      </a:r>
                      <a:endParaRPr/>
                    </a:p>
                  </a:txBody>
                  <a:tcPr marL="91450" marR="91450" marT="45725" marB="45725"/>
                </a:tc>
                <a:tc>
                  <a:txBody>
                    <a:bodyPr/>
                    <a:lstStyle/>
                    <a:p>
                      <a:pPr marL="0" marR="0" lvl="0" indent="0" algn="l" rtl="0">
                        <a:spcBef>
                          <a:spcPts val="0"/>
                        </a:spcBef>
                        <a:spcAft>
                          <a:spcPts val="0"/>
                        </a:spcAft>
                        <a:buNone/>
                      </a:pPr>
                      <a:r>
                        <a:rPr lang="en-US" sz="1800"/>
                        <a:t>Name</a:t>
                      </a:r>
                      <a:endParaRPr/>
                    </a:p>
                  </a:txBody>
                  <a:tcPr marL="91450" marR="91450" marT="45725" marB="45725"/>
                </a:tc>
                <a:tc>
                  <a:txBody>
                    <a:bodyPr/>
                    <a:lstStyle/>
                    <a:p>
                      <a:pPr marL="0" marR="0" lvl="0" indent="0" algn="l" rtl="0">
                        <a:spcBef>
                          <a:spcPts val="0"/>
                        </a:spcBef>
                        <a:spcAft>
                          <a:spcPts val="0"/>
                        </a:spcAft>
                        <a:buNone/>
                      </a:pPr>
                      <a:r>
                        <a:rPr lang="en-US" sz="1800"/>
                        <a:t>Adhaar No</a:t>
                      </a:r>
                      <a:endParaRPr/>
                    </a:p>
                  </a:txBody>
                  <a:tcPr marL="91450" marR="91450" marT="45725" marB="45725"/>
                </a:tc>
                <a:tc>
                  <a:txBody>
                    <a:bodyPr/>
                    <a:lstStyle/>
                    <a:p>
                      <a:pPr marL="0" marR="0" lvl="0" indent="0" algn="l" rtl="0">
                        <a:spcBef>
                          <a:spcPts val="0"/>
                        </a:spcBef>
                        <a:spcAft>
                          <a:spcPts val="0"/>
                        </a:spcAft>
                        <a:buNone/>
                      </a:pPr>
                      <a:r>
                        <a:rPr lang="en-US" sz="1800"/>
                        <a:t>Gender</a:t>
                      </a:r>
                      <a:endParaRPr/>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800"/>
                        <a:t>1</a:t>
                      </a:r>
                      <a:endParaRPr/>
                    </a:p>
                  </a:txBody>
                  <a:tcPr marL="91450" marR="91450" marT="45725" marB="45725"/>
                </a:tc>
                <a:tc>
                  <a:txBody>
                    <a:bodyPr/>
                    <a:lstStyle/>
                    <a:p>
                      <a:pPr marL="0" marR="0" lvl="0" indent="0" algn="l" rtl="0">
                        <a:spcBef>
                          <a:spcPts val="0"/>
                        </a:spcBef>
                        <a:spcAft>
                          <a:spcPts val="0"/>
                        </a:spcAft>
                        <a:buNone/>
                      </a:pPr>
                      <a:r>
                        <a:rPr lang="en-US" sz="1800"/>
                        <a:t>Sunu</a:t>
                      </a:r>
                      <a:endParaRPr/>
                    </a:p>
                  </a:txBody>
                  <a:tcPr marL="91450" marR="91450" marT="45725" marB="45725"/>
                </a:tc>
                <a:tc>
                  <a:txBody>
                    <a:bodyPr/>
                    <a:lstStyle/>
                    <a:p>
                      <a:pPr marL="0" marR="0" lvl="0" indent="0" algn="l" rtl="0">
                        <a:spcBef>
                          <a:spcPts val="0"/>
                        </a:spcBef>
                        <a:spcAft>
                          <a:spcPts val="0"/>
                        </a:spcAft>
                        <a:buNone/>
                      </a:pPr>
                      <a:r>
                        <a:rPr lang="en-US" sz="1800"/>
                        <a:t>ABCD1222</a:t>
                      </a:r>
                      <a:endParaRPr/>
                    </a:p>
                  </a:txBody>
                  <a:tcPr marL="91450" marR="91450" marT="45725" marB="45725"/>
                </a:tc>
                <a:tc>
                  <a:txBody>
                    <a:bodyPr/>
                    <a:lstStyle/>
                    <a:p>
                      <a:pPr marL="0" marR="0" lvl="0" indent="0" algn="l" rtl="0">
                        <a:spcBef>
                          <a:spcPts val="0"/>
                        </a:spcBef>
                        <a:spcAft>
                          <a:spcPts val="0"/>
                        </a:spcAft>
                        <a:buNone/>
                      </a:pPr>
                      <a:r>
                        <a:rPr lang="en-US" sz="1800"/>
                        <a:t>F</a:t>
                      </a:r>
                      <a:endParaRPr/>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US" sz="1800"/>
                        <a:t>2</a:t>
                      </a:r>
                      <a:endParaRPr/>
                    </a:p>
                  </a:txBody>
                  <a:tcPr marL="91450" marR="91450" marT="45725" marB="45725"/>
                </a:tc>
                <a:tc>
                  <a:txBody>
                    <a:bodyPr/>
                    <a:lstStyle/>
                    <a:p>
                      <a:pPr marL="0" marR="0" lvl="0" indent="0" algn="l" rtl="0">
                        <a:spcBef>
                          <a:spcPts val="0"/>
                        </a:spcBef>
                        <a:spcAft>
                          <a:spcPts val="0"/>
                        </a:spcAft>
                        <a:buNone/>
                      </a:pPr>
                      <a:r>
                        <a:rPr lang="en-US" sz="1800"/>
                        <a:t>Manu</a:t>
                      </a:r>
                      <a:endParaRPr/>
                    </a:p>
                  </a:txBody>
                  <a:tcPr marL="91450" marR="91450" marT="45725" marB="45725"/>
                </a:tc>
                <a:tc>
                  <a:txBody>
                    <a:bodyPr/>
                    <a:lstStyle/>
                    <a:p>
                      <a:pPr marL="0" marR="0" lvl="0" indent="0" algn="l" rtl="0">
                        <a:spcBef>
                          <a:spcPts val="0"/>
                        </a:spcBef>
                        <a:spcAft>
                          <a:spcPts val="0"/>
                        </a:spcAft>
                        <a:buNone/>
                      </a:pPr>
                      <a:r>
                        <a:rPr lang="en-US" sz="1800"/>
                        <a:t>XYZ123456</a:t>
                      </a:r>
                      <a:endParaRPr/>
                    </a:p>
                  </a:txBody>
                  <a:tcPr marL="91450" marR="91450" marT="45725" marB="45725"/>
                </a:tc>
                <a:tc>
                  <a:txBody>
                    <a:bodyPr/>
                    <a:lstStyle/>
                    <a:p>
                      <a:pPr marL="0" marR="0" lvl="0" indent="0" algn="l" rtl="0">
                        <a:spcBef>
                          <a:spcPts val="0"/>
                        </a:spcBef>
                        <a:spcAft>
                          <a:spcPts val="0"/>
                        </a:spcAft>
                        <a:buNone/>
                      </a:pPr>
                      <a:r>
                        <a:rPr lang="en-US" sz="1800"/>
                        <a:t>M</a:t>
                      </a:r>
                      <a:endParaRPr/>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r>
                        <a:rPr lang="en-US" sz="1800"/>
                        <a:t>3</a:t>
                      </a:r>
                      <a:endParaRPr/>
                    </a:p>
                  </a:txBody>
                  <a:tcPr marL="91450" marR="91450" marT="45725" marB="45725"/>
                </a:tc>
                <a:tc>
                  <a:txBody>
                    <a:bodyPr/>
                    <a:lstStyle/>
                    <a:p>
                      <a:pPr marL="0" marR="0" lvl="0" indent="0" algn="l" rtl="0">
                        <a:spcBef>
                          <a:spcPts val="0"/>
                        </a:spcBef>
                        <a:spcAft>
                          <a:spcPts val="0"/>
                        </a:spcAft>
                        <a:buNone/>
                      </a:pPr>
                      <a:r>
                        <a:rPr lang="en-US" sz="1800"/>
                        <a:t>Amith</a:t>
                      </a:r>
                      <a:endParaRPr sz="1800"/>
                    </a:p>
                  </a:txBody>
                  <a:tcPr marL="91450" marR="91450" marT="45725" marB="45725"/>
                </a:tc>
                <a:tc>
                  <a:txBody>
                    <a:bodyPr/>
                    <a:lstStyle/>
                    <a:p>
                      <a:pPr marL="0" marR="0" lvl="0" indent="0" algn="l" rtl="0">
                        <a:spcBef>
                          <a:spcPts val="0"/>
                        </a:spcBef>
                        <a:spcAft>
                          <a:spcPts val="0"/>
                        </a:spcAft>
                        <a:buNone/>
                      </a:pPr>
                      <a:r>
                        <a:rPr lang="en-US" sz="1800"/>
                        <a:t>QWER2344</a:t>
                      </a:r>
                      <a:endParaRPr/>
                    </a:p>
                  </a:txBody>
                  <a:tcPr marL="91450" marR="91450" marT="45725" marB="45725"/>
                </a:tc>
                <a:tc>
                  <a:txBody>
                    <a:bodyPr/>
                    <a:lstStyle/>
                    <a:p>
                      <a:pPr marL="0" marR="0" lvl="0" indent="0" algn="l" rtl="0">
                        <a:spcBef>
                          <a:spcPts val="0"/>
                        </a:spcBef>
                        <a:spcAft>
                          <a:spcPts val="0"/>
                        </a:spcAft>
                        <a:buNone/>
                      </a:pPr>
                      <a:r>
                        <a:rPr lang="en-US" sz="1800"/>
                        <a:t>M</a:t>
                      </a:r>
                      <a:endParaRPr/>
                    </a:p>
                  </a:txBody>
                  <a:tcPr marL="91450" marR="91450" marT="45725" marB="45725"/>
                </a:tc>
                <a:extLst>
                  <a:ext uri="{0D108BD9-81ED-4DB2-BD59-A6C34878D82A}">
                    <a16:rowId xmlns:a16="http://schemas.microsoft.com/office/drawing/2014/main" val="10003"/>
                  </a:ext>
                </a:extLst>
              </a:tr>
              <a:tr h="370850">
                <a:tc>
                  <a:txBody>
                    <a:bodyPr/>
                    <a:lstStyle/>
                    <a:p>
                      <a:pPr marL="0" marR="0" lvl="0" indent="0" algn="l" rtl="0">
                        <a:spcBef>
                          <a:spcPts val="0"/>
                        </a:spcBef>
                        <a:spcAft>
                          <a:spcPts val="0"/>
                        </a:spcAft>
                        <a:buNone/>
                      </a:pPr>
                      <a:r>
                        <a:rPr lang="en-US" sz="1800"/>
                        <a:t>4</a:t>
                      </a:r>
                      <a:endParaRPr/>
                    </a:p>
                  </a:txBody>
                  <a:tcPr marL="91450" marR="91450" marT="45725" marB="45725"/>
                </a:tc>
                <a:tc>
                  <a:txBody>
                    <a:bodyPr/>
                    <a:lstStyle/>
                    <a:p>
                      <a:pPr marL="0" marR="0" lvl="0" indent="0" algn="l" rtl="0">
                        <a:spcBef>
                          <a:spcPts val="0"/>
                        </a:spcBef>
                        <a:spcAft>
                          <a:spcPts val="0"/>
                        </a:spcAft>
                        <a:buNone/>
                      </a:pPr>
                      <a:r>
                        <a:rPr lang="en-US" sz="1800"/>
                        <a:t>Abhijith</a:t>
                      </a:r>
                      <a:endParaRPr sz="1800"/>
                    </a:p>
                  </a:txBody>
                  <a:tcPr marL="91450" marR="91450" marT="45725" marB="45725"/>
                </a:tc>
                <a:tc>
                  <a:txBody>
                    <a:bodyPr/>
                    <a:lstStyle/>
                    <a:p>
                      <a:pPr marL="0" marR="0" lvl="0" indent="0" algn="l" rtl="0">
                        <a:spcBef>
                          <a:spcPts val="0"/>
                        </a:spcBef>
                        <a:spcAft>
                          <a:spcPts val="0"/>
                        </a:spcAft>
                        <a:buNone/>
                      </a:pPr>
                      <a:r>
                        <a:rPr lang="en-US" sz="1800"/>
                        <a:t>JKUL34456</a:t>
                      </a:r>
                      <a:endParaRPr/>
                    </a:p>
                  </a:txBody>
                  <a:tcPr marL="91450" marR="91450" marT="45725" marB="45725"/>
                </a:tc>
                <a:tc>
                  <a:txBody>
                    <a:bodyPr/>
                    <a:lstStyle/>
                    <a:p>
                      <a:pPr marL="0" marR="0" lvl="0" indent="0" algn="l" rtl="0">
                        <a:spcBef>
                          <a:spcPts val="0"/>
                        </a:spcBef>
                        <a:spcAft>
                          <a:spcPts val="0"/>
                        </a:spcAft>
                        <a:buNone/>
                      </a:pPr>
                      <a:r>
                        <a:rPr lang="en-US" sz="1800"/>
                        <a:t>M</a:t>
                      </a:r>
                      <a:endParaRPr/>
                    </a:p>
                  </a:txBody>
                  <a:tcPr marL="91450" marR="91450" marT="45725" marB="45725"/>
                </a:tc>
                <a:extLst>
                  <a:ext uri="{0D108BD9-81ED-4DB2-BD59-A6C34878D82A}">
                    <a16:rowId xmlns:a16="http://schemas.microsoft.com/office/drawing/2014/main" val="10004"/>
                  </a:ext>
                </a:extLst>
              </a:tr>
            </a:tbl>
          </a:graphicData>
        </a:graphic>
      </p:graphicFrame>
      <p:sp>
        <p:nvSpPr>
          <p:cNvPr id="628" name="Google Shape;628;p26"/>
          <p:cNvSpPr txBox="1"/>
          <p:nvPr/>
        </p:nvSpPr>
        <p:spPr>
          <a:xfrm>
            <a:off x="655320" y="3937705"/>
            <a:ext cx="980440" cy="147732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FD’s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R-&gt;N</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R-&gt;A</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A-&gt;G</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A-&gt;R</a:t>
            </a:r>
            <a:endParaRPr/>
          </a:p>
        </p:txBody>
      </p:sp>
      <p:sp>
        <p:nvSpPr>
          <p:cNvPr id="629" name="Google Shape;629;p26"/>
          <p:cNvSpPr/>
          <p:nvPr/>
        </p:nvSpPr>
        <p:spPr>
          <a:xfrm>
            <a:off x="1549400" y="3937705"/>
            <a:ext cx="2981960" cy="175432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Candidate Keys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R</a:t>
            </a:r>
            <a:r>
              <a:rPr lang="en-US" sz="1800" baseline="30000">
                <a:solidFill>
                  <a:schemeClr val="dk1"/>
                </a:solidFill>
                <a:latin typeface="Calibri"/>
                <a:ea typeface="Calibri"/>
                <a:cs typeface="Calibri"/>
                <a:sym typeface="Calibri"/>
              </a:rPr>
              <a:t>+</a:t>
            </a:r>
            <a:r>
              <a:rPr lang="en-US" sz="1800">
                <a:solidFill>
                  <a:schemeClr val="dk1"/>
                </a:solidFill>
                <a:latin typeface="Calibri"/>
                <a:ea typeface="Calibri"/>
                <a:cs typeface="Calibri"/>
                <a:sym typeface="Calibri"/>
              </a:rPr>
              <a:t>={NAGR}</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a:t>
            </a:r>
            <a:r>
              <a:rPr lang="en-US" sz="1800" baseline="30000">
                <a:solidFill>
                  <a:schemeClr val="dk1"/>
                </a:solidFill>
                <a:latin typeface="Calibri"/>
                <a:ea typeface="Calibri"/>
                <a:cs typeface="Calibri"/>
                <a:sym typeface="Calibri"/>
              </a:rPr>
              <a:t>+</a:t>
            </a:r>
            <a:r>
              <a:rPr lang="en-US" sz="1800">
                <a:solidFill>
                  <a:schemeClr val="dk1"/>
                </a:solidFill>
                <a:latin typeface="Calibri"/>
                <a:ea typeface="Calibri"/>
                <a:cs typeface="Calibri"/>
                <a:sym typeface="Calibri"/>
              </a:rPr>
              <a:t>={NAGR}</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CK={R,A}</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Prime Attributes={R,A}</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Non-Prime Attributes={N,G}</a:t>
            </a:r>
            <a:endParaRPr/>
          </a:p>
        </p:txBody>
      </p:sp>
      <p:graphicFrame>
        <p:nvGraphicFramePr>
          <p:cNvPr id="630" name="Google Shape;630;p26"/>
          <p:cNvGraphicFramePr/>
          <p:nvPr/>
        </p:nvGraphicFramePr>
        <p:xfrm>
          <a:off x="4531360" y="3937705"/>
          <a:ext cx="6827500" cy="2049215"/>
        </p:xfrm>
        <a:graphic>
          <a:graphicData uri="http://schemas.openxmlformats.org/drawingml/2006/table">
            <a:tbl>
              <a:tblPr firstRow="1" bandRow="1">
                <a:noFill/>
                <a:tableStyleId>{CAEFD402-7BAA-4683-8AB4-5E6667C64626}</a:tableStyleId>
              </a:tblPr>
              <a:tblGrid>
                <a:gridCol w="816050">
                  <a:extLst>
                    <a:ext uri="{9D8B030D-6E8A-4147-A177-3AD203B41FA5}">
                      <a16:colId xmlns:a16="http://schemas.microsoft.com/office/drawing/2014/main" val="20000"/>
                    </a:ext>
                  </a:extLst>
                </a:gridCol>
                <a:gridCol w="2404650">
                  <a:extLst>
                    <a:ext uri="{9D8B030D-6E8A-4147-A177-3AD203B41FA5}">
                      <a16:colId xmlns:a16="http://schemas.microsoft.com/office/drawing/2014/main" val="20001"/>
                    </a:ext>
                  </a:extLst>
                </a:gridCol>
                <a:gridCol w="1391925">
                  <a:extLst>
                    <a:ext uri="{9D8B030D-6E8A-4147-A177-3AD203B41FA5}">
                      <a16:colId xmlns:a16="http://schemas.microsoft.com/office/drawing/2014/main" val="20002"/>
                    </a:ext>
                  </a:extLst>
                </a:gridCol>
                <a:gridCol w="1229350">
                  <a:extLst>
                    <a:ext uri="{9D8B030D-6E8A-4147-A177-3AD203B41FA5}">
                      <a16:colId xmlns:a16="http://schemas.microsoft.com/office/drawing/2014/main" val="20003"/>
                    </a:ext>
                  </a:extLst>
                </a:gridCol>
                <a:gridCol w="985525">
                  <a:extLst>
                    <a:ext uri="{9D8B030D-6E8A-4147-A177-3AD203B41FA5}">
                      <a16:colId xmlns:a16="http://schemas.microsoft.com/office/drawing/2014/main" val="20004"/>
                    </a:ext>
                  </a:extLst>
                </a:gridCol>
              </a:tblGrid>
              <a:tr h="307450">
                <a:tc>
                  <a:txBody>
                    <a:bodyPr/>
                    <a:lstStyle/>
                    <a:p>
                      <a:pPr marL="0" marR="0" lvl="0" indent="0" algn="l" rtl="0">
                        <a:spcBef>
                          <a:spcPts val="0"/>
                        </a:spcBef>
                        <a:spcAft>
                          <a:spcPts val="0"/>
                        </a:spcAft>
                        <a:buNone/>
                      </a:pPr>
                      <a:r>
                        <a:rPr lang="en-US" sz="1800"/>
                        <a:t>FD</a:t>
                      </a:r>
                      <a:endParaRPr sz="1800"/>
                    </a:p>
                  </a:txBody>
                  <a:tcPr marL="91450" marR="91450" marT="45725" marB="45725"/>
                </a:tc>
                <a:tc>
                  <a:txBody>
                    <a:bodyPr/>
                    <a:lstStyle/>
                    <a:p>
                      <a:pPr marL="0" marR="0" lvl="0" indent="0" algn="l" rtl="0">
                        <a:spcBef>
                          <a:spcPts val="0"/>
                        </a:spcBef>
                        <a:spcAft>
                          <a:spcPts val="0"/>
                        </a:spcAft>
                        <a:buNone/>
                      </a:pPr>
                      <a:r>
                        <a:rPr lang="en-US" sz="1800"/>
                        <a:t>Partial Dependency</a:t>
                      </a:r>
                      <a:endParaRPr sz="1800"/>
                    </a:p>
                  </a:txBody>
                  <a:tcPr marL="91450" marR="91450" marT="45725" marB="45725"/>
                </a:tc>
                <a:tc>
                  <a:txBody>
                    <a:bodyPr/>
                    <a:lstStyle/>
                    <a:p>
                      <a:pPr marL="0" marR="0" lvl="0" indent="0" algn="l" rtl="0">
                        <a:spcBef>
                          <a:spcPts val="0"/>
                        </a:spcBef>
                        <a:spcAft>
                          <a:spcPts val="0"/>
                        </a:spcAft>
                        <a:buNone/>
                      </a:pPr>
                      <a:r>
                        <a:rPr lang="en-US" sz="1800"/>
                        <a:t>2NF</a:t>
                      </a:r>
                      <a:endParaRPr sz="1800"/>
                    </a:p>
                  </a:txBody>
                  <a:tcPr marL="91450" marR="91450" marT="45725" marB="45725"/>
                </a:tc>
                <a:tc>
                  <a:txBody>
                    <a:bodyPr/>
                    <a:lstStyle/>
                    <a:p>
                      <a:pPr marL="0" marR="0" lvl="0" indent="0" algn="l" rtl="0">
                        <a:spcBef>
                          <a:spcPts val="0"/>
                        </a:spcBef>
                        <a:spcAft>
                          <a:spcPts val="0"/>
                        </a:spcAft>
                        <a:buNone/>
                      </a:pPr>
                      <a:r>
                        <a:rPr lang="en-US" sz="1800"/>
                        <a:t>3NF</a:t>
                      </a:r>
                      <a:endParaRPr/>
                    </a:p>
                  </a:txBody>
                  <a:tcPr marL="91450" marR="91450" marT="45725" marB="45725"/>
                </a:tc>
                <a:tc>
                  <a:txBody>
                    <a:bodyPr/>
                    <a:lstStyle/>
                    <a:p>
                      <a:pPr marL="0" marR="0" lvl="0" indent="0" algn="l" rtl="0">
                        <a:spcBef>
                          <a:spcPts val="0"/>
                        </a:spcBef>
                        <a:spcAft>
                          <a:spcPts val="0"/>
                        </a:spcAft>
                        <a:buNone/>
                      </a:pPr>
                      <a:r>
                        <a:rPr lang="en-US" sz="1800"/>
                        <a:t>BCNF</a:t>
                      </a:r>
                      <a:endParaRPr/>
                    </a:p>
                  </a:txBody>
                  <a:tcPr marL="91450" marR="91450" marT="45725" marB="45725"/>
                </a:tc>
                <a:extLst>
                  <a:ext uri="{0D108BD9-81ED-4DB2-BD59-A6C34878D82A}">
                    <a16:rowId xmlns:a16="http://schemas.microsoft.com/office/drawing/2014/main" val="10000"/>
                  </a:ext>
                </a:extLst>
              </a:tr>
              <a:tr h="294000">
                <a:tc>
                  <a:txBody>
                    <a:bodyPr/>
                    <a:lstStyle/>
                    <a:p>
                      <a:pPr marL="0" marR="0" lvl="0" indent="0" algn="l" rtl="0">
                        <a:spcBef>
                          <a:spcPts val="0"/>
                        </a:spcBef>
                        <a:spcAft>
                          <a:spcPts val="0"/>
                        </a:spcAft>
                        <a:buNone/>
                      </a:pPr>
                      <a:r>
                        <a:rPr lang="en-US" sz="1800"/>
                        <a:t>R-&gt;N</a:t>
                      </a:r>
                      <a:endParaRPr sz="1800"/>
                    </a:p>
                  </a:txBody>
                  <a:tcPr marL="91450" marR="91450" marT="45725" marB="45725"/>
                </a:tc>
                <a:tc>
                  <a:txBody>
                    <a:bodyPr/>
                    <a:lstStyle/>
                    <a:p>
                      <a:pPr marL="0" marR="0" lvl="0" indent="0" algn="l" rtl="0">
                        <a:spcBef>
                          <a:spcPts val="0"/>
                        </a:spcBef>
                        <a:spcAft>
                          <a:spcPts val="0"/>
                        </a:spcAft>
                        <a:buNone/>
                      </a:pPr>
                      <a:r>
                        <a:rPr lang="en-US" sz="1800"/>
                        <a:t>No</a:t>
                      </a:r>
                      <a:endParaRPr sz="1800"/>
                    </a:p>
                  </a:txBody>
                  <a:tcPr marL="91450" marR="91450" marT="45725" marB="45725"/>
                </a:tc>
                <a:tc>
                  <a:txBody>
                    <a:bodyPr/>
                    <a:lstStyle/>
                    <a:p>
                      <a:pPr marL="0" marR="0" lvl="0" indent="0" algn="l" rtl="0">
                        <a:spcBef>
                          <a:spcPts val="0"/>
                        </a:spcBef>
                        <a:spcAft>
                          <a:spcPts val="0"/>
                        </a:spcAft>
                        <a:buNone/>
                      </a:pPr>
                      <a:r>
                        <a:rPr lang="en-US" sz="1800"/>
                        <a:t>Yes</a:t>
                      </a:r>
                      <a:endParaRPr sz="1800"/>
                    </a:p>
                  </a:txBody>
                  <a:tcPr marL="91450" marR="91450" marT="45725" marB="45725"/>
                </a:tc>
                <a:tc>
                  <a:txBody>
                    <a:bodyPr/>
                    <a:lstStyle/>
                    <a:p>
                      <a:pPr marL="0" marR="0" lvl="0" indent="0" algn="l" rtl="0">
                        <a:spcBef>
                          <a:spcPts val="0"/>
                        </a:spcBef>
                        <a:spcAft>
                          <a:spcPts val="0"/>
                        </a:spcAft>
                        <a:buNone/>
                      </a:pPr>
                      <a:r>
                        <a:rPr lang="en-US" sz="1800"/>
                        <a:t>Yes</a:t>
                      </a:r>
                      <a:endParaRPr/>
                    </a:p>
                  </a:txBody>
                  <a:tcPr marL="91450" marR="91450" marT="45725" marB="45725"/>
                </a:tc>
                <a:tc>
                  <a:txBody>
                    <a:bodyPr/>
                    <a:lstStyle/>
                    <a:p>
                      <a:pPr marL="0" marR="0" lvl="0" indent="0" algn="l" rtl="0">
                        <a:spcBef>
                          <a:spcPts val="0"/>
                        </a:spcBef>
                        <a:spcAft>
                          <a:spcPts val="0"/>
                        </a:spcAft>
                        <a:buNone/>
                      </a:pPr>
                      <a:r>
                        <a:rPr lang="en-US" sz="1800"/>
                        <a:t>Yes</a:t>
                      </a:r>
                      <a:endParaRPr/>
                    </a:p>
                  </a:txBody>
                  <a:tcPr marL="91450" marR="91450" marT="45725" marB="45725"/>
                </a:tc>
                <a:extLst>
                  <a:ext uri="{0D108BD9-81ED-4DB2-BD59-A6C34878D82A}">
                    <a16:rowId xmlns:a16="http://schemas.microsoft.com/office/drawing/2014/main" val="10001"/>
                  </a:ext>
                </a:extLst>
              </a:tr>
              <a:tr h="439225">
                <a:tc>
                  <a:txBody>
                    <a:bodyPr/>
                    <a:lstStyle/>
                    <a:p>
                      <a:pPr marL="0" marR="0" lvl="0" indent="0" algn="l" rtl="0">
                        <a:spcBef>
                          <a:spcPts val="0"/>
                        </a:spcBef>
                        <a:spcAft>
                          <a:spcPts val="0"/>
                        </a:spcAft>
                        <a:buNone/>
                      </a:pPr>
                      <a:r>
                        <a:rPr lang="en-US" sz="1800"/>
                        <a:t>R-&gt;A</a:t>
                      </a:r>
                      <a:endParaRPr sz="1800"/>
                    </a:p>
                  </a:txBody>
                  <a:tcPr marL="91450" marR="91450" marT="45725" marB="45725"/>
                </a:tc>
                <a:tc>
                  <a:txBody>
                    <a:bodyPr/>
                    <a:lstStyle/>
                    <a:p>
                      <a:pPr marL="0" marR="0" lvl="0" indent="0" algn="l" rtl="0">
                        <a:spcBef>
                          <a:spcPts val="0"/>
                        </a:spcBef>
                        <a:spcAft>
                          <a:spcPts val="0"/>
                        </a:spcAft>
                        <a:buNone/>
                      </a:pPr>
                      <a:r>
                        <a:rPr lang="en-US" sz="1800"/>
                        <a:t>No</a:t>
                      </a:r>
                      <a:endParaRPr sz="1800"/>
                    </a:p>
                  </a:txBody>
                  <a:tcPr marL="91450" marR="91450" marT="45725" marB="45725"/>
                </a:tc>
                <a:tc>
                  <a:txBody>
                    <a:bodyPr/>
                    <a:lstStyle/>
                    <a:p>
                      <a:pPr marL="0" marR="0" lvl="0" indent="0" algn="l" rtl="0">
                        <a:spcBef>
                          <a:spcPts val="0"/>
                        </a:spcBef>
                        <a:spcAft>
                          <a:spcPts val="0"/>
                        </a:spcAft>
                        <a:buNone/>
                      </a:pPr>
                      <a:r>
                        <a:rPr lang="en-US" sz="1800"/>
                        <a:t>Yes</a:t>
                      </a:r>
                      <a:endParaRPr sz="1800"/>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Calibri"/>
                        <a:buNone/>
                      </a:pPr>
                      <a:r>
                        <a:rPr lang="en-US" sz="1800"/>
                        <a:t>Yes</a:t>
                      </a:r>
                      <a:endParaRPr/>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Calibri"/>
                        <a:buNone/>
                      </a:pPr>
                      <a:r>
                        <a:rPr lang="en-US" sz="1800"/>
                        <a:t>Yes</a:t>
                      </a:r>
                      <a:endParaRPr/>
                    </a:p>
                  </a:txBody>
                  <a:tcPr marL="91450" marR="91450" marT="45725" marB="45725"/>
                </a:tc>
                <a:extLst>
                  <a:ext uri="{0D108BD9-81ED-4DB2-BD59-A6C34878D82A}">
                    <a16:rowId xmlns:a16="http://schemas.microsoft.com/office/drawing/2014/main" val="10002"/>
                  </a:ext>
                </a:extLst>
              </a:tr>
              <a:tr h="439225">
                <a:tc>
                  <a:txBody>
                    <a:bodyPr/>
                    <a:lstStyle/>
                    <a:p>
                      <a:pPr marL="0" marR="0" lvl="0" indent="0" algn="l" rtl="0">
                        <a:spcBef>
                          <a:spcPts val="0"/>
                        </a:spcBef>
                        <a:spcAft>
                          <a:spcPts val="0"/>
                        </a:spcAft>
                        <a:buNone/>
                      </a:pPr>
                      <a:r>
                        <a:rPr lang="en-US" sz="1800"/>
                        <a:t>A-&gt;G</a:t>
                      </a:r>
                      <a:endParaRPr/>
                    </a:p>
                  </a:txBody>
                  <a:tcPr marL="91450" marR="91450" marT="45725" marB="45725"/>
                </a:tc>
                <a:tc>
                  <a:txBody>
                    <a:bodyPr/>
                    <a:lstStyle/>
                    <a:p>
                      <a:pPr marL="0" marR="0" lvl="0" indent="0" algn="l" rtl="0">
                        <a:spcBef>
                          <a:spcPts val="0"/>
                        </a:spcBef>
                        <a:spcAft>
                          <a:spcPts val="0"/>
                        </a:spcAft>
                        <a:buNone/>
                      </a:pPr>
                      <a:r>
                        <a:rPr lang="en-US" sz="1800"/>
                        <a:t>No</a:t>
                      </a:r>
                      <a:endParaRPr sz="1800"/>
                    </a:p>
                  </a:txBody>
                  <a:tcPr marL="91450" marR="91450" marT="45725" marB="45725"/>
                </a:tc>
                <a:tc>
                  <a:txBody>
                    <a:bodyPr/>
                    <a:lstStyle/>
                    <a:p>
                      <a:pPr marL="0" marR="0" lvl="0" indent="0" algn="l" rtl="0">
                        <a:spcBef>
                          <a:spcPts val="0"/>
                        </a:spcBef>
                        <a:spcAft>
                          <a:spcPts val="0"/>
                        </a:spcAft>
                        <a:buNone/>
                      </a:pPr>
                      <a:r>
                        <a:rPr lang="en-US" sz="1800"/>
                        <a:t>Yes</a:t>
                      </a:r>
                      <a:endParaRPr sz="1800"/>
                    </a:p>
                  </a:txBody>
                  <a:tcPr marL="91450" marR="91450" marT="45725" marB="45725"/>
                </a:tc>
                <a:tc>
                  <a:txBody>
                    <a:bodyPr/>
                    <a:lstStyle/>
                    <a:p>
                      <a:pPr marL="0" marR="0" lvl="0" indent="0" algn="l" rtl="0">
                        <a:spcBef>
                          <a:spcPts val="0"/>
                        </a:spcBef>
                        <a:spcAft>
                          <a:spcPts val="0"/>
                        </a:spcAft>
                        <a:buNone/>
                      </a:pPr>
                      <a:r>
                        <a:rPr lang="en-US" sz="1800"/>
                        <a:t>Yes</a:t>
                      </a:r>
                      <a:endParaRPr/>
                    </a:p>
                  </a:txBody>
                  <a:tcPr marL="91450" marR="91450" marT="45725" marB="45725"/>
                </a:tc>
                <a:tc>
                  <a:txBody>
                    <a:bodyPr/>
                    <a:lstStyle/>
                    <a:p>
                      <a:pPr marL="0" marR="0" lvl="0" indent="0" algn="l" rtl="0">
                        <a:spcBef>
                          <a:spcPts val="0"/>
                        </a:spcBef>
                        <a:spcAft>
                          <a:spcPts val="0"/>
                        </a:spcAft>
                        <a:buNone/>
                      </a:pPr>
                      <a:r>
                        <a:rPr lang="en-US" sz="1800"/>
                        <a:t>Yes</a:t>
                      </a:r>
                      <a:endParaRPr/>
                    </a:p>
                  </a:txBody>
                  <a:tcPr marL="91450" marR="91450" marT="45725" marB="45725"/>
                </a:tc>
                <a:extLst>
                  <a:ext uri="{0D108BD9-81ED-4DB2-BD59-A6C34878D82A}">
                    <a16:rowId xmlns:a16="http://schemas.microsoft.com/office/drawing/2014/main" val="10003"/>
                  </a:ext>
                </a:extLst>
              </a:tr>
              <a:tr h="439225">
                <a:tc>
                  <a:txBody>
                    <a:bodyPr/>
                    <a:lstStyle/>
                    <a:p>
                      <a:pPr marL="0" marR="0" lvl="0" indent="0" algn="l" rtl="0">
                        <a:spcBef>
                          <a:spcPts val="0"/>
                        </a:spcBef>
                        <a:spcAft>
                          <a:spcPts val="0"/>
                        </a:spcAft>
                        <a:buNone/>
                      </a:pPr>
                      <a:r>
                        <a:rPr lang="en-US" sz="1800"/>
                        <a:t>A-&gt;R</a:t>
                      </a:r>
                      <a:endParaRPr/>
                    </a:p>
                  </a:txBody>
                  <a:tcPr marL="91450" marR="91450" marT="45725" marB="45725"/>
                </a:tc>
                <a:tc>
                  <a:txBody>
                    <a:bodyPr/>
                    <a:lstStyle/>
                    <a:p>
                      <a:pPr marL="0" marR="0" lvl="0" indent="0" algn="l" rtl="0">
                        <a:spcBef>
                          <a:spcPts val="0"/>
                        </a:spcBef>
                        <a:spcAft>
                          <a:spcPts val="0"/>
                        </a:spcAft>
                        <a:buNone/>
                      </a:pPr>
                      <a:r>
                        <a:rPr lang="en-US" sz="1800"/>
                        <a:t>No</a:t>
                      </a:r>
                      <a:endParaRPr sz="1800"/>
                    </a:p>
                  </a:txBody>
                  <a:tcPr marL="91450" marR="91450" marT="45725" marB="45725"/>
                </a:tc>
                <a:tc>
                  <a:txBody>
                    <a:bodyPr/>
                    <a:lstStyle/>
                    <a:p>
                      <a:pPr marL="0" marR="0" lvl="0" indent="0" algn="l" rtl="0">
                        <a:spcBef>
                          <a:spcPts val="0"/>
                        </a:spcBef>
                        <a:spcAft>
                          <a:spcPts val="0"/>
                        </a:spcAft>
                        <a:buNone/>
                      </a:pPr>
                      <a:r>
                        <a:rPr lang="en-US" sz="1800"/>
                        <a:t>Yes</a:t>
                      </a:r>
                      <a:endParaRPr sz="1800"/>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Calibri"/>
                        <a:buNone/>
                      </a:pPr>
                      <a:r>
                        <a:rPr lang="en-US" sz="1800"/>
                        <a:t>Yes</a:t>
                      </a:r>
                      <a:endParaRPr/>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Calibri"/>
                        <a:buNone/>
                      </a:pPr>
                      <a:r>
                        <a:rPr lang="en-US" sz="1800"/>
                        <a:t>Yes</a:t>
                      </a:r>
                      <a:endParaRPr/>
                    </a:p>
                  </a:txBody>
                  <a:tcPr marL="91450" marR="91450" marT="45725" marB="45725"/>
                </a:tc>
                <a:extLst>
                  <a:ext uri="{0D108BD9-81ED-4DB2-BD59-A6C34878D82A}">
                    <a16:rowId xmlns:a16="http://schemas.microsoft.com/office/drawing/2014/main" val="10004"/>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34"/>
        <p:cNvGrpSpPr/>
        <p:nvPr/>
      </p:nvGrpSpPr>
      <p:grpSpPr>
        <a:xfrm>
          <a:off x="0" y="0"/>
          <a:ext cx="0" cy="0"/>
          <a:chOff x="0" y="0"/>
          <a:chExt cx="0" cy="0"/>
        </a:xfrm>
      </p:grpSpPr>
      <p:sp>
        <p:nvSpPr>
          <p:cNvPr id="635" name="Google Shape;635;p27"/>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Example</a:t>
            </a:r>
            <a:endParaRPr/>
          </a:p>
        </p:txBody>
      </p:sp>
      <p:sp>
        <p:nvSpPr>
          <p:cNvPr id="636" name="Google Shape;636;p27"/>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p>
            <a:pPr marL="609600" lvl="0" indent="-609600" algn="just" rtl="0">
              <a:lnSpc>
                <a:spcPct val="90000"/>
              </a:lnSpc>
              <a:spcBef>
                <a:spcPts val="0"/>
              </a:spcBef>
              <a:spcAft>
                <a:spcPts val="0"/>
              </a:spcAft>
              <a:buSzPts val="1600"/>
              <a:buFont typeface="Calibri"/>
              <a:buNone/>
            </a:pPr>
            <a:endParaRPr sz="1600" dirty="0">
              <a:solidFill>
                <a:srgbClr val="CC0000"/>
              </a:solidFill>
            </a:endParaRPr>
          </a:p>
          <a:p>
            <a:pPr marL="609600" lvl="0" indent="-609600" algn="just" rtl="0">
              <a:lnSpc>
                <a:spcPct val="90000"/>
              </a:lnSpc>
              <a:spcBef>
                <a:spcPts val="1400"/>
              </a:spcBef>
              <a:spcAft>
                <a:spcPts val="0"/>
              </a:spcAft>
              <a:buSzPts val="1600"/>
              <a:buFont typeface="Calibri"/>
              <a:buNone/>
            </a:pPr>
            <a:r>
              <a:rPr lang="en-US" sz="1600" dirty="0">
                <a:solidFill>
                  <a:srgbClr val="CC0000"/>
                </a:solidFill>
              </a:rPr>
              <a:t>Example 1 - Address (Not in BCNF)</a:t>
            </a:r>
            <a:endParaRPr dirty="0"/>
          </a:p>
          <a:p>
            <a:pPr marL="609600" lvl="0" indent="-609600" algn="just" rtl="0">
              <a:lnSpc>
                <a:spcPct val="90000"/>
              </a:lnSpc>
              <a:spcBef>
                <a:spcPts val="1400"/>
              </a:spcBef>
              <a:spcAft>
                <a:spcPts val="0"/>
              </a:spcAft>
              <a:buSzPts val="1600"/>
              <a:buFont typeface="Calibri"/>
              <a:buNone/>
            </a:pPr>
            <a:r>
              <a:rPr lang="en-US" sz="1600" dirty="0"/>
              <a:t>Scheme -&gt;{City, Street, </a:t>
            </a:r>
            <a:r>
              <a:rPr lang="en-US" sz="1600" dirty="0" err="1"/>
              <a:t>ZipCode</a:t>
            </a:r>
            <a:r>
              <a:rPr lang="en-US" sz="1600" dirty="0"/>
              <a:t> }</a:t>
            </a:r>
            <a:endParaRPr dirty="0"/>
          </a:p>
          <a:p>
            <a:pPr marL="1100138" lvl="1" indent="-533400" algn="just" rtl="0">
              <a:lnSpc>
                <a:spcPct val="90000"/>
              </a:lnSpc>
              <a:spcBef>
                <a:spcPts val="400"/>
              </a:spcBef>
              <a:spcAft>
                <a:spcPts val="0"/>
              </a:spcAft>
              <a:buSzPts val="1600"/>
              <a:buFont typeface="Calibri"/>
              <a:buAutoNum type="arabicPeriod"/>
            </a:pPr>
            <a:r>
              <a:rPr lang="en-US" sz="1600" dirty="0"/>
              <a:t>Key1 -&gt;{City, Street }</a:t>
            </a:r>
            <a:endParaRPr dirty="0"/>
          </a:p>
          <a:p>
            <a:pPr marL="1100138" lvl="1" indent="-533400" algn="just" rtl="0">
              <a:lnSpc>
                <a:spcPct val="90000"/>
              </a:lnSpc>
              <a:spcBef>
                <a:spcPts val="600"/>
              </a:spcBef>
              <a:spcAft>
                <a:spcPts val="0"/>
              </a:spcAft>
              <a:buSzPts val="1600"/>
              <a:buFont typeface="Calibri"/>
              <a:buAutoNum type="arabicPeriod"/>
            </a:pPr>
            <a:r>
              <a:rPr lang="en-US" sz="1600" dirty="0"/>
              <a:t>Key2 -&gt;{</a:t>
            </a:r>
            <a:r>
              <a:rPr lang="en-US" sz="1600" dirty="0" err="1"/>
              <a:t>ZipCode</a:t>
            </a:r>
            <a:r>
              <a:rPr lang="en-US" sz="1600" dirty="0"/>
              <a:t>, Street}</a:t>
            </a:r>
            <a:endParaRPr dirty="0"/>
          </a:p>
          <a:p>
            <a:pPr marL="1100138" lvl="1" indent="-533400" algn="just" rtl="0">
              <a:lnSpc>
                <a:spcPct val="90000"/>
              </a:lnSpc>
              <a:spcBef>
                <a:spcPts val="600"/>
              </a:spcBef>
              <a:spcAft>
                <a:spcPts val="0"/>
              </a:spcAft>
              <a:buSzPts val="1600"/>
              <a:buFont typeface="Calibri"/>
              <a:buAutoNum type="arabicPeriod"/>
            </a:pPr>
            <a:r>
              <a:rPr lang="en-US" sz="1600" dirty="0"/>
              <a:t>No non-key attribute hence 3NF</a:t>
            </a:r>
            <a:endParaRPr sz="1600" dirty="0"/>
          </a:p>
          <a:p>
            <a:pPr marL="1100138" lvl="1" indent="-533400" algn="just" rtl="0">
              <a:lnSpc>
                <a:spcPct val="90000"/>
              </a:lnSpc>
              <a:spcBef>
                <a:spcPts val="600"/>
              </a:spcBef>
              <a:spcAft>
                <a:spcPts val="0"/>
              </a:spcAft>
              <a:buSzPts val="1600"/>
              <a:buFont typeface="Calibri"/>
              <a:buAutoNum type="arabicPeriod"/>
            </a:pPr>
            <a:r>
              <a:rPr lang="en-US" sz="1600" dirty="0"/>
              <a:t>{City, Street} -&gt;{</a:t>
            </a:r>
            <a:r>
              <a:rPr lang="en-US" sz="1600" dirty="0" err="1"/>
              <a:t>ZipCode</a:t>
            </a:r>
            <a:r>
              <a:rPr lang="en-US" sz="1600" dirty="0"/>
              <a:t>}</a:t>
            </a:r>
            <a:endParaRPr dirty="0"/>
          </a:p>
          <a:p>
            <a:pPr marL="1100138" lvl="1" indent="-533400" algn="just" rtl="0">
              <a:lnSpc>
                <a:spcPct val="90000"/>
              </a:lnSpc>
              <a:spcBef>
                <a:spcPts val="600"/>
              </a:spcBef>
              <a:spcAft>
                <a:spcPts val="0"/>
              </a:spcAft>
              <a:buSzPts val="1600"/>
              <a:buFont typeface="Calibri"/>
              <a:buAutoNum type="arabicPeriod"/>
            </a:pPr>
            <a:r>
              <a:rPr lang="en-US" sz="1600" dirty="0"/>
              <a:t>{</a:t>
            </a:r>
            <a:r>
              <a:rPr lang="en-US" sz="1600" dirty="0" err="1"/>
              <a:t>ZipCode</a:t>
            </a:r>
            <a:r>
              <a:rPr lang="en-US" sz="1600" dirty="0"/>
              <a:t>} -&gt;{City}</a:t>
            </a:r>
            <a:endParaRPr sz="1600" dirty="0"/>
          </a:p>
          <a:p>
            <a:pPr marL="1100138" lvl="1" indent="-533400" algn="just" rtl="0">
              <a:lnSpc>
                <a:spcPct val="90000"/>
              </a:lnSpc>
              <a:spcBef>
                <a:spcPts val="600"/>
              </a:spcBef>
              <a:spcAft>
                <a:spcPts val="0"/>
              </a:spcAft>
              <a:buSzPts val="1600"/>
              <a:buFont typeface="Calibri"/>
              <a:buAutoNum type="arabicPeriod"/>
            </a:pPr>
            <a:r>
              <a:rPr lang="en-US" sz="1600" dirty="0"/>
              <a:t>Dependency between attributes belonging to a key</a:t>
            </a:r>
            <a:endParaRPr dirty="0"/>
          </a:p>
          <a:p>
            <a:pPr marL="91440" lvl="0" indent="0" algn="l" rtl="0">
              <a:lnSpc>
                <a:spcPct val="90000"/>
              </a:lnSpc>
              <a:spcBef>
                <a:spcPts val="1600"/>
              </a:spcBef>
              <a:spcAft>
                <a:spcPts val="0"/>
              </a:spcAft>
              <a:buSzPts val="2000"/>
              <a:buNone/>
            </a:pPr>
            <a:endParaRPr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40"/>
        <p:cNvGrpSpPr/>
        <p:nvPr/>
      </p:nvGrpSpPr>
      <p:grpSpPr>
        <a:xfrm>
          <a:off x="0" y="0"/>
          <a:ext cx="0" cy="0"/>
          <a:chOff x="0" y="0"/>
          <a:chExt cx="0" cy="0"/>
        </a:xfrm>
      </p:grpSpPr>
      <p:sp>
        <p:nvSpPr>
          <p:cNvPr id="641" name="Google Shape;641;p28"/>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Example</a:t>
            </a:r>
            <a:endParaRPr/>
          </a:p>
        </p:txBody>
      </p:sp>
      <p:sp>
        <p:nvSpPr>
          <p:cNvPr id="642" name="Google Shape;642;p28"/>
          <p:cNvSpPr txBox="1">
            <a:spLocks noGrp="1"/>
          </p:cNvSpPr>
          <p:nvPr>
            <p:ph type="body" idx="1"/>
          </p:nvPr>
        </p:nvSpPr>
        <p:spPr>
          <a:xfrm>
            <a:off x="1096963" y="1846263"/>
            <a:ext cx="10058400" cy="4022725"/>
          </a:xfrm>
          <a:prstGeom prst="rect">
            <a:avLst/>
          </a:prstGeom>
          <a:noFill/>
          <a:ln>
            <a:noFill/>
          </a:ln>
        </p:spPr>
        <p:txBody>
          <a:bodyPr spcFirstLastPara="1" wrap="square" lIns="0" tIns="45700" rIns="0" bIns="45700" anchor="t" anchorCtr="0">
            <a:normAutofit fontScale="85000" lnSpcReduction="20000"/>
          </a:bodyPr>
          <a:lstStyle/>
          <a:p>
            <a:pPr marL="609600" lvl="0" indent="-609600" algn="just" rtl="0">
              <a:lnSpc>
                <a:spcPct val="90000"/>
              </a:lnSpc>
              <a:spcBef>
                <a:spcPts val="0"/>
              </a:spcBef>
              <a:spcAft>
                <a:spcPts val="0"/>
              </a:spcAft>
              <a:buSzPct val="100000"/>
              <a:buFont typeface="Calibri"/>
              <a:buNone/>
            </a:pPr>
            <a:r>
              <a:rPr lang="en-US" sz="2000" dirty="0">
                <a:solidFill>
                  <a:srgbClr val="CC0000"/>
                </a:solidFill>
              </a:rPr>
              <a:t>Example 2 - Movie (Not in BCNF)</a:t>
            </a:r>
            <a:endParaRPr dirty="0"/>
          </a:p>
          <a:p>
            <a:pPr marL="609600" lvl="0" indent="-609600" algn="just" rtl="0">
              <a:lnSpc>
                <a:spcPct val="90000"/>
              </a:lnSpc>
              <a:spcBef>
                <a:spcPts val="1400"/>
              </a:spcBef>
              <a:spcAft>
                <a:spcPts val="0"/>
              </a:spcAft>
              <a:buSzPct val="100000"/>
              <a:buFont typeface="Calibri"/>
              <a:buNone/>
            </a:pPr>
            <a:r>
              <a:rPr lang="en-US" sz="1800" dirty="0"/>
              <a:t>Scheme -&gt;{</a:t>
            </a:r>
            <a:r>
              <a:rPr lang="en-US" sz="1800" dirty="0" err="1"/>
              <a:t>MovieTitle</a:t>
            </a:r>
            <a:r>
              <a:rPr lang="en-US" sz="1800" dirty="0"/>
              <a:t>, </a:t>
            </a:r>
            <a:r>
              <a:rPr lang="en-US" sz="1800" dirty="0" err="1"/>
              <a:t>MovieID</a:t>
            </a:r>
            <a:r>
              <a:rPr lang="en-US" sz="1800" dirty="0"/>
              <a:t>, </a:t>
            </a:r>
            <a:r>
              <a:rPr lang="en-US" sz="1800" dirty="0" err="1"/>
              <a:t>PersonName</a:t>
            </a:r>
            <a:r>
              <a:rPr lang="en-US" sz="1800" dirty="0"/>
              <a:t>, Role, Payment }	</a:t>
            </a:r>
            <a:endParaRPr dirty="0"/>
          </a:p>
          <a:p>
            <a:pPr marL="1100138" lvl="1" indent="-533400" algn="just" rtl="0">
              <a:lnSpc>
                <a:spcPct val="90000"/>
              </a:lnSpc>
              <a:spcBef>
                <a:spcPts val="400"/>
              </a:spcBef>
              <a:spcAft>
                <a:spcPts val="0"/>
              </a:spcAft>
              <a:buSzPct val="100000"/>
              <a:buFont typeface="Calibri"/>
              <a:buAutoNum type="arabicPeriod"/>
            </a:pPr>
            <a:r>
              <a:rPr lang="en-US" sz="1600" dirty="0"/>
              <a:t>Key1 -&gt;{</a:t>
            </a:r>
            <a:r>
              <a:rPr lang="en-US" sz="1600" dirty="0" err="1"/>
              <a:t>MovieTitle</a:t>
            </a:r>
            <a:r>
              <a:rPr lang="en-US" sz="1600" dirty="0"/>
              <a:t>, </a:t>
            </a:r>
            <a:r>
              <a:rPr lang="en-US" sz="1600" dirty="0" err="1"/>
              <a:t>PersonName</a:t>
            </a:r>
            <a:r>
              <a:rPr lang="en-US" sz="1600" dirty="0"/>
              <a:t>}</a:t>
            </a:r>
            <a:endParaRPr dirty="0"/>
          </a:p>
          <a:p>
            <a:pPr marL="1100138" lvl="1" indent="-533400" algn="just" rtl="0">
              <a:lnSpc>
                <a:spcPct val="90000"/>
              </a:lnSpc>
              <a:spcBef>
                <a:spcPts val="600"/>
              </a:spcBef>
              <a:spcAft>
                <a:spcPts val="0"/>
              </a:spcAft>
              <a:buSzPct val="100000"/>
              <a:buFont typeface="Calibri"/>
              <a:buAutoNum type="arabicPeriod"/>
            </a:pPr>
            <a:r>
              <a:rPr lang="en-US" sz="1600" dirty="0"/>
              <a:t>Key2 -&gt;{</a:t>
            </a:r>
            <a:r>
              <a:rPr lang="en-US" sz="1600" dirty="0" err="1"/>
              <a:t>MovieID</a:t>
            </a:r>
            <a:r>
              <a:rPr lang="en-US" sz="1600" dirty="0"/>
              <a:t>, </a:t>
            </a:r>
            <a:r>
              <a:rPr lang="en-US" sz="1600" dirty="0" err="1"/>
              <a:t>PersonName</a:t>
            </a:r>
            <a:r>
              <a:rPr lang="en-US" sz="1600" dirty="0"/>
              <a:t>}</a:t>
            </a:r>
            <a:endParaRPr dirty="0"/>
          </a:p>
          <a:p>
            <a:pPr marL="1100138" lvl="1" indent="-533400" algn="just" rtl="0">
              <a:lnSpc>
                <a:spcPct val="90000"/>
              </a:lnSpc>
              <a:spcBef>
                <a:spcPts val="600"/>
              </a:spcBef>
              <a:spcAft>
                <a:spcPts val="0"/>
              </a:spcAft>
              <a:buSzPct val="100000"/>
              <a:buFont typeface="Calibri"/>
              <a:buAutoNum type="arabicPeriod"/>
            </a:pPr>
            <a:r>
              <a:rPr lang="en-US" sz="1600" dirty="0"/>
              <a:t>Both role and payment functionally depend on both candidate keys thus 3NF</a:t>
            </a:r>
            <a:endParaRPr sz="1600" dirty="0"/>
          </a:p>
          <a:p>
            <a:pPr marL="1100138" lvl="1" indent="-533400" algn="just" rtl="0">
              <a:lnSpc>
                <a:spcPct val="90000"/>
              </a:lnSpc>
              <a:spcBef>
                <a:spcPts val="600"/>
              </a:spcBef>
              <a:spcAft>
                <a:spcPts val="0"/>
              </a:spcAft>
              <a:buSzPct val="100000"/>
              <a:buFont typeface="Calibri"/>
              <a:buAutoNum type="arabicPeriod"/>
            </a:pPr>
            <a:r>
              <a:rPr lang="en-US" sz="1600" dirty="0"/>
              <a:t>{</a:t>
            </a:r>
            <a:r>
              <a:rPr lang="en-US" sz="1600" dirty="0" err="1"/>
              <a:t>MovieID</a:t>
            </a:r>
            <a:r>
              <a:rPr lang="en-US" sz="1600" dirty="0"/>
              <a:t>} -&gt;{</a:t>
            </a:r>
            <a:r>
              <a:rPr lang="en-US" sz="1600" dirty="0" err="1"/>
              <a:t>MovieTitle</a:t>
            </a:r>
            <a:r>
              <a:rPr lang="en-US" sz="1600" dirty="0"/>
              <a:t>}</a:t>
            </a:r>
            <a:endParaRPr dirty="0"/>
          </a:p>
          <a:p>
            <a:pPr marL="1100138" lvl="1" indent="-533400" algn="just" rtl="0">
              <a:lnSpc>
                <a:spcPct val="90000"/>
              </a:lnSpc>
              <a:spcBef>
                <a:spcPts val="600"/>
              </a:spcBef>
              <a:spcAft>
                <a:spcPts val="0"/>
              </a:spcAft>
              <a:buSzPct val="100000"/>
              <a:buFont typeface="Calibri"/>
              <a:buAutoNum type="arabicPeriod"/>
            </a:pPr>
            <a:r>
              <a:rPr lang="en-US" sz="1600" dirty="0"/>
              <a:t>Dependency between </a:t>
            </a:r>
            <a:r>
              <a:rPr lang="en-US" sz="1600" dirty="0" err="1"/>
              <a:t>MovieID</a:t>
            </a:r>
            <a:r>
              <a:rPr lang="en-US" sz="1600" dirty="0"/>
              <a:t> &amp; </a:t>
            </a:r>
            <a:r>
              <a:rPr lang="en-US" sz="1600" dirty="0" err="1"/>
              <a:t>MovieTitle</a:t>
            </a:r>
            <a:r>
              <a:rPr lang="en-US" sz="1600" dirty="0"/>
              <a:t> Violates BCNF</a:t>
            </a:r>
            <a:endParaRPr sz="1600" dirty="0"/>
          </a:p>
          <a:p>
            <a:pPr marL="1100138" lvl="1" indent="-447040" algn="just" rtl="0">
              <a:lnSpc>
                <a:spcPct val="90000"/>
              </a:lnSpc>
              <a:spcBef>
                <a:spcPts val="600"/>
              </a:spcBef>
              <a:spcAft>
                <a:spcPts val="0"/>
              </a:spcAft>
              <a:buSzPct val="100000"/>
              <a:buFont typeface="Calibri"/>
              <a:buNone/>
            </a:pPr>
            <a:endParaRPr sz="1600" dirty="0"/>
          </a:p>
          <a:p>
            <a:pPr marL="609600" lvl="0" indent="-609600" algn="just" rtl="0">
              <a:lnSpc>
                <a:spcPct val="90000"/>
              </a:lnSpc>
              <a:spcBef>
                <a:spcPts val="1600"/>
              </a:spcBef>
              <a:spcAft>
                <a:spcPts val="0"/>
              </a:spcAft>
              <a:buSzPct val="100000"/>
              <a:buFont typeface="Calibri"/>
              <a:buNone/>
            </a:pPr>
            <a:r>
              <a:rPr lang="en-US" sz="2000" dirty="0">
                <a:solidFill>
                  <a:srgbClr val="CC0000"/>
                </a:solidFill>
              </a:rPr>
              <a:t>Example 3 - Consulting (Not in BCNF)</a:t>
            </a:r>
            <a:endParaRPr dirty="0"/>
          </a:p>
          <a:p>
            <a:pPr marL="609600" lvl="0" indent="-609600" algn="just" rtl="0">
              <a:lnSpc>
                <a:spcPct val="90000"/>
              </a:lnSpc>
              <a:spcBef>
                <a:spcPts val="1400"/>
              </a:spcBef>
              <a:spcAft>
                <a:spcPts val="0"/>
              </a:spcAft>
              <a:buSzPct val="100000"/>
              <a:buFont typeface="Calibri"/>
              <a:buNone/>
            </a:pPr>
            <a:r>
              <a:rPr lang="en-US" sz="1800" dirty="0"/>
              <a:t>Scheme -&gt;{Client, Problem, Consultant}</a:t>
            </a:r>
            <a:endParaRPr dirty="0"/>
          </a:p>
          <a:p>
            <a:pPr marL="1100138" lvl="1" indent="-533400" algn="just" rtl="0">
              <a:lnSpc>
                <a:spcPct val="90000"/>
              </a:lnSpc>
              <a:spcBef>
                <a:spcPts val="400"/>
              </a:spcBef>
              <a:spcAft>
                <a:spcPts val="0"/>
              </a:spcAft>
              <a:buSzPct val="100000"/>
              <a:buFont typeface="Calibri"/>
              <a:buAutoNum type="arabicPeriod"/>
            </a:pPr>
            <a:r>
              <a:rPr lang="en-US" sz="1600" dirty="0"/>
              <a:t>Key1 -&gt;{Client, Problem}</a:t>
            </a:r>
            <a:endParaRPr dirty="0"/>
          </a:p>
          <a:p>
            <a:pPr marL="1100138" lvl="1" indent="-533400" algn="just" rtl="0">
              <a:lnSpc>
                <a:spcPct val="90000"/>
              </a:lnSpc>
              <a:spcBef>
                <a:spcPts val="600"/>
              </a:spcBef>
              <a:spcAft>
                <a:spcPts val="0"/>
              </a:spcAft>
              <a:buSzPct val="100000"/>
              <a:buFont typeface="Calibri"/>
              <a:buAutoNum type="arabicPeriod"/>
            </a:pPr>
            <a:r>
              <a:rPr lang="en-US" sz="1600" dirty="0"/>
              <a:t>Key2 -&gt;{Client, Consultant} </a:t>
            </a:r>
            <a:endParaRPr sz="1600" dirty="0"/>
          </a:p>
          <a:p>
            <a:pPr marL="1100138" lvl="1" indent="-533400" algn="just" rtl="0">
              <a:lnSpc>
                <a:spcPct val="90000"/>
              </a:lnSpc>
              <a:spcBef>
                <a:spcPts val="600"/>
              </a:spcBef>
              <a:spcAft>
                <a:spcPts val="0"/>
              </a:spcAft>
              <a:buSzPct val="100000"/>
              <a:buFont typeface="Calibri"/>
              <a:buAutoNum type="arabicPeriod"/>
            </a:pPr>
            <a:r>
              <a:rPr lang="en-US" sz="1600" dirty="0"/>
              <a:t>No non-key attribute hence 3NF</a:t>
            </a:r>
            <a:endParaRPr dirty="0"/>
          </a:p>
          <a:p>
            <a:pPr marL="1100138" lvl="1" indent="-533400" algn="just" rtl="0">
              <a:lnSpc>
                <a:spcPct val="90000"/>
              </a:lnSpc>
              <a:spcBef>
                <a:spcPts val="600"/>
              </a:spcBef>
              <a:spcAft>
                <a:spcPts val="0"/>
              </a:spcAft>
              <a:buSzPct val="100000"/>
              <a:buFont typeface="Calibri"/>
              <a:buAutoNum type="arabicPeriod"/>
            </a:pPr>
            <a:r>
              <a:rPr lang="en-US" sz="1600" dirty="0"/>
              <a:t>{Client, Problem} -&gt;{Consultant}</a:t>
            </a:r>
            <a:endParaRPr dirty="0"/>
          </a:p>
          <a:p>
            <a:pPr marL="1100138" lvl="1" indent="-533400" algn="just" rtl="0">
              <a:lnSpc>
                <a:spcPct val="90000"/>
              </a:lnSpc>
              <a:spcBef>
                <a:spcPts val="600"/>
              </a:spcBef>
              <a:spcAft>
                <a:spcPts val="0"/>
              </a:spcAft>
              <a:buSzPct val="100000"/>
              <a:buFont typeface="Calibri"/>
              <a:buAutoNum type="arabicPeriod"/>
            </a:pPr>
            <a:r>
              <a:rPr lang="en-US" sz="1600" dirty="0"/>
              <a:t>{Client, Consultant} -&gt;{Problem}</a:t>
            </a:r>
            <a:endParaRPr dirty="0"/>
          </a:p>
          <a:p>
            <a:pPr marL="1100138" lvl="1" indent="-533400" algn="just" rtl="0">
              <a:lnSpc>
                <a:spcPct val="90000"/>
              </a:lnSpc>
              <a:spcBef>
                <a:spcPts val="600"/>
              </a:spcBef>
              <a:spcAft>
                <a:spcPts val="0"/>
              </a:spcAft>
              <a:buSzPct val="100000"/>
              <a:buFont typeface="Calibri"/>
              <a:buAutoNum type="arabicPeriod"/>
            </a:pPr>
            <a:r>
              <a:rPr lang="en-US" sz="1600" dirty="0"/>
              <a:t>Dependency between </a:t>
            </a:r>
            <a:r>
              <a:rPr lang="en-US" sz="1600" dirty="0" err="1"/>
              <a:t>attributess</a:t>
            </a:r>
            <a:r>
              <a:rPr lang="en-US" sz="1600" dirty="0"/>
              <a:t> belonging to keys violates BCNF </a:t>
            </a:r>
            <a:endParaRPr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46"/>
        <p:cNvGrpSpPr/>
        <p:nvPr/>
      </p:nvGrpSpPr>
      <p:grpSpPr>
        <a:xfrm>
          <a:off x="0" y="0"/>
          <a:ext cx="0" cy="0"/>
          <a:chOff x="0" y="0"/>
          <a:chExt cx="0" cy="0"/>
        </a:xfrm>
      </p:grpSpPr>
      <p:sp>
        <p:nvSpPr>
          <p:cNvPr id="647" name="Google Shape;647;p29"/>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Problems(Highest Normal Form)</a:t>
            </a:r>
            <a:endParaRPr/>
          </a:p>
        </p:txBody>
      </p:sp>
      <p:sp>
        <p:nvSpPr>
          <p:cNvPr id="648" name="Google Shape;648;p29"/>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p>
            <a:pPr marL="822960" lvl="0" indent="-457200" algn="l" rtl="0">
              <a:lnSpc>
                <a:spcPct val="90000"/>
              </a:lnSpc>
              <a:spcBef>
                <a:spcPts val="0"/>
              </a:spcBef>
              <a:spcAft>
                <a:spcPts val="0"/>
              </a:spcAft>
              <a:buSzPts val="2000"/>
              <a:buFont typeface="Calibri"/>
              <a:buAutoNum type="arabicPeriod"/>
            </a:pPr>
            <a:r>
              <a:rPr lang="en-US">
                <a:solidFill>
                  <a:srgbClr val="222222"/>
                </a:solidFill>
                <a:latin typeface="Calibri"/>
                <a:ea typeface="Calibri"/>
                <a:cs typeface="Calibri"/>
                <a:sym typeface="Calibri"/>
              </a:rPr>
              <a:t>R(ABCDEF), FD={AB-&gt;C, C-&gt;D, C-&gt;E, E-&gt;F, F-&gt;E}</a:t>
            </a:r>
            <a:endParaRPr/>
          </a:p>
          <a:p>
            <a:pPr marL="822960" lvl="0" indent="-457200" algn="l" rtl="0">
              <a:lnSpc>
                <a:spcPct val="90000"/>
              </a:lnSpc>
              <a:spcBef>
                <a:spcPts val="1400"/>
              </a:spcBef>
              <a:spcAft>
                <a:spcPts val="0"/>
              </a:spcAft>
              <a:buSzPts val="2000"/>
              <a:buFont typeface="Calibri"/>
              <a:buAutoNum type="arabicPeriod"/>
            </a:pPr>
            <a:r>
              <a:rPr lang="en-US">
                <a:solidFill>
                  <a:srgbClr val="222222"/>
                </a:solidFill>
                <a:latin typeface="Calibri"/>
                <a:ea typeface="Calibri"/>
                <a:cs typeface="Calibri"/>
                <a:sym typeface="Calibri"/>
              </a:rPr>
              <a:t>R(ABCDE), FD={A-&gt;D, B-&gt;A, BC-&gt;D, AC-&gt;BE}</a:t>
            </a:r>
            <a:endParaRPr/>
          </a:p>
          <a:p>
            <a:pPr marL="822960" lvl="0" indent="-457200" algn="l" rtl="0">
              <a:lnSpc>
                <a:spcPct val="90000"/>
              </a:lnSpc>
              <a:spcBef>
                <a:spcPts val="1400"/>
              </a:spcBef>
              <a:spcAft>
                <a:spcPts val="0"/>
              </a:spcAft>
              <a:buSzPts val="2000"/>
              <a:buFont typeface="Calibri"/>
              <a:buAutoNum type="arabicPeriod"/>
            </a:pPr>
            <a:r>
              <a:rPr lang="en-US">
                <a:solidFill>
                  <a:srgbClr val="222222"/>
                </a:solidFill>
                <a:latin typeface="Calibri"/>
                <a:ea typeface="Calibri"/>
                <a:cs typeface="Calibri"/>
                <a:sym typeface="Calibri"/>
              </a:rPr>
              <a:t>R(ABCDE), FD={BC-&gt;D, AC-&gt;BE, B-&gt;E}</a:t>
            </a:r>
            <a:endParaRPr/>
          </a:p>
          <a:p>
            <a:pPr marL="822960" lvl="0" indent="-457200" algn="l" rtl="0">
              <a:lnSpc>
                <a:spcPct val="90000"/>
              </a:lnSpc>
              <a:spcBef>
                <a:spcPts val="1400"/>
              </a:spcBef>
              <a:spcAft>
                <a:spcPts val="0"/>
              </a:spcAft>
              <a:buSzPts val="2000"/>
              <a:buFont typeface="Calibri"/>
              <a:buAutoNum type="arabicPeriod"/>
            </a:pPr>
            <a:r>
              <a:rPr lang="en-US">
                <a:solidFill>
                  <a:srgbClr val="222222"/>
                </a:solidFill>
                <a:latin typeface="Calibri"/>
                <a:ea typeface="Calibri"/>
                <a:cs typeface="Calibri"/>
                <a:sym typeface="Calibri"/>
              </a:rPr>
              <a:t>R(ABCDE), FD={B-&gt;A,A-&gt;C,BC-&gt;D,AC-&gt;BE}</a:t>
            </a:r>
            <a:endParaRPr/>
          </a:p>
          <a:p>
            <a:pPr marL="91440" lvl="0" indent="0" algn="l" rtl="0">
              <a:lnSpc>
                <a:spcPct val="90000"/>
              </a:lnSpc>
              <a:spcBef>
                <a:spcPts val="1400"/>
              </a:spcBef>
              <a:spcAft>
                <a:spcPts val="0"/>
              </a:spcAft>
              <a:buSzPts val="2000"/>
              <a:buNone/>
            </a:pP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52"/>
        <p:cNvGrpSpPr/>
        <p:nvPr/>
      </p:nvGrpSpPr>
      <p:grpSpPr>
        <a:xfrm>
          <a:off x="0" y="0"/>
          <a:ext cx="0" cy="0"/>
          <a:chOff x="0" y="0"/>
          <a:chExt cx="0" cy="0"/>
        </a:xfrm>
      </p:grpSpPr>
      <p:sp>
        <p:nvSpPr>
          <p:cNvPr id="653" name="Google Shape;653;p30"/>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Decomposition</a:t>
            </a:r>
            <a:endParaRPr/>
          </a:p>
        </p:txBody>
      </p:sp>
      <p:sp>
        <p:nvSpPr>
          <p:cNvPr id="654" name="Google Shape;654;p30"/>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p>
            <a:pPr marL="91440" lvl="0" indent="-127000" algn="l" rtl="0">
              <a:lnSpc>
                <a:spcPct val="90000"/>
              </a:lnSpc>
              <a:spcBef>
                <a:spcPts val="0"/>
              </a:spcBef>
              <a:spcAft>
                <a:spcPts val="0"/>
              </a:spcAft>
              <a:buSzPts val="2000"/>
              <a:buChar char=" "/>
            </a:pPr>
            <a:r>
              <a:rPr lang="en-US" b="1"/>
              <a:t>Decomposition of Tables in Database Normalization</a:t>
            </a:r>
            <a:endParaRPr/>
          </a:p>
          <a:p>
            <a:pPr marL="91440" lvl="0" indent="-127000" algn="l" rtl="0">
              <a:lnSpc>
                <a:spcPct val="90000"/>
              </a:lnSpc>
              <a:spcBef>
                <a:spcPts val="1400"/>
              </a:spcBef>
              <a:spcAft>
                <a:spcPts val="0"/>
              </a:spcAft>
              <a:buSzPts val="2000"/>
              <a:buChar char=" "/>
            </a:pPr>
            <a:r>
              <a:rPr lang="en-US" b="1"/>
              <a:t>Decomposition</a:t>
            </a:r>
            <a:r>
              <a:rPr lang="en-US"/>
              <a:t> in database design is the process of breaking a large table into smaller tables while preserving the data and ensuring minimal redundancy. This is usually done to achieve </a:t>
            </a:r>
            <a:r>
              <a:rPr lang="en-US" b="1"/>
              <a:t>higher normal forms</a:t>
            </a:r>
            <a:r>
              <a:rPr lang="en-US"/>
              <a:t> (1NF, 2NF, 3NF, BCNF, etc.).</a:t>
            </a:r>
            <a:endParaRPr/>
          </a:p>
          <a:p>
            <a:pPr marL="91440" lvl="0" indent="0" algn="l" rtl="0">
              <a:lnSpc>
                <a:spcPct val="90000"/>
              </a:lnSpc>
              <a:spcBef>
                <a:spcPts val="1400"/>
              </a:spcBef>
              <a:spcAft>
                <a:spcPts val="0"/>
              </a:spcAft>
              <a:buSzPts val="2000"/>
              <a:buNone/>
            </a:pP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58"/>
        <p:cNvGrpSpPr/>
        <p:nvPr/>
      </p:nvGrpSpPr>
      <p:grpSpPr>
        <a:xfrm>
          <a:off x="0" y="0"/>
          <a:ext cx="0" cy="0"/>
          <a:chOff x="0" y="0"/>
          <a:chExt cx="0" cy="0"/>
        </a:xfrm>
      </p:grpSpPr>
      <p:sp>
        <p:nvSpPr>
          <p:cNvPr id="659" name="Google Shape;659;p31"/>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Example</a:t>
            </a:r>
            <a:endParaRPr/>
          </a:p>
        </p:txBody>
      </p:sp>
      <p:graphicFrame>
        <p:nvGraphicFramePr>
          <p:cNvPr id="660" name="Google Shape;660;p31"/>
          <p:cNvGraphicFramePr/>
          <p:nvPr>
            <p:extLst>
              <p:ext uri="{D42A27DB-BD31-4B8C-83A1-F6EECF244321}">
                <p14:modId xmlns:p14="http://schemas.microsoft.com/office/powerpoint/2010/main" val="1433713578"/>
              </p:ext>
            </p:extLst>
          </p:nvPr>
        </p:nvGraphicFramePr>
        <p:xfrm>
          <a:off x="276519" y="1948833"/>
          <a:ext cx="7555726" cy="1432600"/>
        </p:xfrm>
        <a:graphic>
          <a:graphicData uri="http://schemas.openxmlformats.org/drawingml/2006/table">
            <a:tbl>
              <a:tblPr>
                <a:noFill/>
                <a:tableStyleId>{33702F71-532A-4730-8346-7AAFA88D0ED1}</a:tableStyleId>
              </a:tblPr>
              <a:tblGrid>
                <a:gridCol w="1065801">
                  <a:extLst>
                    <a:ext uri="{9D8B030D-6E8A-4147-A177-3AD203B41FA5}">
                      <a16:colId xmlns:a16="http://schemas.microsoft.com/office/drawing/2014/main" val="20000"/>
                    </a:ext>
                  </a:extLst>
                </a:gridCol>
                <a:gridCol w="1452773">
                  <a:extLst>
                    <a:ext uri="{9D8B030D-6E8A-4147-A177-3AD203B41FA5}">
                      <a16:colId xmlns:a16="http://schemas.microsoft.com/office/drawing/2014/main" val="20001"/>
                    </a:ext>
                  </a:extLst>
                </a:gridCol>
                <a:gridCol w="1259288">
                  <a:extLst>
                    <a:ext uri="{9D8B030D-6E8A-4147-A177-3AD203B41FA5}">
                      <a16:colId xmlns:a16="http://schemas.microsoft.com/office/drawing/2014/main" val="20002"/>
                    </a:ext>
                  </a:extLst>
                </a:gridCol>
                <a:gridCol w="1259288">
                  <a:extLst>
                    <a:ext uri="{9D8B030D-6E8A-4147-A177-3AD203B41FA5}">
                      <a16:colId xmlns:a16="http://schemas.microsoft.com/office/drawing/2014/main" val="3693347585"/>
                    </a:ext>
                  </a:extLst>
                </a:gridCol>
                <a:gridCol w="1259288">
                  <a:extLst>
                    <a:ext uri="{9D8B030D-6E8A-4147-A177-3AD203B41FA5}">
                      <a16:colId xmlns:a16="http://schemas.microsoft.com/office/drawing/2014/main" val="20003"/>
                    </a:ext>
                  </a:extLst>
                </a:gridCol>
                <a:gridCol w="1259288">
                  <a:extLst>
                    <a:ext uri="{9D8B030D-6E8A-4147-A177-3AD203B41FA5}">
                      <a16:colId xmlns:a16="http://schemas.microsoft.com/office/drawing/2014/main" val="20004"/>
                    </a:ext>
                  </a:extLst>
                </a:gridCol>
              </a:tblGrid>
              <a:tr h="228600">
                <a:tc>
                  <a:txBody>
                    <a:bodyPr/>
                    <a:lstStyle/>
                    <a:p>
                      <a:pPr marL="0" marR="0" lvl="0" indent="0" algn="l" rtl="0">
                        <a:spcBef>
                          <a:spcPts val="0"/>
                        </a:spcBef>
                        <a:spcAft>
                          <a:spcPts val="0"/>
                        </a:spcAft>
                        <a:buNone/>
                      </a:pPr>
                      <a:r>
                        <a:rPr lang="en-US" sz="1600" b="1"/>
                        <a:t>SailorID</a:t>
                      </a:r>
                      <a:endParaRPr sz="1600" b="1"/>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ACC8DD"/>
                    </a:solidFill>
                  </a:tcPr>
                </a:tc>
                <a:tc>
                  <a:txBody>
                    <a:bodyPr/>
                    <a:lstStyle/>
                    <a:p>
                      <a:pPr marL="0" marR="0" lvl="0" indent="0" algn="l" rtl="0">
                        <a:spcBef>
                          <a:spcPts val="0"/>
                        </a:spcBef>
                        <a:spcAft>
                          <a:spcPts val="0"/>
                        </a:spcAft>
                        <a:buNone/>
                      </a:pPr>
                      <a:r>
                        <a:rPr lang="en-US" sz="1600" b="1" dirty="0" err="1"/>
                        <a:t>SailorName</a:t>
                      </a:r>
                      <a:endParaRPr sz="1200"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ACC8DD"/>
                    </a:solidFill>
                  </a:tcPr>
                </a:tc>
                <a:tc>
                  <a:txBody>
                    <a:bodyPr/>
                    <a:lstStyle/>
                    <a:p>
                      <a:pPr marL="0" marR="0" lvl="0" indent="0" algn="l" rtl="0">
                        <a:spcBef>
                          <a:spcPts val="0"/>
                        </a:spcBef>
                        <a:spcAft>
                          <a:spcPts val="0"/>
                        </a:spcAft>
                        <a:buNone/>
                      </a:pPr>
                      <a:r>
                        <a:rPr lang="en-US" sz="1600" b="1" i="0" u="none" strike="noStrike" cap="none" dirty="0">
                          <a:solidFill>
                            <a:srgbClr val="000000"/>
                          </a:solidFill>
                          <a:latin typeface="Arial"/>
                          <a:cs typeface="Arial"/>
                          <a:sym typeface="Arial"/>
                        </a:rPr>
                        <a:t>Address</a:t>
                      </a:r>
                      <a:endParaRPr sz="1600" b="1" i="0" u="none" strike="noStrike" cap="none" dirty="0">
                        <a:solidFill>
                          <a:srgbClr val="000000"/>
                        </a:solidFill>
                        <a:latin typeface="Arial"/>
                        <a:cs typeface="Arial"/>
                        <a:sym typeface="Arial"/>
                      </a:endParaRPr>
                    </a:p>
                  </a:txBody>
                  <a:tcPr marL="91450" marR="91450" marT="45725" marB="45725" anchor="ctr">
                    <a:lnL w="12700"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ACC8DD"/>
                    </a:solidFill>
                  </a:tcPr>
                </a:tc>
                <a:tc>
                  <a:txBody>
                    <a:bodyPr/>
                    <a:lstStyle/>
                    <a:p>
                      <a:pPr marL="0" marR="0" lvl="0" indent="0" algn="l" rtl="0">
                        <a:spcBef>
                          <a:spcPts val="0"/>
                        </a:spcBef>
                        <a:spcAft>
                          <a:spcPts val="0"/>
                        </a:spcAft>
                        <a:buNone/>
                      </a:pPr>
                      <a:r>
                        <a:rPr lang="en-US" sz="1600" b="1" dirty="0" err="1"/>
                        <a:t>BoatID</a:t>
                      </a:r>
                      <a:endParaRPr sz="1200" dirty="0"/>
                    </a:p>
                  </a:txBody>
                  <a:tcPr marL="91450" marR="91450" marT="45725" marB="45725" anchor="ctr">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rgbClr val="ACC8DD"/>
                    </a:solidFill>
                  </a:tcPr>
                </a:tc>
                <a:tc>
                  <a:txBody>
                    <a:bodyPr/>
                    <a:lstStyle/>
                    <a:p>
                      <a:pPr marL="0" marR="0" lvl="0" indent="0" algn="l" rtl="0">
                        <a:spcBef>
                          <a:spcPts val="0"/>
                        </a:spcBef>
                        <a:spcAft>
                          <a:spcPts val="0"/>
                        </a:spcAft>
                        <a:buNone/>
                      </a:pPr>
                      <a:r>
                        <a:rPr lang="en-US" sz="1600" b="1"/>
                        <a:t>BoatColor</a:t>
                      </a:r>
                      <a:endParaRPr sz="1600" b="1"/>
                    </a:p>
                  </a:txBody>
                  <a:tcPr marL="91450" marR="91450" marT="45725" marB="45725" anchor="ctr">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ACC8DD"/>
                    </a:solidFill>
                  </a:tcPr>
                </a:tc>
                <a:tc>
                  <a:txBody>
                    <a:bodyPr/>
                    <a:lstStyle/>
                    <a:p>
                      <a:pPr marL="0" marR="0" lvl="0" indent="0" algn="l" rtl="0">
                        <a:spcBef>
                          <a:spcPts val="0"/>
                        </a:spcBef>
                        <a:spcAft>
                          <a:spcPts val="0"/>
                        </a:spcAft>
                        <a:buNone/>
                      </a:pPr>
                      <a:r>
                        <a:rPr lang="en-US" sz="1600" b="1" dirty="0"/>
                        <a:t>Capacity</a:t>
                      </a:r>
                      <a:endParaRPr sz="1200"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ACC8DD"/>
                    </a:solidFill>
                  </a:tcPr>
                </a:tc>
                <a:extLst>
                  <a:ext uri="{0D108BD9-81ED-4DB2-BD59-A6C34878D82A}">
                    <a16:rowId xmlns:a16="http://schemas.microsoft.com/office/drawing/2014/main" val="10000"/>
                  </a:ext>
                </a:extLst>
              </a:tr>
              <a:tr h="228600">
                <a:tc>
                  <a:txBody>
                    <a:bodyPr/>
                    <a:lstStyle/>
                    <a:p>
                      <a:pPr marL="0" marR="0" lvl="0" indent="0" algn="l" rtl="0">
                        <a:spcBef>
                          <a:spcPts val="0"/>
                        </a:spcBef>
                        <a:spcAft>
                          <a:spcPts val="0"/>
                        </a:spcAft>
                        <a:buNone/>
                      </a:pPr>
                      <a:r>
                        <a:rPr lang="en-US" sz="1800"/>
                        <a:t>1</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ACC8DD"/>
                    </a:solidFill>
                  </a:tcPr>
                </a:tc>
                <a:tc>
                  <a:txBody>
                    <a:bodyPr/>
                    <a:lstStyle/>
                    <a:p>
                      <a:pPr marL="0" marR="0" lvl="0" indent="0" algn="l" rtl="0">
                        <a:spcBef>
                          <a:spcPts val="0"/>
                        </a:spcBef>
                        <a:spcAft>
                          <a:spcPts val="0"/>
                        </a:spcAft>
                        <a:buNone/>
                      </a:pPr>
                      <a:r>
                        <a:rPr lang="en-US" sz="1800" dirty="0"/>
                        <a:t>John</a:t>
                      </a:r>
                      <a:endParaRPr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ACC8DD"/>
                    </a:solidFill>
                  </a:tcPr>
                </a:tc>
                <a:tc>
                  <a:txBody>
                    <a:bodyPr/>
                    <a:lstStyle/>
                    <a:p>
                      <a:pPr marL="0" marR="0" lvl="0" indent="0" algn="l" rtl="0">
                        <a:spcBef>
                          <a:spcPts val="0"/>
                        </a:spcBef>
                        <a:spcAft>
                          <a:spcPts val="0"/>
                        </a:spcAft>
                        <a:buNone/>
                      </a:pPr>
                      <a:r>
                        <a:rPr lang="en-US" dirty="0"/>
                        <a:t>ABC</a:t>
                      </a:r>
                      <a:endParaRPr dirty="0"/>
                    </a:p>
                  </a:txBody>
                  <a:tcPr marL="91450" marR="91450" marT="45725" marB="45725" anchor="ctr">
                    <a:lnL w="12700"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ACC8DD"/>
                    </a:solidFill>
                  </a:tcPr>
                </a:tc>
                <a:tc>
                  <a:txBody>
                    <a:bodyPr/>
                    <a:lstStyle/>
                    <a:p>
                      <a:pPr marL="0" marR="0" lvl="0" indent="0" algn="l" rtl="0">
                        <a:spcBef>
                          <a:spcPts val="0"/>
                        </a:spcBef>
                        <a:spcAft>
                          <a:spcPts val="0"/>
                        </a:spcAft>
                        <a:buNone/>
                      </a:pPr>
                      <a:r>
                        <a:rPr lang="en-US" sz="1800" dirty="0"/>
                        <a:t>101</a:t>
                      </a:r>
                      <a:endParaRPr dirty="0"/>
                    </a:p>
                  </a:txBody>
                  <a:tcPr marL="91450" marR="91450" marT="45725" marB="45725" anchor="ctr">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rgbClr val="ACC8DD"/>
                    </a:solidFill>
                  </a:tcPr>
                </a:tc>
                <a:tc>
                  <a:txBody>
                    <a:bodyPr/>
                    <a:lstStyle/>
                    <a:p>
                      <a:pPr marL="0" marR="0" lvl="0" indent="0" algn="l" rtl="0">
                        <a:spcBef>
                          <a:spcPts val="0"/>
                        </a:spcBef>
                        <a:spcAft>
                          <a:spcPts val="0"/>
                        </a:spcAft>
                        <a:buNone/>
                      </a:pPr>
                      <a:r>
                        <a:rPr lang="en-US" sz="1800"/>
                        <a:t>Red</a:t>
                      </a:r>
                      <a:endParaRPr/>
                    </a:p>
                  </a:txBody>
                  <a:tcPr marL="91450" marR="91450" marT="45725" marB="45725" anchor="ctr">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ACC8DD"/>
                    </a:solidFill>
                  </a:tcPr>
                </a:tc>
                <a:tc>
                  <a:txBody>
                    <a:bodyPr/>
                    <a:lstStyle/>
                    <a:p>
                      <a:pPr marL="0" marR="0" lvl="0" indent="0" algn="l" rtl="0">
                        <a:spcBef>
                          <a:spcPts val="0"/>
                        </a:spcBef>
                        <a:spcAft>
                          <a:spcPts val="0"/>
                        </a:spcAft>
                        <a:buNone/>
                      </a:pPr>
                      <a:r>
                        <a:rPr lang="en-US" sz="1800"/>
                        <a:t>4</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ACC8DD"/>
                    </a:solidFill>
                  </a:tcPr>
                </a:tc>
                <a:extLst>
                  <a:ext uri="{0D108BD9-81ED-4DB2-BD59-A6C34878D82A}">
                    <a16:rowId xmlns:a16="http://schemas.microsoft.com/office/drawing/2014/main" val="10001"/>
                  </a:ext>
                </a:extLst>
              </a:tr>
              <a:tr h="228600">
                <a:tc>
                  <a:txBody>
                    <a:bodyPr/>
                    <a:lstStyle/>
                    <a:p>
                      <a:pPr marL="0" marR="0" lvl="0" indent="0" algn="l" rtl="0">
                        <a:spcBef>
                          <a:spcPts val="0"/>
                        </a:spcBef>
                        <a:spcAft>
                          <a:spcPts val="0"/>
                        </a:spcAft>
                        <a:buNone/>
                      </a:pPr>
                      <a:r>
                        <a:rPr lang="en-US" sz="1800"/>
                        <a:t>2</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ACC8DD"/>
                    </a:solidFill>
                  </a:tcPr>
                </a:tc>
                <a:tc>
                  <a:txBody>
                    <a:bodyPr/>
                    <a:lstStyle/>
                    <a:p>
                      <a:pPr marL="0" marR="0" lvl="0" indent="0" algn="l" rtl="0">
                        <a:spcBef>
                          <a:spcPts val="0"/>
                        </a:spcBef>
                        <a:spcAft>
                          <a:spcPts val="0"/>
                        </a:spcAft>
                        <a:buNone/>
                      </a:pPr>
                      <a:r>
                        <a:rPr lang="en-US" sz="1800"/>
                        <a:t>Alice</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ACC8DD"/>
                    </a:solidFill>
                  </a:tcPr>
                </a:tc>
                <a:tc>
                  <a:txBody>
                    <a:bodyPr/>
                    <a:lstStyle/>
                    <a:p>
                      <a:pPr marL="0" marR="0" lvl="0" indent="0" algn="l" rtl="0">
                        <a:spcBef>
                          <a:spcPts val="0"/>
                        </a:spcBef>
                        <a:spcAft>
                          <a:spcPts val="0"/>
                        </a:spcAft>
                        <a:buNone/>
                      </a:pPr>
                      <a:r>
                        <a:rPr lang="en-US" dirty="0"/>
                        <a:t>DEF</a:t>
                      </a:r>
                      <a:endParaRPr dirty="0"/>
                    </a:p>
                  </a:txBody>
                  <a:tcPr marL="91450" marR="91450" marT="45725" marB="45725" anchor="ctr">
                    <a:lnL w="12700"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ACC8DD"/>
                    </a:solidFill>
                  </a:tcPr>
                </a:tc>
                <a:tc>
                  <a:txBody>
                    <a:bodyPr/>
                    <a:lstStyle/>
                    <a:p>
                      <a:pPr marL="0" marR="0" lvl="0" indent="0" algn="l" rtl="0">
                        <a:spcBef>
                          <a:spcPts val="0"/>
                        </a:spcBef>
                        <a:spcAft>
                          <a:spcPts val="0"/>
                        </a:spcAft>
                        <a:buNone/>
                      </a:pPr>
                      <a:r>
                        <a:rPr lang="en-US" sz="1800"/>
                        <a:t>102</a:t>
                      </a:r>
                      <a:endParaRPr/>
                    </a:p>
                  </a:txBody>
                  <a:tcPr marL="91450" marR="91450" marT="45725" marB="45725" anchor="ctr">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rgbClr val="ACC8DD"/>
                    </a:solidFill>
                  </a:tcPr>
                </a:tc>
                <a:tc>
                  <a:txBody>
                    <a:bodyPr/>
                    <a:lstStyle/>
                    <a:p>
                      <a:pPr marL="0" marR="0" lvl="0" indent="0" algn="l" rtl="0">
                        <a:spcBef>
                          <a:spcPts val="0"/>
                        </a:spcBef>
                        <a:spcAft>
                          <a:spcPts val="0"/>
                        </a:spcAft>
                        <a:buNone/>
                      </a:pPr>
                      <a:r>
                        <a:rPr lang="en-US" sz="1800"/>
                        <a:t>Blue</a:t>
                      </a:r>
                      <a:endParaRPr/>
                    </a:p>
                  </a:txBody>
                  <a:tcPr marL="91450" marR="91450" marT="45725" marB="45725" anchor="ctr">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ACC8DD"/>
                    </a:solidFill>
                  </a:tcPr>
                </a:tc>
                <a:tc>
                  <a:txBody>
                    <a:bodyPr/>
                    <a:lstStyle/>
                    <a:p>
                      <a:pPr marL="0" marR="0" lvl="0" indent="0" algn="l" rtl="0">
                        <a:spcBef>
                          <a:spcPts val="0"/>
                        </a:spcBef>
                        <a:spcAft>
                          <a:spcPts val="0"/>
                        </a:spcAft>
                        <a:buNone/>
                      </a:pPr>
                      <a:r>
                        <a:rPr lang="en-US" sz="1800"/>
                        <a:t>6</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ACC8DD"/>
                    </a:solidFill>
                  </a:tcPr>
                </a:tc>
                <a:extLst>
                  <a:ext uri="{0D108BD9-81ED-4DB2-BD59-A6C34878D82A}">
                    <a16:rowId xmlns:a16="http://schemas.microsoft.com/office/drawing/2014/main" val="10002"/>
                  </a:ext>
                </a:extLst>
              </a:tr>
              <a:tr h="228600">
                <a:tc>
                  <a:txBody>
                    <a:bodyPr/>
                    <a:lstStyle/>
                    <a:p>
                      <a:pPr marL="0" marR="0" lvl="0" indent="0" algn="l" rtl="0">
                        <a:spcBef>
                          <a:spcPts val="0"/>
                        </a:spcBef>
                        <a:spcAft>
                          <a:spcPts val="0"/>
                        </a:spcAft>
                        <a:buNone/>
                      </a:pPr>
                      <a:r>
                        <a:rPr lang="en-US" sz="1800" dirty="0"/>
                        <a:t>1</a:t>
                      </a:r>
                      <a:endParaRPr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ACC8DD"/>
                    </a:solidFill>
                  </a:tcPr>
                </a:tc>
                <a:tc>
                  <a:txBody>
                    <a:bodyPr/>
                    <a:lstStyle/>
                    <a:p>
                      <a:pPr marL="0" marR="0" lvl="0" indent="0" algn="l" rtl="0">
                        <a:spcBef>
                          <a:spcPts val="0"/>
                        </a:spcBef>
                        <a:spcAft>
                          <a:spcPts val="0"/>
                        </a:spcAft>
                        <a:buNone/>
                      </a:pPr>
                      <a:r>
                        <a:rPr lang="en-US" sz="1800" dirty="0"/>
                        <a:t>John</a:t>
                      </a: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ACC8DD"/>
                    </a:solidFill>
                  </a:tcPr>
                </a:tc>
                <a:tc>
                  <a:txBody>
                    <a:bodyPr/>
                    <a:lstStyle/>
                    <a:p>
                      <a:pPr marL="0" marR="0" lvl="0" indent="0" algn="l" rtl="0">
                        <a:spcBef>
                          <a:spcPts val="0"/>
                        </a:spcBef>
                        <a:spcAft>
                          <a:spcPts val="0"/>
                        </a:spcAft>
                        <a:buNone/>
                      </a:pPr>
                      <a:r>
                        <a:rPr lang="en-US" dirty="0"/>
                        <a:t>ABC</a:t>
                      </a:r>
                      <a:endParaRPr dirty="0"/>
                    </a:p>
                  </a:txBody>
                  <a:tcPr marL="91450" marR="91450" marT="45725" marB="45725" anchor="ctr">
                    <a:lnL w="12700"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ACC8DD"/>
                    </a:solidFill>
                  </a:tcPr>
                </a:tc>
                <a:tc>
                  <a:txBody>
                    <a:bodyPr/>
                    <a:lstStyle/>
                    <a:p>
                      <a:pPr marL="0" marR="0" lvl="0" indent="0" algn="l" rtl="0">
                        <a:spcBef>
                          <a:spcPts val="0"/>
                        </a:spcBef>
                        <a:spcAft>
                          <a:spcPts val="0"/>
                        </a:spcAft>
                        <a:buNone/>
                      </a:pPr>
                      <a:r>
                        <a:rPr lang="en-US" sz="1800" dirty="0"/>
                        <a:t>103</a:t>
                      </a:r>
                      <a:endParaRPr dirty="0"/>
                    </a:p>
                  </a:txBody>
                  <a:tcPr marL="91450" marR="91450" marT="45725" marB="45725" anchor="ctr">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ACC8DD"/>
                    </a:solidFill>
                  </a:tcPr>
                </a:tc>
                <a:tc>
                  <a:txBody>
                    <a:bodyPr/>
                    <a:lstStyle/>
                    <a:p>
                      <a:pPr marL="0" marR="0" lvl="0" indent="0" algn="l" rtl="0">
                        <a:spcBef>
                          <a:spcPts val="0"/>
                        </a:spcBef>
                        <a:spcAft>
                          <a:spcPts val="0"/>
                        </a:spcAft>
                        <a:buNone/>
                      </a:pPr>
                      <a:r>
                        <a:rPr lang="en-US" sz="1800"/>
                        <a:t>Green</a:t>
                      </a:r>
                      <a:endParaRPr/>
                    </a:p>
                  </a:txBody>
                  <a:tcPr marL="91450" marR="91450" marT="45725" marB="45725" anchor="ctr">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ACC8DD"/>
                    </a:solidFill>
                  </a:tcPr>
                </a:tc>
                <a:tc>
                  <a:txBody>
                    <a:bodyPr/>
                    <a:lstStyle/>
                    <a:p>
                      <a:pPr marL="0" marR="0" lvl="0" indent="0" algn="l" rtl="0">
                        <a:spcBef>
                          <a:spcPts val="0"/>
                        </a:spcBef>
                        <a:spcAft>
                          <a:spcPts val="0"/>
                        </a:spcAft>
                        <a:buNone/>
                      </a:pPr>
                      <a:r>
                        <a:rPr lang="en-US" sz="1800" dirty="0"/>
                        <a:t>5</a:t>
                      </a:r>
                      <a:endParaRPr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ACC8DD"/>
                    </a:solidFill>
                  </a:tcPr>
                </a:tc>
                <a:extLst>
                  <a:ext uri="{0D108BD9-81ED-4DB2-BD59-A6C34878D82A}">
                    <a16:rowId xmlns:a16="http://schemas.microsoft.com/office/drawing/2014/main" val="10003"/>
                  </a:ext>
                </a:extLst>
              </a:tr>
            </a:tbl>
          </a:graphicData>
        </a:graphic>
      </p:graphicFrame>
      <p:graphicFrame>
        <p:nvGraphicFramePr>
          <p:cNvPr id="661" name="Google Shape;661;p31"/>
          <p:cNvGraphicFramePr/>
          <p:nvPr>
            <p:extLst>
              <p:ext uri="{D42A27DB-BD31-4B8C-83A1-F6EECF244321}">
                <p14:modId xmlns:p14="http://schemas.microsoft.com/office/powerpoint/2010/main" val="497378620"/>
              </p:ext>
            </p:extLst>
          </p:nvPr>
        </p:nvGraphicFramePr>
        <p:xfrm>
          <a:off x="158619" y="4442180"/>
          <a:ext cx="3517641" cy="1066830"/>
        </p:xfrm>
        <a:graphic>
          <a:graphicData uri="http://schemas.openxmlformats.org/drawingml/2006/table">
            <a:tbl>
              <a:tblPr>
                <a:noFill/>
                <a:tableStyleId>{33702F71-532A-4730-8346-7AAFA88D0ED1}</a:tableStyleId>
              </a:tblPr>
              <a:tblGrid>
                <a:gridCol w="1172547">
                  <a:extLst>
                    <a:ext uri="{9D8B030D-6E8A-4147-A177-3AD203B41FA5}">
                      <a16:colId xmlns:a16="http://schemas.microsoft.com/office/drawing/2014/main" val="20000"/>
                    </a:ext>
                  </a:extLst>
                </a:gridCol>
                <a:gridCol w="1172547">
                  <a:extLst>
                    <a:ext uri="{9D8B030D-6E8A-4147-A177-3AD203B41FA5}">
                      <a16:colId xmlns:a16="http://schemas.microsoft.com/office/drawing/2014/main" val="20001"/>
                    </a:ext>
                  </a:extLst>
                </a:gridCol>
                <a:gridCol w="1172547">
                  <a:extLst>
                    <a:ext uri="{9D8B030D-6E8A-4147-A177-3AD203B41FA5}">
                      <a16:colId xmlns:a16="http://schemas.microsoft.com/office/drawing/2014/main" val="894902144"/>
                    </a:ext>
                  </a:extLst>
                </a:gridCol>
              </a:tblGrid>
              <a:tr h="228600">
                <a:tc>
                  <a:txBody>
                    <a:bodyPr/>
                    <a:lstStyle/>
                    <a:p>
                      <a:pPr marL="0" marR="0" lvl="0" indent="0" algn="l" rtl="0">
                        <a:spcBef>
                          <a:spcPts val="0"/>
                        </a:spcBef>
                        <a:spcAft>
                          <a:spcPts val="0"/>
                        </a:spcAft>
                        <a:buNone/>
                      </a:pPr>
                      <a:r>
                        <a:rPr lang="en-US" sz="1400" b="1" dirty="0" err="1"/>
                        <a:t>SailorID</a:t>
                      </a:r>
                      <a:endParaRPr sz="1400" b="1"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1"/>
                    </a:solidFill>
                  </a:tcPr>
                </a:tc>
                <a:tc>
                  <a:txBody>
                    <a:bodyPr/>
                    <a:lstStyle/>
                    <a:p>
                      <a:pPr marL="0" marR="0" lvl="0" indent="0" algn="l" rtl="0">
                        <a:spcBef>
                          <a:spcPts val="0"/>
                        </a:spcBef>
                        <a:spcAft>
                          <a:spcPts val="0"/>
                        </a:spcAft>
                        <a:buNone/>
                      </a:pPr>
                      <a:r>
                        <a:rPr lang="en-US" sz="1400" b="1" dirty="0" err="1"/>
                        <a:t>SailorName</a:t>
                      </a:r>
                      <a:endParaRPr sz="1400" b="1" dirty="0"/>
                    </a:p>
                  </a:txBody>
                  <a:tcPr marL="91450" marR="91450" marT="45725" marB="45725" anchor="ctr">
                    <a:lnL w="12700"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1"/>
                    </a:solidFill>
                  </a:tcPr>
                </a:tc>
                <a:tc>
                  <a:txBody>
                    <a:bodyPr/>
                    <a:lstStyle/>
                    <a:p>
                      <a:pPr marL="0" marR="0" lvl="0" indent="0" algn="l" rtl="0">
                        <a:spcBef>
                          <a:spcPts val="0"/>
                        </a:spcBef>
                        <a:spcAft>
                          <a:spcPts val="0"/>
                        </a:spcAft>
                        <a:buNone/>
                      </a:pPr>
                      <a:r>
                        <a:rPr lang="en-US" sz="1600" b="1" i="0" u="none" strike="noStrike" cap="none" dirty="0">
                          <a:solidFill>
                            <a:srgbClr val="000000"/>
                          </a:solidFill>
                          <a:latin typeface="Arial"/>
                          <a:cs typeface="Arial"/>
                          <a:sym typeface="Arial"/>
                        </a:rPr>
                        <a:t>Address</a:t>
                      </a:r>
                      <a:endParaRPr sz="1600" b="1" i="0" u="none" strike="noStrike" cap="none" dirty="0">
                        <a:solidFill>
                          <a:srgbClr val="000000"/>
                        </a:solidFill>
                        <a:latin typeface="Arial"/>
                        <a:cs typeface="Arial"/>
                        <a:sym typeface="Aria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228600">
                <a:tc>
                  <a:txBody>
                    <a:bodyPr/>
                    <a:lstStyle/>
                    <a:p>
                      <a:pPr marL="0" marR="0" lvl="0" indent="0" algn="l" rtl="0">
                        <a:spcBef>
                          <a:spcPts val="0"/>
                        </a:spcBef>
                        <a:spcAft>
                          <a:spcPts val="0"/>
                        </a:spcAft>
                        <a:buNone/>
                      </a:pPr>
                      <a:r>
                        <a:rPr lang="en-US" sz="1800"/>
                        <a:t>1</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1"/>
                    </a:solidFill>
                  </a:tcPr>
                </a:tc>
                <a:tc>
                  <a:txBody>
                    <a:bodyPr/>
                    <a:lstStyle/>
                    <a:p>
                      <a:pPr marL="0" marR="0" lvl="0" indent="0" algn="l" rtl="0">
                        <a:spcBef>
                          <a:spcPts val="0"/>
                        </a:spcBef>
                        <a:spcAft>
                          <a:spcPts val="0"/>
                        </a:spcAft>
                        <a:buNone/>
                      </a:pPr>
                      <a:r>
                        <a:rPr lang="en-US" sz="1800"/>
                        <a:t>John</a:t>
                      </a:r>
                      <a:endParaRPr/>
                    </a:p>
                  </a:txBody>
                  <a:tcPr marL="91450" marR="91450" marT="45725" marB="45725" anchor="ctr">
                    <a:lnL w="12700"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1"/>
                    </a:solidFill>
                  </a:tcPr>
                </a:tc>
                <a:tc>
                  <a:txBody>
                    <a:bodyPr/>
                    <a:lstStyle/>
                    <a:p>
                      <a:pPr marL="0" marR="0" lvl="0" indent="0" algn="l" rtl="0">
                        <a:spcBef>
                          <a:spcPts val="0"/>
                        </a:spcBef>
                        <a:spcAft>
                          <a:spcPts val="0"/>
                        </a:spcAft>
                        <a:buNone/>
                      </a:pPr>
                      <a:r>
                        <a:rPr lang="en-US" dirty="0"/>
                        <a:t>ABC</a:t>
                      </a:r>
                      <a:endParaRPr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accent1"/>
                    </a:solidFill>
                  </a:tcPr>
                </a:tc>
                <a:extLst>
                  <a:ext uri="{0D108BD9-81ED-4DB2-BD59-A6C34878D82A}">
                    <a16:rowId xmlns:a16="http://schemas.microsoft.com/office/drawing/2014/main" val="10001"/>
                  </a:ext>
                </a:extLst>
              </a:tr>
              <a:tr h="228600">
                <a:tc>
                  <a:txBody>
                    <a:bodyPr/>
                    <a:lstStyle/>
                    <a:p>
                      <a:pPr marL="0" marR="0" lvl="0" indent="0" algn="l" rtl="0">
                        <a:spcBef>
                          <a:spcPts val="0"/>
                        </a:spcBef>
                        <a:spcAft>
                          <a:spcPts val="0"/>
                        </a:spcAft>
                        <a:buNone/>
                      </a:pPr>
                      <a:r>
                        <a:rPr lang="en-US" sz="1800"/>
                        <a:t>2</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accent1"/>
                    </a:solidFill>
                  </a:tcPr>
                </a:tc>
                <a:tc>
                  <a:txBody>
                    <a:bodyPr/>
                    <a:lstStyle/>
                    <a:p>
                      <a:pPr marL="0" marR="0" lvl="0" indent="0" algn="l" rtl="0">
                        <a:spcBef>
                          <a:spcPts val="0"/>
                        </a:spcBef>
                        <a:spcAft>
                          <a:spcPts val="0"/>
                        </a:spcAft>
                        <a:buNone/>
                      </a:pPr>
                      <a:r>
                        <a:rPr lang="en-US" sz="1800" dirty="0"/>
                        <a:t>Alice</a:t>
                      </a:r>
                      <a:endParaRPr dirty="0"/>
                    </a:p>
                  </a:txBody>
                  <a:tcPr marL="91450" marR="91450" marT="45725" marB="45725" anchor="ctr">
                    <a:lnL w="12700"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accent1"/>
                    </a:solidFill>
                  </a:tcPr>
                </a:tc>
                <a:tc>
                  <a:txBody>
                    <a:bodyPr/>
                    <a:lstStyle/>
                    <a:p>
                      <a:pPr marL="0" marR="0" lvl="0" indent="0" algn="l" rtl="0">
                        <a:spcBef>
                          <a:spcPts val="0"/>
                        </a:spcBef>
                        <a:spcAft>
                          <a:spcPts val="0"/>
                        </a:spcAft>
                        <a:buNone/>
                      </a:pPr>
                      <a:r>
                        <a:rPr lang="en-US" dirty="0"/>
                        <a:t>DEF</a:t>
                      </a:r>
                      <a:endParaRPr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accent1"/>
                    </a:solidFill>
                  </a:tcPr>
                </a:tc>
                <a:extLst>
                  <a:ext uri="{0D108BD9-81ED-4DB2-BD59-A6C34878D82A}">
                    <a16:rowId xmlns:a16="http://schemas.microsoft.com/office/drawing/2014/main" val="10002"/>
                  </a:ext>
                </a:extLst>
              </a:tr>
            </a:tbl>
          </a:graphicData>
        </a:graphic>
      </p:graphicFrame>
      <p:graphicFrame>
        <p:nvGraphicFramePr>
          <p:cNvPr id="662" name="Google Shape;662;p31"/>
          <p:cNvGraphicFramePr/>
          <p:nvPr>
            <p:extLst>
              <p:ext uri="{D42A27DB-BD31-4B8C-83A1-F6EECF244321}">
                <p14:modId xmlns:p14="http://schemas.microsoft.com/office/powerpoint/2010/main" val="4252205540"/>
              </p:ext>
            </p:extLst>
          </p:nvPr>
        </p:nvGraphicFramePr>
        <p:xfrm>
          <a:off x="3872161" y="4383327"/>
          <a:ext cx="4909925" cy="1432600"/>
        </p:xfrm>
        <a:graphic>
          <a:graphicData uri="http://schemas.openxmlformats.org/drawingml/2006/table">
            <a:tbl>
              <a:tblPr>
                <a:noFill/>
                <a:tableStyleId>{33702F71-532A-4730-8346-7AAFA88D0ED1}</a:tableStyleId>
              </a:tblPr>
              <a:tblGrid>
                <a:gridCol w="1134275">
                  <a:extLst>
                    <a:ext uri="{9D8B030D-6E8A-4147-A177-3AD203B41FA5}">
                      <a16:colId xmlns:a16="http://schemas.microsoft.com/office/drawing/2014/main" val="20000"/>
                    </a:ext>
                  </a:extLst>
                </a:gridCol>
                <a:gridCol w="1258550">
                  <a:extLst>
                    <a:ext uri="{9D8B030D-6E8A-4147-A177-3AD203B41FA5}">
                      <a16:colId xmlns:a16="http://schemas.microsoft.com/office/drawing/2014/main" val="20001"/>
                    </a:ext>
                  </a:extLst>
                </a:gridCol>
                <a:gridCol w="1258550">
                  <a:extLst>
                    <a:ext uri="{9D8B030D-6E8A-4147-A177-3AD203B41FA5}">
                      <a16:colId xmlns:a16="http://schemas.microsoft.com/office/drawing/2014/main" val="20002"/>
                    </a:ext>
                  </a:extLst>
                </a:gridCol>
                <a:gridCol w="1258550">
                  <a:extLst>
                    <a:ext uri="{9D8B030D-6E8A-4147-A177-3AD203B41FA5}">
                      <a16:colId xmlns:a16="http://schemas.microsoft.com/office/drawing/2014/main" val="20003"/>
                    </a:ext>
                  </a:extLst>
                </a:gridCol>
              </a:tblGrid>
              <a:tr h="228600">
                <a:tc>
                  <a:txBody>
                    <a:bodyPr/>
                    <a:lstStyle/>
                    <a:p>
                      <a:pPr marL="0" marR="0" lvl="0" indent="0" algn="l" rtl="0">
                        <a:spcBef>
                          <a:spcPts val="0"/>
                        </a:spcBef>
                        <a:spcAft>
                          <a:spcPts val="0"/>
                        </a:spcAft>
                        <a:buNone/>
                      </a:pPr>
                      <a:r>
                        <a:rPr lang="en-US" sz="1600" b="1"/>
                        <a:t>BoatID</a:t>
                      </a:r>
                      <a:endParaRPr sz="120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1"/>
                    </a:solidFill>
                  </a:tcPr>
                </a:tc>
                <a:tc>
                  <a:txBody>
                    <a:bodyPr/>
                    <a:lstStyle/>
                    <a:p>
                      <a:pPr marL="0" marR="0" lvl="0" indent="0" algn="l" rtl="0">
                        <a:spcBef>
                          <a:spcPts val="0"/>
                        </a:spcBef>
                        <a:spcAft>
                          <a:spcPts val="0"/>
                        </a:spcAft>
                        <a:buNone/>
                      </a:pPr>
                      <a:r>
                        <a:rPr lang="en-US" sz="1600" b="1"/>
                        <a:t>BoatColor</a:t>
                      </a:r>
                      <a:endParaRPr sz="1600" b="1"/>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1"/>
                    </a:solidFill>
                  </a:tcPr>
                </a:tc>
                <a:tc>
                  <a:txBody>
                    <a:bodyPr/>
                    <a:lstStyle/>
                    <a:p>
                      <a:pPr marL="0" marR="0" lvl="0" indent="0" algn="l" rtl="0">
                        <a:spcBef>
                          <a:spcPts val="0"/>
                        </a:spcBef>
                        <a:spcAft>
                          <a:spcPts val="0"/>
                        </a:spcAft>
                        <a:buNone/>
                      </a:pPr>
                      <a:r>
                        <a:rPr lang="en-US" sz="1600" b="1" dirty="0"/>
                        <a:t>Capacity</a:t>
                      </a:r>
                      <a:endParaRPr sz="1200"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1"/>
                    </a:solidFill>
                  </a:tcPr>
                </a:tc>
                <a:tc>
                  <a:txBody>
                    <a:bodyPr/>
                    <a:lstStyle/>
                    <a:p>
                      <a:pPr marL="0" marR="0" lvl="0" indent="0" algn="l" rtl="0">
                        <a:spcBef>
                          <a:spcPts val="0"/>
                        </a:spcBef>
                        <a:spcAft>
                          <a:spcPts val="0"/>
                        </a:spcAft>
                        <a:buNone/>
                      </a:pPr>
                      <a:r>
                        <a:rPr lang="en-US" sz="1600" b="1" dirty="0" err="1"/>
                        <a:t>SailorID</a:t>
                      </a:r>
                      <a:endParaRPr sz="1600" b="1"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228600">
                <a:tc>
                  <a:txBody>
                    <a:bodyPr/>
                    <a:lstStyle/>
                    <a:p>
                      <a:pPr marL="0" marR="0" lvl="0" indent="0" algn="l" rtl="0">
                        <a:spcBef>
                          <a:spcPts val="0"/>
                        </a:spcBef>
                        <a:spcAft>
                          <a:spcPts val="0"/>
                        </a:spcAft>
                        <a:buNone/>
                      </a:pPr>
                      <a:r>
                        <a:rPr lang="en-US" sz="1800"/>
                        <a:t>101</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1"/>
                    </a:solidFill>
                  </a:tcPr>
                </a:tc>
                <a:tc>
                  <a:txBody>
                    <a:bodyPr/>
                    <a:lstStyle/>
                    <a:p>
                      <a:pPr marL="0" marR="0" lvl="0" indent="0" algn="l" rtl="0">
                        <a:spcBef>
                          <a:spcPts val="0"/>
                        </a:spcBef>
                        <a:spcAft>
                          <a:spcPts val="0"/>
                        </a:spcAft>
                        <a:buNone/>
                      </a:pPr>
                      <a:r>
                        <a:rPr lang="en-US" sz="1800"/>
                        <a:t>Red</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1"/>
                    </a:solidFill>
                  </a:tcPr>
                </a:tc>
                <a:tc>
                  <a:txBody>
                    <a:bodyPr/>
                    <a:lstStyle/>
                    <a:p>
                      <a:pPr marL="0" marR="0" lvl="0" indent="0" algn="l" rtl="0">
                        <a:spcBef>
                          <a:spcPts val="0"/>
                        </a:spcBef>
                        <a:spcAft>
                          <a:spcPts val="0"/>
                        </a:spcAft>
                        <a:buNone/>
                      </a:pPr>
                      <a:r>
                        <a:rPr lang="en-US" sz="1800"/>
                        <a:t>4</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1"/>
                    </a:solidFill>
                  </a:tcPr>
                </a:tc>
                <a:tc>
                  <a:txBody>
                    <a:bodyPr/>
                    <a:lstStyle/>
                    <a:p>
                      <a:pPr marL="0" marR="0" lvl="0" indent="0" algn="l" rtl="0">
                        <a:spcBef>
                          <a:spcPts val="0"/>
                        </a:spcBef>
                        <a:spcAft>
                          <a:spcPts val="0"/>
                        </a:spcAft>
                        <a:buNone/>
                      </a:pPr>
                      <a:r>
                        <a:rPr lang="en-US" sz="1800"/>
                        <a:t>1</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1"/>
                    </a:solidFill>
                  </a:tcPr>
                </a:tc>
                <a:extLst>
                  <a:ext uri="{0D108BD9-81ED-4DB2-BD59-A6C34878D82A}">
                    <a16:rowId xmlns:a16="http://schemas.microsoft.com/office/drawing/2014/main" val="10001"/>
                  </a:ext>
                </a:extLst>
              </a:tr>
              <a:tr h="228600">
                <a:tc>
                  <a:txBody>
                    <a:bodyPr/>
                    <a:lstStyle/>
                    <a:p>
                      <a:pPr marL="0" marR="0" lvl="0" indent="0" algn="l" rtl="0">
                        <a:spcBef>
                          <a:spcPts val="0"/>
                        </a:spcBef>
                        <a:spcAft>
                          <a:spcPts val="0"/>
                        </a:spcAft>
                        <a:buNone/>
                      </a:pPr>
                      <a:r>
                        <a:rPr lang="en-US" sz="1800"/>
                        <a:t>102</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1"/>
                    </a:solidFill>
                  </a:tcPr>
                </a:tc>
                <a:tc>
                  <a:txBody>
                    <a:bodyPr/>
                    <a:lstStyle/>
                    <a:p>
                      <a:pPr marL="0" marR="0" lvl="0" indent="0" algn="l" rtl="0">
                        <a:spcBef>
                          <a:spcPts val="0"/>
                        </a:spcBef>
                        <a:spcAft>
                          <a:spcPts val="0"/>
                        </a:spcAft>
                        <a:buNone/>
                      </a:pPr>
                      <a:r>
                        <a:rPr lang="en-US" sz="1800"/>
                        <a:t>Blue</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1"/>
                    </a:solidFill>
                  </a:tcPr>
                </a:tc>
                <a:tc>
                  <a:txBody>
                    <a:bodyPr/>
                    <a:lstStyle/>
                    <a:p>
                      <a:pPr marL="0" marR="0" lvl="0" indent="0" algn="l" rtl="0">
                        <a:spcBef>
                          <a:spcPts val="0"/>
                        </a:spcBef>
                        <a:spcAft>
                          <a:spcPts val="0"/>
                        </a:spcAft>
                        <a:buNone/>
                      </a:pPr>
                      <a:r>
                        <a:rPr lang="en-US" sz="1800"/>
                        <a:t>6</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1"/>
                    </a:solidFill>
                  </a:tcPr>
                </a:tc>
                <a:tc>
                  <a:txBody>
                    <a:bodyPr/>
                    <a:lstStyle/>
                    <a:p>
                      <a:pPr marL="0" marR="0" lvl="0" indent="0" algn="l" rtl="0">
                        <a:spcBef>
                          <a:spcPts val="0"/>
                        </a:spcBef>
                        <a:spcAft>
                          <a:spcPts val="0"/>
                        </a:spcAft>
                        <a:buNone/>
                      </a:pPr>
                      <a:r>
                        <a:rPr lang="en-US" sz="1800"/>
                        <a:t>2</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1"/>
                    </a:solidFill>
                  </a:tcPr>
                </a:tc>
                <a:extLst>
                  <a:ext uri="{0D108BD9-81ED-4DB2-BD59-A6C34878D82A}">
                    <a16:rowId xmlns:a16="http://schemas.microsoft.com/office/drawing/2014/main" val="10002"/>
                  </a:ext>
                </a:extLst>
              </a:tr>
              <a:tr h="228600">
                <a:tc>
                  <a:txBody>
                    <a:bodyPr/>
                    <a:lstStyle/>
                    <a:p>
                      <a:pPr marL="0" marR="0" lvl="0" indent="0" algn="l" rtl="0">
                        <a:spcBef>
                          <a:spcPts val="0"/>
                        </a:spcBef>
                        <a:spcAft>
                          <a:spcPts val="0"/>
                        </a:spcAft>
                        <a:buNone/>
                      </a:pPr>
                      <a:r>
                        <a:rPr lang="en-US" sz="1800" dirty="0"/>
                        <a:t>103</a:t>
                      </a:r>
                      <a:endParaRPr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1"/>
                    </a:solidFill>
                  </a:tcPr>
                </a:tc>
                <a:tc>
                  <a:txBody>
                    <a:bodyPr/>
                    <a:lstStyle/>
                    <a:p>
                      <a:pPr marL="0" marR="0" lvl="0" indent="0" algn="l" rtl="0">
                        <a:spcBef>
                          <a:spcPts val="0"/>
                        </a:spcBef>
                        <a:spcAft>
                          <a:spcPts val="0"/>
                        </a:spcAft>
                        <a:buNone/>
                      </a:pPr>
                      <a:r>
                        <a:rPr lang="en-US" sz="1800"/>
                        <a:t>Green</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1"/>
                    </a:solidFill>
                  </a:tcPr>
                </a:tc>
                <a:tc>
                  <a:txBody>
                    <a:bodyPr/>
                    <a:lstStyle/>
                    <a:p>
                      <a:pPr marL="0" marR="0" lvl="0" indent="0" algn="l" rtl="0">
                        <a:spcBef>
                          <a:spcPts val="0"/>
                        </a:spcBef>
                        <a:spcAft>
                          <a:spcPts val="0"/>
                        </a:spcAft>
                        <a:buNone/>
                      </a:pPr>
                      <a:r>
                        <a:rPr lang="en-US" sz="1800"/>
                        <a:t>5</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1"/>
                    </a:solidFill>
                  </a:tcPr>
                </a:tc>
                <a:tc>
                  <a:txBody>
                    <a:bodyPr/>
                    <a:lstStyle/>
                    <a:p>
                      <a:pPr marL="0" marR="0" lvl="0" indent="0" algn="l" rtl="0">
                        <a:spcBef>
                          <a:spcPts val="0"/>
                        </a:spcBef>
                        <a:spcAft>
                          <a:spcPts val="0"/>
                        </a:spcAft>
                        <a:buNone/>
                      </a:pPr>
                      <a:r>
                        <a:rPr lang="en-US" sz="1800" dirty="0"/>
                        <a:t>1</a:t>
                      </a:r>
                      <a:endParaRPr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1"/>
                    </a:solidFill>
                  </a:tcPr>
                </a:tc>
                <a:extLst>
                  <a:ext uri="{0D108BD9-81ED-4DB2-BD59-A6C34878D82A}">
                    <a16:rowId xmlns:a16="http://schemas.microsoft.com/office/drawing/2014/main" val="10003"/>
                  </a:ext>
                </a:extLst>
              </a:tr>
            </a:tbl>
          </a:graphicData>
        </a:graphic>
      </p:graphicFrame>
      <p:sp>
        <p:nvSpPr>
          <p:cNvPr id="663" name="Google Shape;663;p31"/>
          <p:cNvSpPr txBox="1"/>
          <p:nvPr/>
        </p:nvSpPr>
        <p:spPr>
          <a:xfrm>
            <a:off x="7832245" y="1951672"/>
            <a:ext cx="4083235" cy="147732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 </a:t>
            </a:r>
            <a:r>
              <a:rPr lang="en-US" sz="1800" b="1">
                <a:solidFill>
                  <a:schemeClr val="dk1"/>
                </a:solidFill>
                <a:latin typeface="Calibri"/>
                <a:ea typeface="Calibri"/>
                <a:cs typeface="Calibri"/>
                <a:sym typeface="Calibri"/>
              </a:rPr>
              <a:t>Issues:</a:t>
            </a:r>
            <a:endParaRPr sz="1800">
              <a:solidFill>
                <a:schemeClr val="dk1"/>
              </a:solidFill>
              <a:latin typeface="Calibri"/>
              <a:ea typeface="Calibri"/>
              <a:cs typeface="Calibri"/>
              <a:sym typeface="Calibri"/>
            </a:endParaRPr>
          </a:p>
          <a:p>
            <a:pPr marL="0" marR="0" lvl="0" indent="-11430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Repetition of </a:t>
            </a:r>
            <a:r>
              <a:rPr lang="en-US" sz="1800" b="1">
                <a:solidFill>
                  <a:schemeClr val="dk1"/>
                </a:solidFill>
                <a:latin typeface="Calibri"/>
                <a:ea typeface="Calibri"/>
                <a:cs typeface="Calibri"/>
                <a:sym typeface="Calibri"/>
              </a:rPr>
              <a:t>SailorName</a:t>
            </a:r>
            <a:r>
              <a:rPr lang="en-US" sz="1800">
                <a:solidFill>
                  <a:schemeClr val="dk1"/>
                </a:solidFill>
                <a:latin typeface="Calibri"/>
                <a:ea typeface="Calibri"/>
                <a:cs typeface="Calibri"/>
                <a:sym typeface="Calibri"/>
              </a:rPr>
              <a:t> when a sailor owns multiple boats.</a:t>
            </a:r>
            <a:endParaRPr/>
          </a:p>
          <a:p>
            <a:pPr marL="0" marR="0" lvl="0" indent="-114300" algn="l" rtl="0">
              <a:spcBef>
                <a:spcPts val="0"/>
              </a:spcBef>
              <a:spcAft>
                <a:spcPts val="0"/>
              </a:spcAft>
              <a:buClr>
                <a:schemeClr val="dk1"/>
              </a:buClr>
              <a:buSzPts val="1800"/>
              <a:buFont typeface="Arial"/>
              <a:buChar char="•"/>
            </a:pPr>
            <a:r>
              <a:rPr lang="en-US" sz="1800" b="1">
                <a:solidFill>
                  <a:schemeClr val="dk1"/>
                </a:solidFill>
                <a:latin typeface="Calibri"/>
                <a:ea typeface="Calibri"/>
                <a:cs typeface="Calibri"/>
                <a:sym typeface="Calibri"/>
              </a:rPr>
              <a:t>Boat details</a:t>
            </a:r>
            <a:r>
              <a:rPr lang="en-US" sz="1800">
                <a:solidFill>
                  <a:schemeClr val="dk1"/>
                </a:solidFill>
                <a:latin typeface="Calibri"/>
                <a:ea typeface="Calibri"/>
                <a:cs typeface="Calibri"/>
                <a:sym typeface="Calibri"/>
              </a:rPr>
              <a:t> are repeated for every sailor owning the same boat.</a:t>
            </a:r>
            <a:endParaRPr/>
          </a:p>
        </p:txBody>
      </p:sp>
      <p:sp>
        <p:nvSpPr>
          <p:cNvPr id="664" name="Google Shape;664;p31"/>
          <p:cNvSpPr txBox="1"/>
          <p:nvPr/>
        </p:nvSpPr>
        <p:spPr>
          <a:xfrm>
            <a:off x="8840913" y="4070631"/>
            <a:ext cx="3351087"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 </a:t>
            </a:r>
            <a:r>
              <a:rPr lang="en-US" sz="1800" b="1" dirty="0">
                <a:solidFill>
                  <a:schemeClr val="dk1"/>
                </a:solidFill>
                <a:latin typeface="Calibri"/>
                <a:ea typeface="Calibri"/>
                <a:cs typeface="Calibri"/>
                <a:sym typeface="Calibri"/>
              </a:rPr>
              <a:t>Benefits:</a:t>
            </a:r>
            <a:endParaRPr sz="1800" dirty="0">
              <a:solidFill>
                <a:schemeClr val="dk1"/>
              </a:solidFill>
              <a:latin typeface="Calibri"/>
              <a:ea typeface="Calibri"/>
              <a:cs typeface="Calibri"/>
              <a:sym typeface="Calibri"/>
            </a:endParaRPr>
          </a:p>
          <a:p>
            <a:pPr marL="0" marR="0" lvl="0" indent="-11430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No duplication of </a:t>
            </a:r>
            <a:r>
              <a:rPr lang="en-US" sz="1800" b="1" dirty="0" err="1">
                <a:solidFill>
                  <a:schemeClr val="dk1"/>
                </a:solidFill>
                <a:latin typeface="Calibri"/>
                <a:ea typeface="Calibri"/>
                <a:cs typeface="Calibri"/>
                <a:sym typeface="Calibri"/>
              </a:rPr>
              <a:t>SailorName</a:t>
            </a:r>
            <a:r>
              <a:rPr lang="en-US" sz="1800" dirty="0">
                <a:solidFill>
                  <a:schemeClr val="dk1"/>
                </a:solidFill>
                <a:latin typeface="Calibri"/>
                <a:ea typeface="Calibri"/>
                <a:cs typeface="Calibri"/>
                <a:sym typeface="Calibri"/>
              </a:rPr>
              <a:t>.</a:t>
            </a:r>
            <a:endParaRPr dirty="0"/>
          </a:p>
          <a:p>
            <a:pPr marL="0" marR="0" lvl="0" indent="-114300" algn="l" rtl="0">
              <a:spcBef>
                <a:spcPts val="0"/>
              </a:spcBef>
              <a:spcAft>
                <a:spcPts val="0"/>
              </a:spcAft>
              <a:buClr>
                <a:schemeClr val="dk1"/>
              </a:buClr>
              <a:buSzPts val="1800"/>
              <a:buFont typeface="Arial"/>
              <a:buChar char="•"/>
            </a:pPr>
            <a:r>
              <a:rPr lang="en-US" sz="1800" b="1" dirty="0">
                <a:solidFill>
                  <a:schemeClr val="dk1"/>
                </a:solidFill>
                <a:latin typeface="Calibri"/>
                <a:ea typeface="Calibri"/>
                <a:cs typeface="Calibri"/>
                <a:sym typeface="Calibri"/>
              </a:rPr>
              <a:t>Boat details</a:t>
            </a:r>
            <a:r>
              <a:rPr lang="en-US" sz="1800" dirty="0">
                <a:solidFill>
                  <a:schemeClr val="dk1"/>
                </a:solidFill>
                <a:latin typeface="Calibri"/>
                <a:ea typeface="Calibri"/>
                <a:cs typeface="Calibri"/>
                <a:sym typeface="Calibri"/>
              </a:rPr>
              <a:t> are stored separately and linked via </a:t>
            </a:r>
            <a:r>
              <a:rPr lang="en-US" sz="1800" b="1" dirty="0" err="1">
                <a:solidFill>
                  <a:schemeClr val="dk1"/>
                </a:solidFill>
                <a:latin typeface="Calibri"/>
                <a:ea typeface="Calibri"/>
                <a:cs typeface="Calibri"/>
                <a:sym typeface="Calibri"/>
              </a:rPr>
              <a:t>SailorID</a:t>
            </a:r>
            <a:r>
              <a:rPr lang="en-US" sz="1800" dirty="0">
                <a:solidFill>
                  <a:schemeClr val="dk1"/>
                </a:solidFill>
                <a:latin typeface="Calibri"/>
                <a:ea typeface="Calibri"/>
                <a:cs typeface="Calibri"/>
                <a:sym typeface="Calibri"/>
              </a:rPr>
              <a:t>.</a:t>
            </a:r>
            <a:endParaRPr dirty="0"/>
          </a:p>
        </p:txBody>
      </p:sp>
      <p:sp>
        <p:nvSpPr>
          <p:cNvPr id="665" name="Google Shape;665;p31"/>
          <p:cNvSpPr txBox="1"/>
          <p:nvPr/>
        </p:nvSpPr>
        <p:spPr>
          <a:xfrm>
            <a:off x="458017" y="3561535"/>
            <a:ext cx="772762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To eliminate redundancy, we can </a:t>
            </a:r>
            <a:r>
              <a:rPr lang="en-US" sz="1800" b="1">
                <a:solidFill>
                  <a:schemeClr val="dk1"/>
                </a:solidFill>
                <a:latin typeface="Calibri"/>
                <a:ea typeface="Calibri"/>
                <a:cs typeface="Calibri"/>
                <a:sym typeface="Calibri"/>
              </a:rPr>
              <a:t>split</a:t>
            </a:r>
            <a:r>
              <a:rPr lang="en-US" sz="1800">
                <a:solidFill>
                  <a:schemeClr val="dk1"/>
                </a:solidFill>
                <a:latin typeface="Calibri"/>
                <a:ea typeface="Calibri"/>
                <a:cs typeface="Calibri"/>
                <a:sym typeface="Calibri"/>
              </a:rPr>
              <a:t> the table into </a:t>
            </a:r>
            <a:r>
              <a:rPr lang="en-US" sz="1800" b="1">
                <a:solidFill>
                  <a:schemeClr val="dk1"/>
                </a:solidFill>
                <a:latin typeface="Calibri"/>
                <a:ea typeface="Calibri"/>
                <a:cs typeface="Calibri"/>
                <a:sym typeface="Calibri"/>
              </a:rPr>
              <a:t>Sailor</a:t>
            </a:r>
            <a:r>
              <a:rPr lang="en-US" sz="1800">
                <a:solidFill>
                  <a:schemeClr val="dk1"/>
                </a:solidFill>
                <a:latin typeface="Calibri"/>
                <a:ea typeface="Calibri"/>
                <a:cs typeface="Calibri"/>
                <a:sym typeface="Calibri"/>
              </a:rPr>
              <a:t> and </a:t>
            </a:r>
            <a:r>
              <a:rPr lang="en-US" sz="1800" b="1">
                <a:solidFill>
                  <a:schemeClr val="dk1"/>
                </a:solidFill>
                <a:latin typeface="Calibri"/>
                <a:ea typeface="Calibri"/>
                <a:cs typeface="Calibri"/>
                <a:sym typeface="Calibri"/>
              </a:rPr>
              <a:t>Boat</a:t>
            </a:r>
            <a:r>
              <a:rPr lang="en-US" sz="1800">
                <a:solidFill>
                  <a:schemeClr val="dk1"/>
                </a:solidFill>
                <a:latin typeface="Calibri"/>
                <a:ea typeface="Calibri"/>
                <a:cs typeface="Calibri"/>
                <a:sym typeface="Calibri"/>
              </a:rPr>
              <a:t> tables.</a:t>
            </a:r>
            <a:endParaRPr sz="1800">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73"/>
        <p:cNvGrpSpPr/>
        <p:nvPr/>
      </p:nvGrpSpPr>
      <p:grpSpPr>
        <a:xfrm>
          <a:off x="0" y="0"/>
          <a:ext cx="0" cy="0"/>
          <a:chOff x="0" y="0"/>
          <a:chExt cx="0" cy="0"/>
        </a:xfrm>
      </p:grpSpPr>
      <p:sp>
        <p:nvSpPr>
          <p:cNvPr id="674" name="Google Shape;674;p32"/>
          <p:cNvSpPr/>
          <p:nvPr/>
        </p:nvSpPr>
        <p:spPr>
          <a:xfrm>
            <a:off x="2209800" y="6248400"/>
            <a:ext cx="190500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sp>
        <p:nvSpPr>
          <p:cNvPr id="675" name="Google Shape;675;p32"/>
          <p:cNvSpPr/>
          <p:nvPr/>
        </p:nvSpPr>
        <p:spPr>
          <a:xfrm>
            <a:off x="4648200" y="6248400"/>
            <a:ext cx="289560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sp>
        <p:nvSpPr>
          <p:cNvPr id="676" name="Google Shape;676;p32"/>
          <p:cNvSpPr txBox="1">
            <a:spLocks noGrp="1"/>
          </p:cNvSpPr>
          <p:nvPr>
            <p:ph type="title"/>
          </p:nvPr>
        </p:nvSpPr>
        <p:spPr>
          <a:xfrm>
            <a:off x="1676400" y="228600"/>
            <a:ext cx="8953500" cy="1104900"/>
          </a:xfrm>
          <a:prstGeom prst="rect">
            <a:avLst/>
          </a:prstGeom>
          <a:noFill/>
          <a:ln>
            <a:noFill/>
          </a:ln>
        </p:spPr>
        <p:txBody>
          <a:bodyPr spcFirstLastPara="1" wrap="square" lIns="91425" tIns="45700" rIns="91425" bIns="45700" anchor="b" anchorCtr="0">
            <a:normAutofit fontScale="90000"/>
          </a:bodyPr>
          <a:lstStyle/>
          <a:p>
            <a:pPr marL="0" lvl="0" indent="0" algn="l" rtl="0">
              <a:lnSpc>
                <a:spcPct val="85000"/>
              </a:lnSpc>
              <a:spcBef>
                <a:spcPts val="0"/>
              </a:spcBef>
              <a:spcAft>
                <a:spcPts val="0"/>
              </a:spcAft>
              <a:buClr>
                <a:srgbClr val="3F3F3F"/>
              </a:buClr>
              <a:buSzPts val="4800"/>
              <a:buFont typeface="Calibri"/>
              <a:buNone/>
            </a:pPr>
            <a:r>
              <a:rPr lang="en-US"/>
              <a:t>Decomposition of a Relation Scheme</a:t>
            </a:r>
            <a:endParaRPr/>
          </a:p>
        </p:txBody>
      </p:sp>
      <p:sp>
        <p:nvSpPr>
          <p:cNvPr id="677" name="Google Shape;677;p32"/>
          <p:cNvSpPr txBox="1">
            <a:spLocks noGrp="1"/>
          </p:cNvSpPr>
          <p:nvPr>
            <p:ph type="body" idx="1"/>
          </p:nvPr>
        </p:nvSpPr>
        <p:spPr>
          <a:xfrm>
            <a:off x="1254430" y="1865752"/>
            <a:ext cx="9067800" cy="4120661"/>
          </a:xfrm>
          <a:prstGeom prst="rect">
            <a:avLst/>
          </a:prstGeom>
          <a:noFill/>
          <a:ln>
            <a:noFill/>
          </a:ln>
        </p:spPr>
        <p:txBody>
          <a:bodyPr spcFirstLastPara="1" wrap="square" lIns="0" tIns="45700" rIns="0" bIns="45700" anchor="t" anchorCtr="0">
            <a:normAutofit/>
          </a:bodyPr>
          <a:lstStyle/>
          <a:p>
            <a:pPr marL="91440" lvl="0" indent="-127000" algn="l" rtl="0">
              <a:lnSpc>
                <a:spcPct val="90000"/>
              </a:lnSpc>
              <a:spcBef>
                <a:spcPts val="0"/>
              </a:spcBef>
              <a:spcAft>
                <a:spcPts val="0"/>
              </a:spcAft>
              <a:buSzPts val="2000"/>
              <a:buChar char=" "/>
            </a:pPr>
            <a:r>
              <a:rPr lang="en-US"/>
              <a:t>Suppose that relation R contains attributes </a:t>
            </a:r>
            <a:r>
              <a:rPr lang="en-US" i="1"/>
              <a:t>A1 ... An.  </a:t>
            </a:r>
            <a:r>
              <a:rPr lang="en-US"/>
              <a:t>A </a:t>
            </a:r>
            <a:r>
              <a:rPr lang="en-US" i="1" u="sng">
                <a:solidFill>
                  <a:schemeClr val="accent2"/>
                </a:solidFill>
              </a:rPr>
              <a:t>decomposition</a:t>
            </a:r>
            <a:r>
              <a:rPr lang="en-US" i="1">
                <a:solidFill>
                  <a:schemeClr val="accent2"/>
                </a:solidFill>
              </a:rPr>
              <a:t> </a:t>
            </a:r>
            <a:r>
              <a:rPr lang="en-US"/>
              <a:t>of R consists of replacing R by two or more relations such that:</a:t>
            </a:r>
            <a:endParaRPr/>
          </a:p>
          <a:p>
            <a:pPr marL="384048" lvl="1" indent="-182880" algn="l" rtl="0">
              <a:lnSpc>
                <a:spcPct val="90000"/>
              </a:lnSpc>
              <a:spcBef>
                <a:spcPts val="400"/>
              </a:spcBef>
              <a:spcAft>
                <a:spcPts val="0"/>
              </a:spcAft>
              <a:buSzPts val="1350"/>
              <a:buChar char="◦"/>
            </a:pPr>
            <a:r>
              <a:rPr lang="en-US"/>
              <a:t>Each new relation scheme contains a subset of the attributes of R (and no attributes that do not appear in R), and</a:t>
            </a:r>
            <a:endParaRPr/>
          </a:p>
          <a:p>
            <a:pPr marL="384048" lvl="1" indent="-182880" algn="l" rtl="0">
              <a:lnSpc>
                <a:spcPct val="90000"/>
              </a:lnSpc>
              <a:spcBef>
                <a:spcPts val="600"/>
              </a:spcBef>
              <a:spcAft>
                <a:spcPts val="0"/>
              </a:spcAft>
              <a:buSzPts val="1350"/>
              <a:buChar char="◦"/>
            </a:pPr>
            <a:r>
              <a:rPr lang="en-US"/>
              <a:t>Every attribute of R appears as an attribute of one of the new relations.</a:t>
            </a:r>
            <a:endParaRPr/>
          </a:p>
          <a:p>
            <a:pPr marL="91440" lvl="0" indent="-127000" algn="l" rtl="0">
              <a:lnSpc>
                <a:spcPct val="90000"/>
              </a:lnSpc>
              <a:spcBef>
                <a:spcPts val="1600"/>
              </a:spcBef>
              <a:spcAft>
                <a:spcPts val="0"/>
              </a:spcAft>
              <a:buSzPts val="2000"/>
              <a:buChar char=" "/>
            </a:pPr>
            <a:r>
              <a:rPr lang="en-US"/>
              <a:t>Intuitively, decomposing R means we will store instances of the relation schemes produced by the decomposition, instead of instances of R.</a:t>
            </a:r>
            <a:endParaRPr/>
          </a:p>
        </p:txBody>
      </p:sp>
      <p:sp>
        <p:nvSpPr>
          <p:cNvPr id="678" name="Google Shape;678;p32"/>
          <p:cNvSpPr txBox="1"/>
          <p:nvPr/>
        </p:nvSpPr>
        <p:spPr>
          <a:xfrm>
            <a:off x="1254430" y="4229100"/>
            <a:ext cx="9067800" cy="2289565"/>
          </a:xfrm>
          <a:prstGeom prst="rect">
            <a:avLst/>
          </a:prstGeom>
          <a:noFill/>
          <a:ln>
            <a:noFill/>
          </a:ln>
        </p:spPr>
        <p:txBody>
          <a:bodyPr spcFirstLastPara="1" wrap="square" lIns="0" tIns="45700" rIns="0" bIns="45700" anchor="t" anchorCtr="0">
            <a:normAutofit/>
          </a:bodyPr>
          <a:lstStyle/>
          <a:p>
            <a:pPr marL="91440" marR="0" lvl="0" indent="-127000" algn="l" rtl="0">
              <a:lnSpc>
                <a:spcPct val="90000"/>
              </a:lnSpc>
              <a:spcBef>
                <a:spcPts val="0"/>
              </a:spcBef>
              <a:spcAft>
                <a:spcPts val="0"/>
              </a:spcAft>
              <a:buClr>
                <a:schemeClr val="accent1"/>
              </a:buClr>
              <a:buSzPts val="2000"/>
              <a:buFont typeface="Calibri"/>
              <a:buChar char=" "/>
            </a:pPr>
            <a:r>
              <a:rPr lang="en-US" sz="2000">
                <a:solidFill>
                  <a:srgbClr val="3F3F3F"/>
                </a:solidFill>
                <a:latin typeface="Calibri"/>
                <a:ea typeface="Calibri"/>
                <a:cs typeface="Calibri"/>
                <a:sym typeface="Calibri"/>
              </a:rPr>
              <a:t>Decompositions should be used only when needed.</a:t>
            </a:r>
            <a:endParaRPr/>
          </a:p>
          <a:p>
            <a:pPr marL="384048" marR="0" lvl="1" indent="-182880" algn="l" rtl="0">
              <a:lnSpc>
                <a:spcPct val="90000"/>
              </a:lnSpc>
              <a:spcBef>
                <a:spcPts val="400"/>
              </a:spcBef>
              <a:spcAft>
                <a:spcPts val="0"/>
              </a:spcAft>
              <a:buClr>
                <a:schemeClr val="accent1"/>
              </a:buClr>
              <a:buSzPts val="1350"/>
              <a:buFont typeface="Calibri"/>
              <a:buChar char="◦"/>
            </a:pPr>
            <a:r>
              <a:rPr lang="en-US" sz="1800" b="0" i="0" u="none" strike="noStrike" cap="none">
                <a:solidFill>
                  <a:srgbClr val="3F3F3F"/>
                </a:solidFill>
                <a:latin typeface="Calibri"/>
                <a:ea typeface="Calibri"/>
                <a:cs typeface="Calibri"/>
                <a:sym typeface="Calibri"/>
              </a:rPr>
              <a:t>SNLRWH has FDs  S  -&gt;  SNLRWH  and  R -&gt; W</a:t>
            </a:r>
            <a:endParaRPr/>
          </a:p>
          <a:p>
            <a:pPr marL="384048" marR="0" lvl="1" indent="-182880" algn="l" rtl="0">
              <a:lnSpc>
                <a:spcPct val="90000"/>
              </a:lnSpc>
              <a:spcBef>
                <a:spcPts val="600"/>
              </a:spcBef>
              <a:spcAft>
                <a:spcPts val="0"/>
              </a:spcAft>
              <a:buClr>
                <a:schemeClr val="accent1"/>
              </a:buClr>
              <a:buSzPts val="1350"/>
              <a:buFont typeface="Calibri"/>
              <a:buChar char="◦"/>
            </a:pPr>
            <a:r>
              <a:rPr lang="en-US" sz="1800" b="0" i="0" u="none" strike="noStrike" cap="none">
                <a:solidFill>
                  <a:srgbClr val="3F3F3F"/>
                </a:solidFill>
                <a:latin typeface="Calibri"/>
                <a:ea typeface="Calibri"/>
                <a:cs typeface="Calibri"/>
                <a:sym typeface="Calibri"/>
              </a:rPr>
              <a:t>Second FD causes violation of 3NF; W values repeatedly associated with R values.  Easiest way to fix this is to create a relation RW to store these associations, and to remove W from the main schema: </a:t>
            </a:r>
            <a:endParaRPr/>
          </a:p>
          <a:p>
            <a:pPr marL="566928" marR="0" lvl="2" indent="-182880" algn="l" rtl="0">
              <a:lnSpc>
                <a:spcPct val="90000"/>
              </a:lnSpc>
              <a:spcBef>
                <a:spcPts val="600"/>
              </a:spcBef>
              <a:spcAft>
                <a:spcPts val="0"/>
              </a:spcAft>
              <a:buClr>
                <a:schemeClr val="accent1"/>
              </a:buClr>
              <a:buSzPts val="1400"/>
              <a:buFont typeface="Calibri"/>
              <a:buChar char="◦"/>
            </a:pPr>
            <a:r>
              <a:rPr lang="en-US" sz="1400" b="0" i="0" u="none" strike="noStrike" cap="none">
                <a:solidFill>
                  <a:srgbClr val="3F3F3F"/>
                </a:solidFill>
                <a:latin typeface="Calibri"/>
                <a:ea typeface="Calibri"/>
                <a:cs typeface="Calibri"/>
                <a:sym typeface="Calibri"/>
              </a:rPr>
              <a:t>i.e., we decompose SNLRWH into SNLRH and RW </a:t>
            </a:r>
            <a:endParaRPr/>
          </a:p>
        </p:txBody>
      </p:sp>
    </p:spTree>
  </p:cSld>
  <p:clrMapOvr>
    <a:masterClrMapping/>
  </p:clrMapOvr>
  <p:transition>
    <p:cut/>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82"/>
        <p:cNvGrpSpPr/>
        <p:nvPr/>
      </p:nvGrpSpPr>
      <p:grpSpPr>
        <a:xfrm>
          <a:off x="0" y="0"/>
          <a:ext cx="0" cy="0"/>
          <a:chOff x="0" y="0"/>
          <a:chExt cx="0" cy="0"/>
        </a:xfrm>
      </p:grpSpPr>
      <p:sp>
        <p:nvSpPr>
          <p:cNvPr id="683" name="Google Shape;683;p33"/>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3600"/>
              <a:buFont typeface="Calibri"/>
              <a:buNone/>
            </a:pPr>
            <a:r>
              <a:rPr lang="en-US" sz="3600"/>
              <a:t>Types of Decomposition in Database Normalization</a:t>
            </a:r>
            <a:endParaRPr sz="3600"/>
          </a:p>
        </p:txBody>
      </p:sp>
      <p:sp>
        <p:nvSpPr>
          <p:cNvPr id="684" name="Google Shape;684;p33"/>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p>
            <a:pPr marL="91440" lvl="0" indent="-127000" algn="l" rtl="0">
              <a:lnSpc>
                <a:spcPct val="90000"/>
              </a:lnSpc>
              <a:spcBef>
                <a:spcPts val="0"/>
              </a:spcBef>
              <a:spcAft>
                <a:spcPts val="0"/>
              </a:spcAft>
              <a:buSzPts val="2000"/>
              <a:buChar char=" "/>
            </a:pPr>
            <a:r>
              <a:rPr lang="en-US" b="1"/>
              <a:t>1. Lossless (Lossless-Join) Decomposition</a:t>
            </a:r>
            <a:endParaRPr/>
          </a:p>
          <a:p>
            <a:pPr marL="91440" lvl="0" indent="-127000" algn="l" rtl="0">
              <a:lnSpc>
                <a:spcPct val="90000"/>
              </a:lnSpc>
              <a:spcBef>
                <a:spcPts val="1400"/>
              </a:spcBef>
              <a:spcAft>
                <a:spcPts val="0"/>
              </a:spcAft>
              <a:buSzPts val="2000"/>
              <a:buChar char=" "/>
            </a:pPr>
            <a:r>
              <a:rPr lang="en-US"/>
              <a:t>✅ </a:t>
            </a:r>
            <a:r>
              <a:rPr lang="en-US" b="1"/>
              <a:t>Ensures that no data is lost when decomposing a table.</a:t>
            </a:r>
            <a:br>
              <a:rPr lang="en-US"/>
            </a:br>
            <a:r>
              <a:rPr lang="en-US"/>
              <a:t>✅ The original relation can be reconstructed by joining the decomposed tables.</a:t>
            </a:r>
            <a:endParaRPr/>
          </a:p>
          <a:p>
            <a:pPr marL="91440" lvl="0" indent="-127000" algn="l" rtl="0">
              <a:lnSpc>
                <a:spcPct val="90000"/>
              </a:lnSpc>
              <a:spcBef>
                <a:spcPts val="1400"/>
              </a:spcBef>
              <a:spcAft>
                <a:spcPts val="0"/>
              </a:spcAft>
              <a:buSzPts val="2000"/>
              <a:buChar char=" "/>
            </a:pPr>
            <a:r>
              <a:rPr lang="en-US" b="1"/>
              <a:t>2. Lossy Decomposition</a:t>
            </a:r>
            <a:endParaRPr/>
          </a:p>
          <a:p>
            <a:pPr marL="91440" lvl="0" indent="-127000" algn="l" rtl="0">
              <a:lnSpc>
                <a:spcPct val="90000"/>
              </a:lnSpc>
              <a:spcBef>
                <a:spcPts val="1400"/>
              </a:spcBef>
              <a:spcAft>
                <a:spcPts val="0"/>
              </a:spcAft>
              <a:buSzPts val="2000"/>
              <a:buChar char=" "/>
            </a:pPr>
            <a:r>
              <a:rPr lang="en-US"/>
              <a:t>❌ </a:t>
            </a:r>
            <a:r>
              <a:rPr lang="en-US" b="1"/>
              <a:t>Some data may be lost or misinterpreted after decomposition.</a:t>
            </a:r>
            <a:br>
              <a:rPr lang="en-US"/>
            </a:br>
            <a:r>
              <a:rPr lang="en-US"/>
              <a:t>❌ The original table cannot be fully recovered using joins.</a:t>
            </a:r>
            <a:endParaRPr/>
          </a:p>
          <a:p>
            <a:pPr marL="91440" lvl="0" indent="-127000" algn="l" rtl="0">
              <a:lnSpc>
                <a:spcPct val="90000"/>
              </a:lnSpc>
              <a:spcBef>
                <a:spcPts val="1400"/>
              </a:spcBef>
              <a:spcAft>
                <a:spcPts val="0"/>
              </a:spcAft>
              <a:buSzPts val="2000"/>
              <a:buChar char=" "/>
            </a:pPr>
            <a:r>
              <a:rPr lang="en-US" b="1"/>
              <a:t>3. Dependency-Preserving Decomposition</a:t>
            </a:r>
            <a:endParaRPr/>
          </a:p>
          <a:p>
            <a:pPr marL="91440" lvl="0" indent="-127000" algn="l" rtl="0">
              <a:lnSpc>
                <a:spcPct val="90000"/>
              </a:lnSpc>
              <a:spcBef>
                <a:spcPts val="1400"/>
              </a:spcBef>
              <a:spcAft>
                <a:spcPts val="0"/>
              </a:spcAft>
              <a:buSzPts val="2000"/>
              <a:buChar char=" "/>
            </a:pPr>
            <a:r>
              <a:rPr lang="en-US"/>
              <a:t>✅ </a:t>
            </a:r>
            <a:r>
              <a:rPr lang="en-US" b="1"/>
              <a:t>Ensures that all functional dependencies (FDs) of the original table are maintained after decomposition.</a:t>
            </a:r>
            <a:br>
              <a:rPr lang="en-US"/>
            </a:br>
            <a:r>
              <a:rPr lang="en-US"/>
              <a:t>✅ Helps maintain consistency and avoids unnecessary joins.</a:t>
            </a:r>
            <a:endParaRPr/>
          </a:p>
          <a:p>
            <a:pPr marL="91440" lvl="0" indent="0" algn="l" rtl="0">
              <a:lnSpc>
                <a:spcPct val="90000"/>
              </a:lnSpc>
              <a:spcBef>
                <a:spcPts val="1400"/>
              </a:spcBef>
              <a:spcAft>
                <a:spcPts val="0"/>
              </a:spcAft>
              <a:buSzPts val="2000"/>
              <a:buNone/>
            </a:pP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92"/>
        <p:cNvGrpSpPr/>
        <p:nvPr/>
      </p:nvGrpSpPr>
      <p:grpSpPr>
        <a:xfrm>
          <a:off x="0" y="0"/>
          <a:ext cx="0" cy="0"/>
          <a:chOff x="0" y="0"/>
          <a:chExt cx="0" cy="0"/>
        </a:xfrm>
      </p:grpSpPr>
      <p:sp>
        <p:nvSpPr>
          <p:cNvPr id="693" name="Google Shape;693;p34"/>
          <p:cNvSpPr/>
          <p:nvPr/>
        </p:nvSpPr>
        <p:spPr>
          <a:xfrm>
            <a:off x="2209800" y="6248400"/>
            <a:ext cx="190500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sp>
        <p:nvSpPr>
          <p:cNvPr id="694" name="Google Shape;694;p34"/>
          <p:cNvSpPr/>
          <p:nvPr/>
        </p:nvSpPr>
        <p:spPr>
          <a:xfrm>
            <a:off x="4648200" y="6248400"/>
            <a:ext cx="289560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sp>
        <p:nvSpPr>
          <p:cNvPr id="695" name="Google Shape;695;p34"/>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Lossless Join Decompositions</a:t>
            </a:r>
            <a:endParaRPr/>
          </a:p>
        </p:txBody>
      </p:sp>
      <p:sp>
        <p:nvSpPr>
          <p:cNvPr id="696" name="Google Shape;696;p34"/>
          <p:cNvSpPr txBox="1">
            <a:spLocks noGrp="1"/>
          </p:cNvSpPr>
          <p:nvPr>
            <p:ph type="body" idx="1"/>
          </p:nvPr>
        </p:nvSpPr>
        <p:spPr>
          <a:xfrm>
            <a:off x="1600200" y="2183562"/>
            <a:ext cx="8991600" cy="4724400"/>
          </a:xfrm>
          <a:prstGeom prst="rect">
            <a:avLst/>
          </a:prstGeom>
          <a:noFill/>
          <a:ln>
            <a:noFill/>
          </a:ln>
        </p:spPr>
        <p:txBody>
          <a:bodyPr spcFirstLastPara="1" wrap="square" lIns="0" tIns="45700" rIns="0" bIns="45700" anchor="t" anchorCtr="0">
            <a:normAutofit/>
          </a:bodyPr>
          <a:lstStyle/>
          <a:p>
            <a:pPr marL="91440" lvl="0" indent="-127000" algn="l" rtl="0">
              <a:lnSpc>
                <a:spcPct val="90000"/>
              </a:lnSpc>
              <a:spcBef>
                <a:spcPts val="0"/>
              </a:spcBef>
              <a:spcAft>
                <a:spcPts val="0"/>
              </a:spcAft>
              <a:buSzPts val="2000"/>
              <a:buChar char=" "/>
            </a:pPr>
            <a:r>
              <a:rPr lang="en-US" dirty="0"/>
              <a:t>Decomposition of R into X and Y is </a:t>
            </a:r>
            <a:r>
              <a:rPr lang="en-US" i="1" u="sng" dirty="0">
                <a:solidFill>
                  <a:schemeClr val="accent2"/>
                </a:solidFill>
              </a:rPr>
              <a:t>lossless-join</a:t>
            </a:r>
            <a:r>
              <a:rPr lang="en-US" dirty="0"/>
              <a:t> </a:t>
            </a:r>
            <a:r>
              <a:rPr lang="en-US" dirty="0" err="1"/>
              <a:t>w.r.t.</a:t>
            </a:r>
            <a:r>
              <a:rPr lang="en-US" dirty="0"/>
              <a:t> a set of FDs F if, for every instance </a:t>
            </a:r>
            <a:r>
              <a:rPr lang="en-US" i="1" dirty="0"/>
              <a:t>r</a:t>
            </a:r>
            <a:r>
              <a:rPr lang="en-US" dirty="0"/>
              <a:t> that satisfies F:</a:t>
            </a:r>
            <a:endParaRPr dirty="0"/>
          </a:p>
          <a:p>
            <a:pPr marL="384048" lvl="1" indent="-182880" algn="l" rtl="0">
              <a:lnSpc>
                <a:spcPct val="90000"/>
              </a:lnSpc>
              <a:spcBef>
                <a:spcPts val="400"/>
              </a:spcBef>
              <a:spcAft>
                <a:spcPts val="0"/>
              </a:spcAft>
              <a:buSzPts val="1350"/>
              <a:buChar char="◦"/>
            </a:pPr>
            <a:r>
              <a:rPr lang="en-US" dirty="0"/>
              <a:t>          (</a:t>
            </a:r>
            <a:r>
              <a:rPr lang="en-US" i="1" dirty="0"/>
              <a:t>r</a:t>
            </a:r>
            <a:r>
              <a:rPr lang="en-US" dirty="0"/>
              <a:t>)                      (</a:t>
            </a:r>
            <a:r>
              <a:rPr lang="en-US" i="1" dirty="0"/>
              <a:t>r</a:t>
            </a:r>
            <a:r>
              <a:rPr lang="en-US" dirty="0"/>
              <a:t>)   =  </a:t>
            </a:r>
            <a:r>
              <a:rPr lang="en-US" i="1" dirty="0"/>
              <a:t>r</a:t>
            </a:r>
            <a:endParaRPr dirty="0"/>
          </a:p>
          <a:p>
            <a:pPr marL="91440" lvl="0" indent="-127000" algn="l" rtl="0">
              <a:lnSpc>
                <a:spcPct val="90000"/>
              </a:lnSpc>
              <a:spcBef>
                <a:spcPts val="1600"/>
              </a:spcBef>
              <a:spcAft>
                <a:spcPts val="0"/>
              </a:spcAft>
              <a:buSzPts val="2000"/>
              <a:buChar char=" "/>
            </a:pPr>
            <a:r>
              <a:rPr lang="en-US" dirty="0"/>
              <a:t>It is always true that   </a:t>
            </a:r>
            <a:r>
              <a:rPr lang="en-US" i="1" dirty="0"/>
              <a:t>r                  </a:t>
            </a:r>
            <a:r>
              <a:rPr lang="en-US" dirty="0"/>
              <a:t>(</a:t>
            </a:r>
            <a:r>
              <a:rPr lang="en-US" i="1" dirty="0"/>
              <a:t>r</a:t>
            </a:r>
            <a:r>
              <a:rPr lang="en-US" dirty="0"/>
              <a:t>)                   (</a:t>
            </a:r>
            <a:r>
              <a:rPr lang="en-US" i="1" dirty="0"/>
              <a:t>r</a:t>
            </a:r>
            <a:r>
              <a:rPr lang="en-US" dirty="0"/>
              <a:t>)</a:t>
            </a:r>
            <a:endParaRPr dirty="0"/>
          </a:p>
          <a:p>
            <a:pPr marL="91440" lvl="0" indent="-127000" algn="l" rtl="0">
              <a:lnSpc>
                <a:spcPct val="90000"/>
              </a:lnSpc>
              <a:spcBef>
                <a:spcPts val="1400"/>
              </a:spcBef>
              <a:spcAft>
                <a:spcPts val="0"/>
              </a:spcAft>
              <a:buSzPts val="2000"/>
              <a:buChar char=" "/>
            </a:pPr>
            <a:r>
              <a:rPr lang="en-US" dirty="0"/>
              <a:t>Definition extended to decomposition into 3 or more relations in a straightforward way.</a:t>
            </a:r>
            <a:endParaRPr dirty="0"/>
          </a:p>
          <a:p>
            <a:pPr marL="91440" lvl="0" indent="-127000" algn="l" rtl="0">
              <a:lnSpc>
                <a:spcPct val="90000"/>
              </a:lnSpc>
              <a:spcBef>
                <a:spcPts val="1400"/>
              </a:spcBef>
              <a:spcAft>
                <a:spcPts val="0"/>
              </a:spcAft>
              <a:buSzPts val="2000"/>
              <a:buChar char=" "/>
            </a:pPr>
            <a:r>
              <a:rPr lang="en-US" i="1" dirty="0">
                <a:solidFill>
                  <a:schemeClr val="accent2"/>
                </a:solidFill>
              </a:rPr>
              <a:t>It is essential that all decompositions used to deal with redundancy be lossless!  </a:t>
            </a:r>
            <a:endParaRPr i="1" u="sng" dirty="0">
              <a:solidFill>
                <a:schemeClr val="accent2"/>
              </a:solidFill>
            </a:endParaRPr>
          </a:p>
        </p:txBody>
      </p:sp>
      <p:pic>
        <p:nvPicPr>
          <p:cNvPr id="697" name="Google Shape;697;p34"/>
          <p:cNvPicPr preferRelativeResize="0"/>
          <p:nvPr/>
        </p:nvPicPr>
        <p:blipFill rotWithShape="1">
          <a:blip r:embed="rId4">
            <a:alphaModFix/>
          </a:blip>
          <a:srcRect/>
          <a:stretch/>
        </p:blipFill>
        <p:spPr>
          <a:xfrm>
            <a:off x="2017711" y="2671000"/>
            <a:ext cx="1539875" cy="647700"/>
          </a:xfrm>
          <a:prstGeom prst="rect">
            <a:avLst/>
          </a:prstGeom>
          <a:noFill/>
          <a:ln>
            <a:noFill/>
          </a:ln>
        </p:spPr>
      </p:pic>
      <p:pic>
        <p:nvPicPr>
          <p:cNvPr id="698" name="Google Shape;698;p34"/>
          <p:cNvPicPr preferRelativeResize="0"/>
          <p:nvPr/>
        </p:nvPicPr>
        <p:blipFill rotWithShape="1">
          <a:blip r:embed="rId5">
            <a:alphaModFix/>
          </a:blip>
          <a:srcRect/>
          <a:stretch/>
        </p:blipFill>
        <p:spPr>
          <a:xfrm>
            <a:off x="3430586" y="2692520"/>
            <a:ext cx="1536700" cy="644525"/>
          </a:xfrm>
          <a:prstGeom prst="rect">
            <a:avLst/>
          </a:prstGeom>
          <a:noFill/>
          <a:ln>
            <a:noFill/>
          </a:ln>
        </p:spPr>
      </p:pic>
      <p:pic>
        <p:nvPicPr>
          <p:cNvPr id="700" name="Google Shape;700;p34"/>
          <p:cNvPicPr preferRelativeResize="0"/>
          <p:nvPr/>
        </p:nvPicPr>
        <p:blipFill rotWithShape="1">
          <a:blip r:embed="rId6">
            <a:alphaModFix/>
          </a:blip>
          <a:srcRect/>
          <a:stretch/>
        </p:blipFill>
        <p:spPr>
          <a:xfrm>
            <a:off x="4134643" y="3287271"/>
            <a:ext cx="1497013" cy="800100"/>
          </a:xfrm>
          <a:prstGeom prst="rect">
            <a:avLst/>
          </a:prstGeom>
          <a:noFill/>
          <a:ln>
            <a:noFill/>
          </a:ln>
        </p:spPr>
      </p:pic>
      <p:pic>
        <p:nvPicPr>
          <p:cNvPr id="701" name="Google Shape;701;p34"/>
          <p:cNvPicPr preferRelativeResize="0"/>
          <p:nvPr/>
        </p:nvPicPr>
        <p:blipFill rotWithShape="1">
          <a:blip r:embed="rId4">
            <a:alphaModFix/>
          </a:blip>
          <a:srcRect/>
          <a:stretch/>
        </p:blipFill>
        <p:spPr>
          <a:xfrm>
            <a:off x="4571205" y="3174453"/>
            <a:ext cx="1539875" cy="647700"/>
          </a:xfrm>
          <a:prstGeom prst="rect">
            <a:avLst/>
          </a:prstGeom>
          <a:noFill/>
          <a:ln>
            <a:noFill/>
          </a:ln>
        </p:spPr>
      </p:pic>
      <p:pic>
        <p:nvPicPr>
          <p:cNvPr id="703" name="Google Shape;703;p34"/>
          <p:cNvPicPr preferRelativeResize="0"/>
          <p:nvPr/>
        </p:nvPicPr>
        <p:blipFill rotWithShape="1">
          <a:blip r:embed="rId5">
            <a:alphaModFix/>
          </a:blip>
          <a:srcRect/>
          <a:stretch/>
        </p:blipFill>
        <p:spPr>
          <a:xfrm>
            <a:off x="5957094" y="3177628"/>
            <a:ext cx="1536700" cy="644525"/>
          </a:xfrm>
          <a:prstGeom prst="rect">
            <a:avLst/>
          </a:prstGeom>
          <a:noFill/>
          <a:ln>
            <a:noFill/>
          </a:ln>
        </p:spPr>
      </p:pic>
      <p:graphicFrame>
        <p:nvGraphicFramePr>
          <p:cNvPr id="13" name="Object 8">
            <a:hlinkClick r:id="" action="ppaction://ole?verb=0"/>
            <a:extLst>
              <a:ext uri="{FF2B5EF4-FFF2-40B4-BE49-F238E27FC236}">
                <a16:creationId xmlns:a16="http://schemas.microsoft.com/office/drawing/2014/main" id="{7FD09246-DA98-4748-8046-A0C4E7B899F0}"/>
              </a:ext>
            </a:extLst>
          </p:cNvPr>
          <p:cNvGraphicFramePr>
            <a:graphicFrameLocks/>
          </p:cNvGraphicFramePr>
          <p:nvPr>
            <p:extLst>
              <p:ext uri="{D42A27DB-BD31-4B8C-83A1-F6EECF244321}">
                <p14:modId xmlns:p14="http://schemas.microsoft.com/office/powerpoint/2010/main" val="640097993"/>
              </p:ext>
            </p:extLst>
          </p:nvPr>
        </p:nvGraphicFramePr>
        <p:xfrm>
          <a:off x="2853529" y="2838481"/>
          <a:ext cx="477838" cy="312738"/>
        </p:xfrm>
        <a:graphic>
          <a:graphicData uri="http://schemas.openxmlformats.org/presentationml/2006/ole">
            <mc:AlternateContent xmlns:mc="http://schemas.openxmlformats.org/markup-compatibility/2006">
              <mc:Choice xmlns:v="urn:schemas-microsoft-com:vml" Requires="v">
                <p:oleObj spid="_x0000_s3100" name="Equation" r:id="rId7" imgW="476941" imgH="312696" progId="Equation.3">
                  <p:embed/>
                </p:oleObj>
              </mc:Choice>
              <mc:Fallback>
                <p:oleObj name="Equation" r:id="rId7" imgW="476941" imgH="312696" progId="Equation.3">
                  <p:embed/>
                  <p:pic>
                    <p:nvPicPr>
                      <p:cNvPr id="69640" name="Object 8">
                        <a:hlinkClick r:id="" action="ppaction://ole?verb=0"/>
                        <a:extLst>
                          <a:ext uri="{FF2B5EF4-FFF2-40B4-BE49-F238E27FC236}">
                            <a16:creationId xmlns:a16="http://schemas.microsoft.com/office/drawing/2014/main" id="{54D88C5F-D9A8-45C7-B303-4D027CB68E03}"/>
                          </a:ext>
                        </a:extLst>
                      </p:cNvPr>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53529" y="2838481"/>
                        <a:ext cx="477838" cy="312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 name="Object 8">
            <a:hlinkClick r:id="" action="ppaction://ole?verb=0"/>
            <a:extLst>
              <a:ext uri="{FF2B5EF4-FFF2-40B4-BE49-F238E27FC236}">
                <a16:creationId xmlns:a16="http://schemas.microsoft.com/office/drawing/2014/main" id="{95F2224A-D9B6-409E-844D-772FB55E7346}"/>
              </a:ext>
            </a:extLst>
          </p:cNvPr>
          <p:cNvGraphicFramePr>
            <a:graphicFrameLocks/>
          </p:cNvGraphicFramePr>
          <p:nvPr>
            <p:extLst>
              <p:ext uri="{D42A27DB-BD31-4B8C-83A1-F6EECF244321}">
                <p14:modId xmlns:p14="http://schemas.microsoft.com/office/powerpoint/2010/main" val="1639186171"/>
              </p:ext>
            </p:extLst>
          </p:nvPr>
        </p:nvGraphicFramePr>
        <p:xfrm>
          <a:off x="5470540" y="3287271"/>
          <a:ext cx="477838" cy="312738"/>
        </p:xfrm>
        <a:graphic>
          <a:graphicData uri="http://schemas.openxmlformats.org/presentationml/2006/ole">
            <mc:AlternateContent xmlns:mc="http://schemas.openxmlformats.org/markup-compatibility/2006">
              <mc:Choice xmlns:v="urn:schemas-microsoft-com:vml" Requires="v">
                <p:oleObj spid="_x0000_s3101" name="Equation" r:id="rId7" imgW="476941" imgH="312696" progId="Equation.3">
                  <p:embed/>
                </p:oleObj>
              </mc:Choice>
              <mc:Fallback>
                <p:oleObj name="Equation" r:id="rId7" imgW="476941" imgH="312696" progId="Equation.3">
                  <p:embed/>
                  <p:pic>
                    <p:nvPicPr>
                      <p:cNvPr id="13" name="Object 8">
                        <a:hlinkClick r:id="" action="ppaction://ole?verb=0"/>
                        <a:extLst>
                          <a:ext uri="{FF2B5EF4-FFF2-40B4-BE49-F238E27FC236}">
                            <a16:creationId xmlns:a16="http://schemas.microsoft.com/office/drawing/2014/main" id="{7FD09246-DA98-4748-8046-A0C4E7B899F0}"/>
                          </a:ext>
                        </a:extLst>
                      </p:cNvPr>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70540" y="3287271"/>
                        <a:ext cx="477838" cy="312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cut/>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711"/>
        <p:cNvGrpSpPr/>
        <p:nvPr/>
      </p:nvGrpSpPr>
      <p:grpSpPr>
        <a:xfrm>
          <a:off x="0" y="0"/>
          <a:ext cx="0" cy="0"/>
          <a:chOff x="0" y="0"/>
          <a:chExt cx="0" cy="0"/>
        </a:xfrm>
      </p:grpSpPr>
      <p:sp>
        <p:nvSpPr>
          <p:cNvPr id="712" name="Google Shape;712;p35"/>
          <p:cNvSpPr/>
          <p:nvPr/>
        </p:nvSpPr>
        <p:spPr>
          <a:xfrm>
            <a:off x="2209800" y="6248400"/>
            <a:ext cx="190500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sp>
        <p:nvSpPr>
          <p:cNvPr id="713" name="Google Shape;713;p35"/>
          <p:cNvSpPr/>
          <p:nvPr/>
        </p:nvSpPr>
        <p:spPr>
          <a:xfrm>
            <a:off x="4648200" y="6248400"/>
            <a:ext cx="289560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sp>
        <p:nvSpPr>
          <p:cNvPr id="714" name="Google Shape;714;p35"/>
          <p:cNvSpPr txBox="1">
            <a:spLocks noGrp="1"/>
          </p:cNvSpPr>
          <p:nvPr>
            <p:ph type="title" idx="4294967295"/>
          </p:nvPr>
        </p:nvSpPr>
        <p:spPr>
          <a:xfrm>
            <a:off x="0" y="49213"/>
            <a:ext cx="10058400" cy="1450975"/>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3600"/>
              <a:buFont typeface="Calibri"/>
              <a:buNone/>
            </a:pPr>
            <a:r>
              <a:rPr lang="en-US" sz="3600"/>
              <a:t>	More on Lossless Join</a:t>
            </a:r>
            <a:endParaRPr/>
          </a:p>
        </p:txBody>
      </p:sp>
      <p:sp>
        <p:nvSpPr>
          <p:cNvPr id="715" name="Google Shape;715;p35"/>
          <p:cNvSpPr txBox="1">
            <a:spLocks noGrp="1"/>
          </p:cNvSpPr>
          <p:nvPr>
            <p:ph type="body" idx="4294967295"/>
          </p:nvPr>
        </p:nvSpPr>
        <p:spPr>
          <a:xfrm>
            <a:off x="1182414" y="1609117"/>
            <a:ext cx="6242595" cy="4800600"/>
          </a:xfrm>
          <a:prstGeom prst="rect">
            <a:avLst/>
          </a:prstGeom>
          <a:noFill/>
          <a:ln>
            <a:noFill/>
          </a:ln>
        </p:spPr>
        <p:txBody>
          <a:bodyPr spcFirstLastPara="1" wrap="square" lIns="0" tIns="45700" rIns="0" bIns="45700" anchor="t" anchorCtr="0">
            <a:normAutofit lnSpcReduction="10000"/>
          </a:bodyPr>
          <a:lstStyle/>
          <a:p>
            <a:pPr marL="91440" lvl="0" indent="-127000" algn="l" rtl="0">
              <a:lnSpc>
                <a:spcPct val="90000"/>
              </a:lnSpc>
              <a:spcBef>
                <a:spcPts val="0"/>
              </a:spcBef>
              <a:spcAft>
                <a:spcPts val="0"/>
              </a:spcAft>
              <a:buSzPts val="2000"/>
              <a:buChar char=" "/>
            </a:pPr>
            <a:r>
              <a:rPr lang="en-US"/>
              <a:t>The decomposition of R into   X and Y is </a:t>
            </a:r>
            <a:r>
              <a:rPr lang="en-US">
                <a:solidFill>
                  <a:schemeClr val="accent2"/>
                </a:solidFill>
              </a:rPr>
              <a:t>lossless-join wrt F  if and only :</a:t>
            </a:r>
            <a:endParaRPr/>
          </a:p>
          <a:p>
            <a:pPr marL="384048" lvl="1" indent="-182880" algn="l" rtl="0">
              <a:lnSpc>
                <a:spcPct val="90000"/>
              </a:lnSpc>
              <a:spcBef>
                <a:spcPts val="400"/>
              </a:spcBef>
              <a:spcAft>
                <a:spcPts val="0"/>
              </a:spcAft>
              <a:buSzPts val="2000"/>
              <a:buChar char="◦"/>
            </a:pPr>
            <a:r>
              <a:rPr lang="en-US" sz="2000">
                <a:solidFill>
                  <a:schemeClr val="accent2"/>
                </a:solidFill>
              </a:rPr>
              <a:t>if </a:t>
            </a:r>
            <a:r>
              <a:rPr lang="en-US" sz="2000"/>
              <a:t>the closure of F contains:</a:t>
            </a:r>
            <a:endParaRPr/>
          </a:p>
          <a:p>
            <a:pPr marL="566928" lvl="2" indent="-182880" algn="l" rtl="0">
              <a:lnSpc>
                <a:spcPct val="90000"/>
              </a:lnSpc>
              <a:spcBef>
                <a:spcPts val="600"/>
              </a:spcBef>
              <a:spcAft>
                <a:spcPts val="0"/>
              </a:spcAft>
              <a:buSzPts val="1500"/>
              <a:buChar char="◦"/>
            </a:pPr>
            <a:r>
              <a:rPr lang="en-US" sz="2000">
                <a:solidFill>
                  <a:schemeClr val="accent2"/>
                </a:solidFill>
              </a:rPr>
              <a:t>X        Y          X,   or</a:t>
            </a:r>
            <a:endParaRPr/>
          </a:p>
          <a:p>
            <a:pPr marL="566928" lvl="2" indent="-182880" algn="l" rtl="0">
              <a:lnSpc>
                <a:spcPct val="90000"/>
              </a:lnSpc>
              <a:spcBef>
                <a:spcPts val="600"/>
              </a:spcBef>
              <a:spcAft>
                <a:spcPts val="0"/>
              </a:spcAft>
              <a:buSzPts val="1500"/>
              <a:buChar char="◦"/>
            </a:pPr>
            <a:r>
              <a:rPr lang="en-US" sz="2000">
                <a:solidFill>
                  <a:schemeClr val="accent2"/>
                </a:solidFill>
              </a:rPr>
              <a:t>X        Y          Y</a:t>
            </a:r>
            <a:endParaRPr sz="2000">
              <a:solidFill>
                <a:schemeClr val="accent2"/>
              </a:solidFill>
            </a:endParaRPr>
          </a:p>
          <a:p>
            <a:pPr marL="91440" lvl="0" indent="-127000" algn="l" rtl="0">
              <a:lnSpc>
                <a:spcPct val="90000"/>
              </a:lnSpc>
              <a:spcBef>
                <a:spcPts val="1600"/>
              </a:spcBef>
              <a:spcAft>
                <a:spcPts val="0"/>
              </a:spcAft>
              <a:buSzPts val="2000"/>
              <a:buChar char=" "/>
            </a:pPr>
            <a:r>
              <a:rPr lang="en-US"/>
              <a:t>The Union of Attributes of R1 and R2 must be equal to the attribute of R. Each attribute of R must be either in R1 or in R2.</a:t>
            </a:r>
            <a:endParaRPr/>
          </a:p>
          <a:p>
            <a:pPr marL="0" lvl="0" indent="0" algn="l" rtl="0">
              <a:lnSpc>
                <a:spcPct val="90000"/>
              </a:lnSpc>
              <a:spcBef>
                <a:spcPts val="1400"/>
              </a:spcBef>
              <a:spcAft>
                <a:spcPts val="0"/>
              </a:spcAft>
              <a:buSzPts val="2000"/>
              <a:buNone/>
            </a:pPr>
            <a:r>
              <a:rPr lang="en-US"/>
              <a:t> 	</a:t>
            </a:r>
            <a:r>
              <a:rPr lang="en-US" sz="1600"/>
              <a:t>Att(R1) U Att(R2) = Att(R)</a:t>
            </a:r>
            <a:endParaRPr/>
          </a:p>
          <a:p>
            <a:pPr marL="91440" lvl="0" indent="-127000" algn="l" rtl="0">
              <a:lnSpc>
                <a:spcPct val="90000"/>
              </a:lnSpc>
              <a:spcBef>
                <a:spcPts val="1400"/>
              </a:spcBef>
              <a:spcAft>
                <a:spcPts val="0"/>
              </a:spcAft>
              <a:buSzPts val="2000"/>
              <a:buChar char=" "/>
            </a:pPr>
            <a:r>
              <a:rPr lang="en-US"/>
              <a:t>The intersection of Attributes of R1 and R2 must not be NULL.</a:t>
            </a:r>
            <a:endParaRPr/>
          </a:p>
          <a:p>
            <a:pPr marL="0" lvl="0" indent="0" algn="l" rtl="0">
              <a:lnSpc>
                <a:spcPct val="90000"/>
              </a:lnSpc>
              <a:spcBef>
                <a:spcPts val="1400"/>
              </a:spcBef>
              <a:spcAft>
                <a:spcPts val="0"/>
              </a:spcAft>
              <a:buSzPts val="1600"/>
              <a:buNone/>
            </a:pPr>
            <a:r>
              <a:rPr lang="en-US" sz="1600"/>
              <a:t>	Att(R1) ∩ Att(R2) ≠ Φ</a:t>
            </a:r>
            <a:endParaRPr sz="1600"/>
          </a:p>
          <a:p>
            <a:pPr marL="91440" lvl="0" indent="-127000" algn="l" rtl="0">
              <a:lnSpc>
                <a:spcPct val="90000"/>
              </a:lnSpc>
              <a:spcBef>
                <a:spcPts val="1400"/>
              </a:spcBef>
              <a:spcAft>
                <a:spcPts val="0"/>
              </a:spcAft>
              <a:buSzPts val="2000"/>
              <a:buChar char=" "/>
            </a:pPr>
            <a:r>
              <a:rPr lang="en-US"/>
              <a:t>In particular, the decomposition of R into  UV and R - V is lossless-join     if  U       V  holds over R.</a:t>
            </a:r>
            <a:endParaRPr/>
          </a:p>
        </p:txBody>
      </p:sp>
      <p:pic>
        <p:nvPicPr>
          <p:cNvPr id="716" name="Google Shape;716;p35"/>
          <p:cNvPicPr preferRelativeResize="0"/>
          <p:nvPr/>
        </p:nvPicPr>
        <p:blipFill rotWithShape="1">
          <a:blip r:embed="rId4">
            <a:alphaModFix/>
          </a:blip>
          <a:srcRect/>
          <a:stretch/>
        </p:blipFill>
        <p:spPr>
          <a:xfrm>
            <a:off x="2576777" y="2490788"/>
            <a:ext cx="676275" cy="322263"/>
          </a:xfrm>
          <a:prstGeom prst="rect">
            <a:avLst/>
          </a:prstGeom>
          <a:noFill/>
          <a:ln>
            <a:noFill/>
          </a:ln>
        </p:spPr>
      </p:pic>
      <p:pic>
        <p:nvPicPr>
          <p:cNvPr id="717" name="Google Shape;717;p35"/>
          <p:cNvPicPr preferRelativeResize="0"/>
          <p:nvPr/>
        </p:nvPicPr>
        <p:blipFill rotWithShape="1">
          <a:blip r:embed="rId5">
            <a:alphaModFix/>
          </a:blip>
          <a:srcRect/>
          <a:stretch/>
        </p:blipFill>
        <p:spPr>
          <a:xfrm>
            <a:off x="2575190" y="2831310"/>
            <a:ext cx="677862" cy="322262"/>
          </a:xfrm>
          <a:prstGeom prst="rect">
            <a:avLst/>
          </a:prstGeom>
          <a:noFill/>
          <a:ln>
            <a:noFill/>
          </a:ln>
        </p:spPr>
      </p:pic>
      <p:pic>
        <p:nvPicPr>
          <p:cNvPr id="718" name="Google Shape;718;p35"/>
          <p:cNvPicPr preferRelativeResize="0"/>
          <p:nvPr/>
        </p:nvPicPr>
        <p:blipFill rotWithShape="1">
          <a:blip r:embed="rId6">
            <a:alphaModFix/>
          </a:blip>
          <a:srcRect/>
          <a:stretch/>
        </p:blipFill>
        <p:spPr>
          <a:xfrm>
            <a:off x="1874949" y="2375395"/>
            <a:ext cx="1917700" cy="952500"/>
          </a:xfrm>
          <a:prstGeom prst="rect">
            <a:avLst/>
          </a:prstGeom>
          <a:noFill/>
          <a:ln>
            <a:noFill/>
          </a:ln>
        </p:spPr>
      </p:pic>
      <p:pic>
        <p:nvPicPr>
          <p:cNvPr id="719" name="Google Shape;719;p35"/>
          <p:cNvPicPr preferRelativeResize="0"/>
          <p:nvPr/>
        </p:nvPicPr>
        <p:blipFill rotWithShape="1">
          <a:blip r:embed="rId7">
            <a:alphaModFix/>
          </a:blip>
          <a:srcRect/>
          <a:stretch/>
        </p:blipFill>
        <p:spPr>
          <a:xfrm>
            <a:off x="1879711" y="2712034"/>
            <a:ext cx="1912938" cy="952500"/>
          </a:xfrm>
          <a:prstGeom prst="rect">
            <a:avLst/>
          </a:prstGeom>
          <a:noFill/>
          <a:ln>
            <a:noFill/>
          </a:ln>
        </p:spPr>
      </p:pic>
      <p:pic>
        <p:nvPicPr>
          <p:cNvPr id="720" name="Google Shape;720;p35"/>
          <p:cNvPicPr preferRelativeResize="0"/>
          <p:nvPr/>
        </p:nvPicPr>
        <p:blipFill rotWithShape="1">
          <a:blip r:embed="rId5">
            <a:alphaModFix/>
          </a:blip>
          <a:srcRect/>
          <a:stretch/>
        </p:blipFill>
        <p:spPr>
          <a:xfrm>
            <a:off x="3253052" y="5871672"/>
            <a:ext cx="677863" cy="322263"/>
          </a:xfrm>
          <a:prstGeom prst="rect">
            <a:avLst/>
          </a:prstGeom>
          <a:noFill/>
          <a:ln>
            <a:noFill/>
          </a:ln>
        </p:spPr>
      </p:pic>
      <p:graphicFrame>
        <p:nvGraphicFramePr>
          <p:cNvPr id="721" name="Google Shape;721;p35"/>
          <p:cNvGraphicFramePr/>
          <p:nvPr/>
        </p:nvGraphicFramePr>
        <p:xfrm>
          <a:off x="8422344" y="3567115"/>
          <a:ext cx="1939925" cy="2774950"/>
        </p:xfrm>
        <a:graphic>
          <a:graphicData uri="http://schemas.openxmlformats.org/presentationml/2006/ole">
            <mc:AlternateContent xmlns:mc="http://schemas.openxmlformats.org/markup-compatibility/2006">
              <mc:Choice xmlns:v="urn:schemas-microsoft-com:vml" Requires="v">
                <p:oleObj spid="_x0000_s2114" r:id="rId8" imgW="1939925" imgH="2774950" progId="Word.Document.8">
                  <p:embed/>
                </p:oleObj>
              </mc:Choice>
              <mc:Fallback>
                <p:oleObj r:id="rId8" imgW="1939925" imgH="2774950" progId="Word.Document.8">
                  <p:embed/>
                  <p:pic>
                    <p:nvPicPr>
                      <p:cNvPr id="721" name="Google Shape;721;p35"/>
                      <p:cNvPicPr preferRelativeResize="0"/>
                      <p:nvPr/>
                    </p:nvPicPr>
                    <p:blipFill rotWithShape="1">
                      <a:blip r:embed="rId9">
                        <a:alphaModFix/>
                      </a:blip>
                      <a:srcRect/>
                      <a:stretch/>
                    </p:blipFill>
                    <p:spPr>
                      <a:xfrm>
                        <a:off x="8422344" y="3567115"/>
                        <a:ext cx="1939925" cy="2774950"/>
                      </a:xfrm>
                      <a:prstGeom prst="rect">
                        <a:avLst/>
                      </a:prstGeom>
                      <a:noFill/>
                      <a:ln>
                        <a:noFill/>
                      </a:ln>
                    </p:spPr>
                  </p:pic>
                </p:oleObj>
              </mc:Fallback>
            </mc:AlternateContent>
          </a:graphicData>
        </a:graphic>
      </p:graphicFrame>
      <p:graphicFrame>
        <p:nvGraphicFramePr>
          <p:cNvPr id="722" name="Google Shape;722;p35"/>
          <p:cNvGraphicFramePr/>
          <p:nvPr/>
        </p:nvGraphicFramePr>
        <p:xfrm>
          <a:off x="8117544" y="1052516"/>
          <a:ext cx="1939925" cy="1939925"/>
        </p:xfrm>
        <a:graphic>
          <a:graphicData uri="http://schemas.openxmlformats.org/presentationml/2006/ole">
            <mc:AlternateContent xmlns:mc="http://schemas.openxmlformats.org/markup-compatibility/2006">
              <mc:Choice xmlns:v="urn:schemas-microsoft-com:vml" Requires="v">
                <p:oleObj spid="_x0000_s2115" r:id="rId10" imgW="1939925" imgH="1939925" progId="Word.Document.8">
                  <p:embed/>
                </p:oleObj>
              </mc:Choice>
              <mc:Fallback>
                <p:oleObj r:id="rId10" imgW="1939925" imgH="1939925" progId="Word.Document.8">
                  <p:embed/>
                  <p:pic>
                    <p:nvPicPr>
                      <p:cNvPr id="722" name="Google Shape;722;p35"/>
                      <p:cNvPicPr preferRelativeResize="0"/>
                      <p:nvPr/>
                    </p:nvPicPr>
                    <p:blipFill rotWithShape="1">
                      <a:blip r:embed="rId11">
                        <a:alphaModFix/>
                      </a:blip>
                      <a:srcRect/>
                      <a:stretch/>
                    </p:blipFill>
                    <p:spPr>
                      <a:xfrm>
                        <a:off x="8117544" y="1052516"/>
                        <a:ext cx="1939925" cy="1939925"/>
                      </a:xfrm>
                      <a:prstGeom prst="rect">
                        <a:avLst/>
                      </a:prstGeom>
                      <a:noFill/>
                      <a:ln>
                        <a:noFill/>
                      </a:ln>
                    </p:spPr>
                  </p:pic>
                </p:oleObj>
              </mc:Fallback>
            </mc:AlternateContent>
          </a:graphicData>
        </a:graphic>
      </p:graphicFrame>
      <p:graphicFrame>
        <p:nvGraphicFramePr>
          <p:cNvPr id="723" name="Google Shape;723;p35"/>
          <p:cNvGraphicFramePr/>
          <p:nvPr/>
        </p:nvGraphicFramePr>
        <p:xfrm>
          <a:off x="10632144" y="138116"/>
          <a:ext cx="1330325" cy="1939925"/>
        </p:xfrm>
        <a:graphic>
          <a:graphicData uri="http://schemas.openxmlformats.org/presentationml/2006/ole">
            <mc:AlternateContent xmlns:mc="http://schemas.openxmlformats.org/markup-compatibility/2006">
              <mc:Choice xmlns:v="urn:schemas-microsoft-com:vml" Requires="v">
                <p:oleObj spid="_x0000_s2116" r:id="rId12" imgW="1330325" imgH="1939925" progId="Word.Document.8">
                  <p:embed/>
                </p:oleObj>
              </mc:Choice>
              <mc:Fallback>
                <p:oleObj r:id="rId12" imgW="1330325" imgH="1939925" progId="Word.Document.8">
                  <p:embed/>
                  <p:pic>
                    <p:nvPicPr>
                      <p:cNvPr id="723" name="Google Shape;723;p35"/>
                      <p:cNvPicPr preferRelativeResize="0"/>
                      <p:nvPr/>
                    </p:nvPicPr>
                    <p:blipFill rotWithShape="1">
                      <a:blip r:embed="rId13">
                        <a:alphaModFix/>
                      </a:blip>
                      <a:srcRect/>
                      <a:stretch/>
                    </p:blipFill>
                    <p:spPr>
                      <a:xfrm>
                        <a:off x="10632144" y="138116"/>
                        <a:ext cx="1330325" cy="1939925"/>
                      </a:xfrm>
                      <a:prstGeom prst="rect">
                        <a:avLst/>
                      </a:prstGeom>
                      <a:noFill/>
                      <a:ln>
                        <a:noFill/>
                      </a:ln>
                    </p:spPr>
                  </p:pic>
                </p:oleObj>
              </mc:Fallback>
            </mc:AlternateContent>
          </a:graphicData>
        </a:graphic>
      </p:graphicFrame>
      <p:graphicFrame>
        <p:nvGraphicFramePr>
          <p:cNvPr id="724" name="Google Shape;724;p35"/>
          <p:cNvGraphicFramePr/>
          <p:nvPr/>
        </p:nvGraphicFramePr>
        <p:xfrm>
          <a:off x="10632143" y="2119315"/>
          <a:ext cx="1347788" cy="2012950"/>
        </p:xfrm>
        <a:graphic>
          <a:graphicData uri="http://schemas.openxmlformats.org/presentationml/2006/ole">
            <mc:AlternateContent xmlns:mc="http://schemas.openxmlformats.org/markup-compatibility/2006">
              <mc:Choice xmlns:v="urn:schemas-microsoft-com:vml" Requires="v">
                <p:oleObj spid="_x0000_s2117" r:id="rId14" imgW="1347788" imgH="2012950" progId="Word.Document.8">
                  <p:embed/>
                </p:oleObj>
              </mc:Choice>
              <mc:Fallback>
                <p:oleObj r:id="rId14" imgW="1347788" imgH="2012950" progId="Word.Document.8">
                  <p:embed/>
                  <p:pic>
                    <p:nvPicPr>
                      <p:cNvPr id="724" name="Google Shape;724;p35"/>
                      <p:cNvPicPr preferRelativeResize="0"/>
                      <p:nvPr/>
                    </p:nvPicPr>
                    <p:blipFill rotWithShape="1">
                      <a:blip r:embed="rId15">
                        <a:alphaModFix/>
                      </a:blip>
                      <a:srcRect/>
                      <a:stretch/>
                    </p:blipFill>
                    <p:spPr>
                      <a:xfrm>
                        <a:off x="10632143" y="2119315"/>
                        <a:ext cx="1347788" cy="2012950"/>
                      </a:xfrm>
                      <a:prstGeom prst="rect">
                        <a:avLst/>
                      </a:prstGeom>
                      <a:noFill/>
                      <a:ln>
                        <a:noFill/>
                      </a:ln>
                    </p:spPr>
                  </p:pic>
                </p:oleObj>
              </mc:Fallback>
            </mc:AlternateContent>
          </a:graphicData>
        </a:graphic>
      </p:graphicFrame>
      <p:sp>
        <p:nvSpPr>
          <p:cNvPr id="725" name="Google Shape;725;p35"/>
          <p:cNvSpPr/>
          <p:nvPr/>
        </p:nvSpPr>
        <p:spPr>
          <a:xfrm>
            <a:off x="10028893" y="1725615"/>
            <a:ext cx="444500" cy="596900"/>
          </a:xfrm>
          <a:prstGeom prst="rightArrow">
            <a:avLst>
              <a:gd name="adj1" fmla="val 50000"/>
              <a:gd name="adj2" fmla="val 50051"/>
            </a:avLst>
          </a:prstGeom>
          <a:solidFill>
            <a:schemeClr val="accen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sp>
        <p:nvSpPr>
          <p:cNvPr id="726" name="Google Shape;726;p35"/>
          <p:cNvSpPr/>
          <p:nvPr/>
        </p:nvSpPr>
        <p:spPr>
          <a:xfrm rot="-2820000">
            <a:off x="10409893" y="4697415"/>
            <a:ext cx="977900" cy="215900"/>
          </a:xfrm>
          <a:prstGeom prst="leftArrow">
            <a:avLst>
              <a:gd name="adj1" fmla="val 50000"/>
              <a:gd name="adj2" fmla="val 226408"/>
            </a:avLst>
          </a:prstGeom>
          <a:solidFill>
            <a:schemeClr val="accen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p:txBody>
      </p:sp>
    </p:spTree>
  </p:cSld>
  <p:clrMapOvr>
    <a:masterClrMapping/>
  </p:clrMapOvr>
  <p:transition>
    <p:cut/>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730"/>
        <p:cNvGrpSpPr/>
        <p:nvPr/>
      </p:nvGrpSpPr>
      <p:grpSpPr>
        <a:xfrm>
          <a:off x="0" y="0"/>
          <a:ext cx="0" cy="0"/>
          <a:chOff x="0" y="0"/>
          <a:chExt cx="0" cy="0"/>
        </a:xfrm>
      </p:grpSpPr>
      <p:sp>
        <p:nvSpPr>
          <p:cNvPr id="731" name="Google Shape;731;p36"/>
          <p:cNvSpPr txBox="1">
            <a:spLocks noGrp="1"/>
          </p:cNvSpPr>
          <p:nvPr>
            <p:ph type="title"/>
          </p:nvPr>
        </p:nvSpPr>
        <p:spPr>
          <a:xfrm>
            <a:off x="1097280" y="286603"/>
            <a:ext cx="10573104"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400"/>
              <a:buFont typeface="Calibri"/>
              <a:buNone/>
            </a:pPr>
            <a:r>
              <a:rPr lang="en-US" sz="4400"/>
              <a:t>Decompose to the next Higher Normal form</a:t>
            </a:r>
            <a:endParaRPr sz="4400"/>
          </a:p>
        </p:txBody>
      </p:sp>
      <p:sp>
        <p:nvSpPr>
          <p:cNvPr id="732" name="Google Shape;732;p36"/>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p>
            <a:pPr marL="12700" lvl="0" indent="0" algn="l" rtl="0">
              <a:spcBef>
                <a:spcPts val="1200"/>
              </a:spcBef>
              <a:spcAft>
                <a:spcPts val="0"/>
              </a:spcAft>
              <a:buClr>
                <a:schemeClr val="dk1"/>
              </a:buClr>
              <a:buSzPts val="1100"/>
              <a:buFont typeface="Arial"/>
              <a:buNone/>
            </a:pPr>
            <a:r>
              <a:rPr lang="en-US" dirty="0">
                <a:solidFill>
                  <a:srgbClr val="E48312"/>
                </a:solidFill>
              </a:rPr>
              <a:t>1.</a:t>
            </a:r>
            <a:r>
              <a:rPr lang="en-US" dirty="0">
                <a:solidFill>
                  <a:srgbClr val="404040"/>
                </a:solidFill>
              </a:rPr>
              <a:t>R(ABCDE) and F: {A-&gt;C, B-&gt;DE, D-&gt;C}</a:t>
            </a:r>
            <a:endParaRPr dirty="0">
              <a:solidFill>
                <a:srgbClr val="404040"/>
              </a:solidFill>
            </a:endParaRPr>
          </a:p>
          <a:p>
            <a:pPr marL="12700" lvl="0" indent="0" algn="l" rtl="0">
              <a:spcBef>
                <a:spcPts val="1200"/>
              </a:spcBef>
              <a:spcAft>
                <a:spcPts val="0"/>
              </a:spcAft>
              <a:buClr>
                <a:schemeClr val="dk1"/>
              </a:buClr>
              <a:buSzPts val="1100"/>
              <a:buFont typeface="Arial"/>
              <a:buNone/>
            </a:pPr>
            <a:r>
              <a:rPr lang="en-US" dirty="0">
                <a:solidFill>
                  <a:srgbClr val="E48312"/>
                </a:solidFill>
              </a:rPr>
              <a:t>2.</a:t>
            </a:r>
            <a:r>
              <a:rPr lang="en-US" dirty="0">
                <a:solidFill>
                  <a:srgbClr val="404040"/>
                </a:solidFill>
              </a:rPr>
              <a:t>R(ABCDE) and F:{AB-&gt;C,D-&gt;E}</a:t>
            </a:r>
            <a:endParaRPr dirty="0">
              <a:solidFill>
                <a:srgbClr val="404040"/>
              </a:solidFill>
            </a:endParaRPr>
          </a:p>
          <a:p>
            <a:pPr marL="12700" lvl="0" indent="0" algn="l" rtl="0">
              <a:spcBef>
                <a:spcPts val="1200"/>
              </a:spcBef>
              <a:spcAft>
                <a:spcPts val="0"/>
              </a:spcAft>
              <a:buClr>
                <a:schemeClr val="dk1"/>
              </a:buClr>
              <a:buSzPts val="1100"/>
              <a:buFont typeface="Arial"/>
              <a:buNone/>
            </a:pPr>
            <a:r>
              <a:rPr lang="en-US" dirty="0">
                <a:solidFill>
                  <a:srgbClr val="E48312"/>
                </a:solidFill>
              </a:rPr>
              <a:t>3.</a:t>
            </a:r>
            <a:r>
              <a:rPr lang="en-US" dirty="0">
                <a:solidFill>
                  <a:srgbClr val="404040"/>
                </a:solidFill>
              </a:rPr>
              <a:t>R(ABCDE) and F:{A-&gt;B,B-&gt;E,C-&gt;D}</a:t>
            </a:r>
            <a:endParaRPr dirty="0">
              <a:solidFill>
                <a:srgbClr val="404040"/>
              </a:solidFill>
            </a:endParaRPr>
          </a:p>
          <a:p>
            <a:pPr marL="12700" lvl="0" indent="0" algn="l" rtl="0">
              <a:spcBef>
                <a:spcPts val="1200"/>
              </a:spcBef>
              <a:spcAft>
                <a:spcPts val="0"/>
              </a:spcAft>
              <a:buClr>
                <a:schemeClr val="dk1"/>
              </a:buClr>
              <a:buSzPts val="1100"/>
              <a:buFont typeface="Arial"/>
              <a:buNone/>
            </a:pPr>
            <a:r>
              <a:rPr lang="en-US" dirty="0">
                <a:solidFill>
                  <a:srgbClr val="E48312"/>
                </a:solidFill>
              </a:rPr>
              <a:t>4.</a:t>
            </a:r>
            <a:r>
              <a:rPr lang="en-US" dirty="0">
                <a:solidFill>
                  <a:srgbClr val="404040"/>
                </a:solidFill>
              </a:rPr>
              <a:t>R(ABCDE) and F:{AB-&gt;C,B-&gt;D,D-&gt;E}</a:t>
            </a:r>
          </a:p>
          <a:p>
            <a:pPr marL="12700" lvl="0" indent="0" algn="l" rtl="0">
              <a:spcBef>
                <a:spcPts val="1200"/>
              </a:spcBef>
              <a:spcAft>
                <a:spcPts val="0"/>
              </a:spcAft>
              <a:buClr>
                <a:schemeClr val="dk1"/>
              </a:buClr>
              <a:buSzPts val="1100"/>
              <a:buFont typeface="Arial"/>
              <a:buNone/>
            </a:pPr>
            <a:r>
              <a:rPr lang="en-US" dirty="0">
                <a:solidFill>
                  <a:srgbClr val="E48312"/>
                </a:solidFill>
              </a:rPr>
              <a:t>5.</a:t>
            </a:r>
            <a:r>
              <a:rPr lang="en-US" dirty="0">
                <a:solidFill>
                  <a:srgbClr val="404040"/>
                </a:solidFill>
              </a:rPr>
              <a:t>R(ABCDE) and F:{BC-&gt;D,AC-&gt;BE,B-&gt;E}</a:t>
            </a:r>
          </a:p>
          <a:p>
            <a:pPr marL="12700" lvl="0" indent="0" algn="l" rtl="0">
              <a:spcBef>
                <a:spcPts val="1200"/>
              </a:spcBef>
              <a:spcAft>
                <a:spcPts val="0"/>
              </a:spcAft>
              <a:buClr>
                <a:schemeClr val="dk1"/>
              </a:buClr>
              <a:buSzPts val="1100"/>
              <a:buFont typeface="Arial"/>
              <a:buNone/>
            </a:pPr>
            <a:r>
              <a:rPr lang="en-US" dirty="0">
                <a:solidFill>
                  <a:srgbClr val="E48312"/>
                </a:solidFill>
              </a:rPr>
              <a:t>6.</a:t>
            </a:r>
            <a:r>
              <a:rPr lang="en-US" dirty="0">
                <a:solidFill>
                  <a:srgbClr val="404040"/>
                </a:solidFill>
              </a:rPr>
              <a:t>R(ABCDE) and F:{B-&gt;A,A-&gt;C,BC-&gt;D,AC-&gt;BE}</a:t>
            </a:r>
          </a:p>
          <a:p>
            <a:pPr marL="12700" lvl="0" indent="0" algn="l" rtl="0">
              <a:spcBef>
                <a:spcPts val="1200"/>
              </a:spcBef>
              <a:spcAft>
                <a:spcPts val="0"/>
              </a:spcAft>
              <a:buClr>
                <a:schemeClr val="dk1"/>
              </a:buClr>
              <a:buSzPts val="1100"/>
              <a:buFont typeface="Arial"/>
              <a:buNone/>
            </a:pPr>
            <a:endParaRPr dirty="0">
              <a:solidFill>
                <a:srgbClr val="404040"/>
              </a:solidFill>
            </a:endParaRPr>
          </a:p>
          <a:p>
            <a:pPr marL="91440" lvl="0" indent="0" algn="l" rtl="0">
              <a:lnSpc>
                <a:spcPct val="90000"/>
              </a:lnSpc>
              <a:spcBef>
                <a:spcPts val="1400"/>
              </a:spcBef>
              <a:spcAft>
                <a:spcPts val="0"/>
              </a:spcAft>
              <a:buSzPts val="2000"/>
              <a:buNone/>
            </a:pPr>
            <a:endParaRPr dirty="0">
              <a:solidFill>
                <a:srgbClr val="222222"/>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736"/>
        <p:cNvGrpSpPr/>
        <p:nvPr/>
      </p:nvGrpSpPr>
      <p:grpSpPr>
        <a:xfrm>
          <a:off x="0" y="0"/>
          <a:ext cx="0" cy="0"/>
          <a:chOff x="0" y="0"/>
          <a:chExt cx="0" cy="0"/>
        </a:xfrm>
      </p:grpSpPr>
      <p:sp>
        <p:nvSpPr>
          <p:cNvPr id="737" name="Google Shape;737;p37"/>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Dependency Preservation</a:t>
            </a:r>
            <a:endParaRPr/>
          </a:p>
        </p:txBody>
      </p:sp>
      <p:sp>
        <p:nvSpPr>
          <p:cNvPr id="738" name="Google Shape;738;p37"/>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fontScale="92500" lnSpcReduction="10000"/>
          </a:bodyPr>
          <a:lstStyle/>
          <a:p>
            <a:pPr marL="91440" lvl="0" indent="-98425" algn="l" rtl="0">
              <a:lnSpc>
                <a:spcPct val="90000"/>
              </a:lnSpc>
              <a:spcBef>
                <a:spcPts val="0"/>
              </a:spcBef>
              <a:spcAft>
                <a:spcPts val="0"/>
              </a:spcAft>
              <a:buSzPct val="100000"/>
              <a:buChar char=" "/>
            </a:pPr>
            <a:r>
              <a:rPr lang="en-US" dirty="0"/>
              <a:t>Dependency Preservation ensures that when a table is decomposed into smaller tables, </a:t>
            </a:r>
            <a:r>
              <a:rPr lang="en-US" b="1" dirty="0"/>
              <a:t>all functional dependencies (FDs) of the original table remain preserved</a:t>
            </a:r>
            <a:r>
              <a:rPr lang="en-US" dirty="0"/>
              <a:t> in the decomposed tables. This is important for maintaining </a:t>
            </a:r>
            <a:r>
              <a:rPr lang="en-US" b="1" dirty="0"/>
              <a:t>data integrity</a:t>
            </a:r>
            <a:r>
              <a:rPr lang="en-US" dirty="0"/>
              <a:t> and avoiding unnecessary joins to enforce constraints.</a:t>
            </a:r>
          </a:p>
          <a:p>
            <a:pPr marL="91440" lvl="0" indent="-98425" algn="l" rtl="0">
              <a:lnSpc>
                <a:spcPct val="90000"/>
              </a:lnSpc>
              <a:spcBef>
                <a:spcPts val="0"/>
              </a:spcBef>
              <a:spcAft>
                <a:spcPts val="0"/>
              </a:spcAft>
              <a:buSzPct val="100000"/>
              <a:buChar char=" "/>
            </a:pPr>
            <a:endParaRPr lang="en-US" dirty="0"/>
          </a:p>
          <a:p>
            <a:pPr marL="91440" indent="-98425">
              <a:spcBef>
                <a:spcPts val="0"/>
              </a:spcBef>
              <a:buSzPct val="100000"/>
            </a:pPr>
            <a:r>
              <a:rPr lang="en-US" altLang="en-US" dirty="0"/>
              <a:t>Decomposition of R into X and Y is </a:t>
            </a:r>
            <a:r>
              <a:rPr lang="en-US" altLang="en-US" i="1" u="sng" dirty="0">
                <a:solidFill>
                  <a:schemeClr val="accent2"/>
                </a:solidFill>
              </a:rPr>
              <a:t>dependency</a:t>
            </a:r>
            <a:r>
              <a:rPr lang="en-US" altLang="en-US" u="sng" dirty="0"/>
              <a:t> </a:t>
            </a:r>
            <a:r>
              <a:rPr lang="en-US" altLang="en-US" i="1" u="sng" dirty="0">
                <a:solidFill>
                  <a:schemeClr val="accent2"/>
                </a:solidFill>
              </a:rPr>
              <a:t>preserving</a:t>
            </a:r>
            <a:r>
              <a:rPr lang="en-US" altLang="en-US" dirty="0"/>
              <a:t> if  </a:t>
            </a:r>
            <a:r>
              <a:rPr lang="en-US" altLang="en-US" dirty="0">
                <a:solidFill>
                  <a:schemeClr val="accent2"/>
                </a:solidFill>
              </a:rPr>
              <a:t>(F</a:t>
            </a:r>
            <a:r>
              <a:rPr lang="en-US" altLang="en-US" baseline="-25000" dirty="0">
                <a:solidFill>
                  <a:schemeClr val="accent2"/>
                </a:solidFill>
              </a:rPr>
              <a:t>X</a:t>
            </a:r>
            <a:r>
              <a:rPr lang="en-US" altLang="en-US" dirty="0">
                <a:solidFill>
                  <a:schemeClr val="accent2"/>
                </a:solidFill>
              </a:rPr>
              <a:t>  union   F</a:t>
            </a:r>
            <a:r>
              <a:rPr lang="en-US" altLang="en-US" baseline="-25000" dirty="0">
                <a:solidFill>
                  <a:schemeClr val="accent2"/>
                </a:solidFill>
              </a:rPr>
              <a:t>Y </a:t>
            </a:r>
            <a:r>
              <a:rPr lang="en-US" altLang="en-US" dirty="0">
                <a:solidFill>
                  <a:schemeClr val="accent2"/>
                </a:solidFill>
              </a:rPr>
              <a:t>) </a:t>
            </a:r>
            <a:r>
              <a:rPr lang="en-US" altLang="en-US" baseline="30000" dirty="0">
                <a:solidFill>
                  <a:schemeClr val="accent2"/>
                </a:solidFill>
              </a:rPr>
              <a:t>+  </a:t>
            </a:r>
            <a:r>
              <a:rPr lang="en-US" altLang="en-US" dirty="0">
                <a:solidFill>
                  <a:schemeClr val="accent2"/>
                </a:solidFill>
              </a:rPr>
              <a:t>=  F</a:t>
            </a:r>
            <a:r>
              <a:rPr lang="en-US" altLang="en-US" baseline="30000" dirty="0">
                <a:solidFill>
                  <a:schemeClr val="accent2"/>
                </a:solidFill>
              </a:rPr>
              <a:t> +</a:t>
            </a:r>
          </a:p>
          <a:p>
            <a:pPr marL="91440" lvl="0" indent="-98425" algn="l" rtl="0">
              <a:lnSpc>
                <a:spcPct val="90000"/>
              </a:lnSpc>
              <a:spcBef>
                <a:spcPts val="1400"/>
              </a:spcBef>
              <a:spcAft>
                <a:spcPts val="0"/>
              </a:spcAft>
              <a:buSzPct val="100000"/>
              <a:buChar char=" "/>
            </a:pPr>
            <a:r>
              <a:rPr lang="en-US" b="1" dirty="0"/>
              <a:t>1. Dependency Preservation in 3NF</a:t>
            </a:r>
            <a:endParaRPr dirty="0"/>
          </a:p>
          <a:p>
            <a:pPr marL="91440" lvl="0" indent="-98425" algn="l" rtl="0">
              <a:lnSpc>
                <a:spcPct val="90000"/>
              </a:lnSpc>
              <a:spcBef>
                <a:spcPts val="1400"/>
              </a:spcBef>
              <a:spcAft>
                <a:spcPts val="0"/>
              </a:spcAft>
              <a:buSzPct val="100000"/>
              <a:buChar char=" "/>
            </a:pPr>
            <a:r>
              <a:rPr lang="en-US" dirty="0"/>
              <a:t>✅ </a:t>
            </a:r>
            <a:r>
              <a:rPr lang="en-US" b="1" dirty="0"/>
              <a:t>3NF (Third Normal Form) decomposition always preserves dependencies.</a:t>
            </a:r>
            <a:br>
              <a:rPr lang="en-US" dirty="0"/>
            </a:br>
            <a:r>
              <a:rPr lang="en-US" dirty="0"/>
              <a:t>✅ </a:t>
            </a:r>
            <a:r>
              <a:rPr lang="en-US" b="1" dirty="0"/>
              <a:t>It removes partial and transitive dependencies while ensuring lossless decomposition.</a:t>
            </a:r>
            <a:endParaRPr dirty="0"/>
          </a:p>
          <a:p>
            <a:pPr marL="91440" lvl="0" indent="-98425" algn="l" rtl="0">
              <a:lnSpc>
                <a:spcPct val="90000"/>
              </a:lnSpc>
              <a:spcBef>
                <a:spcPts val="1400"/>
              </a:spcBef>
              <a:spcAft>
                <a:spcPts val="0"/>
              </a:spcAft>
              <a:buSzPct val="100000"/>
              <a:buChar char=" "/>
            </a:pPr>
            <a:r>
              <a:rPr lang="en-US" b="1" dirty="0">
                <a:highlight>
                  <a:srgbClr val="FFFF00"/>
                </a:highlight>
              </a:rPr>
              <a:t>All dependencies are preserved</a:t>
            </a:r>
          </a:p>
          <a:p>
            <a:pPr marL="91440" lvl="0" indent="-98425" algn="l" rtl="0">
              <a:lnSpc>
                <a:spcPct val="90000"/>
              </a:lnSpc>
              <a:spcBef>
                <a:spcPts val="1400"/>
              </a:spcBef>
              <a:spcAft>
                <a:spcPts val="0"/>
              </a:spcAft>
              <a:buSzPct val="100000"/>
              <a:buChar char=" "/>
            </a:pPr>
            <a:r>
              <a:rPr lang="en-US" sz="1900" dirty="0" err="1"/>
              <a:t>Eg</a:t>
            </a:r>
            <a:r>
              <a:rPr lang="en-US" sz="1900" dirty="0"/>
              <a:t>:-</a:t>
            </a:r>
          </a:p>
          <a:p>
            <a:pPr marL="91440" lvl="0" indent="-98425" algn="l" rtl="0">
              <a:lnSpc>
                <a:spcPct val="90000"/>
              </a:lnSpc>
              <a:spcBef>
                <a:spcPts val="1400"/>
              </a:spcBef>
              <a:spcAft>
                <a:spcPts val="0"/>
              </a:spcAft>
              <a:buSzPct val="100000"/>
              <a:buChar char=" "/>
            </a:pPr>
            <a:r>
              <a:rPr lang="en-US" b="1" dirty="0"/>
              <a:t>R(A,B,C)</a:t>
            </a:r>
          </a:p>
          <a:p>
            <a:pPr marL="91440" lvl="0" indent="-98425" algn="l" rtl="0">
              <a:lnSpc>
                <a:spcPct val="90000"/>
              </a:lnSpc>
              <a:spcBef>
                <a:spcPts val="1400"/>
              </a:spcBef>
              <a:spcAft>
                <a:spcPts val="0"/>
              </a:spcAft>
              <a:buSzPct val="100000"/>
              <a:buChar char=" "/>
            </a:pPr>
            <a:r>
              <a:rPr lang="en-US" b="1" dirty="0"/>
              <a:t>F={A-&gt;B,B-&gt;C,A-&gt;C}</a:t>
            </a:r>
            <a:endParaRPr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742"/>
        <p:cNvGrpSpPr/>
        <p:nvPr/>
      </p:nvGrpSpPr>
      <p:grpSpPr>
        <a:xfrm>
          <a:off x="0" y="0"/>
          <a:ext cx="0" cy="0"/>
          <a:chOff x="0" y="0"/>
          <a:chExt cx="0" cy="0"/>
        </a:xfrm>
      </p:grpSpPr>
      <p:sp>
        <p:nvSpPr>
          <p:cNvPr id="743" name="Google Shape;743;p38"/>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endParaRPr/>
          </a:p>
        </p:txBody>
      </p:sp>
      <p:sp>
        <p:nvSpPr>
          <p:cNvPr id="744" name="Google Shape;744;p38"/>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fontScale="77500" lnSpcReduction="20000"/>
          </a:bodyPr>
          <a:lstStyle/>
          <a:p>
            <a:pPr marL="91440" lvl="0" indent="-117475" algn="l" rtl="0">
              <a:lnSpc>
                <a:spcPct val="90000"/>
              </a:lnSpc>
              <a:spcBef>
                <a:spcPts val="0"/>
              </a:spcBef>
              <a:spcAft>
                <a:spcPts val="0"/>
              </a:spcAft>
              <a:buSzPct val="100000"/>
              <a:buChar char=" "/>
            </a:pPr>
            <a:r>
              <a:rPr lang="en-US" b="1" dirty="0"/>
              <a:t>2. Dependency Preservation in BCNF</a:t>
            </a:r>
            <a:endParaRPr dirty="0"/>
          </a:p>
          <a:p>
            <a:pPr marL="91440" lvl="0" indent="-117475" algn="l" rtl="0">
              <a:lnSpc>
                <a:spcPct val="90000"/>
              </a:lnSpc>
              <a:spcBef>
                <a:spcPts val="1400"/>
              </a:spcBef>
              <a:spcAft>
                <a:spcPts val="0"/>
              </a:spcAft>
              <a:buSzPct val="100000"/>
              <a:buChar char=" "/>
            </a:pPr>
            <a:r>
              <a:rPr lang="en-US" dirty="0"/>
              <a:t>❌ </a:t>
            </a:r>
            <a:r>
              <a:rPr lang="en-US" b="1" dirty="0"/>
              <a:t>BCNF (Boyce-Codd Normal Form) decomposition does NOT always preserve dependencies.</a:t>
            </a:r>
            <a:br>
              <a:rPr lang="en-US" dirty="0"/>
            </a:br>
            <a:r>
              <a:rPr lang="en-US" dirty="0"/>
              <a:t>✅ BCNF ensures a higher level of normalization but may not preserve FDs.</a:t>
            </a:r>
            <a:endParaRPr dirty="0"/>
          </a:p>
          <a:p>
            <a:pPr marL="91440" lvl="0" indent="-117475" algn="l" rtl="0">
              <a:lnSpc>
                <a:spcPct val="90000"/>
              </a:lnSpc>
              <a:spcBef>
                <a:spcPts val="1400"/>
              </a:spcBef>
              <a:spcAft>
                <a:spcPts val="0"/>
              </a:spcAft>
              <a:buSzPct val="100000"/>
              <a:buChar char=" "/>
            </a:pPr>
            <a:r>
              <a:rPr lang="en-US" b="1" dirty="0"/>
              <a:t>Example Where BCNF Fails to Preserve Dependencies</a:t>
            </a:r>
            <a:endParaRPr dirty="0"/>
          </a:p>
          <a:p>
            <a:pPr marL="91440" indent="-117475">
              <a:spcBef>
                <a:spcPts val="1400"/>
              </a:spcBef>
              <a:buSzPct val="100000"/>
            </a:pPr>
            <a:r>
              <a:rPr lang="en-US" i="1" dirty="0">
                <a:solidFill>
                  <a:srgbClr val="00B050"/>
                </a:solidFill>
                <a:highlight>
                  <a:srgbClr val="FFFF00"/>
                </a:highlight>
              </a:rPr>
              <a:t>BCNF prioritizes minimal redundancy, but some FDs may be lost</a:t>
            </a:r>
          </a:p>
          <a:p>
            <a:pPr marL="91440" indent="-117475">
              <a:spcBef>
                <a:spcPts val="1400"/>
              </a:spcBef>
              <a:buSzPct val="100000"/>
            </a:pPr>
            <a:r>
              <a:rPr lang="en-US" i="1" dirty="0" err="1">
                <a:solidFill>
                  <a:srgbClr val="00B050"/>
                </a:solidFill>
              </a:rPr>
              <a:t>Eg</a:t>
            </a:r>
            <a:r>
              <a:rPr lang="en-US" i="1" dirty="0">
                <a:solidFill>
                  <a:srgbClr val="00B050"/>
                </a:solidFill>
              </a:rPr>
              <a:t>:-</a:t>
            </a:r>
          </a:p>
          <a:p>
            <a:pPr marL="91440" indent="-117475">
              <a:spcBef>
                <a:spcPts val="1400"/>
              </a:spcBef>
              <a:buSzPct val="100000"/>
            </a:pPr>
            <a:r>
              <a:rPr lang="en-US" i="1" dirty="0">
                <a:solidFill>
                  <a:srgbClr val="00B050"/>
                </a:solidFill>
              </a:rPr>
              <a:t>R(ABCD)</a:t>
            </a:r>
          </a:p>
          <a:p>
            <a:pPr marL="91440" indent="-117475">
              <a:spcBef>
                <a:spcPts val="1400"/>
              </a:spcBef>
              <a:buSzPct val="100000"/>
            </a:pPr>
            <a:r>
              <a:rPr lang="en-US" i="1" dirty="0">
                <a:solidFill>
                  <a:srgbClr val="00B050"/>
                </a:solidFill>
              </a:rPr>
              <a:t>F={AB-&gt;CD,D-&gt;A}</a:t>
            </a:r>
          </a:p>
          <a:p>
            <a:pPr marL="91440" indent="-117475">
              <a:spcBef>
                <a:spcPts val="1400"/>
              </a:spcBef>
              <a:buSzPct val="100000"/>
            </a:pPr>
            <a:r>
              <a:rPr lang="en-US" b="1" dirty="0"/>
              <a:t>Example Where BCNF Preserve Dependencies</a:t>
            </a:r>
          </a:p>
          <a:p>
            <a:pPr marL="91440" indent="-117475">
              <a:spcBef>
                <a:spcPts val="1400"/>
              </a:spcBef>
              <a:buSzPct val="100000"/>
            </a:pPr>
            <a:r>
              <a:rPr lang="en-US" sz="2100" i="1" dirty="0" err="1">
                <a:solidFill>
                  <a:srgbClr val="00B050"/>
                </a:solidFill>
              </a:rPr>
              <a:t>Eg</a:t>
            </a:r>
            <a:r>
              <a:rPr lang="en-US" sz="2100" i="1" dirty="0">
                <a:solidFill>
                  <a:srgbClr val="00B050"/>
                </a:solidFill>
              </a:rPr>
              <a:t>:-</a:t>
            </a:r>
          </a:p>
          <a:p>
            <a:pPr marL="91440" indent="-117475">
              <a:spcBef>
                <a:spcPts val="1400"/>
              </a:spcBef>
              <a:buSzPct val="100000"/>
            </a:pPr>
            <a:r>
              <a:rPr lang="en-US" sz="2100" i="1" dirty="0">
                <a:solidFill>
                  <a:srgbClr val="00B050"/>
                </a:solidFill>
              </a:rPr>
              <a:t>R(ABCDEH)</a:t>
            </a:r>
          </a:p>
          <a:p>
            <a:pPr marL="91440" indent="-117475">
              <a:spcBef>
                <a:spcPts val="1400"/>
              </a:spcBef>
              <a:buSzPct val="100000"/>
            </a:pPr>
            <a:r>
              <a:rPr lang="en-US" sz="2100" i="1" dirty="0">
                <a:solidFill>
                  <a:srgbClr val="00B050"/>
                </a:solidFill>
              </a:rPr>
              <a:t>FD={A-&gt;BC, E-&gt;HA}</a:t>
            </a:r>
          </a:p>
          <a:p>
            <a:pPr marL="91440" indent="-117475">
              <a:spcBef>
                <a:spcPts val="1400"/>
              </a:spcBef>
              <a:buSzPct val="100000"/>
            </a:pPr>
            <a:endParaRPr lang="en-US" dirty="0"/>
          </a:p>
          <a:p>
            <a:pPr marL="91440" indent="-117475">
              <a:spcBef>
                <a:spcPts val="1400"/>
              </a:spcBef>
              <a:buSzPct val="100000"/>
            </a:pPr>
            <a:endParaRPr lang="en-US" i="1" dirty="0">
              <a:solidFill>
                <a:srgbClr val="00B050"/>
              </a:solidFill>
            </a:endParaRPr>
          </a:p>
          <a:p>
            <a:pPr marL="91440" indent="-117475">
              <a:spcBef>
                <a:spcPts val="1400"/>
              </a:spcBef>
              <a:buSzPct val="100000"/>
            </a:pPr>
            <a:endParaRPr i="1" dirty="0">
              <a:solidFill>
                <a:srgbClr val="00B050"/>
              </a:solidFill>
              <a:highlight>
                <a:srgbClr val="FFFF00"/>
              </a:highlight>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748"/>
        <p:cNvGrpSpPr/>
        <p:nvPr/>
      </p:nvGrpSpPr>
      <p:grpSpPr>
        <a:xfrm>
          <a:off x="0" y="0"/>
          <a:ext cx="0" cy="0"/>
          <a:chOff x="0" y="0"/>
          <a:chExt cx="0" cy="0"/>
        </a:xfrm>
      </p:grpSpPr>
      <p:sp>
        <p:nvSpPr>
          <p:cNvPr id="749" name="Google Shape;749;p39"/>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400"/>
              <a:buFont typeface="Calibri"/>
              <a:buNone/>
            </a:pPr>
            <a:r>
              <a:rPr lang="en-US" sz="4400"/>
              <a:t>3NF vs. BCNF in Dependency Preservation</a:t>
            </a:r>
            <a:endParaRPr sz="4400"/>
          </a:p>
        </p:txBody>
      </p:sp>
      <p:graphicFrame>
        <p:nvGraphicFramePr>
          <p:cNvPr id="750" name="Google Shape;750;p39"/>
          <p:cNvGraphicFramePr/>
          <p:nvPr/>
        </p:nvGraphicFramePr>
        <p:xfrm>
          <a:off x="2379008" y="2402445"/>
          <a:ext cx="7660550" cy="2667050"/>
        </p:xfrm>
        <a:graphic>
          <a:graphicData uri="http://schemas.openxmlformats.org/drawingml/2006/table">
            <a:tbl>
              <a:tblPr firstRow="1" bandRow="1">
                <a:noFill/>
                <a:tableStyleId>{CAEFD402-7BAA-4683-8AB4-5E6667C64626}</a:tableStyleId>
              </a:tblPr>
              <a:tblGrid>
                <a:gridCol w="2758600">
                  <a:extLst>
                    <a:ext uri="{9D8B030D-6E8A-4147-A177-3AD203B41FA5}">
                      <a16:colId xmlns:a16="http://schemas.microsoft.com/office/drawing/2014/main" val="20000"/>
                    </a:ext>
                  </a:extLst>
                </a:gridCol>
                <a:gridCol w="2348425">
                  <a:extLst>
                    <a:ext uri="{9D8B030D-6E8A-4147-A177-3AD203B41FA5}">
                      <a16:colId xmlns:a16="http://schemas.microsoft.com/office/drawing/2014/main" val="20001"/>
                    </a:ext>
                  </a:extLst>
                </a:gridCol>
                <a:gridCol w="2553525">
                  <a:extLst>
                    <a:ext uri="{9D8B030D-6E8A-4147-A177-3AD203B41FA5}">
                      <a16:colId xmlns:a16="http://schemas.microsoft.com/office/drawing/2014/main" val="20002"/>
                    </a:ext>
                  </a:extLst>
                </a:gridCol>
              </a:tblGrid>
              <a:tr h="370850">
                <a:tc>
                  <a:txBody>
                    <a:bodyPr/>
                    <a:lstStyle/>
                    <a:p>
                      <a:pPr marL="0" marR="0" lvl="0" indent="0" algn="l" rtl="0">
                        <a:spcBef>
                          <a:spcPts val="0"/>
                        </a:spcBef>
                        <a:spcAft>
                          <a:spcPts val="0"/>
                        </a:spcAft>
                        <a:buNone/>
                      </a:pPr>
                      <a:r>
                        <a:rPr lang="en-US" sz="1800" b="1"/>
                        <a:t>Aspect</a:t>
                      </a:r>
                      <a:endParaRPr sz="1800"/>
                    </a:p>
                  </a:txBody>
                  <a:tcPr marL="91450" marR="91450" marT="45725" marB="45725" anchor="ctr"/>
                </a:tc>
                <a:tc>
                  <a:txBody>
                    <a:bodyPr/>
                    <a:lstStyle/>
                    <a:p>
                      <a:pPr marL="0" marR="0" lvl="0" indent="0" algn="l" rtl="0">
                        <a:spcBef>
                          <a:spcPts val="0"/>
                        </a:spcBef>
                        <a:spcAft>
                          <a:spcPts val="0"/>
                        </a:spcAft>
                        <a:buNone/>
                      </a:pPr>
                      <a:r>
                        <a:rPr lang="en-US" sz="1800" b="1"/>
                        <a:t>3NF</a:t>
                      </a:r>
                      <a:r>
                        <a:rPr lang="en-US" sz="1800"/>
                        <a:t> </a:t>
                      </a:r>
                      <a:endParaRPr/>
                    </a:p>
                  </a:txBody>
                  <a:tcPr marL="91450" marR="91450" marT="45725" marB="45725" anchor="ctr"/>
                </a:tc>
                <a:tc>
                  <a:txBody>
                    <a:bodyPr/>
                    <a:lstStyle/>
                    <a:p>
                      <a:pPr marL="0" marR="0" lvl="0" indent="0" algn="l" rtl="0">
                        <a:spcBef>
                          <a:spcPts val="0"/>
                        </a:spcBef>
                        <a:spcAft>
                          <a:spcPts val="0"/>
                        </a:spcAft>
                        <a:buNone/>
                      </a:pPr>
                      <a:r>
                        <a:rPr lang="en-US" sz="1800" b="1"/>
                        <a:t>BCNF</a:t>
                      </a:r>
                      <a:r>
                        <a:rPr lang="en-US" sz="1800"/>
                        <a:t> </a:t>
                      </a:r>
                      <a:endParaRPr/>
                    </a:p>
                  </a:txBody>
                  <a:tcPr marL="91450" marR="91450" marT="45725" marB="45725" anchor="ctr"/>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800" b="1"/>
                        <a:t>Dependency Preservation</a:t>
                      </a:r>
                      <a:endParaRPr sz="1800"/>
                    </a:p>
                  </a:txBody>
                  <a:tcPr marL="91450" marR="91450" marT="45725" marB="45725" anchor="ctr"/>
                </a:tc>
                <a:tc>
                  <a:txBody>
                    <a:bodyPr/>
                    <a:lstStyle/>
                    <a:p>
                      <a:pPr marL="0" marR="0" lvl="0" indent="0" algn="l" rtl="0">
                        <a:spcBef>
                          <a:spcPts val="0"/>
                        </a:spcBef>
                        <a:spcAft>
                          <a:spcPts val="0"/>
                        </a:spcAft>
                        <a:buNone/>
                      </a:pPr>
                      <a:r>
                        <a:rPr lang="en-US" sz="1800"/>
                        <a:t>Always preserved</a:t>
                      </a:r>
                      <a:endParaRPr/>
                    </a:p>
                  </a:txBody>
                  <a:tcPr marL="91450" marR="91450" marT="45725" marB="45725" anchor="ctr"/>
                </a:tc>
                <a:tc>
                  <a:txBody>
                    <a:bodyPr/>
                    <a:lstStyle/>
                    <a:p>
                      <a:pPr marL="0" marR="0" lvl="0" indent="0" algn="l" rtl="0">
                        <a:spcBef>
                          <a:spcPts val="0"/>
                        </a:spcBef>
                        <a:spcAft>
                          <a:spcPts val="0"/>
                        </a:spcAft>
                        <a:buNone/>
                      </a:pPr>
                      <a:r>
                        <a:rPr lang="en-US" sz="1800"/>
                        <a:t>Not always preserved</a:t>
                      </a:r>
                      <a:endParaRPr/>
                    </a:p>
                  </a:txBody>
                  <a:tcPr marL="91450" marR="91450" marT="45725" marB="45725" anchor="ctr"/>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US" sz="1800" b="1"/>
                        <a:t>Redundancy</a:t>
                      </a:r>
                      <a:endParaRPr/>
                    </a:p>
                  </a:txBody>
                  <a:tcPr marL="91450" marR="91450" marT="45725" marB="45725" anchor="ctr"/>
                </a:tc>
                <a:tc>
                  <a:txBody>
                    <a:bodyPr/>
                    <a:lstStyle/>
                    <a:p>
                      <a:pPr marL="0" marR="0" lvl="0" indent="0" algn="l" rtl="0">
                        <a:spcBef>
                          <a:spcPts val="0"/>
                        </a:spcBef>
                        <a:spcAft>
                          <a:spcPts val="0"/>
                        </a:spcAft>
                        <a:buNone/>
                      </a:pPr>
                      <a:r>
                        <a:rPr lang="en-US" sz="1800"/>
                        <a:t>Some redundancy remains</a:t>
                      </a:r>
                      <a:endParaRPr/>
                    </a:p>
                  </a:txBody>
                  <a:tcPr marL="91450" marR="91450" marT="45725" marB="45725" anchor="ctr"/>
                </a:tc>
                <a:tc>
                  <a:txBody>
                    <a:bodyPr/>
                    <a:lstStyle/>
                    <a:p>
                      <a:pPr marL="0" marR="0" lvl="0" indent="0" algn="l" rtl="0">
                        <a:spcBef>
                          <a:spcPts val="0"/>
                        </a:spcBef>
                        <a:spcAft>
                          <a:spcPts val="0"/>
                        </a:spcAft>
                        <a:buNone/>
                      </a:pPr>
                      <a:r>
                        <a:rPr lang="en-US" sz="1800"/>
                        <a:t>Removes redundancy completely</a:t>
                      </a:r>
                      <a:endParaRPr/>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r>
                        <a:rPr lang="en-US" sz="1800" b="1"/>
                        <a:t>Data Integrity</a:t>
                      </a:r>
                      <a:endParaRPr/>
                    </a:p>
                  </a:txBody>
                  <a:tcPr marL="91450" marR="91450" marT="45725" marB="45725"/>
                </a:tc>
                <a:tc>
                  <a:txBody>
                    <a:bodyPr/>
                    <a:lstStyle/>
                    <a:p>
                      <a:pPr marL="0" marR="0" lvl="0" indent="0" algn="l" rtl="0">
                        <a:spcBef>
                          <a:spcPts val="0"/>
                        </a:spcBef>
                        <a:spcAft>
                          <a:spcPts val="0"/>
                        </a:spcAft>
                        <a:buNone/>
                      </a:pPr>
                      <a:r>
                        <a:rPr lang="en-US" sz="1800"/>
                        <a:t>Ensures no partial or transitive dependencies</a:t>
                      </a:r>
                      <a:endParaRPr/>
                    </a:p>
                  </a:txBody>
                  <a:tcPr marL="91450" marR="91450" marT="45725" marB="45725"/>
                </a:tc>
                <a:tc>
                  <a:txBody>
                    <a:bodyPr/>
                    <a:lstStyle/>
                    <a:p>
                      <a:pPr marL="0" marR="0" lvl="0" indent="0" algn="l" rtl="0">
                        <a:spcBef>
                          <a:spcPts val="0"/>
                        </a:spcBef>
                        <a:spcAft>
                          <a:spcPts val="0"/>
                        </a:spcAft>
                        <a:buNone/>
                      </a:pPr>
                      <a:r>
                        <a:rPr lang="en-US" sz="1800"/>
                        <a:t>Stronger integrity by removing all anomalies</a:t>
                      </a:r>
                      <a:endParaRPr sz="1800"/>
                    </a:p>
                  </a:txBody>
                  <a:tcPr marL="91450" marR="91450" marT="45725" marB="45725"/>
                </a:tc>
                <a:extLst>
                  <a:ext uri="{0D108BD9-81ED-4DB2-BD59-A6C34878D82A}">
                    <a16:rowId xmlns:a16="http://schemas.microsoft.com/office/drawing/2014/main" val="10003"/>
                  </a:ext>
                </a:extLst>
              </a:tr>
              <a:tr h="370850">
                <a:tc>
                  <a:txBody>
                    <a:bodyPr/>
                    <a:lstStyle/>
                    <a:p>
                      <a:pPr marL="0" marR="0" lvl="0" indent="0" algn="l" rtl="0">
                        <a:spcBef>
                          <a:spcPts val="0"/>
                        </a:spcBef>
                        <a:spcAft>
                          <a:spcPts val="0"/>
                        </a:spcAft>
                        <a:buNone/>
                      </a:pPr>
                      <a:r>
                        <a:rPr lang="en-US" sz="1800" b="1"/>
                        <a:t>Join/decomposition</a:t>
                      </a:r>
                      <a:endParaRPr sz="1800" b="1"/>
                    </a:p>
                  </a:txBody>
                  <a:tcPr marL="91450" marR="91450" marT="45725" marB="45725"/>
                </a:tc>
                <a:tc>
                  <a:txBody>
                    <a:bodyPr/>
                    <a:lstStyle/>
                    <a:p>
                      <a:pPr marL="0" marR="0" lvl="0" indent="0" algn="l" rtl="0">
                        <a:spcBef>
                          <a:spcPts val="0"/>
                        </a:spcBef>
                        <a:spcAft>
                          <a:spcPts val="0"/>
                        </a:spcAft>
                        <a:buNone/>
                      </a:pPr>
                      <a:r>
                        <a:rPr lang="en-US" sz="1800"/>
                        <a:t>Lossless</a:t>
                      </a:r>
                      <a:endParaRPr sz="1800"/>
                    </a:p>
                  </a:txBody>
                  <a:tcPr marL="91450" marR="91450" marT="45725" marB="45725"/>
                </a:tc>
                <a:tc>
                  <a:txBody>
                    <a:bodyPr/>
                    <a:lstStyle/>
                    <a:p>
                      <a:pPr marL="0" marR="0" lvl="0" indent="0" algn="l" rtl="0">
                        <a:spcBef>
                          <a:spcPts val="0"/>
                        </a:spcBef>
                        <a:spcAft>
                          <a:spcPts val="0"/>
                        </a:spcAft>
                        <a:buNone/>
                      </a:pPr>
                      <a:r>
                        <a:rPr lang="en-US" sz="1800"/>
                        <a:t>Lossy</a:t>
                      </a:r>
                      <a:endParaRPr sz="1800"/>
                    </a:p>
                  </a:txBody>
                  <a:tcPr marL="91450" marR="91450" marT="45725" marB="45725"/>
                </a:tc>
                <a:extLst>
                  <a:ext uri="{0D108BD9-81ED-4DB2-BD59-A6C34878D82A}">
                    <a16:rowId xmlns:a16="http://schemas.microsoft.com/office/drawing/2014/main" val="10004"/>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754"/>
        <p:cNvGrpSpPr/>
        <p:nvPr/>
      </p:nvGrpSpPr>
      <p:grpSpPr>
        <a:xfrm>
          <a:off x="0" y="0"/>
          <a:ext cx="0" cy="0"/>
          <a:chOff x="0" y="0"/>
          <a:chExt cx="0" cy="0"/>
        </a:xfrm>
      </p:grpSpPr>
      <p:sp>
        <p:nvSpPr>
          <p:cNvPr id="755" name="Google Shape;755;p40"/>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Comparison of BCNF and 3NF</a:t>
            </a:r>
            <a:endParaRPr/>
          </a:p>
        </p:txBody>
      </p:sp>
      <p:sp>
        <p:nvSpPr>
          <p:cNvPr id="756" name="Google Shape;756;p40"/>
          <p:cNvSpPr txBox="1">
            <a:spLocks noGrp="1"/>
          </p:cNvSpPr>
          <p:nvPr>
            <p:ph type="body" idx="1"/>
          </p:nvPr>
        </p:nvSpPr>
        <p:spPr>
          <a:xfrm>
            <a:off x="1287544" y="2025650"/>
            <a:ext cx="7772400" cy="4076700"/>
          </a:xfrm>
          <a:prstGeom prst="rect">
            <a:avLst/>
          </a:prstGeom>
          <a:noFill/>
          <a:ln>
            <a:noFill/>
          </a:ln>
        </p:spPr>
        <p:txBody>
          <a:bodyPr spcFirstLastPara="1" wrap="square" lIns="0" tIns="45700" rIns="0" bIns="45700" anchor="t" anchorCtr="0">
            <a:normAutofit/>
          </a:bodyPr>
          <a:lstStyle/>
          <a:p>
            <a:pPr marL="91440" lvl="0" indent="-127000" algn="l" rtl="0">
              <a:lnSpc>
                <a:spcPct val="90000"/>
              </a:lnSpc>
              <a:spcBef>
                <a:spcPts val="0"/>
              </a:spcBef>
              <a:spcAft>
                <a:spcPts val="0"/>
              </a:spcAft>
              <a:buSzPts val="2000"/>
              <a:buChar char=" "/>
            </a:pPr>
            <a:r>
              <a:rPr lang="en-US"/>
              <a:t>It is always possible to decompose a relation into a set of  relations that are in 3NF such that:</a:t>
            </a:r>
            <a:endParaRPr/>
          </a:p>
          <a:p>
            <a:pPr marL="384048" lvl="1" indent="-182880" algn="l" rtl="0">
              <a:lnSpc>
                <a:spcPct val="90000"/>
              </a:lnSpc>
              <a:spcBef>
                <a:spcPts val="400"/>
              </a:spcBef>
              <a:spcAft>
                <a:spcPts val="0"/>
              </a:spcAft>
              <a:buSzPts val="1800"/>
              <a:buChar char="◦"/>
            </a:pPr>
            <a:r>
              <a:rPr lang="en-US"/>
              <a:t>the decomposition is lossless</a:t>
            </a:r>
            <a:endParaRPr/>
          </a:p>
          <a:p>
            <a:pPr marL="384048" lvl="1" indent="-182880" algn="l" rtl="0">
              <a:lnSpc>
                <a:spcPct val="90000"/>
              </a:lnSpc>
              <a:spcBef>
                <a:spcPts val="600"/>
              </a:spcBef>
              <a:spcAft>
                <a:spcPts val="0"/>
              </a:spcAft>
              <a:buSzPts val="1800"/>
              <a:buChar char="◦"/>
            </a:pPr>
            <a:r>
              <a:rPr lang="en-US"/>
              <a:t>the dependencies are preserved</a:t>
            </a:r>
            <a:endParaRPr/>
          </a:p>
          <a:p>
            <a:pPr marL="91440" lvl="0" indent="-127000" algn="l" rtl="0">
              <a:lnSpc>
                <a:spcPct val="90000"/>
              </a:lnSpc>
              <a:spcBef>
                <a:spcPts val="1600"/>
              </a:spcBef>
              <a:spcAft>
                <a:spcPts val="0"/>
              </a:spcAft>
              <a:buSzPts val="2000"/>
              <a:buChar char=" "/>
            </a:pPr>
            <a:r>
              <a:rPr lang="en-US"/>
              <a:t>It is always possible to decompose a relation into a set of relations that are in BCNF such that:</a:t>
            </a:r>
            <a:endParaRPr/>
          </a:p>
          <a:p>
            <a:pPr marL="384048" lvl="1" indent="-182880" algn="l" rtl="0">
              <a:lnSpc>
                <a:spcPct val="90000"/>
              </a:lnSpc>
              <a:spcBef>
                <a:spcPts val="400"/>
              </a:spcBef>
              <a:spcAft>
                <a:spcPts val="0"/>
              </a:spcAft>
              <a:buSzPts val="1800"/>
              <a:buChar char="◦"/>
            </a:pPr>
            <a:r>
              <a:rPr lang="en-US"/>
              <a:t>the decomposition is lossless</a:t>
            </a:r>
            <a:endParaRPr/>
          </a:p>
          <a:p>
            <a:pPr marL="384048" lvl="1" indent="-182880" algn="l" rtl="0">
              <a:lnSpc>
                <a:spcPct val="90000"/>
              </a:lnSpc>
              <a:spcBef>
                <a:spcPts val="600"/>
              </a:spcBef>
              <a:spcAft>
                <a:spcPts val="0"/>
              </a:spcAft>
              <a:buSzPts val="1800"/>
              <a:buChar char="◦"/>
            </a:pPr>
            <a:r>
              <a:rPr lang="en-US"/>
              <a:t>it may not be possible to preserve dependencies.</a:t>
            </a:r>
            <a:endParaRPr/>
          </a:p>
          <a:p>
            <a:pPr marL="384048" lvl="1" indent="-68579" algn="l" rtl="0">
              <a:lnSpc>
                <a:spcPct val="90000"/>
              </a:lnSpc>
              <a:spcBef>
                <a:spcPts val="600"/>
              </a:spcBef>
              <a:spcAft>
                <a:spcPts val="0"/>
              </a:spcAft>
              <a:buSzPts val="1800"/>
              <a:buNone/>
            </a:pPr>
            <a:endParaRPr/>
          </a:p>
        </p:txBody>
      </p:sp>
      <p:sp>
        <p:nvSpPr>
          <p:cNvPr id="757" name="Google Shape;757;p40"/>
          <p:cNvSpPr/>
          <p:nvPr/>
        </p:nvSpPr>
        <p:spPr>
          <a:xfrm>
            <a:off x="2120900" y="4064000"/>
            <a:ext cx="7283450" cy="2590800"/>
          </a:xfrm>
          <a:prstGeom prst="rect">
            <a:avLst/>
          </a:prstGeom>
          <a:noFill/>
          <a:ln>
            <a:noFill/>
          </a:ln>
        </p:spPr>
        <p:txBody>
          <a:bodyPr spcFirstLastPara="1" wrap="square" lIns="91425" tIns="45700" rIns="91425" bIns="45700" anchor="t" anchorCtr="0">
            <a:noAutofit/>
          </a:bodyPr>
          <a:lstStyle/>
          <a:p>
            <a:pPr marL="342900" marR="0" lvl="0" indent="-240030" algn="l" rtl="0">
              <a:spcBef>
                <a:spcPts val="0"/>
              </a:spcBef>
              <a:spcAft>
                <a:spcPts val="0"/>
              </a:spcAft>
              <a:buClr>
                <a:schemeClr val="dk2"/>
              </a:buClr>
              <a:buSzPts val="1620"/>
              <a:buFont typeface="Arial"/>
              <a:buNone/>
            </a:pPr>
            <a:endParaRPr sz="1800" i="1">
              <a:solidFill>
                <a:schemeClr val="dk1"/>
              </a:solidFill>
              <a:latin typeface="Times New Roman"/>
              <a:ea typeface="Times New Roman"/>
              <a:cs typeface="Times New Roman"/>
              <a:sym typeface="Times New Roman"/>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761"/>
        <p:cNvGrpSpPr/>
        <p:nvPr/>
      </p:nvGrpSpPr>
      <p:grpSpPr>
        <a:xfrm>
          <a:off x="0" y="0"/>
          <a:ext cx="0" cy="0"/>
          <a:chOff x="0" y="0"/>
          <a:chExt cx="0" cy="0"/>
        </a:xfrm>
      </p:grpSpPr>
      <p:sp>
        <p:nvSpPr>
          <p:cNvPr id="2" name="Title 1">
            <a:extLst>
              <a:ext uri="{FF2B5EF4-FFF2-40B4-BE49-F238E27FC236}">
                <a16:creationId xmlns:a16="http://schemas.microsoft.com/office/drawing/2014/main" id="{FFBB1058-B88F-44B0-8057-8A8AA02CE264}"/>
              </a:ext>
            </a:extLst>
          </p:cNvPr>
          <p:cNvSpPr>
            <a:spLocks noGrp="1"/>
          </p:cNvSpPr>
          <p:nvPr>
            <p:ph type="title"/>
          </p:nvPr>
        </p:nvSpPr>
        <p:spPr/>
        <p:txBody>
          <a:bodyPr/>
          <a:lstStyle/>
          <a:p>
            <a:r>
              <a:rPr lang="en-US" dirty="0"/>
              <a:t>Fourth Normal Form</a:t>
            </a:r>
            <a:endParaRPr lang="en-IN" dirty="0"/>
          </a:p>
        </p:txBody>
      </p:sp>
      <p:sp>
        <p:nvSpPr>
          <p:cNvPr id="3" name="Text Placeholder 2">
            <a:extLst>
              <a:ext uri="{FF2B5EF4-FFF2-40B4-BE49-F238E27FC236}">
                <a16:creationId xmlns:a16="http://schemas.microsoft.com/office/drawing/2014/main" id="{B5294D75-4568-46D4-846C-C81ED73DDBDA}"/>
              </a:ext>
            </a:extLst>
          </p:cNvPr>
          <p:cNvSpPr>
            <a:spLocks noGrp="1"/>
          </p:cNvSpPr>
          <p:nvPr>
            <p:ph type="body" idx="1"/>
          </p:nvPr>
        </p:nvSpPr>
        <p:spPr/>
        <p:txBody>
          <a:bodyPr>
            <a:normAutofit fontScale="92500" lnSpcReduction="10000"/>
          </a:bodyPr>
          <a:lstStyle/>
          <a:p>
            <a:r>
              <a:rPr lang="en-US" b="1" dirty="0"/>
              <a:t>Definition</a:t>
            </a:r>
          </a:p>
          <a:p>
            <a:r>
              <a:rPr lang="en-US" dirty="0"/>
              <a:t>A </a:t>
            </a:r>
            <a:r>
              <a:rPr lang="en-US" b="1" dirty="0"/>
              <a:t>relation</a:t>
            </a:r>
            <a:r>
              <a:rPr lang="en-US" dirty="0"/>
              <a:t> is in </a:t>
            </a:r>
            <a:r>
              <a:rPr lang="en-US" b="1" dirty="0"/>
              <a:t>Fourth Normal Form (4NF)</a:t>
            </a:r>
            <a:r>
              <a:rPr lang="en-US" dirty="0"/>
              <a:t> if it is in </a:t>
            </a:r>
            <a:r>
              <a:rPr lang="en-US" b="1" dirty="0"/>
              <a:t>Boyce-Codd Normal Form (BCNF)</a:t>
            </a:r>
            <a:r>
              <a:rPr lang="en-US" dirty="0"/>
              <a:t> and has </a:t>
            </a:r>
            <a:r>
              <a:rPr lang="en-US" b="1" dirty="0"/>
              <a:t>no multi-valued dependencies</a:t>
            </a:r>
            <a:r>
              <a:rPr lang="en-US" dirty="0"/>
              <a:t> (MVDs).</a:t>
            </a:r>
          </a:p>
          <a:p>
            <a:pPr marL="114300" indent="0">
              <a:buNone/>
            </a:pPr>
            <a:r>
              <a:rPr lang="en-US" b="1" dirty="0"/>
              <a:t>Multivalued Dependency (MVD)</a:t>
            </a:r>
            <a:r>
              <a:rPr lang="en-US" dirty="0"/>
              <a:t>:</a:t>
            </a:r>
          </a:p>
          <a:p>
            <a:pPr marL="742950" lvl="1" indent="-285750"/>
            <a:r>
              <a:rPr lang="en-US" dirty="0"/>
              <a:t>Occurs when one attribute in a table determines multiple values of another attribute </a:t>
            </a:r>
            <a:r>
              <a:rPr lang="en-US" b="1" dirty="0"/>
              <a:t>independently</a:t>
            </a:r>
            <a:r>
              <a:rPr lang="en-US" dirty="0"/>
              <a:t> of other attributes.</a:t>
            </a:r>
          </a:p>
          <a:p>
            <a:pPr marL="457200" lvl="1" indent="0">
              <a:buNone/>
            </a:pPr>
            <a:r>
              <a:rPr lang="en-US" dirty="0"/>
              <a:t>	OR</a:t>
            </a:r>
          </a:p>
          <a:p>
            <a:pPr marL="457200" lvl="1" indent="0">
              <a:buNone/>
            </a:pPr>
            <a:r>
              <a:rPr lang="en-US" altLang="en-US" dirty="0"/>
              <a:t>      A </a:t>
            </a:r>
            <a:r>
              <a:rPr lang="en-US" altLang="en-US" i="1" dirty="0">
                <a:solidFill>
                  <a:srgbClr val="FF0066"/>
                </a:solidFill>
              </a:rPr>
              <a:t>multivalued dependency</a:t>
            </a:r>
            <a:r>
              <a:rPr lang="en-US" altLang="en-US" dirty="0"/>
              <a:t>  (MVD) on </a:t>
            </a:r>
            <a:r>
              <a:rPr lang="en-US" altLang="en-US" i="1" dirty="0"/>
              <a:t>R</a:t>
            </a:r>
            <a:r>
              <a:rPr lang="en-US" altLang="en-US" dirty="0"/>
              <a:t>, </a:t>
            </a:r>
            <a:r>
              <a:rPr lang="en-US" altLang="en-US" i="1" dirty="0">
                <a:solidFill>
                  <a:schemeClr val="accent2"/>
                </a:solidFill>
              </a:rPr>
              <a:t>X</a:t>
            </a:r>
            <a:r>
              <a:rPr lang="en-US" altLang="en-US" dirty="0">
                <a:solidFill>
                  <a:schemeClr val="accent2"/>
                </a:solidFill>
              </a:rPr>
              <a:t> -&gt;-&gt;</a:t>
            </a:r>
            <a:r>
              <a:rPr lang="en-US" altLang="en-US" i="1" dirty="0">
                <a:solidFill>
                  <a:schemeClr val="accent2"/>
                </a:solidFill>
              </a:rPr>
              <a:t>Y</a:t>
            </a:r>
            <a:r>
              <a:rPr lang="en-US" altLang="en-US" i="1" dirty="0"/>
              <a:t> </a:t>
            </a:r>
            <a:r>
              <a:rPr lang="en-US" altLang="en-US" dirty="0"/>
              <a:t>, says that if two tuples of </a:t>
            </a:r>
            <a:r>
              <a:rPr lang="en-US" altLang="en-US" i="1" dirty="0"/>
              <a:t>R</a:t>
            </a:r>
            <a:r>
              <a:rPr lang="en-US" altLang="en-US" dirty="0"/>
              <a:t>  agree on all the attributes of </a:t>
            </a:r>
            <a:r>
              <a:rPr lang="en-US" altLang="en-US" i="1" dirty="0"/>
              <a:t>X</a:t>
            </a:r>
            <a:r>
              <a:rPr lang="en-US" altLang="en-US" dirty="0"/>
              <a:t>, then their components in </a:t>
            </a:r>
            <a:r>
              <a:rPr lang="en-US" altLang="en-US" i="1" dirty="0"/>
              <a:t>Y</a:t>
            </a:r>
            <a:r>
              <a:rPr lang="en-US" altLang="en-US" dirty="0"/>
              <a:t>  may be swapped, and the result will be two tuples that are also in the relation.</a:t>
            </a:r>
          </a:p>
          <a:p>
            <a:pPr marL="742950" lvl="1" indent="-285750">
              <a:buFont typeface="+mj-lt"/>
              <a:buAutoNum type="arabicPeriod"/>
            </a:pPr>
            <a:endParaRPr lang="en-US" dirty="0"/>
          </a:p>
          <a:p>
            <a:pPr marL="457200" lvl="1" indent="0">
              <a:buNone/>
            </a:pPr>
            <a:r>
              <a:rPr lang="en-US" dirty="0"/>
              <a:t>Example: If in a table, a student has multiple phone numbers and multiple mail ids but they(phone &amp; </a:t>
            </a:r>
            <a:r>
              <a:rPr lang="en-US" dirty="0" err="1"/>
              <a:t>mailid</a:t>
            </a:r>
            <a:r>
              <a:rPr lang="en-US" dirty="0"/>
              <a:t>) are </a:t>
            </a:r>
            <a:r>
              <a:rPr lang="en-US" b="1" dirty="0"/>
              <a:t>not related to each other</a:t>
            </a:r>
            <a:r>
              <a:rPr lang="en-US" dirty="0"/>
              <a:t>, it creates an MVD.</a:t>
            </a:r>
          </a:p>
          <a:p>
            <a:pPr marL="114300" indent="0">
              <a:buNone/>
            </a:pPr>
            <a:r>
              <a:rPr lang="en-US" b="1" dirty="0"/>
              <a:t>4NF Rule</a:t>
            </a:r>
            <a:r>
              <a:rPr lang="en-US" dirty="0"/>
              <a:t>:</a:t>
            </a:r>
          </a:p>
          <a:p>
            <a:pPr marL="457200" lvl="1" indent="0">
              <a:buNone/>
            </a:pPr>
            <a:r>
              <a:rPr lang="en-US" dirty="0"/>
              <a:t>A table is in 4NF </a:t>
            </a:r>
            <a:r>
              <a:rPr lang="en-US" b="1" dirty="0"/>
              <a:t>if and only if</a:t>
            </a:r>
            <a:r>
              <a:rPr lang="en-US" dirty="0"/>
              <a:t> it has </a:t>
            </a:r>
            <a:r>
              <a:rPr lang="en-US" b="1" dirty="0"/>
              <a:t>no</a:t>
            </a:r>
            <a:r>
              <a:rPr lang="en-US" dirty="0"/>
              <a:t> non-trivial MVDs other than a functional dependency.</a:t>
            </a:r>
          </a:p>
          <a:p>
            <a:endParaRPr lang="en-IN"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CC6A851-00AF-40A8-A396-CBB8CC1D84D4}"/>
              </a:ext>
            </a:extLst>
          </p:cNvPr>
          <p:cNvSpPr>
            <a:spLocks noGrp="1"/>
          </p:cNvSpPr>
          <p:nvPr>
            <p:ph type="body" idx="4294967295"/>
          </p:nvPr>
        </p:nvSpPr>
        <p:spPr>
          <a:xfrm>
            <a:off x="201103" y="372026"/>
            <a:ext cx="10058400" cy="4022725"/>
          </a:xfrm>
        </p:spPr>
        <p:txBody>
          <a:bodyPr/>
          <a:lstStyle/>
          <a:p>
            <a:r>
              <a:rPr lang="en-US" dirty="0"/>
              <a:t>Consider the following </a:t>
            </a:r>
            <a:r>
              <a:rPr lang="en-US" b="1" dirty="0"/>
              <a:t>EMPLOYEE</a:t>
            </a:r>
            <a:r>
              <a:rPr lang="en-US" dirty="0"/>
              <a:t> table:</a:t>
            </a:r>
            <a:endParaRPr lang="en-IN" dirty="0"/>
          </a:p>
        </p:txBody>
      </p:sp>
      <p:pic>
        <p:nvPicPr>
          <p:cNvPr id="19" name="Picture 18">
            <a:extLst>
              <a:ext uri="{FF2B5EF4-FFF2-40B4-BE49-F238E27FC236}">
                <a16:creationId xmlns:a16="http://schemas.microsoft.com/office/drawing/2014/main" id="{7CB9269E-629D-4E2E-99A8-CEEA206A6811}"/>
              </a:ext>
            </a:extLst>
          </p:cNvPr>
          <p:cNvPicPr>
            <a:picLocks noChangeAspect="1"/>
          </p:cNvPicPr>
          <p:nvPr/>
        </p:nvPicPr>
        <p:blipFill>
          <a:blip r:embed="rId2"/>
          <a:stretch>
            <a:fillRect/>
          </a:stretch>
        </p:blipFill>
        <p:spPr>
          <a:xfrm>
            <a:off x="481022" y="879659"/>
            <a:ext cx="5925377" cy="2019582"/>
          </a:xfrm>
          <a:prstGeom prst="rect">
            <a:avLst/>
          </a:prstGeom>
        </p:spPr>
      </p:pic>
      <p:sp>
        <p:nvSpPr>
          <p:cNvPr id="21" name="TextBox 20">
            <a:extLst>
              <a:ext uri="{FF2B5EF4-FFF2-40B4-BE49-F238E27FC236}">
                <a16:creationId xmlns:a16="http://schemas.microsoft.com/office/drawing/2014/main" id="{590EDF70-64FD-47FA-AA63-C192065C07E9}"/>
              </a:ext>
            </a:extLst>
          </p:cNvPr>
          <p:cNvSpPr txBox="1"/>
          <p:nvPr/>
        </p:nvSpPr>
        <p:spPr>
          <a:xfrm>
            <a:off x="613486" y="3219215"/>
            <a:ext cx="9911443" cy="2462213"/>
          </a:xfrm>
          <a:prstGeom prst="rect">
            <a:avLst/>
          </a:prstGeom>
          <a:noFill/>
        </p:spPr>
        <p:txBody>
          <a:bodyPr wrap="square">
            <a:spAutoFit/>
          </a:bodyPr>
          <a:lstStyle/>
          <a:p>
            <a:r>
              <a:rPr lang="en-US" b="1" dirty="0"/>
              <a:t>Multi-Valued Dependencies (MVDs) Present</a:t>
            </a:r>
          </a:p>
          <a:p>
            <a:endParaRPr lang="en-US" b="1" dirty="0"/>
          </a:p>
          <a:p>
            <a:pPr marL="285750" indent="-285750">
              <a:buFont typeface="Wingdings" panose="05000000000000000000" pitchFamily="2" charset="2"/>
              <a:buChar char="§"/>
            </a:pPr>
            <a:r>
              <a:rPr lang="en-US" b="1" dirty="0" err="1"/>
              <a:t>Employee_ID</a:t>
            </a:r>
            <a:r>
              <a:rPr lang="en-US" b="1" dirty="0"/>
              <a:t> →→ </a:t>
            </a:r>
            <a:r>
              <a:rPr lang="en-US" b="1" dirty="0" err="1"/>
              <a:t>Mobile_Number</a:t>
            </a:r>
            <a:r>
              <a:rPr lang="en-US" dirty="0"/>
              <a:t> (One employee can have multiple mobile numbers).</a:t>
            </a:r>
          </a:p>
          <a:p>
            <a:pPr marL="285750" indent="-285750">
              <a:buFont typeface="Wingdings" panose="05000000000000000000" pitchFamily="2" charset="2"/>
              <a:buChar char="§"/>
            </a:pPr>
            <a:r>
              <a:rPr lang="en-US" b="1" dirty="0" err="1"/>
              <a:t>Employee_ID</a:t>
            </a:r>
            <a:r>
              <a:rPr lang="en-US" b="1" dirty="0"/>
              <a:t> →→ </a:t>
            </a:r>
            <a:r>
              <a:rPr lang="en-US" b="1" dirty="0" err="1"/>
              <a:t>Email_ID</a:t>
            </a:r>
            <a:r>
              <a:rPr lang="en-US" dirty="0"/>
              <a:t> (One employee can have multiple email addresses).</a:t>
            </a:r>
          </a:p>
          <a:p>
            <a:pPr marL="285750" indent="-285750">
              <a:buFont typeface="Wingdings" panose="05000000000000000000" pitchFamily="2" charset="2"/>
              <a:buChar char="§"/>
            </a:pPr>
            <a:r>
              <a:rPr lang="en-US" dirty="0"/>
              <a:t>However, </a:t>
            </a:r>
            <a:r>
              <a:rPr lang="en-US" b="1" dirty="0" err="1"/>
              <a:t>Mobile_Number</a:t>
            </a:r>
            <a:r>
              <a:rPr lang="en-US" b="1" dirty="0"/>
              <a:t> and </a:t>
            </a:r>
            <a:r>
              <a:rPr lang="en-US" b="1" dirty="0" err="1"/>
              <a:t>Email_ID</a:t>
            </a:r>
            <a:r>
              <a:rPr lang="en-US" b="1" dirty="0"/>
              <a:t> are independent of each other</a:t>
            </a:r>
            <a:r>
              <a:rPr lang="en-US" dirty="0"/>
              <a:t>.</a:t>
            </a:r>
          </a:p>
          <a:p>
            <a:endParaRPr lang="en-US" dirty="0"/>
          </a:p>
          <a:p>
            <a:r>
              <a:rPr lang="en-US" b="1" dirty="0"/>
              <a:t>Issues with the Current Table</a:t>
            </a:r>
          </a:p>
          <a:p>
            <a:pPr marL="285750" indent="-285750">
              <a:buFont typeface="Wingdings" panose="05000000000000000000" pitchFamily="2" charset="2"/>
              <a:buChar char="§"/>
            </a:pPr>
            <a:r>
              <a:rPr lang="en-US" b="1" dirty="0"/>
              <a:t>Data redundancy</a:t>
            </a:r>
            <a:r>
              <a:rPr lang="en-US" dirty="0"/>
              <a:t>: Employee details are repeated multiple times.</a:t>
            </a:r>
          </a:p>
          <a:p>
            <a:pPr marL="285750" indent="-285750">
              <a:buFont typeface="Wingdings" panose="05000000000000000000" pitchFamily="2" charset="2"/>
              <a:buChar char="§"/>
            </a:pPr>
            <a:r>
              <a:rPr lang="en-US" b="1" dirty="0"/>
              <a:t>Update anomalies</a:t>
            </a:r>
            <a:r>
              <a:rPr lang="en-US" dirty="0"/>
              <a:t>: Changing an employee’s name or ID would require multiple updates.</a:t>
            </a:r>
          </a:p>
          <a:p>
            <a:pPr marL="285750" indent="-285750">
              <a:buFont typeface="Wingdings" panose="05000000000000000000" pitchFamily="2" charset="2"/>
              <a:buChar char="§"/>
            </a:pPr>
            <a:r>
              <a:rPr lang="en-US" b="1" dirty="0"/>
              <a:t>Insertion anomalies</a:t>
            </a:r>
            <a:r>
              <a:rPr lang="en-US" dirty="0"/>
              <a:t>: If an employee has only a phone number but no email, we cannot insert it without leaving the email column empty.</a:t>
            </a:r>
          </a:p>
        </p:txBody>
      </p:sp>
    </p:spTree>
    <p:extLst>
      <p:ext uri="{BB962C8B-B14F-4D97-AF65-F5344CB8AC3E}">
        <p14:creationId xmlns:p14="http://schemas.microsoft.com/office/powerpoint/2010/main" val="185681795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a:extLst>
              <a:ext uri="{FF2B5EF4-FFF2-40B4-BE49-F238E27FC236}">
                <a16:creationId xmlns:a16="http://schemas.microsoft.com/office/drawing/2014/main" id="{E377957E-F01B-44AC-8C16-B1AF54DA3F26}"/>
              </a:ext>
            </a:extLst>
          </p:cNvPr>
          <p:cNvSpPr>
            <a:spLocks noGrp="1" noChangeArrowheads="1"/>
          </p:cNvSpPr>
          <p:nvPr>
            <p:ph type="title"/>
          </p:nvPr>
        </p:nvSpPr>
        <p:spPr/>
        <p:txBody>
          <a:bodyPr/>
          <a:lstStyle/>
          <a:p>
            <a:r>
              <a:rPr lang="en-US" altLang="en-US"/>
              <a:t>Decomposition and 4NF</a:t>
            </a:r>
          </a:p>
        </p:txBody>
      </p:sp>
      <p:sp>
        <p:nvSpPr>
          <p:cNvPr id="119811" name="Rectangle 3">
            <a:extLst>
              <a:ext uri="{FF2B5EF4-FFF2-40B4-BE49-F238E27FC236}">
                <a16:creationId xmlns:a16="http://schemas.microsoft.com/office/drawing/2014/main" id="{A1341DF8-39C5-4B3F-A1F3-9434DF8621C1}"/>
              </a:ext>
            </a:extLst>
          </p:cNvPr>
          <p:cNvSpPr>
            <a:spLocks noGrp="1" noChangeArrowheads="1"/>
          </p:cNvSpPr>
          <p:nvPr>
            <p:ph type="body" idx="1"/>
          </p:nvPr>
        </p:nvSpPr>
        <p:spPr/>
        <p:txBody>
          <a:bodyPr/>
          <a:lstStyle/>
          <a:p>
            <a:pPr marL="609600" indent="-609600"/>
            <a:r>
              <a:rPr lang="en-US" altLang="en-US" dirty="0"/>
              <a:t>If </a:t>
            </a:r>
            <a:r>
              <a:rPr lang="en-US" altLang="en-US" i="1" dirty="0">
                <a:solidFill>
                  <a:schemeClr val="accent2"/>
                </a:solidFill>
              </a:rPr>
              <a:t>X</a:t>
            </a:r>
            <a:r>
              <a:rPr lang="en-US" altLang="en-US" dirty="0">
                <a:solidFill>
                  <a:schemeClr val="accent2"/>
                </a:solidFill>
              </a:rPr>
              <a:t> -&gt;-&gt;</a:t>
            </a:r>
            <a:r>
              <a:rPr lang="en-US" altLang="en-US" i="1" dirty="0">
                <a:solidFill>
                  <a:schemeClr val="accent2"/>
                </a:solidFill>
              </a:rPr>
              <a:t>Y</a:t>
            </a:r>
            <a:r>
              <a:rPr lang="en-US" altLang="en-US" dirty="0"/>
              <a:t>  is a 4NF violation for relation </a:t>
            </a:r>
            <a:r>
              <a:rPr lang="en-US" altLang="en-US" i="1" dirty="0"/>
              <a:t>R</a:t>
            </a:r>
            <a:r>
              <a:rPr lang="en-US" altLang="en-US" dirty="0"/>
              <a:t>, we can decompose </a:t>
            </a:r>
            <a:r>
              <a:rPr lang="en-US" altLang="en-US" i="1" dirty="0"/>
              <a:t>R</a:t>
            </a:r>
            <a:r>
              <a:rPr lang="en-US" altLang="en-US" dirty="0"/>
              <a:t>  using the same technique as for BCNF.</a:t>
            </a:r>
          </a:p>
          <a:p>
            <a:pPr marL="990600" lvl="1" indent="-533400">
              <a:buFont typeface="Monotype Sorts" pitchFamily="2" charset="2"/>
              <a:buAutoNum type="arabicPeriod"/>
            </a:pPr>
            <a:r>
              <a:rPr lang="en-US" altLang="en-US" i="1" dirty="0"/>
              <a:t>XY</a:t>
            </a:r>
            <a:r>
              <a:rPr lang="en-US" altLang="en-US" dirty="0"/>
              <a:t>  is one of the decomposed relations.</a:t>
            </a:r>
          </a:p>
          <a:p>
            <a:pPr marL="990600" lvl="1" indent="-533400">
              <a:buFont typeface="Monotype Sorts" pitchFamily="2" charset="2"/>
              <a:buAutoNum type="arabicPeriod"/>
            </a:pPr>
            <a:r>
              <a:rPr lang="en-US" altLang="en-US" dirty="0"/>
              <a:t>All but X U (R-Y) is the other.</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910D4-6703-4554-BE60-1341A24C3651}"/>
              </a:ext>
            </a:extLst>
          </p:cNvPr>
          <p:cNvSpPr>
            <a:spLocks noGrp="1"/>
          </p:cNvSpPr>
          <p:nvPr>
            <p:ph type="title"/>
          </p:nvPr>
        </p:nvSpPr>
        <p:spPr/>
        <p:txBody>
          <a:bodyPr/>
          <a:lstStyle/>
          <a:p>
            <a:r>
              <a:rPr lang="en-US" dirty="0"/>
              <a:t>Fifth Normal Form</a:t>
            </a:r>
            <a:endParaRPr lang="en-IN" dirty="0"/>
          </a:p>
        </p:txBody>
      </p:sp>
      <p:sp>
        <p:nvSpPr>
          <p:cNvPr id="3" name="Text Placeholder 2">
            <a:extLst>
              <a:ext uri="{FF2B5EF4-FFF2-40B4-BE49-F238E27FC236}">
                <a16:creationId xmlns:a16="http://schemas.microsoft.com/office/drawing/2014/main" id="{5DA6EA92-DEFC-447E-93DA-3E8A55C11349}"/>
              </a:ext>
            </a:extLst>
          </p:cNvPr>
          <p:cNvSpPr>
            <a:spLocks noGrp="1"/>
          </p:cNvSpPr>
          <p:nvPr>
            <p:ph type="body" idx="1"/>
          </p:nvPr>
        </p:nvSpPr>
        <p:spPr/>
        <p:txBody>
          <a:bodyPr/>
          <a:lstStyle/>
          <a:p>
            <a:pPr marL="114300" indent="0">
              <a:buNone/>
            </a:pPr>
            <a:r>
              <a:rPr lang="en-US" dirty="0"/>
              <a:t>A </a:t>
            </a:r>
            <a:r>
              <a:rPr lang="en-US" b="1" dirty="0"/>
              <a:t>relation</a:t>
            </a:r>
            <a:r>
              <a:rPr lang="en-US" dirty="0"/>
              <a:t> is in </a:t>
            </a:r>
            <a:r>
              <a:rPr lang="en-US" b="1" dirty="0"/>
              <a:t>Fifth Normal Form (5NF)</a:t>
            </a:r>
            <a:r>
              <a:rPr lang="en-US" dirty="0"/>
              <a:t> (also known as </a:t>
            </a:r>
            <a:r>
              <a:rPr lang="en-US" b="1" dirty="0"/>
              <a:t>Projection-Join Normal Form, PJNF</a:t>
            </a:r>
            <a:r>
              <a:rPr lang="en-US" dirty="0"/>
              <a:t>) if:</a:t>
            </a:r>
          </a:p>
          <a:p>
            <a:pPr>
              <a:buFont typeface="Arial" panose="020B0604020202020204" pitchFamily="34" charset="0"/>
              <a:buChar char="•"/>
            </a:pPr>
            <a:r>
              <a:rPr lang="en-US" dirty="0"/>
              <a:t>It is already in </a:t>
            </a:r>
            <a:r>
              <a:rPr lang="en-US" b="1" dirty="0"/>
              <a:t>Fourth Normal Form (4NF)</a:t>
            </a:r>
            <a:endParaRPr lang="en-US" dirty="0"/>
          </a:p>
          <a:p>
            <a:pPr>
              <a:buFont typeface="Arial" panose="020B0604020202020204" pitchFamily="34" charset="0"/>
              <a:buChar char="•"/>
            </a:pPr>
            <a:r>
              <a:rPr lang="en-US" dirty="0"/>
              <a:t>It has </a:t>
            </a:r>
            <a:r>
              <a:rPr lang="en-US" b="1" dirty="0"/>
              <a:t>no join dependencies</a:t>
            </a:r>
            <a:r>
              <a:rPr lang="en-US" dirty="0"/>
              <a:t> that cause data redundancy</a:t>
            </a:r>
          </a:p>
          <a:p>
            <a:pPr marL="114300" indent="0">
              <a:buNone/>
            </a:pPr>
            <a:r>
              <a:rPr lang="en-US" altLang="en-US" dirty="0"/>
              <a:t>A join dependency (JD)        {R1, R2…Rn) is said to hold over a relation R if R1 R2..Rn is a lossless-join decomposition of R</a:t>
            </a:r>
          </a:p>
          <a:p>
            <a:endParaRPr lang="en-IN" dirty="0"/>
          </a:p>
        </p:txBody>
      </p:sp>
      <p:grpSp>
        <p:nvGrpSpPr>
          <p:cNvPr id="4" name="Group 8">
            <a:extLst>
              <a:ext uri="{FF2B5EF4-FFF2-40B4-BE49-F238E27FC236}">
                <a16:creationId xmlns:a16="http://schemas.microsoft.com/office/drawing/2014/main" id="{AEA99F26-4560-45E0-9593-D58CBBB2998B}"/>
              </a:ext>
            </a:extLst>
          </p:cNvPr>
          <p:cNvGrpSpPr>
            <a:grpSpLocks/>
          </p:cNvGrpSpPr>
          <p:nvPr/>
        </p:nvGrpSpPr>
        <p:grpSpPr bwMode="auto">
          <a:xfrm>
            <a:off x="3685593" y="3336544"/>
            <a:ext cx="242595" cy="184912"/>
            <a:chOff x="2226" y="2065"/>
            <a:chExt cx="1148" cy="671"/>
          </a:xfrm>
        </p:grpSpPr>
        <p:sp>
          <p:nvSpPr>
            <p:cNvPr id="5" name="AutoShape 9">
              <a:extLst>
                <a:ext uri="{FF2B5EF4-FFF2-40B4-BE49-F238E27FC236}">
                  <a16:creationId xmlns:a16="http://schemas.microsoft.com/office/drawing/2014/main" id="{D01D6842-042B-4655-9D7C-1D55080FF3AA}"/>
                </a:ext>
              </a:extLst>
            </p:cNvPr>
            <p:cNvSpPr>
              <a:spLocks noChangeArrowheads="1"/>
            </p:cNvSpPr>
            <p:nvPr/>
          </p:nvSpPr>
          <p:spPr bwMode="auto">
            <a:xfrm rot="-5400000">
              <a:off x="2753" y="2110"/>
              <a:ext cx="666" cy="576"/>
            </a:xfrm>
            <a:prstGeom prst="triangle">
              <a:avLst>
                <a:gd name="adj" fmla="val 50000"/>
              </a:avLst>
            </a:prstGeom>
            <a:noFill/>
            <a:ln w="28575">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SzPct val="75000"/>
                <a:buFont typeface="Wingdings" panose="05000000000000000000" pitchFamily="2" charset="2"/>
                <a:buChar char="v"/>
                <a:defRPr sz="2800">
                  <a:solidFill>
                    <a:schemeClr val="tx1"/>
                  </a:solidFill>
                  <a:latin typeface="Book Antiqua" panose="02040602050305030304" pitchFamily="18" charset="0"/>
                </a:defRPr>
              </a:lvl1pPr>
              <a:lvl2pPr marL="742950" indent="-285750">
                <a:spcBef>
                  <a:spcPct val="20000"/>
                </a:spcBef>
                <a:buClr>
                  <a:schemeClr val="tx1"/>
                </a:buClr>
                <a:buFont typeface="Wingdings" panose="05000000000000000000" pitchFamily="2" charset="2"/>
                <a:buChar char="§"/>
                <a:defRPr sz="2400">
                  <a:solidFill>
                    <a:schemeClr val="tx1"/>
                  </a:solidFill>
                  <a:latin typeface="Book Antiqua" panose="02040602050305030304" pitchFamily="18" charset="0"/>
                </a:defRPr>
              </a:lvl2pPr>
              <a:lvl3pPr marL="1143000" indent="-228600">
                <a:spcBef>
                  <a:spcPct val="20000"/>
                </a:spcBef>
                <a:buClr>
                  <a:schemeClr val="tx1"/>
                </a:buClr>
                <a:buChar char="•"/>
                <a:defRPr sz="2400">
                  <a:solidFill>
                    <a:schemeClr val="tx1"/>
                  </a:solidFill>
                  <a:latin typeface="Book Antiqua" panose="02040602050305030304" pitchFamily="18"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spcBef>
                  <a:spcPct val="0"/>
                </a:spcBef>
                <a:buClrTx/>
                <a:buSzTx/>
                <a:buFontTx/>
                <a:buNone/>
              </a:pPr>
              <a:endParaRPr lang="en-IN" altLang="en-US" sz="2400">
                <a:latin typeface="Times New Roman" panose="02020603050405020304" pitchFamily="18" charset="0"/>
              </a:endParaRPr>
            </a:p>
          </p:txBody>
        </p:sp>
        <p:sp>
          <p:nvSpPr>
            <p:cNvPr id="6" name="AutoShape 10">
              <a:extLst>
                <a:ext uri="{FF2B5EF4-FFF2-40B4-BE49-F238E27FC236}">
                  <a16:creationId xmlns:a16="http://schemas.microsoft.com/office/drawing/2014/main" id="{6FB9DC5C-922F-42DA-8D81-D1538E4212BD}"/>
                </a:ext>
              </a:extLst>
            </p:cNvPr>
            <p:cNvSpPr>
              <a:spLocks noChangeArrowheads="1"/>
            </p:cNvSpPr>
            <p:nvPr/>
          </p:nvSpPr>
          <p:spPr bwMode="auto">
            <a:xfrm rot="5400000" flipH="1">
              <a:off x="2181" y="2115"/>
              <a:ext cx="666" cy="576"/>
            </a:xfrm>
            <a:prstGeom prst="triangle">
              <a:avLst>
                <a:gd name="adj" fmla="val 50000"/>
              </a:avLst>
            </a:prstGeom>
            <a:noFill/>
            <a:ln w="28575">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SzPct val="75000"/>
                <a:buFont typeface="Wingdings" panose="05000000000000000000" pitchFamily="2" charset="2"/>
                <a:buChar char="v"/>
                <a:defRPr sz="2800">
                  <a:solidFill>
                    <a:schemeClr val="tx1"/>
                  </a:solidFill>
                  <a:latin typeface="Book Antiqua" panose="02040602050305030304" pitchFamily="18" charset="0"/>
                </a:defRPr>
              </a:lvl1pPr>
              <a:lvl2pPr marL="742950" indent="-285750">
                <a:spcBef>
                  <a:spcPct val="20000"/>
                </a:spcBef>
                <a:buClr>
                  <a:schemeClr val="tx1"/>
                </a:buClr>
                <a:buFont typeface="Wingdings" panose="05000000000000000000" pitchFamily="2" charset="2"/>
                <a:buChar char="§"/>
                <a:defRPr sz="2400">
                  <a:solidFill>
                    <a:schemeClr val="tx1"/>
                  </a:solidFill>
                  <a:latin typeface="Book Antiqua" panose="02040602050305030304" pitchFamily="18" charset="0"/>
                </a:defRPr>
              </a:lvl2pPr>
              <a:lvl3pPr marL="1143000" indent="-228600">
                <a:spcBef>
                  <a:spcPct val="20000"/>
                </a:spcBef>
                <a:buClr>
                  <a:schemeClr val="tx1"/>
                </a:buClr>
                <a:buChar char="•"/>
                <a:defRPr sz="2400">
                  <a:solidFill>
                    <a:schemeClr val="tx1"/>
                  </a:solidFill>
                  <a:latin typeface="Book Antiqua" panose="02040602050305030304" pitchFamily="18" charset="0"/>
                </a:defRPr>
              </a:lvl3pPr>
              <a:lvl4pPr marL="1600200" indent="-228600">
                <a:spcBef>
                  <a:spcPct val="20000"/>
                </a:spcBef>
                <a:buClr>
                  <a:schemeClr val="tx1"/>
                </a:buClr>
                <a:buChar char="•"/>
                <a:defRPr sz="2000">
                  <a:solidFill>
                    <a:schemeClr val="tx1"/>
                  </a:solidFill>
                  <a:latin typeface="Book Antiqua" panose="02040602050305030304" pitchFamily="18" charset="0"/>
                </a:defRPr>
              </a:lvl4pPr>
              <a:lvl5pPr marL="2057400" indent="-228600">
                <a:spcBef>
                  <a:spcPct val="20000"/>
                </a:spcBef>
                <a:buClr>
                  <a:schemeClr val="tx1"/>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defRPr>
              </a:lvl9pPr>
            </a:lstStyle>
            <a:p>
              <a:pPr>
                <a:spcBef>
                  <a:spcPct val="0"/>
                </a:spcBef>
                <a:buClrTx/>
                <a:buSzTx/>
                <a:buFontTx/>
                <a:buNone/>
              </a:pPr>
              <a:endParaRPr lang="en-IN" altLang="en-US" sz="2400">
                <a:latin typeface="Times New Roman" panose="02020603050405020304" pitchFamily="18" charset="0"/>
              </a:endParaRPr>
            </a:p>
          </p:txBody>
        </p:sp>
      </p:grpSp>
    </p:spTree>
    <p:extLst>
      <p:ext uri="{BB962C8B-B14F-4D97-AF65-F5344CB8AC3E}">
        <p14:creationId xmlns:p14="http://schemas.microsoft.com/office/powerpoint/2010/main" val="10063344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FE68D-BBCC-471A-ABF9-524F963526C8}"/>
              </a:ext>
            </a:extLst>
          </p:cNvPr>
          <p:cNvSpPr>
            <a:spLocks noGrp="1"/>
          </p:cNvSpPr>
          <p:nvPr>
            <p:ph type="title"/>
          </p:nvPr>
        </p:nvSpPr>
        <p:spPr/>
        <p:txBody>
          <a:bodyPr/>
          <a:lstStyle/>
          <a:p>
            <a:r>
              <a:rPr lang="en-US" dirty="0"/>
              <a:t>Minimal Cover/Canonical Cover of FDs</a:t>
            </a:r>
            <a:endParaRPr lang="en-IN" dirty="0"/>
          </a:p>
        </p:txBody>
      </p:sp>
      <p:sp>
        <p:nvSpPr>
          <p:cNvPr id="3" name="Text Placeholder 2">
            <a:extLst>
              <a:ext uri="{FF2B5EF4-FFF2-40B4-BE49-F238E27FC236}">
                <a16:creationId xmlns:a16="http://schemas.microsoft.com/office/drawing/2014/main" id="{4F9A39CC-8F68-4FFA-BCCF-86EDE00E3E5F}"/>
              </a:ext>
            </a:extLst>
          </p:cNvPr>
          <p:cNvSpPr>
            <a:spLocks noGrp="1"/>
          </p:cNvSpPr>
          <p:nvPr>
            <p:ph type="body" idx="1"/>
          </p:nvPr>
        </p:nvSpPr>
        <p:spPr/>
        <p:txBody>
          <a:bodyPr/>
          <a:lstStyle/>
          <a:p>
            <a:r>
              <a:rPr lang="en-US" b="1" dirty="0"/>
              <a:t>Irreducible set of FDs</a:t>
            </a:r>
            <a:endParaRPr lang="en-IN" b="1" dirty="0"/>
          </a:p>
          <a:p>
            <a:r>
              <a:rPr lang="en-US" dirty="0"/>
              <a:t>A </a:t>
            </a:r>
            <a:r>
              <a:rPr lang="en-US" b="1" dirty="0"/>
              <a:t>minimal cover</a:t>
            </a:r>
            <a:r>
              <a:rPr lang="en-US" dirty="0"/>
              <a:t> (also called </a:t>
            </a:r>
            <a:r>
              <a:rPr lang="en-US" b="1" dirty="0"/>
              <a:t>canonical cover</a:t>
            </a:r>
            <a:r>
              <a:rPr lang="en-US" dirty="0"/>
              <a:t>) for a set of Functional Dependencies (</a:t>
            </a:r>
            <a:r>
              <a:rPr lang="en-US" b="1" dirty="0"/>
              <a:t>FDs</a:t>
            </a:r>
            <a:r>
              <a:rPr lang="en-US" dirty="0"/>
              <a:t>) is an </a:t>
            </a:r>
            <a:r>
              <a:rPr lang="en-US" b="1" dirty="0"/>
              <a:t>equivalent set of FDs</a:t>
            </a:r>
            <a:r>
              <a:rPr lang="en-US" dirty="0"/>
              <a:t> that is:</a:t>
            </a:r>
          </a:p>
          <a:p>
            <a:pPr>
              <a:buFont typeface="+mj-lt"/>
              <a:buAutoNum type="arabicPeriod"/>
            </a:pPr>
            <a:r>
              <a:rPr lang="en-US" b="1" dirty="0"/>
              <a:t>Minimal in size</a:t>
            </a:r>
            <a:r>
              <a:rPr lang="en-US" dirty="0"/>
              <a:t> (no extra dependencies).</a:t>
            </a:r>
          </a:p>
          <a:p>
            <a:pPr>
              <a:buFont typeface="+mj-lt"/>
              <a:buAutoNum type="arabicPeriod"/>
            </a:pPr>
            <a:r>
              <a:rPr lang="en-US" b="1" dirty="0"/>
              <a:t>No extraneous attributes</a:t>
            </a:r>
            <a:r>
              <a:rPr lang="en-US" dirty="0"/>
              <a:t> (each attribute in the FD is necessary).</a:t>
            </a:r>
          </a:p>
          <a:p>
            <a:pPr>
              <a:buFont typeface="+mj-lt"/>
              <a:buAutoNum type="arabicPeriod"/>
            </a:pPr>
            <a:r>
              <a:rPr lang="en-US" b="1" dirty="0"/>
              <a:t>All FDs have a single attribute on the right-hand side</a:t>
            </a:r>
            <a:r>
              <a:rPr lang="en-US" dirty="0"/>
              <a:t> (singleton form).</a:t>
            </a:r>
          </a:p>
        </p:txBody>
      </p:sp>
    </p:spTree>
    <p:extLst>
      <p:ext uri="{BB962C8B-B14F-4D97-AF65-F5344CB8AC3E}">
        <p14:creationId xmlns:p14="http://schemas.microsoft.com/office/powerpoint/2010/main" val="21970784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7BDAD-1881-4E73-9039-DB1CAD75F172}"/>
              </a:ext>
            </a:extLst>
          </p:cNvPr>
          <p:cNvSpPr>
            <a:spLocks noGrp="1"/>
          </p:cNvSpPr>
          <p:nvPr>
            <p:ph type="title"/>
          </p:nvPr>
        </p:nvSpPr>
        <p:spPr>
          <a:xfrm>
            <a:off x="1066800" y="827778"/>
            <a:ext cx="10058400" cy="1450757"/>
          </a:xfrm>
        </p:spPr>
        <p:txBody>
          <a:bodyPr/>
          <a:lstStyle/>
          <a:p>
            <a:r>
              <a:rPr lang="en-US" dirty="0"/>
              <a:t>Steps to Find Minimal Cover</a:t>
            </a:r>
            <a:br>
              <a:rPr lang="en-US" dirty="0"/>
            </a:br>
            <a:endParaRPr lang="en-IN" dirty="0"/>
          </a:p>
        </p:txBody>
      </p:sp>
      <p:sp>
        <p:nvSpPr>
          <p:cNvPr id="3" name="Text Placeholder 2">
            <a:extLst>
              <a:ext uri="{FF2B5EF4-FFF2-40B4-BE49-F238E27FC236}">
                <a16:creationId xmlns:a16="http://schemas.microsoft.com/office/drawing/2014/main" id="{29656538-227B-4816-8BC9-E85B12E958B1}"/>
              </a:ext>
            </a:extLst>
          </p:cNvPr>
          <p:cNvSpPr>
            <a:spLocks noGrp="1"/>
          </p:cNvSpPr>
          <p:nvPr>
            <p:ph type="body" idx="1"/>
          </p:nvPr>
        </p:nvSpPr>
        <p:spPr/>
        <p:txBody>
          <a:bodyPr/>
          <a:lstStyle/>
          <a:p>
            <a:r>
              <a:rPr lang="en-US" b="1" dirty="0"/>
              <a:t>Step 1: Convert to Singleton Right-Hand Side</a:t>
            </a:r>
          </a:p>
          <a:p>
            <a:r>
              <a:rPr lang="en-US" dirty="0"/>
              <a:t>If any FD has </a:t>
            </a:r>
            <a:r>
              <a:rPr lang="en-US" b="1" dirty="0"/>
              <a:t>multiple attributes</a:t>
            </a:r>
            <a:r>
              <a:rPr lang="en-US" dirty="0"/>
              <a:t> on the right-hand side, break it into multiple FDs.</a:t>
            </a:r>
          </a:p>
          <a:p>
            <a:r>
              <a:rPr lang="en-US" b="1" dirty="0"/>
              <a:t>Step 2: Remove Redundant FDs</a:t>
            </a:r>
          </a:p>
          <a:p>
            <a:r>
              <a:rPr lang="en-US" dirty="0"/>
              <a:t>An </a:t>
            </a:r>
            <a:r>
              <a:rPr lang="en-US" b="1" dirty="0"/>
              <a:t>FD is redundant</a:t>
            </a:r>
            <a:r>
              <a:rPr lang="en-US" dirty="0"/>
              <a:t> if removing it does not change the closure of the entire set of FDs.</a:t>
            </a:r>
          </a:p>
          <a:p>
            <a:r>
              <a:rPr lang="en-US" b="1" dirty="0"/>
              <a:t>Step 3: Remove Extraneous Attributes</a:t>
            </a:r>
          </a:p>
          <a:p>
            <a:r>
              <a:rPr lang="en-US" dirty="0"/>
              <a:t>An </a:t>
            </a:r>
            <a:r>
              <a:rPr lang="en-US" b="1" dirty="0"/>
              <a:t>attribute is extraneous</a:t>
            </a:r>
            <a:r>
              <a:rPr lang="en-US" dirty="0"/>
              <a:t> if removing it does not change the closure of the set of FDs.</a:t>
            </a:r>
          </a:p>
          <a:p>
            <a:endParaRPr lang="en-US" dirty="0"/>
          </a:p>
          <a:p>
            <a:endParaRPr lang="en-IN" dirty="0"/>
          </a:p>
        </p:txBody>
      </p:sp>
    </p:spTree>
    <p:extLst>
      <p:ext uri="{BB962C8B-B14F-4D97-AF65-F5344CB8AC3E}">
        <p14:creationId xmlns:p14="http://schemas.microsoft.com/office/powerpoint/2010/main" val="70249160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C228A3C-7AAC-4336-83D3-23DDBBBEC3A5}"/>
              </a:ext>
            </a:extLst>
          </p:cNvPr>
          <p:cNvSpPr txBox="1"/>
          <p:nvPr/>
        </p:nvSpPr>
        <p:spPr>
          <a:xfrm>
            <a:off x="305576" y="438538"/>
            <a:ext cx="8941059" cy="5693866"/>
          </a:xfrm>
          <a:prstGeom prst="rect">
            <a:avLst/>
          </a:prstGeom>
          <a:noFill/>
        </p:spPr>
        <p:txBody>
          <a:bodyPr wrap="square">
            <a:spAutoFit/>
          </a:bodyPr>
          <a:lstStyle/>
          <a:p>
            <a:r>
              <a:rPr lang="en-US" b="1" dirty="0"/>
              <a:t>Given FDs</a:t>
            </a:r>
          </a:p>
          <a:p>
            <a:r>
              <a:rPr lang="en-US" dirty="0"/>
              <a:t>Let’s consider the following set of FDs for a relation </a:t>
            </a:r>
            <a:r>
              <a:rPr lang="en-US" b="1" dirty="0"/>
              <a:t>R(A, B, C, D, E)</a:t>
            </a:r>
            <a:r>
              <a:rPr lang="en-US" dirty="0"/>
              <a:t>:</a:t>
            </a:r>
          </a:p>
          <a:p>
            <a:pPr>
              <a:buFont typeface="+mj-lt"/>
              <a:buAutoNum type="arabicPeriod"/>
            </a:pPr>
            <a:r>
              <a:rPr lang="en-US" b="1" dirty="0"/>
              <a:t>A → BC</a:t>
            </a:r>
            <a:endParaRPr lang="en-US" dirty="0"/>
          </a:p>
          <a:p>
            <a:pPr>
              <a:buFont typeface="+mj-lt"/>
              <a:buAutoNum type="arabicPeriod"/>
            </a:pPr>
            <a:r>
              <a:rPr lang="en-US" b="1" dirty="0"/>
              <a:t>B → C</a:t>
            </a:r>
            <a:endParaRPr lang="en-US" dirty="0"/>
          </a:p>
          <a:p>
            <a:pPr>
              <a:buFont typeface="+mj-lt"/>
              <a:buAutoNum type="arabicPeriod"/>
            </a:pPr>
            <a:r>
              <a:rPr lang="en-US" b="1" dirty="0"/>
              <a:t>A → D</a:t>
            </a:r>
            <a:endParaRPr lang="en-US" dirty="0"/>
          </a:p>
          <a:p>
            <a:pPr>
              <a:buFont typeface="+mj-lt"/>
              <a:buAutoNum type="arabicPeriod"/>
            </a:pPr>
            <a:r>
              <a:rPr lang="en-US" b="1" dirty="0"/>
              <a:t>D → E</a:t>
            </a:r>
            <a:endParaRPr lang="en-US" dirty="0"/>
          </a:p>
          <a:p>
            <a:r>
              <a:rPr lang="en-US" b="1" dirty="0"/>
              <a:t>Step 1: Convert to Singleton Right-Hand Side</a:t>
            </a:r>
          </a:p>
          <a:p>
            <a:r>
              <a:rPr lang="en-US" dirty="0"/>
              <a:t>Break </a:t>
            </a:r>
            <a:r>
              <a:rPr lang="en-US" b="1" dirty="0"/>
              <a:t>A → BC</a:t>
            </a:r>
            <a:r>
              <a:rPr lang="en-US" dirty="0"/>
              <a:t> into:</a:t>
            </a:r>
          </a:p>
          <a:p>
            <a:pPr>
              <a:buFont typeface="Arial" panose="020B0604020202020204" pitchFamily="34" charset="0"/>
              <a:buChar char="•"/>
            </a:pPr>
            <a:r>
              <a:rPr lang="en-US" b="1" dirty="0"/>
              <a:t>A → B</a:t>
            </a:r>
            <a:endParaRPr lang="en-US" dirty="0"/>
          </a:p>
          <a:p>
            <a:pPr>
              <a:buFont typeface="Arial" panose="020B0604020202020204" pitchFamily="34" charset="0"/>
              <a:buChar char="•"/>
            </a:pPr>
            <a:r>
              <a:rPr lang="en-US" b="1" dirty="0"/>
              <a:t>A → C</a:t>
            </a:r>
            <a:endParaRPr lang="en-US" dirty="0"/>
          </a:p>
          <a:p>
            <a:r>
              <a:rPr lang="en-US" dirty="0"/>
              <a:t>Now, the new set is:</a:t>
            </a:r>
          </a:p>
          <a:p>
            <a:pPr>
              <a:buFont typeface="+mj-lt"/>
              <a:buAutoNum type="arabicPeriod"/>
            </a:pPr>
            <a:r>
              <a:rPr lang="en-US" b="1" dirty="0"/>
              <a:t>A → B</a:t>
            </a:r>
            <a:endParaRPr lang="en-US" dirty="0"/>
          </a:p>
          <a:p>
            <a:pPr>
              <a:buFont typeface="+mj-lt"/>
              <a:buAutoNum type="arabicPeriod"/>
            </a:pPr>
            <a:r>
              <a:rPr lang="en-US" b="1" dirty="0"/>
              <a:t>A → C</a:t>
            </a:r>
            <a:endParaRPr lang="en-US" dirty="0"/>
          </a:p>
          <a:p>
            <a:pPr>
              <a:buFont typeface="+mj-lt"/>
              <a:buAutoNum type="arabicPeriod"/>
            </a:pPr>
            <a:r>
              <a:rPr lang="en-US" b="1" dirty="0"/>
              <a:t>B → C</a:t>
            </a:r>
            <a:endParaRPr lang="en-US" dirty="0"/>
          </a:p>
          <a:p>
            <a:pPr>
              <a:buFont typeface="+mj-lt"/>
              <a:buAutoNum type="arabicPeriod"/>
            </a:pPr>
            <a:r>
              <a:rPr lang="en-US" b="1" dirty="0"/>
              <a:t>A → D</a:t>
            </a:r>
            <a:endParaRPr lang="en-US" dirty="0"/>
          </a:p>
          <a:p>
            <a:pPr>
              <a:buFont typeface="+mj-lt"/>
              <a:buAutoNum type="arabicPeriod"/>
            </a:pPr>
            <a:r>
              <a:rPr lang="en-US" b="1" dirty="0"/>
              <a:t>D → E</a:t>
            </a:r>
            <a:endParaRPr lang="en-US" dirty="0"/>
          </a:p>
          <a:p>
            <a:r>
              <a:rPr lang="en-US" b="1" dirty="0"/>
              <a:t>Step 2: Remove Extraneous Attributes</a:t>
            </a:r>
          </a:p>
          <a:p>
            <a:pPr>
              <a:buFont typeface="Arial" panose="020B0604020202020204" pitchFamily="34" charset="0"/>
              <a:buChar char="•"/>
            </a:pPr>
            <a:r>
              <a:rPr lang="en-US" dirty="0"/>
              <a:t>In </a:t>
            </a:r>
            <a:r>
              <a:rPr lang="en-US" b="1" dirty="0"/>
              <a:t>A → C</a:t>
            </a:r>
            <a:r>
              <a:rPr lang="en-US" dirty="0"/>
              <a:t>, we see that </a:t>
            </a:r>
            <a:r>
              <a:rPr lang="en-US" b="1" dirty="0"/>
              <a:t>A → B</a:t>
            </a:r>
            <a:r>
              <a:rPr lang="en-US" dirty="0"/>
              <a:t> and </a:t>
            </a:r>
            <a:r>
              <a:rPr lang="en-US" b="1" dirty="0"/>
              <a:t>B → C</a:t>
            </a:r>
            <a:r>
              <a:rPr lang="en-US" dirty="0"/>
              <a:t> already exist.</a:t>
            </a:r>
          </a:p>
          <a:p>
            <a:pPr>
              <a:buFont typeface="Arial" panose="020B0604020202020204" pitchFamily="34" charset="0"/>
              <a:buChar char="•"/>
            </a:pPr>
            <a:r>
              <a:rPr lang="en-US" dirty="0"/>
              <a:t>Since </a:t>
            </a:r>
            <a:r>
              <a:rPr lang="en-US" b="1" dirty="0"/>
              <a:t>A → B</a:t>
            </a:r>
            <a:r>
              <a:rPr lang="en-US" dirty="0"/>
              <a:t> and </a:t>
            </a:r>
            <a:r>
              <a:rPr lang="en-US" b="1" dirty="0"/>
              <a:t>B → C</a:t>
            </a:r>
            <a:r>
              <a:rPr lang="en-US" dirty="0"/>
              <a:t> imply </a:t>
            </a:r>
            <a:r>
              <a:rPr lang="en-US" b="1" dirty="0"/>
              <a:t>A → C</a:t>
            </a:r>
            <a:r>
              <a:rPr lang="en-US" dirty="0"/>
              <a:t>, we can </a:t>
            </a:r>
            <a:r>
              <a:rPr lang="en-US" b="1" dirty="0"/>
              <a:t>remove A → C</a:t>
            </a:r>
            <a:r>
              <a:rPr lang="en-US" dirty="0"/>
              <a:t> as it is redundant.</a:t>
            </a:r>
          </a:p>
          <a:p>
            <a:r>
              <a:rPr lang="en-US" dirty="0"/>
              <a:t>Now, the updated set is:</a:t>
            </a:r>
          </a:p>
          <a:p>
            <a:pPr>
              <a:buFont typeface="+mj-lt"/>
              <a:buAutoNum type="arabicPeriod"/>
            </a:pPr>
            <a:r>
              <a:rPr lang="en-US" b="1" dirty="0"/>
              <a:t>A → B</a:t>
            </a:r>
            <a:endParaRPr lang="en-US" dirty="0"/>
          </a:p>
          <a:p>
            <a:pPr>
              <a:buFont typeface="+mj-lt"/>
              <a:buAutoNum type="arabicPeriod"/>
            </a:pPr>
            <a:r>
              <a:rPr lang="en-US" b="1" dirty="0"/>
              <a:t>B → C</a:t>
            </a:r>
            <a:endParaRPr lang="en-US" dirty="0"/>
          </a:p>
          <a:p>
            <a:pPr>
              <a:buFont typeface="+mj-lt"/>
              <a:buAutoNum type="arabicPeriod"/>
            </a:pPr>
            <a:r>
              <a:rPr lang="en-US" b="1" dirty="0"/>
              <a:t>A → D</a:t>
            </a:r>
            <a:endParaRPr lang="en-US" dirty="0"/>
          </a:p>
          <a:p>
            <a:pPr>
              <a:buFont typeface="+mj-lt"/>
              <a:buAutoNum type="arabicPeriod"/>
            </a:pPr>
            <a:r>
              <a:rPr lang="en-US" b="1" dirty="0"/>
              <a:t>D → E</a:t>
            </a:r>
            <a:endParaRPr lang="en-US" dirty="0"/>
          </a:p>
          <a:p>
            <a:r>
              <a:rPr lang="en-US" b="1" dirty="0"/>
              <a:t>Step 3: Remove Redundant FDs</a:t>
            </a:r>
          </a:p>
          <a:p>
            <a:pPr>
              <a:buFont typeface="Arial" panose="020B0604020202020204" pitchFamily="34" charset="0"/>
              <a:buChar char="•"/>
            </a:pPr>
            <a:r>
              <a:rPr lang="en-US" b="1" dirty="0"/>
              <a:t>All FDs are necessary</a:t>
            </a:r>
            <a:r>
              <a:rPr lang="en-US" dirty="0"/>
              <a:t>, as removing any FD would change the closure of attributes.</a:t>
            </a:r>
          </a:p>
        </p:txBody>
      </p:sp>
      <p:sp>
        <p:nvSpPr>
          <p:cNvPr id="7" name="TextBox 6">
            <a:extLst>
              <a:ext uri="{FF2B5EF4-FFF2-40B4-BE49-F238E27FC236}">
                <a16:creationId xmlns:a16="http://schemas.microsoft.com/office/drawing/2014/main" id="{B3B8E069-C363-4CD0-BEBF-E42E19A23256}"/>
              </a:ext>
            </a:extLst>
          </p:cNvPr>
          <p:cNvSpPr txBox="1"/>
          <p:nvPr/>
        </p:nvSpPr>
        <p:spPr>
          <a:xfrm>
            <a:off x="7999832" y="3604670"/>
            <a:ext cx="2493605" cy="2462213"/>
          </a:xfrm>
          <a:prstGeom prst="rect">
            <a:avLst/>
          </a:prstGeom>
          <a:solidFill>
            <a:schemeClr val="accent2">
              <a:lumMod val="20000"/>
              <a:lumOff val="80000"/>
            </a:schemeClr>
          </a:solidFill>
        </p:spPr>
        <p:txBody>
          <a:bodyPr wrap="square">
            <a:spAutoFit/>
          </a:bodyPr>
          <a:lstStyle/>
          <a:p>
            <a:r>
              <a:rPr lang="en-US" b="1" dirty="0"/>
              <a:t>Final Minimal Cover</a:t>
            </a:r>
          </a:p>
          <a:p>
            <a:r>
              <a:rPr lang="en-US" b="1" dirty="0"/>
              <a:t>A → B</a:t>
            </a:r>
            <a:br>
              <a:rPr lang="en-US" dirty="0"/>
            </a:br>
            <a:r>
              <a:rPr lang="en-US" b="1" dirty="0" err="1"/>
              <a:t>B</a:t>
            </a:r>
            <a:r>
              <a:rPr lang="en-US" b="1" dirty="0"/>
              <a:t> → C</a:t>
            </a:r>
            <a:br>
              <a:rPr lang="en-US" dirty="0"/>
            </a:br>
            <a:r>
              <a:rPr lang="en-US" b="1" dirty="0"/>
              <a:t>A → D</a:t>
            </a:r>
            <a:br>
              <a:rPr lang="en-US" dirty="0"/>
            </a:br>
            <a:r>
              <a:rPr lang="en-US" b="1" dirty="0" err="1"/>
              <a:t>D</a:t>
            </a:r>
            <a:r>
              <a:rPr lang="en-US" b="1" dirty="0"/>
              <a:t> → E</a:t>
            </a:r>
          </a:p>
          <a:p>
            <a:endParaRPr lang="en-US" b="1" dirty="0"/>
          </a:p>
          <a:p>
            <a:r>
              <a:rPr lang="en-US" b="1" dirty="0"/>
              <a:t>Canonical Cover</a:t>
            </a:r>
          </a:p>
          <a:p>
            <a:r>
              <a:rPr lang="en-US" b="1" dirty="0"/>
              <a:t>A → BD</a:t>
            </a:r>
            <a:br>
              <a:rPr lang="en-US" dirty="0"/>
            </a:br>
            <a:r>
              <a:rPr lang="en-US" b="1" dirty="0"/>
              <a:t>B → C</a:t>
            </a:r>
            <a:br>
              <a:rPr lang="en-US" dirty="0"/>
            </a:br>
            <a:r>
              <a:rPr lang="en-US" b="1" dirty="0"/>
              <a:t>D → E</a:t>
            </a:r>
          </a:p>
          <a:p>
            <a:endParaRPr lang="en-US" dirty="0"/>
          </a:p>
        </p:txBody>
      </p:sp>
    </p:spTree>
    <p:extLst>
      <p:ext uri="{BB962C8B-B14F-4D97-AF65-F5344CB8AC3E}">
        <p14:creationId xmlns:p14="http://schemas.microsoft.com/office/powerpoint/2010/main" val="3164783999"/>
      </p:ext>
    </p:extLst>
  </p:cSld>
  <p:clrMapOvr>
    <a:masterClrMapping/>
  </p:clrMapOvr>
</p:sld>
</file>

<file path=ppt/theme/theme1.xml><?xml version="1.0" encoding="utf-8"?>
<a:theme xmlns:a="http://schemas.openxmlformats.org/drawingml/2006/main" name="Retrospect">
  <a:themeElements>
    <a:clrScheme name="Retrospect">
      <a:dk1>
        <a:srgbClr val="000000"/>
      </a:dk1>
      <a:lt1>
        <a:srgbClr val="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419</TotalTime>
  <Words>5121</Words>
  <Application>Microsoft Office PowerPoint</Application>
  <PresentationFormat>Widescreen</PresentationFormat>
  <Paragraphs>738</Paragraphs>
  <Slides>47</Slides>
  <Notes>41</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2</vt:i4>
      </vt:variant>
      <vt:variant>
        <vt:lpstr>Slide Titles</vt:lpstr>
      </vt:variant>
      <vt:variant>
        <vt:i4>47</vt:i4>
      </vt:variant>
    </vt:vector>
  </HeadingPairs>
  <TitlesOfParts>
    <vt:vector size="57" baseType="lpstr">
      <vt:lpstr>Arial</vt:lpstr>
      <vt:lpstr>Times New Roman</vt:lpstr>
      <vt:lpstr>Noto Sans Symbols</vt:lpstr>
      <vt:lpstr>Calibri</vt:lpstr>
      <vt:lpstr>Wingdings</vt:lpstr>
      <vt:lpstr>Arimo</vt:lpstr>
      <vt:lpstr>Monotype Sorts</vt:lpstr>
      <vt:lpstr>Retrospect</vt:lpstr>
      <vt:lpstr>Microsoft Word 97 - 2003 Document</vt:lpstr>
      <vt:lpstr>Equation</vt:lpstr>
      <vt:lpstr>Database Normalization</vt:lpstr>
      <vt:lpstr>Redundancy?</vt:lpstr>
      <vt:lpstr>The Evils of Redundancy</vt:lpstr>
      <vt:lpstr>Example (Contd.)</vt:lpstr>
      <vt:lpstr>Functional Dependencies</vt:lpstr>
      <vt:lpstr>Reasoning About FDs</vt:lpstr>
      <vt:lpstr>Closure</vt:lpstr>
      <vt:lpstr>Problem</vt:lpstr>
      <vt:lpstr>Problems-Attribute Closure &amp; Candidate key</vt:lpstr>
      <vt:lpstr>PowerPoint Presentation</vt:lpstr>
      <vt:lpstr>Home Assignment</vt:lpstr>
      <vt:lpstr>Normal Forms</vt:lpstr>
      <vt:lpstr>PowerPoint Presentation</vt:lpstr>
      <vt:lpstr>PowerPoint Presentation</vt:lpstr>
      <vt:lpstr>PowerPoint Presentation</vt:lpstr>
      <vt:lpstr>PowerPoint Presentation</vt:lpstr>
      <vt:lpstr>PowerPoint Presentation</vt:lpstr>
      <vt:lpstr>2NF - Condition for Partial Dependency</vt:lpstr>
      <vt:lpstr>Third Normal Form</vt:lpstr>
      <vt:lpstr>Example</vt:lpstr>
      <vt:lpstr>Example</vt:lpstr>
      <vt:lpstr>Condition for 3NF</vt:lpstr>
      <vt:lpstr>Example</vt:lpstr>
      <vt:lpstr>Problems: Check for 3NF</vt:lpstr>
      <vt:lpstr>BCNF</vt:lpstr>
      <vt:lpstr>Example</vt:lpstr>
      <vt:lpstr>Example</vt:lpstr>
      <vt:lpstr>Example</vt:lpstr>
      <vt:lpstr>Problems(Highest Normal Form)</vt:lpstr>
      <vt:lpstr>Decomposition</vt:lpstr>
      <vt:lpstr>Example</vt:lpstr>
      <vt:lpstr>Decomposition of a Relation Scheme</vt:lpstr>
      <vt:lpstr>Types of Decomposition in Database Normalization</vt:lpstr>
      <vt:lpstr>Lossless Join Decompositions</vt:lpstr>
      <vt:lpstr> More on Lossless Join</vt:lpstr>
      <vt:lpstr>Decompose to the next Higher Normal form</vt:lpstr>
      <vt:lpstr>Dependency Preservation</vt:lpstr>
      <vt:lpstr>PowerPoint Presentation</vt:lpstr>
      <vt:lpstr>3NF vs. BCNF in Dependency Preservation</vt:lpstr>
      <vt:lpstr>Comparison of BCNF and 3NF</vt:lpstr>
      <vt:lpstr>Fourth Normal Form</vt:lpstr>
      <vt:lpstr>PowerPoint Presentation</vt:lpstr>
      <vt:lpstr>Decomposition and 4NF</vt:lpstr>
      <vt:lpstr>Fifth Normal Form</vt:lpstr>
      <vt:lpstr>Minimal Cover/Canonical Cover of FDs</vt:lpstr>
      <vt:lpstr>Steps to Find Minimal Cover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Normalization</dc:title>
  <dc:creator>User</dc:creator>
  <cp:lastModifiedBy>User</cp:lastModifiedBy>
  <cp:revision>15</cp:revision>
  <dcterms:created xsi:type="dcterms:W3CDTF">2025-02-27T07:16:37Z</dcterms:created>
  <dcterms:modified xsi:type="dcterms:W3CDTF">2025-03-17T10:46:55Z</dcterms:modified>
</cp:coreProperties>
</file>