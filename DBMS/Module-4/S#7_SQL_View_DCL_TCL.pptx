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2" r:id="rId7"/>
    <p:sldMasterId id="2147483654" r:id="rId8"/>
    <p:sldMasterId id="2147483660" r:id="rId9"/>
    <p:sldMasterId id="2147483662" r:id="rId10"/>
    <p:sldMasterId id="2147483664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y="6858000" cx="9144000"/>
  <p:notesSz cx="7315200" cy="9601200"/>
  <p:embeddedFontLst>
    <p:embeddedFont>
      <p:font typeface="Century Schoolbook"/>
      <p:regular r:id="rId33"/>
      <p:bold r:id="rId34"/>
      <p:italic r:id="rId35"/>
      <p:boldItalic r:id="rId36"/>
    </p:embeddedFont>
    <p:embeddedFont>
      <p:font typeface="Helvetica Neue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7">
          <p15:clr>
            <a:srgbClr val="000000"/>
          </p15:clr>
        </p15:guide>
        <p15:guide id="2" pos="466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iUhk21Ro9w7AbsSWmF4uG+LX1y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D29A51-1B19-41C7-855A-A9325C157DC1}">
  <a:tblStyle styleId="{EDD29A51-1B19-41C7-855A-A9325C157D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7" orient="horz"/>
        <p:guide pos="46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8.xml"/><Relationship Id="rId41" Type="http://customschemas.google.com/relationships/presentationmetadata" Target="metadata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11" Type="http://schemas.openxmlformats.org/officeDocument/2006/relationships/slideMaster" Target="slideMasters/slideMaster7.xml"/><Relationship Id="rId33" Type="http://schemas.openxmlformats.org/officeDocument/2006/relationships/font" Target="fonts/CenturySchoolbook-regular.fntdata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20.xml"/><Relationship Id="rId13" Type="http://schemas.openxmlformats.org/officeDocument/2006/relationships/slide" Target="slides/slide1.xml"/><Relationship Id="rId35" Type="http://schemas.openxmlformats.org/officeDocument/2006/relationships/font" Target="fonts/CenturySchoolbook-italic.fntdata"/><Relationship Id="rId12" Type="http://schemas.openxmlformats.org/officeDocument/2006/relationships/notesMaster" Target="notesMasters/notesMaster1.xml"/><Relationship Id="rId34" Type="http://schemas.openxmlformats.org/officeDocument/2006/relationships/font" Target="fonts/CenturySchoolbook-bold.fntdata"/><Relationship Id="rId15" Type="http://schemas.openxmlformats.org/officeDocument/2006/relationships/slide" Target="slides/slide3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2.xml"/><Relationship Id="rId36" Type="http://schemas.openxmlformats.org/officeDocument/2006/relationships/font" Target="fonts/CenturySchoolbook-boldItalic.fntdata"/><Relationship Id="rId17" Type="http://schemas.openxmlformats.org/officeDocument/2006/relationships/slide" Target="slides/slide5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4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/>
          <p:nvPr>
            <p:ph idx="2" type="sldImg"/>
          </p:nvPr>
        </p:nvSpPr>
        <p:spPr>
          <a:xfrm>
            <a:off x="1258887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ctrTitle"/>
          </p:nvPr>
        </p:nvSpPr>
        <p:spPr>
          <a:xfrm>
            <a:off x="2286000" y="3124200"/>
            <a:ext cx="6172200" cy="1894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subTitle"/>
          </p:nvPr>
        </p:nvSpPr>
        <p:spPr>
          <a:xfrm>
            <a:off x="2286000" y="5003322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 rot="5400000">
            <a:off x="7764462" y="11747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 rot="5400000">
            <a:off x="7077075" y="4181475"/>
            <a:ext cx="3657600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1325562" y="4929187"/>
            <a:ext cx="609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2286000" y="2895600"/>
            <a:ext cx="6172200" cy="20535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  <a:defRPr b="1" sz="3000" cap="small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52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 rot="5400000">
            <a:off x="7762875" y="1169987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 rot="5400000">
            <a:off x="7077075" y="4178300"/>
            <a:ext cx="3657600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1339850" y="4929187"/>
            <a:ext cx="609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457200" y="1730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457200" y="167132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/>
          <p:nvPr>
            <p:ph type="title"/>
          </p:nvPr>
        </p:nvSpPr>
        <p:spPr>
          <a:xfrm rot="5400000">
            <a:off x="4541838" y="2362202"/>
            <a:ext cx="585152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9"/>
          <p:cNvSpPr txBox="1"/>
          <p:nvPr>
            <p:ph idx="1" type="body"/>
          </p:nvPr>
        </p:nvSpPr>
        <p:spPr>
          <a:xfrm rot="5400000">
            <a:off x="1754188" y="303213"/>
            <a:ext cx="4873625" cy="7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9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9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0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0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 txBox="1"/>
          <p:nvPr>
            <p:ph type="title"/>
          </p:nvPr>
        </p:nvSpPr>
        <p:spPr>
          <a:xfrm>
            <a:off x="457200" y="273050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1"/>
          <p:cNvSpPr txBox="1"/>
          <p:nvPr>
            <p:ph idx="1" type="body"/>
          </p:nvPr>
        </p:nvSpPr>
        <p:spPr>
          <a:xfrm>
            <a:off x="457200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2" type="body"/>
          </p:nvPr>
        </p:nvSpPr>
        <p:spPr>
          <a:xfrm>
            <a:off x="4371975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1"/>
          <p:cNvSpPr/>
          <p:nvPr>
            <p:ph idx="3" type="body"/>
          </p:nvPr>
        </p:nvSpPr>
        <p:spPr>
          <a:xfrm>
            <a:off x="457200" y="1569720"/>
            <a:ext cx="3657600" cy="65836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b="1" sz="2000">
                <a:solidFill>
                  <a:srgbClr val="FFFFFF"/>
                </a:solidFill>
              </a:defRPr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1"/>
          <p:cNvSpPr/>
          <p:nvPr>
            <p:ph idx="4" type="body"/>
          </p:nvPr>
        </p:nvSpPr>
        <p:spPr>
          <a:xfrm>
            <a:off x="4343400" y="1569720"/>
            <a:ext cx="3657600" cy="65836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b="1" sz="2000">
                <a:solidFill>
                  <a:srgbClr val="FFFFFF"/>
                </a:solidFill>
              </a:defRPr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1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2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457200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2" type="body"/>
          </p:nvPr>
        </p:nvSpPr>
        <p:spPr>
          <a:xfrm>
            <a:off x="4270248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2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2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34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/>
          <p:nvPr>
            <p:ph type="title"/>
          </p:nvPr>
        </p:nvSpPr>
        <p:spPr>
          <a:xfrm rot="5400000">
            <a:off x="3371850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b="1" sz="2000" cap="small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6812280" y="274320"/>
            <a:ext cx="1527048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12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6"/>
          <p:cNvSpPr txBox="1"/>
          <p:nvPr>
            <p:ph idx="2" type="body"/>
          </p:nvPr>
        </p:nvSpPr>
        <p:spPr>
          <a:xfrm>
            <a:off x="304800" y="274320"/>
            <a:ext cx="5638800" cy="63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3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6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36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8"/>
          <p:cNvSpPr txBox="1"/>
          <p:nvPr>
            <p:ph type="title"/>
          </p:nvPr>
        </p:nvSpPr>
        <p:spPr>
          <a:xfrm rot="5400000">
            <a:off x="3350133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8"/>
          <p:cNvSpPr/>
          <p:nvPr>
            <p:ph idx="2" type="pic"/>
          </p:nvPr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6" name="Google Shape;176;p38"/>
          <p:cNvSpPr txBox="1"/>
          <p:nvPr>
            <p:ph idx="1" type="body"/>
          </p:nvPr>
        </p:nvSpPr>
        <p:spPr>
          <a:xfrm>
            <a:off x="6765798" y="264795"/>
            <a:ext cx="1524000" cy="4956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SzPts val="840"/>
              <a:buFont typeface="Century Schoolbook"/>
              <a:buNone/>
              <a:defRPr sz="1200"/>
            </a:lvl1pPr>
            <a:lvl2pPr indent="-289560" lvl="1" marL="914400" algn="l">
              <a:spcBef>
                <a:spcPts val="400"/>
              </a:spcBef>
              <a:spcAft>
                <a:spcPts val="0"/>
              </a:spcAft>
              <a:buSzPts val="960"/>
              <a:buChar char="⚫"/>
              <a:defRPr sz="1200"/>
            </a:lvl2pPr>
            <a:lvl3pPr indent="-266700" lvl="2" marL="1371600" algn="l">
              <a:spcBef>
                <a:spcPts val="200"/>
              </a:spcBef>
              <a:spcAft>
                <a:spcPts val="0"/>
              </a:spcAft>
              <a:buSzPts val="600"/>
              <a:buChar char="🞆"/>
              <a:defRPr sz="1000"/>
            </a:lvl3pPr>
            <a:lvl4pPr indent="-262889" lvl="3" marL="1828800" algn="l">
              <a:spcBef>
                <a:spcPts val="180"/>
              </a:spcBef>
              <a:spcAft>
                <a:spcPts val="0"/>
              </a:spcAft>
              <a:buSzPts val="540"/>
              <a:buChar char="🞆"/>
              <a:defRPr sz="900"/>
            </a:lvl4pPr>
            <a:lvl5pPr indent="-267461" lvl="4" marL="2286000" algn="l">
              <a:spcBef>
                <a:spcPts val="180"/>
              </a:spcBef>
              <a:spcAft>
                <a:spcPts val="0"/>
              </a:spcAft>
              <a:buSzPts val="612"/>
              <a:buChar char="⚫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79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8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8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38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3AE">
              <a:alpha val="5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7;p21"/>
          <p:cNvSpPr txBox="1"/>
          <p:nvPr/>
        </p:nvSpPr>
        <p:spPr>
          <a:xfrm>
            <a:off x="276225" y="0"/>
            <a:ext cx="104775" cy="6858000"/>
          </a:xfrm>
          <a:prstGeom prst="rect">
            <a:avLst/>
          </a:prstGeom>
          <a:solidFill>
            <a:srgbClr val="FFD9CE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Google Shape;8;p21"/>
          <p:cNvSpPr txBox="1"/>
          <p:nvPr/>
        </p:nvSpPr>
        <p:spPr>
          <a:xfrm>
            <a:off x="990600" y="0"/>
            <a:ext cx="182562" cy="6858000"/>
          </a:xfrm>
          <a:prstGeom prst="rect">
            <a:avLst/>
          </a:prstGeom>
          <a:solidFill>
            <a:srgbClr val="FFD9CE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9;p21"/>
          <p:cNvSpPr txBox="1"/>
          <p:nvPr/>
        </p:nvSpPr>
        <p:spPr>
          <a:xfrm>
            <a:off x="1141412" y="0"/>
            <a:ext cx="230187" cy="6858000"/>
          </a:xfrm>
          <a:prstGeom prst="rect">
            <a:avLst/>
          </a:prstGeom>
          <a:solidFill>
            <a:srgbClr val="FFEDE8">
              <a:alpha val="7058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" name="Google Shape;10;p21"/>
          <p:cNvCxnSpPr/>
          <p:nvPr/>
        </p:nvCxnSpPr>
        <p:spPr>
          <a:xfrm>
            <a:off x="106362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3AE">
                <a:alpha val="72549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" name="Google Shape;11;p21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FEDE8">
                <a:alpha val="82745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" name="Google Shape;12;p21"/>
          <p:cNvCxnSpPr/>
          <p:nvPr/>
        </p:nvCxnSpPr>
        <p:spPr>
          <a:xfrm>
            <a:off x="854075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" name="Google Shape;13;p21"/>
          <p:cNvCxnSpPr/>
          <p:nvPr/>
        </p:nvCxnSpPr>
        <p:spPr>
          <a:xfrm>
            <a:off x="172720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EC3AE">
                <a:alpha val="81568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" name="Google Shape;14;p21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" name="Google Shape;15;p21"/>
          <p:cNvCxnSpPr/>
          <p:nvPr/>
        </p:nvCxnSpPr>
        <p:spPr>
          <a:xfrm>
            <a:off x="9113837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" name="Google Shape;16;p21"/>
          <p:cNvSpPr txBox="1"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3AE">
              <a:alpha val="5058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21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21"/>
          <p:cNvSpPr/>
          <p:nvPr/>
        </p:nvSpPr>
        <p:spPr>
          <a:xfrm>
            <a:off x="1309687" y="4867275"/>
            <a:ext cx="641350" cy="641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p21"/>
          <p:cNvSpPr/>
          <p:nvPr/>
        </p:nvSpPr>
        <p:spPr>
          <a:xfrm>
            <a:off x="1090612" y="5500687"/>
            <a:ext cx="138112" cy="1365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20;p21"/>
          <p:cNvSpPr/>
          <p:nvPr/>
        </p:nvSpPr>
        <p:spPr>
          <a:xfrm>
            <a:off x="1663700" y="5788025"/>
            <a:ext cx="274637" cy="2746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" name="Google Shape;21;p21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20039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39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 rot="5400000">
            <a:off x="7764462" y="11747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 rot="5400000">
            <a:off x="7077075" y="4181475"/>
            <a:ext cx="3657600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1325562" y="4929187"/>
            <a:ext cx="609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3AE">
              <a:alpha val="5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" name="Google Shape;35;p23"/>
          <p:cNvSpPr txBox="1"/>
          <p:nvPr/>
        </p:nvSpPr>
        <p:spPr>
          <a:xfrm>
            <a:off x="276225" y="0"/>
            <a:ext cx="104775" cy="6858000"/>
          </a:xfrm>
          <a:prstGeom prst="rect">
            <a:avLst/>
          </a:prstGeom>
          <a:solidFill>
            <a:srgbClr val="FFD9CE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" name="Google Shape;36;p23"/>
          <p:cNvSpPr txBox="1"/>
          <p:nvPr/>
        </p:nvSpPr>
        <p:spPr>
          <a:xfrm>
            <a:off x="990600" y="0"/>
            <a:ext cx="182562" cy="6858000"/>
          </a:xfrm>
          <a:prstGeom prst="rect">
            <a:avLst/>
          </a:prstGeom>
          <a:solidFill>
            <a:srgbClr val="FFD9CE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Google Shape;37;p23"/>
          <p:cNvSpPr txBox="1"/>
          <p:nvPr/>
        </p:nvSpPr>
        <p:spPr>
          <a:xfrm>
            <a:off x="1141412" y="0"/>
            <a:ext cx="230187" cy="6858000"/>
          </a:xfrm>
          <a:prstGeom prst="rect">
            <a:avLst/>
          </a:prstGeom>
          <a:solidFill>
            <a:srgbClr val="FFEDE8">
              <a:alpha val="7058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" name="Google Shape;38;p23"/>
          <p:cNvCxnSpPr/>
          <p:nvPr/>
        </p:nvCxnSpPr>
        <p:spPr>
          <a:xfrm>
            <a:off x="106362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3AE">
                <a:alpha val="72549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" name="Google Shape;39;p23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FEDE8">
                <a:alpha val="82745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" name="Google Shape;40;p23"/>
          <p:cNvCxnSpPr/>
          <p:nvPr/>
        </p:nvCxnSpPr>
        <p:spPr>
          <a:xfrm>
            <a:off x="854075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" name="Google Shape;41;p23"/>
          <p:cNvCxnSpPr/>
          <p:nvPr/>
        </p:nvCxnSpPr>
        <p:spPr>
          <a:xfrm>
            <a:off x="172720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EC3AE">
                <a:alpha val="81568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" name="Google Shape;42;p23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3" name="Google Shape;43;p23"/>
          <p:cNvSpPr txBox="1"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3AE">
              <a:alpha val="5058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4;p23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5;p23"/>
          <p:cNvSpPr/>
          <p:nvPr/>
        </p:nvSpPr>
        <p:spPr>
          <a:xfrm>
            <a:off x="1323975" y="4867275"/>
            <a:ext cx="642937" cy="641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" name="Google Shape;46;p23"/>
          <p:cNvSpPr/>
          <p:nvPr/>
        </p:nvSpPr>
        <p:spPr>
          <a:xfrm>
            <a:off x="1090612" y="5500687"/>
            <a:ext cx="138112" cy="1365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" name="Google Shape;47;p23"/>
          <p:cNvSpPr/>
          <p:nvPr/>
        </p:nvSpPr>
        <p:spPr>
          <a:xfrm>
            <a:off x="1663700" y="5791200"/>
            <a:ext cx="274637" cy="2746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" name="Google Shape;48;p23"/>
          <p:cNvSpPr/>
          <p:nvPr/>
        </p:nvSpPr>
        <p:spPr>
          <a:xfrm>
            <a:off x="1879600" y="4479925"/>
            <a:ext cx="365125" cy="365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" name="Google Shape;49;p23"/>
          <p:cNvCxnSpPr/>
          <p:nvPr/>
        </p:nvCxnSpPr>
        <p:spPr>
          <a:xfrm>
            <a:off x="9097962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small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51" name="Google Shape;51;p23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20039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39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 rot="5400000">
            <a:off x="7762875" y="1169987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 rot="5400000">
            <a:off x="7077075" y="4178300"/>
            <a:ext cx="3657600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1339850" y="4929187"/>
            <a:ext cx="609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25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3AE">
                <a:alpha val="92549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" name="Google Shape;63;p25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" name="Google Shape;64;p25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5" name="Google Shape;65;p25"/>
          <p:cNvSpPr txBox="1"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3AE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6" name="Google Shape;66;p25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7" name="Google Shape;67;p2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25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69" name="Google Shape;69;p25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20039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39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27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3AE">
                <a:alpha val="92549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1" name="Google Shape;81;p27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20039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39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cxnSp>
        <p:nvCxnSpPr>
          <p:cNvPr id="85" name="Google Shape;85;p27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" name="Google Shape;86;p27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7" name="Google Shape;87;p27"/>
          <p:cNvSpPr txBox="1"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3AE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8" name="Google Shape;88;p27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9" name="Google Shape;89;p27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27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33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3AE">
                <a:alpha val="92549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" name="Google Shape;125;p33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6" name="Google Shape;126;p33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7" name="Google Shape;127;p33"/>
          <p:cNvSpPr txBox="1"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3AE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8" name="Google Shape;128;p33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9" name="Google Shape;129;p33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33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31" name="Google Shape;131;p33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20039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39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32" name="Google Shape;132;p33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3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35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3AE">
                <a:alpha val="92549"/>
              </a:srgbClr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2" name="Google Shape;142;p35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3" name="Google Shape;143;p35"/>
          <p:cNvCxnSpPr/>
          <p:nvPr/>
        </p:nvCxnSpPr>
        <p:spPr>
          <a:xfrm>
            <a:off x="6192837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4" name="Google Shape;144;p35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5" name="Google Shape;145;p35"/>
          <p:cNvSpPr txBox="1"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3AE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6" name="Google Shape;146;p35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7" name="Google Shape;147;p3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35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49" name="Google Shape;149;p35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20039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39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50" name="Google Shape;150;p35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1" name="Google Shape;151;p35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5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37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2" name="Google Shape;162;p37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3" name="Google Shape;163;p37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4" name="Google Shape;164;p37"/>
          <p:cNvSpPr txBox="1"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3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5" name="Google Shape;165;p37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6" name="Google Shape;166;p37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3AE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7" name="Google Shape;167;p37"/>
          <p:cNvCxnSpPr/>
          <p:nvPr/>
        </p:nvCxnSpPr>
        <p:spPr>
          <a:xfrm>
            <a:off x="6192837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8" name="Google Shape;168;p37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69" name="Google Shape;169;p37"/>
          <p:cNvSpPr txBox="1"/>
          <p:nvPr>
            <p:ph idx="1" type="body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20039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39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70" name="Google Shape;170;p37"/>
          <p:cNvSpPr txBox="1"/>
          <p:nvPr>
            <p:ph idx="10" type="dt"/>
          </p:nvPr>
        </p:nvSpPr>
        <p:spPr>
          <a:xfrm rot="5400000">
            <a:off x="7589043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1" name="Google Shape;171;p37"/>
          <p:cNvSpPr txBox="1"/>
          <p:nvPr>
            <p:ph idx="12" type="sldNum"/>
          </p:nvPr>
        </p:nvSpPr>
        <p:spPr>
          <a:xfrm>
            <a:off x="8129587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  <a:defRPr b="1" i="0" sz="1400" u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7"/>
          <p:cNvSpPr txBox="1"/>
          <p:nvPr>
            <p:ph idx="11" type="ftr"/>
          </p:nvPr>
        </p:nvSpPr>
        <p:spPr>
          <a:xfrm rot="5400000">
            <a:off x="6989762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"/>
          <p:cNvSpPr txBox="1"/>
          <p:nvPr>
            <p:ph type="ctrTitle"/>
          </p:nvPr>
        </p:nvSpPr>
        <p:spPr>
          <a:xfrm>
            <a:off x="2286000" y="3124200"/>
            <a:ext cx="6172200" cy="1893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1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STRUCTURED QUERY LANGUAGE</a:t>
            </a:r>
            <a:br>
              <a:rPr b="1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1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(VIEWS, TCL, DCL)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"/>
          <p:cNvSpPr txBox="1"/>
          <p:nvPr>
            <p:ph type="title"/>
          </p:nvPr>
        </p:nvSpPr>
        <p:spPr>
          <a:xfrm>
            <a:off x="2286000" y="2895600"/>
            <a:ext cx="6172200" cy="2054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</a:pPr>
            <a:r>
              <a:rPr b="1" i="0" lang="en-US" sz="3000" u="non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VIEWS</a:t>
            </a:r>
            <a:endParaRPr/>
          </a:p>
        </p:txBody>
      </p:sp>
      <p:sp>
        <p:nvSpPr>
          <p:cNvPr id="190" name="Google Shape;190;p2"/>
          <p:cNvSpPr txBox="1"/>
          <p:nvPr>
            <p:ph idx="1" type="body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1"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VIEWS</a:t>
            </a:r>
            <a:endParaRPr/>
          </a:p>
        </p:txBody>
      </p:sp>
      <p:sp>
        <p:nvSpPr>
          <p:cNvPr id="196" name="Google Shape;196;p3"/>
          <p:cNvSpPr txBox="1"/>
          <p:nvPr>
            <p:ph idx="1" type="body"/>
          </p:nvPr>
        </p:nvSpPr>
        <p:spPr>
          <a:xfrm>
            <a:off x="739775" y="1222375"/>
            <a:ext cx="7848600" cy="484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273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 some cases, it is not desirable for all users to see the entire logical model (that is, all the actual relations stored in the database.)</a:t>
            </a:r>
            <a:endParaRPr/>
          </a:p>
          <a:p>
            <a:pPr indent="-273050" lvl="0" marL="273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Consider a person who needs to know a employee name, address, but has no need to see the salary.  This person should see a relation described, in SQL, by :</a:t>
            </a:r>
            <a:endParaRPr/>
          </a:p>
          <a:p>
            <a:pPr indent="-273050" lvl="0" marL="273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73050" lvl="0" marL="273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Select empname, address from employee;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73050" lvl="0" marL="273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</a:t>
            </a:r>
            <a:endParaRPr b="0" i="0" sz="2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73050" lvl="0" marL="273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</a:t>
            </a:r>
            <a:r>
              <a:rPr b="1" i="0" lang="en-US" sz="22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view</a:t>
            </a:r>
            <a:r>
              <a:rPr b="0" i="0" lang="en-US" sz="2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provides a mechanism to hide certain data from the view of certain users. </a:t>
            </a:r>
            <a:endParaRPr/>
          </a:p>
          <a:p>
            <a:pPr indent="-273050" lvl="0" marL="273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Any relation that is not of the conceptual model but is made visible to a user as a “virtual relation” is called a </a:t>
            </a:r>
            <a:r>
              <a:rPr b="1" i="0" lang="en-US" sz="22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view</a:t>
            </a:r>
            <a:r>
              <a:rPr b="0" i="0" lang="en-US" sz="2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VIEW DEFINITION</a:t>
            </a:r>
            <a:endParaRPr/>
          </a:p>
        </p:txBody>
      </p:sp>
      <p:sp>
        <p:nvSpPr>
          <p:cNvPr id="202" name="Google Shape;202;p4"/>
          <p:cNvSpPr txBox="1"/>
          <p:nvPr>
            <p:ph idx="1" type="body"/>
          </p:nvPr>
        </p:nvSpPr>
        <p:spPr>
          <a:xfrm>
            <a:off x="814387" y="1093787"/>
            <a:ext cx="7305675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view is defined using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create view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statement which has the form</a:t>
            </a:r>
            <a:endParaRPr/>
          </a:p>
          <a:p>
            <a:pPr indent="-166370" lvl="0" marL="273050" marR="0" rtl="0" algn="l">
              <a:lnSpc>
                <a:spcPct val="4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73050" lvl="0" marL="273050" marR="0" rtl="0" algn="l">
              <a:lnSpc>
                <a:spcPct val="4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create view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query expression &gt;</a:t>
            </a:r>
            <a:endParaRPr/>
          </a:p>
          <a:p>
            <a:pPr indent="-273050" lvl="0" marL="273050" marR="0" rtl="0" algn="l">
              <a:lnSpc>
                <a:spcPct val="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where &lt;query expression&gt; is any legal SQL expression.  The view name is represented by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v.</a:t>
            </a:r>
            <a:endParaRPr b="0" i="0" sz="2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Once a view is defined, the view name can be used to refer to the virtual relation that the view generates.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When a view is created, the query expression is stored in  the database; the expression is substituted into queries using the view.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 cap="small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8" name="Google Shape;208;p5"/>
          <p:cNvSpPr txBox="1"/>
          <p:nvPr>
            <p:ph idx="1" type="body"/>
          </p:nvPr>
        </p:nvSpPr>
        <p:spPr>
          <a:xfrm>
            <a:off x="457200" y="167163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There are 2 types of Views in SQL: 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Simple View 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</a:t>
            </a:r>
            <a:r>
              <a:rPr b="1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Simple views</a:t>
            </a: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can only contain a single base table. 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Complex views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constructed on more than one base table.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complex views can contain: join  conditions, a group by clause, a order by clause.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COMPARISON</a:t>
            </a:r>
            <a:endParaRPr/>
          </a:p>
        </p:txBody>
      </p:sp>
      <p:graphicFrame>
        <p:nvGraphicFramePr>
          <p:cNvPr id="214" name="Google Shape;214;p6"/>
          <p:cNvGraphicFramePr/>
          <p:nvPr/>
        </p:nvGraphicFramePr>
        <p:xfrm>
          <a:off x="476250" y="1671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{EDD29A51-1B19-41C7-855A-A9325C157DC1}</a:tableStyleId>
              </a:tblPr>
              <a:tblGrid>
                <a:gridCol w="3714750"/>
                <a:gridCol w="37147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Simple View</a:t>
                      </a:r>
                      <a:endParaRPr/>
                    </a:p>
                  </a:txBody>
                  <a:tcPr marT="45450" marB="45450" marR="90975" marL="90975" anchor="ctr">
                    <a:lnT cap="flat" cmpd="sng" w="12700">
                      <a:solidFill>
                        <a:srgbClr val="F5CD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Complex View</a:t>
                      </a:r>
                      <a:endParaRPr/>
                    </a:p>
                  </a:txBody>
                  <a:tcPr marT="45450" marB="45450" marR="90975" marL="90975" anchor="ctr">
                    <a:lnT cap="flat" cmpd="sng" w="12700">
                      <a:solidFill>
                        <a:srgbClr val="F5CD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Contains only one single base table or is created from only one table.</a:t>
                      </a:r>
                      <a:endParaRPr/>
                    </a:p>
                  </a:txBody>
                  <a:tcPr marT="132600" marB="132600" marR="94775" marL="9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Contains more than one base tables or is created from more than one tables.</a:t>
                      </a:r>
                      <a:endParaRPr/>
                    </a:p>
                  </a:txBody>
                  <a:tcPr marT="132600" marB="132600" marR="94775" marL="94775" anchor="ctr"/>
                </a:tc>
              </a:tr>
              <a:tr h="6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We cannot use group functions like MAX(), COUNT(), etc.</a:t>
                      </a:r>
                      <a:endParaRPr/>
                    </a:p>
                  </a:txBody>
                  <a:tcPr marT="132600" marB="132600" marR="94775" marL="9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We can use group functions.</a:t>
                      </a:r>
                      <a:endParaRPr/>
                    </a:p>
                  </a:txBody>
                  <a:tcPr marT="132600" marB="132600" marR="94775" marL="94775" anchor="ctr"/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Does not contain groups of data.</a:t>
                      </a:r>
                      <a:endParaRPr/>
                    </a:p>
                  </a:txBody>
                  <a:tcPr marT="132600" marB="132600" marR="94775" marL="9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It can contain groups of data.</a:t>
                      </a:r>
                      <a:endParaRPr/>
                    </a:p>
                  </a:txBody>
                  <a:tcPr marT="132600" marB="132600" marR="94775" marL="94775" anchor="ctr"/>
                </a:tc>
              </a:tr>
              <a:tr h="64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DML operations could be performed through a simple view.</a:t>
                      </a:r>
                      <a:endParaRPr/>
                    </a:p>
                  </a:txBody>
                  <a:tcPr marT="132600" marB="132600" marR="94775" marL="9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DML operations could not always be performed through a complex view.</a:t>
                      </a:r>
                      <a:endParaRPr/>
                    </a:p>
                  </a:txBody>
                  <a:tcPr marT="132600" marB="132600" marR="94775" marL="94775" anchor="ctr"/>
                </a:tc>
              </a:tr>
              <a:tr h="6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INSERT, DELETE and UPDATE are directly possible on a simple view.</a:t>
                      </a:r>
                      <a:endParaRPr/>
                    </a:p>
                  </a:txBody>
                  <a:tcPr marT="132600" marB="132600" marR="94775" marL="9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We cannot apply INSERT, DELETE and UPDATE on complex view directly.</a:t>
                      </a:r>
                      <a:endParaRPr/>
                    </a:p>
                  </a:txBody>
                  <a:tcPr marT="132600" marB="132600" marR="94775" marL="94775" anchor="ctr"/>
                </a:tc>
              </a:tr>
              <a:tr h="83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Simple view does not contain group by, distinct, pseudocolumn like rownum, columns defiend by expressions.</a:t>
                      </a:r>
                      <a:endParaRPr/>
                    </a:p>
                  </a:txBody>
                  <a:tcPr marT="132600" marB="132600" marR="94775" marL="9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It can contain group by, distinct, pseudocolumn like rownum, columns defiend by expressions.</a:t>
                      </a:r>
                      <a:endParaRPr/>
                    </a:p>
                  </a:txBody>
                  <a:tcPr marT="132600" marB="132600" marR="94775" marL="94775" anchor="ctr"/>
                </a:tc>
              </a:tr>
              <a:tr h="64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Does not include NOT NULL columns from base tables.</a:t>
                      </a:r>
                      <a:endParaRPr/>
                    </a:p>
                  </a:txBody>
                  <a:tcPr marT="132600" marB="132600" marR="94775" marL="94775" anchor="ctr">
                    <a:lnB cap="flat" cmpd="sng" w="12700">
                      <a:solidFill>
                        <a:srgbClr val="F5CD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entury Schoolbook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NOT NULL columns that are not selected by simple view can be included in complex view.</a:t>
                      </a:r>
                      <a:endParaRPr/>
                    </a:p>
                  </a:txBody>
                  <a:tcPr marT="132600" marB="132600" marR="94775" marL="94775" anchor="ctr">
                    <a:lnB cap="flat" cmpd="sng" w="12700">
                      <a:solidFill>
                        <a:srgbClr val="F5CD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QUERIES</a:t>
            </a:r>
            <a:endParaRPr/>
          </a:p>
        </p:txBody>
      </p:sp>
      <p:sp>
        <p:nvSpPr>
          <p:cNvPr id="220" name="Google Shape;220;p7"/>
          <p:cNvSpPr txBox="1"/>
          <p:nvPr>
            <p:ph idx="1" type="body"/>
          </p:nvPr>
        </p:nvSpPr>
        <p:spPr>
          <a:xfrm>
            <a:off x="739775" y="1106487"/>
            <a:ext cx="79629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view consisting of basic details of employees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914400" y="3165475"/>
            <a:ext cx="63103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all employees in department ‘D01’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1085850" y="2046287"/>
            <a:ext cx="697071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create view emp_view</a:t>
            </a:r>
            <a:r>
              <a:rPr b="0" i="1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	(select empname,deptno,gender,address)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1428750" y="4005262"/>
            <a:ext cx="35147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 empname</a:t>
            </a:r>
            <a:br>
              <a:rPr b="0" i="1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from emp_view</a:t>
            </a:r>
            <a:br>
              <a:rPr b="0" i="1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 deptno=‘D01’</a:t>
            </a:r>
            <a:r>
              <a:rPr b="0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UPDATING/INSERTING/DELETING A VIEW</a:t>
            </a:r>
            <a:b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/>
          </a:p>
        </p:txBody>
      </p:sp>
      <p:sp>
        <p:nvSpPr>
          <p:cNvPr id="229" name="Google Shape;229;p8"/>
          <p:cNvSpPr txBox="1"/>
          <p:nvPr>
            <p:ph idx="1" type="body"/>
          </p:nvPr>
        </p:nvSpPr>
        <p:spPr>
          <a:xfrm>
            <a:off x="457200" y="142875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Conditions for updating/Inserting/Deleting a View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SELECT clause may not contain the keyword DISTINCT.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SELECT clause may not contain summary functions.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SELECT clause may not contain set functions.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SELECT clause may not contain set operators.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SELECT clause may not contain an ORDER BY clause.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FROM clause may not contain multiple tables.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WHERE clause may not contain subqueries.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query may not contain GROUP BY or HAVING.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Calculated columns may not be updated.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0752F"/>
              </a:buClr>
              <a:buSzPts val="108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All NOT NULL columns from the base table must be included in the view in order for the INSERT query to function.</a:t>
            </a:r>
            <a:endParaRPr/>
          </a:p>
          <a:p>
            <a:pPr indent="-193040" lvl="0" marL="2730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 cap="small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5" name="Google Shape;235;p9"/>
          <p:cNvSpPr txBox="1"/>
          <p:nvPr>
            <p:ph idx="1" type="body"/>
          </p:nvPr>
        </p:nvSpPr>
        <p:spPr>
          <a:xfrm>
            <a:off x="457200" y="167163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a view satisfies all the conditions mentioned, then view can be updated/inserted/deleted.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would ultimately update the base table from which the view was created and the same would reflect in the view itself. 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Dropping Views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DROP VIEW view_name;</a:t>
            </a:r>
            <a:endParaRPr/>
          </a:p>
          <a:p>
            <a:pPr indent="-179705" lvl="0" marL="2730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Noto Sans Symbols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 txBox="1"/>
          <p:nvPr>
            <p:ph type="title"/>
          </p:nvPr>
        </p:nvSpPr>
        <p:spPr>
          <a:xfrm>
            <a:off x="2286000" y="2895600"/>
            <a:ext cx="6172200" cy="2054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</a:pPr>
            <a:r>
              <a:rPr b="1" i="0" lang="en-US" sz="3000" u="non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TRANSACTION CONTROL LANGUAGE(TCL)</a:t>
            </a:r>
            <a:endParaRPr/>
          </a:p>
        </p:txBody>
      </p:sp>
      <p:sp>
        <p:nvSpPr>
          <p:cNvPr id="241" name="Google Shape;241;p10"/>
          <p:cNvSpPr txBox="1"/>
          <p:nvPr>
            <p:ph idx="1" type="body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1"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TRANSACTION CONTROL COMMANDS</a:t>
            </a:r>
            <a:b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/>
          </a:p>
        </p:txBody>
      </p:sp>
      <p:sp>
        <p:nvSpPr>
          <p:cNvPr id="247" name="Google Shape;247;p11"/>
          <p:cNvSpPr txBox="1"/>
          <p:nvPr>
            <p:ph idx="1" type="body"/>
          </p:nvPr>
        </p:nvSpPr>
        <p:spPr>
          <a:xfrm>
            <a:off x="457200" y="167163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following commands are used to control transactions.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1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COMMIT</a:t>
            </a: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− to save the changes.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1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ROLLBACK</a:t>
            </a: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− to roll back the changes.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1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SAVEPOINT</a:t>
            </a: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− creates points within the groups of transactions in which to ROLLBACK.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used only with the </a:t>
            </a: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DML Commands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Not applicable for DDL Commands since its autocommitted</a:t>
            </a:r>
            <a:endParaRPr/>
          </a:p>
          <a:p>
            <a:pPr indent="-166370" lvl="0" marL="2730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COMMIT COMMAND</a:t>
            </a:r>
            <a:endParaRPr/>
          </a:p>
        </p:txBody>
      </p:sp>
      <p:sp>
        <p:nvSpPr>
          <p:cNvPr id="253" name="Google Shape;253;p12"/>
          <p:cNvSpPr txBox="1"/>
          <p:nvPr>
            <p:ph idx="1" type="body"/>
          </p:nvPr>
        </p:nvSpPr>
        <p:spPr>
          <a:xfrm>
            <a:off x="457200" y="167163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COMMIT command is the transactional command used to save changes invoked by a transaction to the database. 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COMMIT command saves all the transactions to the database since the last COMMIT or ROLLBACK command.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syntax for the COMMIT command is as follows.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⚫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COMMIT;</a:t>
            </a:r>
            <a:endParaRPr/>
          </a:p>
          <a:p>
            <a:pPr indent="-210820" lvl="0" marL="2730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ROLLBACK COMMAND</a:t>
            </a:r>
            <a:endParaRPr/>
          </a:p>
        </p:txBody>
      </p:sp>
      <p:sp>
        <p:nvSpPr>
          <p:cNvPr id="259" name="Google Shape;259;p13"/>
          <p:cNvSpPr txBox="1"/>
          <p:nvPr>
            <p:ph idx="1" type="body"/>
          </p:nvPr>
        </p:nvSpPr>
        <p:spPr>
          <a:xfrm>
            <a:off x="457200" y="167163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49" lvl="1" marL="63976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ROLLBACK command is the transactional command used to undo transactions that have not already been saved to the database. </a:t>
            </a:r>
            <a:endParaRPr/>
          </a:p>
          <a:p>
            <a:pPr indent="-273049" lvl="1" marL="639762" marR="0" rtl="0" algn="just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command can only be used to undo transactions since the last COMMIT or ROLLBACK command was issued.</a:t>
            </a:r>
            <a:endParaRPr/>
          </a:p>
          <a:p>
            <a:pPr indent="-166370" lvl="0" marL="273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syntax for a ROLLBACK command is as follows:</a:t>
            </a:r>
            <a:endParaRPr/>
          </a:p>
          <a:p>
            <a:pPr indent="-182562" lvl="3" marL="11874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EC3AE"/>
              </a:buClr>
              <a:buSzPts val="840"/>
              <a:buFont typeface="Noto Sans Symbols"/>
              <a:buChar char="🞆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ROLLBACK;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SAVEPOINT COMMAND</a:t>
            </a:r>
            <a:b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/>
          </a:p>
        </p:txBody>
      </p:sp>
      <p:sp>
        <p:nvSpPr>
          <p:cNvPr id="265" name="Google Shape;265;p14"/>
          <p:cNvSpPr txBox="1"/>
          <p:nvPr>
            <p:ph idx="1" type="body"/>
          </p:nvPr>
        </p:nvSpPr>
        <p:spPr>
          <a:xfrm>
            <a:off x="457200" y="167163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SAVEPOINT is a point in a transaction when you can roll the transaction back to a certain point without rolling back the entire transaction.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syntax for a SAVEPOINT command is as shown below.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⚫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SAVEPOINT SAVEPOINT_NAME;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command serves only in the creation of a SAVEPOINT among all the transactional statements. The ROLLBACK command is used to undo a group of transactions.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syntax for rolling back to a SAVEPOINT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⚫"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ROLLBACK TO SAVEPOINT_NAME;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</a:t>
            </a:r>
            <a:endParaRPr/>
          </a:p>
        </p:txBody>
      </p:sp>
      <p:sp>
        <p:nvSpPr>
          <p:cNvPr id="271" name="Google Shape;271;p15"/>
          <p:cNvSpPr txBox="1"/>
          <p:nvPr>
            <p:ph idx="1" type="body"/>
          </p:nvPr>
        </p:nvSpPr>
        <p:spPr>
          <a:xfrm>
            <a:off x="457200" y="1316037"/>
            <a:ext cx="8458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Savepoint sp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 employee set salary=salary+salary*0.1;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 * from employee;	</a:t>
            </a:r>
            <a:r>
              <a:rPr b="1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//updated salary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Rollback to sp;				</a:t>
            </a:r>
            <a:endParaRPr b="0" i="0" sz="20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 * from employee;	</a:t>
            </a:r>
            <a:r>
              <a:rPr b="1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//salary update rolled 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 employee set salary=salary+salary*0.2;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Commit;			</a:t>
            </a:r>
            <a:r>
              <a:rPr b="1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//commit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 * from employee;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Rollback to sp;	</a:t>
            </a:r>
            <a:r>
              <a:rPr b="1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No rollback since commit statement</a:t>
            </a: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				</a:t>
            </a:r>
            <a:r>
              <a:rPr b="1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//is executed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 * from employee;</a:t>
            </a:r>
            <a:endParaRPr/>
          </a:p>
          <a:p>
            <a:pPr indent="-184150" lvl="0" marL="2730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 txBox="1"/>
          <p:nvPr>
            <p:ph type="title"/>
          </p:nvPr>
        </p:nvSpPr>
        <p:spPr>
          <a:xfrm>
            <a:off x="2286000" y="2895600"/>
            <a:ext cx="6629400" cy="2054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</a:pPr>
            <a:r>
              <a:rPr b="1" i="0" lang="en-US" sz="3000" u="none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CONTROL LANGUAGE(DCL)</a:t>
            </a:r>
            <a:endParaRPr/>
          </a:p>
        </p:txBody>
      </p:sp>
      <p:sp>
        <p:nvSpPr>
          <p:cNvPr id="277" name="Google Shape;277;p16"/>
          <p:cNvSpPr txBox="1"/>
          <p:nvPr>
            <p:ph idx="1" type="body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1"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1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GRANT AND REVOKE IN SQL</a:t>
            </a:r>
            <a:br>
              <a:rPr b="1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/>
          </a:p>
        </p:txBody>
      </p:sp>
      <p:sp>
        <p:nvSpPr>
          <p:cNvPr id="283" name="Google Shape;283;p17"/>
          <p:cNvSpPr txBox="1"/>
          <p:nvPr>
            <p:ph idx="1" type="body"/>
          </p:nvPr>
        </p:nvSpPr>
        <p:spPr>
          <a:xfrm>
            <a:off x="358775" y="1225550"/>
            <a:ext cx="8218487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 SQL, </a:t>
            </a: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GRANT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and </a:t>
            </a: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REVOKE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are used to manage user permissions on database objects.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1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GRANT Command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statement provides specific privileges to users or roles.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Syntax:</a:t>
            </a:r>
            <a:endParaRPr/>
          </a:p>
          <a:p>
            <a:pPr indent="-182562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GRANT privilege_name ON object_name TO user_name;</a:t>
            </a:r>
            <a:endParaRPr b="1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GRANT SELECT, INSERT ON employees TO user1;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grants SELECT and INSERT permissions on the employees table to user1.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18"/>
          <p:cNvGraphicFramePr/>
          <p:nvPr/>
        </p:nvGraphicFramePr>
        <p:xfrm>
          <a:off x="434975" y="1182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{EDD29A51-1B19-41C7-855A-A9325C157DC1}</a:tableStyleId>
              </a:tblPr>
              <a:tblGrid>
                <a:gridCol w="3733800"/>
                <a:gridCol w="373380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Privilege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SELECT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Allows reading data from a table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INSERT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Allows inserting new data into a table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UPDATE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Allows modifying existing data in a table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DELETE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Allows removing data from a table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ALL PRIVILEGES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Schoolbook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Grants all available privileges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89" name="Google Shape;289;p18"/>
          <p:cNvSpPr txBox="1"/>
          <p:nvPr/>
        </p:nvSpPr>
        <p:spPr>
          <a:xfrm>
            <a:off x="434975" y="458787"/>
            <a:ext cx="24161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Common Privileges: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434975" y="4541837"/>
            <a:ext cx="70104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Granting Privileges with Grant Options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GRANT SELECT ON employees TO user1 WITH GRANT OPTION;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allows user1 to further grant SELECT privileges to other users.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b="0" i="0" lang="en-US" sz="3000" u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REVOKE COMMAND</a:t>
            </a:r>
            <a:endParaRPr/>
          </a:p>
        </p:txBody>
      </p:sp>
      <p:sp>
        <p:nvSpPr>
          <p:cNvPr id="296" name="Google Shape;296;p19"/>
          <p:cNvSpPr txBox="1"/>
          <p:nvPr>
            <p:ph idx="1" type="body"/>
          </p:nvPr>
        </p:nvSpPr>
        <p:spPr>
          <a:xfrm>
            <a:off x="457200" y="167163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49" lvl="1" marL="6397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REVOKE statement removes previously granted privileges.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Syntax: 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REVOKE privilege_name ON object_name FROM user_name;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REVOKE INSERT ON employees FROM user1;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This removes the INSERT privilege from user1 on 	the employees table.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Revoking All Privileges:</a:t>
            </a:r>
            <a:endParaRPr b="0" i="0" sz="21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REVOKE ALL PRIVILEGES ON employees FROM 	user1;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This removes all privileges from user1 on the 	employees table.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 txBox="1"/>
          <p:nvPr>
            <p:ph type="title"/>
          </p:nvPr>
        </p:nvSpPr>
        <p:spPr>
          <a:xfrm>
            <a:off x="457200" y="1730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 cap="small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02" name="Google Shape;302;p20"/>
          <p:cNvSpPr txBox="1"/>
          <p:nvPr>
            <p:ph idx="1" type="body"/>
          </p:nvPr>
        </p:nvSpPr>
        <p:spPr>
          <a:xfrm>
            <a:off x="457200" y="167163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Points: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GRANT is used to provide privileges, and REVOKE is used to remove them.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Privileges can be assigned to users or roles.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WITH GRANT OPTION allows users to pass privileges to others.</a:t>
            </a:r>
            <a:endParaRPr/>
          </a:p>
          <a:p>
            <a:pPr indent="-273049" lvl="1" marL="63976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</a:pPr>
            <a:r>
              <a:rPr b="0" i="0" lang="en-US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ALL PRIVILEGES grants all possible permissions on an object.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5_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6_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1999-12-01T16:48:44Z</dcterms:created>
  <dc:creator>Marilyn Turnamian</dc:creator>
</cp:coreProperties>
</file>