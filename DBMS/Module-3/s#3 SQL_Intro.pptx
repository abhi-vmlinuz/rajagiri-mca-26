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6"/>
  </p:notesMasterIdLst>
  <p:sldIdLst>
    <p:sldId id="259"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434" r:id="rId22"/>
    <p:sldId id="279" r:id="rId23"/>
    <p:sldId id="280" r:id="rId24"/>
    <p:sldId id="281" r:id="rId25"/>
    <p:sldId id="282" r:id="rId26"/>
    <p:sldId id="283" r:id="rId27"/>
    <p:sldId id="284" r:id="rId28"/>
    <p:sldId id="285" r:id="rId29"/>
    <p:sldId id="286" r:id="rId30"/>
    <p:sldId id="287" r:id="rId31"/>
    <p:sldId id="288" r:id="rId32"/>
    <p:sldId id="432" r:id="rId33"/>
    <p:sldId id="413" r:id="rId34"/>
    <p:sldId id="433" r:id="rId35"/>
  </p:sldIdLst>
  <p:sldSz cx="12192000" cy="6858000"/>
  <p:notesSz cx="6858000" cy="9144000"/>
  <p:embeddedFontLst>
    <p:embeddedFont>
      <p:font typeface="Arimo" panose="020B0604020202020204" charset="0"/>
      <p:regular r:id="rId37"/>
      <p:bold r:id="rId38"/>
      <p:italic r:id="rId39"/>
      <p:boldItalic r:id="rId40"/>
    </p:embeddedFont>
    <p:embeddedFont>
      <p:font typeface="Calibri" panose="020F0502020204030204" pitchFamily="34" charset="0"/>
      <p:regular r:id="rId41"/>
      <p:bold r:id="rId42"/>
      <p:italic r:id="rId43"/>
      <p:boldItalic r:id="rId44"/>
    </p:embeddedFont>
    <p:embeddedFont>
      <p:font typeface="Century Gothic" panose="020B0502020202020204" pitchFamily="34" charset="0"/>
      <p:regular r:id="rId45"/>
      <p:bold r:id="rId46"/>
      <p:italic r:id="rId47"/>
      <p:boldItalic r:id="rId48"/>
    </p:embeddedFont>
    <p:embeddedFont>
      <p:font typeface="Consolas" panose="020B0609020204030204" pitchFamily="49" charset="0"/>
      <p:regular r:id="rId49"/>
      <p:bold r:id="rId50"/>
      <p:italic r:id="rId51"/>
      <p:boldItalic r:id="rId52"/>
    </p:embeddedFont>
    <p:embeddedFont>
      <p:font typeface="Garamond" panose="02020404030301010803" pitchFamily="18" charset="0"/>
      <p:regular r:id="rId53"/>
      <p:bold r:id="rId54"/>
      <p:italic r:id="rId55"/>
      <p:boldItalic r:id="rId56"/>
    </p:embeddedFont>
    <p:embeddedFont>
      <p:font typeface="Helvetica" panose="020B0604020202020204" pitchFamily="34" charset="0"/>
      <p:regular r:id="rId57"/>
      <p:bold r:id="rId58"/>
      <p:italic r:id="rId59"/>
      <p:boldItalic r:id="rId60"/>
    </p:embeddedFont>
    <p:embeddedFont>
      <p:font typeface="Helvetica Neue" panose="020B0604020202020204" charset="0"/>
      <p:regular r:id="rId61"/>
      <p:bold r:id="rId62"/>
      <p:italic r:id="rId63"/>
      <p:boldItalic r:id="rId64"/>
    </p:embeddedFont>
    <p:embeddedFont>
      <p:font typeface="Noto Sans Symbols" panose="020B0604020202020204" charset="0"/>
      <p:regular r:id="rId65"/>
      <p:bold r:id="rId66"/>
    </p:embeddedFont>
    <p:embeddedFont>
      <p:font typeface="Wingdings 2" panose="05020102010507070707" pitchFamily="18" charset="2"/>
      <p:regular r:id="rId6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5" roundtripDataSignature="AMtx7mhZZ3Ux83lxLI87QucGEtvLP51lb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1CA0F2F-2A02-4DE3-B8CA-708CFF4511C0}">
  <a:tblStyle styleId="{01CA0F2F-2A02-4DE3-B8CA-708CFF4511C0}"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AECE6"/>
          </a:solidFill>
        </a:fill>
      </a:tcStyle>
    </a:wholeTbl>
    <a:band1H>
      <a:tcTxStyle/>
      <a:tcStyle>
        <a:tcBdr/>
        <a:fill>
          <a:solidFill>
            <a:srgbClr val="F5D8CA"/>
          </a:solidFill>
        </a:fill>
      </a:tcStyle>
    </a:band1H>
    <a:band2H>
      <a:tcTxStyle/>
      <a:tcStyle>
        <a:tcBdr/>
      </a:tcStyle>
    </a:band2H>
    <a:band1V>
      <a:tcTxStyle/>
      <a:tcStyle>
        <a:tcBdr/>
        <a:fill>
          <a:solidFill>
            <a:srgbClr val="F5D8C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63FC2C5F-EE98-4A70-AB7D-2227076FA3F5}"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79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font" Target="fonts/font6.fntdata"/><Relationship Id="rId47" Type="http://schemas.openxmlformats.org/officeDocument/2006/relationships/font" Target="fonts/font11.fntdata"/><Relationship Id="rId63" Type="http://schemas.openxmlformats.org/officeDocument/2006/relationships/font" Target="fonts/font2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font" Target="fonts/font17.fntdata"/><Relationship Id="rId58" Type="http://schemas.openxmlformats.org/officeDocument/2006/relationships/font" Target="fonts/font22.fntdata"/><Relationship Id="rId66" Type="http://schemas.openxmlformats.org/officeDocument/2006/relationships/font" Target="fonts/font30.fntdata"/><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25.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font" Target="fonts/font20.fntdata"/><Relationship Id="rId64" Type="http://schemas.openxmlformats.org/officeDocument/2006/relationships/font" Target="fonts/font28.fntdata"/><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1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59" Type="http://schemas.openxmlformats.org/officeDocument/2006/relationships/font" Target="fonts/font23.fntdata"/><Relationship Id="rId67" Type="http://schemas.openxmlformats.org/officeDocument/2006/relationships/font" Target="fonts/font31.fntdata"/><Relationship Id="rId20" Type="http://schemas.openxmlformats.org/officeDocument/2006/relationships/slide" Target="slides/slide19.xml"/><Relationship Id="rId41" Type="http://schemas.openxmlformats.org/officeDocument/2006/relationships/font" Target="fonts/font5.fntdata"/><Relationship Id="rId54" Type="http://schemas.openxmlformats.org/officeDocument/2006/relationships/font" Target="fonts/font18.fntdata"/><Relationship Id="rId62" Type="http://schemas.openxmlformats.org/officeDocument/2006/relationships/font" Target="fonts/font26.fntdata"/><Relationship Id="rId75"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font" Target="fonts/font13.fntdata"/><Relationship Id="rId57" Type="http://schemas.openxmlformats.org/officeDocument/2006/relationships/font" Target="fonts/font2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font" Target="fonts/font16.fntdata"/><Relationship Id="rId60" Type="http://schemas.openxmlformats.org/officeDocument/2006/relationships/font" Target="fonts/font24.fntdata"/><Relationship Id="rId65" Type="http://schemas.openxmlformats.org/officeDocument/2006/relationships/font" Target="fonts/font29.fntdata"/><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font" Target="fonts/font3.fntdata"/><Relationship Id="rId34" Type="http://schemas.openxmlformats.org/officeDocument/2006/relationships/slide" Target="slides/slide33.xml"/><Relationship Id="rId50" Type="http://schemas.openxmlformats.org/officeDocument/2006/relationships/font" Target="fonts/font14.fntdata"/><Relationship Id="rId55" Type="http://schemas.openxmlformats.org/officeDocument/2006/relationships/font" Target="fonts/font19.fntdata"/><Relationship Id="rId7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8" name="Google Shape;15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a:solidFill>
                  <a:schemeClr val="dk1"/>
                </a:solidFill>
                <a:latin typeface="Times New Roman"/>
                <a:ea typeface="Times New Roman"/>
                <a:cs typeface="Times New Roman"/>
                <a:sym typeface="Times New Roman"/>
              </a:rPr>
              <a:t>7</a:t>
            </a:fld>
            <a:endParaRPr sz="1200" b="0">
              <a:solidFill>
                <a:schemeClr val="dk1"/>
              </a:solidFill>
              <a:latin typeface="Times New Roman"/>
              <a:ea typeface="Times New Roman"/>
              <a:cs typeface="Times New Roman"/>
              <a:sym typeface="Times New Roman"/>
            </a:endParaRPr>
          </a:p>
        </p:txBody>
      </p:sp>
      <p:sp>
        <p:nvSpPr>
          <p:cNvPr id="164" name="Google Shape;164;p10:notes"/>
          <p:cNvSpPr>
            <a:spLocks noGrp="1" noRot="1" noChangeAspect="1"/>
          </p:cNvSpPr>
          <p:nvPr>
            <p:ph type="sldImg" idx="2"/>
          </p:nvPr>
        </p:nvSpPr>
        <p:spPr>
          <a:xfrm>
            <a:off x="3438525" y="2390775"/>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5" name="Google Shape;165;p10:notes"/>
          <p:cNvSpPr txBox="1">
            <a:spLocks noGrp="1"/>
          </p:cNvSpPr>
          <p:nvPr>
            <p:ph type="body" idx="1"/>
          </p:nvPr>
        </p:nvSpPr>
        <p:spPr>
          <a:xfrm>
            <a:off x="685800" y="4400550"/>
            <a:ext cx="5486400" cy="3600450"/>
          </a:xfrm>
          <a:prstGeom prst="rect">
            <a:avLst/>
          </a:prstGeom>
          <a:noFill/>
          <a:ln>
            <a:noFill/>
          </a:ln>
        </p:spPr>
        <p:txBody>
          <a:bodyPr spcFirstLastPara="1" wrap="square" lIns="91275" tIns="45625" rIns="91275" bIns="45625"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a:solidFill>
                  <a:schemeClr val="dk1"/>
                </a:solidFill>
                <a:latin typeface="Times New Roman"/>
                <a:ea typeface="Times New Roman"/>
                <a:cs typeface="Times New Roman"/>
                <a:sym typeface="Times New Roman"/>
              </a:rPr>
              <a:t>15</a:t>
            </a:fld>
            <a:endParaRPr sz="1200" b="0">
              <a:solidFill>
                <a:schemeClr val="dk1"/>
              </a:solidFill>
              <a:latin typeface="Times New Roman"/>
              <a:ea typeface="Times New Roman"/>
              <a:cs typeface="Times New Roman"/>
              <a:sym typeface="Times New Roman"/>
            </a:endParaRPr>
          </a:p>
        </p:txBody>
      </p:sp>
      <p:sp>
        <p:nvSpPr>
          <p:cNvPr id="228" name="Google Shape;228;p18:notes"/>
          <p:cNvSpPr>
            <a:spLocks noGrp="1" noRot="1" noChangeAspect="1"/>
          </p:cNvSpPr>
          <p:nvPr>
            <p:ph type="sldImg" idx="2"/>
          </p:nvPr>
        </p:nvSpPr>
        <p:spPr>
          <a:xfrm>
            <a:off x="3438525" y="2390775"/>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9" name="Google Shape;229;p18:notes"/>
          <p:cNvSpPr txBox="1">
            <a:spLocks noGrp="1"/>
          </p:cNvSpPr>
          <p:nvPr>
            <p:ph type="body" idx="1"/>
          </p:nvPr>
        </p:nvSpPr>
        <p:spPr>
          <a:xfrm>
            <a:off x="685800" y="4400550"/>
            <a:ext cx="5486400" cy="3600450"/>
          </a:xfrm>
          <a:prstGeom prst="rect">
            <a:avLst/>
          </a:prstGeom>
          <a:noFill/>
          <a:ln>
            <a:noFill/>
          </a:ln>
        </p:spPr>
        <p:txBody>
          <a:bodyPr spcFirstLastPara="1" wrap="square" lIns="91275" tIns="45625" rIns="91275" bIns="45625"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a:solidFill>
                  <a:schemeClr val="dk1"/>
                </a:solidFill>
                <a:latin typeface="Times New Roman"/>
                <a:ea typeface="Times New Roman"/>
                <a:cs typeface="Times New Roman"/>
                <a:sym typeface="Times New Roman"/>
              </a:rPr>
              <a:t>16</a:t>
            </a:fld>
            <a:endParaRPr sz="1200" b="0">
              <a:solidFill>
                <a:schemeClr val="dk1"/>
              </a:solidFill>
              <a:latin typeface="Times New Roman"/>
              <a:ea typeface="Times New Roman"/>
              <a:cs typeface="Times New Roman"/>
              <a:sym typeface="Times New Roman"/>
            </a:endParaRPr>
          </a:p>
        </p:txBody>
      </p:sp>
      <p:sp>
        <p:nvSpPr>
          <p:cNvPr id="237" name="Google Shape;237;p19:notes"/>
          <p:cNvSpPr>
            <a:spLocks noGrp="1" noRot="1" noChangeAspect="1"/>
          </p:cNvSpPr>
          <p:nvPr>
            <p:ph type="sldImg" idx="2"/>
          </p:nvPr>
        </p:nvSpPr>
        <p:spPr>
          <a:xfrm>
            <a:off x="3438525" y="2390775"/>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8" name="Google Shape;238;p19:notes"/>
          <p:cNvSpPr txBox="1">
            <a:spLocks noGrp="1"/>
          </p:cNvSpPr>
          <p:nvPr>
            <p:ph type="body" idx="1"/>
          </p:nvPr>
        </p:nvSpPr>
        <p:spPr>
          <a:xfrm>
            <a:off x="685800" y="4400550"/>
            <a:ext cx="5486400" cy="3600450"/>
          </a:xfrm>
          <a:prstGeom prst="rect">
            <a:avLst/>
          </a:prstGeom>
          <a:noFill/>
          <a:ln>
            <a:noFill/>
          </a:ln>
        </p:spPr>
        <p:txBody>
          <a:bodyPr spcFirstLastPara="1" wrap="square" lIns="91275" tIns="45625" rIns="91275" bIns="45625"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a:solidFill>
                  <a:schemeClr val="dk1"/>
                </a:solidFill>
                <a:latin typeface="Times New Roman"/>
                <a:ea typeface="Times New Roman"/>
                <a:cs typeface="Times New Roman"/>
                <a:sym typeface="Times New Roman"/>
              </a:rPr>
              <a:t>17</a:t>
            </a:fld>
            <a:endParaRPr sz="1200" b="0">
              <a:solidFill>
                <a:schemeClr val="dk1"/>
              </a:solidFill>
              <a:latin typeface="Times New Roman"/>
              <a:ea typeface="Times New Roman"/>
              <a:cs typeface="Times New Roman"/>
              <a:sym typeface="Times New Roman"/>
            </a:endParaRPr>
          </a:p>
        </p:txBody>
      </p:sp>
      <p:sp>
        <p:nvSpPr>
          <p:cNvPr id="245" name="Google Shape;245;p20:notes"/>
          <p:cNvSpPr>
            <a:spLocks noGrp="1" noRot="1" noChangeAspect="1"/>
          </p:cNvSpPr>
          <p:nvPr>
            <p:ph type="sldImg" idx="2"/>
          </p:nvPr>
        </p:nvSpPr>
        <p:spPr>
          <a:xfrm>
            <a:off x="3438525" y="2390775"/>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6" name="Google Shape;246;p20:notes"/>
          <p:cNvSpPr txBox="1">
            <a:spLocks noGrp="1"/>
          </p:cNvSpPr>
          <p:nvPr>
            <p:ph type="body" idx="1"/>
          </p:nvPr>
        </p:nvSpPr>
        <p:spPr>
          <a:xfrm>
            <a:off x="685800" y="4400550"/>
            <a:ext cx="5486400" cy="3600450"/>
          </a:xfrm>
          <a:prstGeom prst="rect">
            <a:avLst/>
          </a:prstGeom>
          <a:noFill/>
          <a:ln>
            <a:noFill/>
          </a:ln>
        </p:spPr>
        <p:txBody>
          <a:bodyPr spcFirstLastPara="1" wrap="square" lIns="91275" tIns="45625" rIns="91275" bIns="45625"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a:solidFill>
                  <a:schemeClr val="dk1"/>
                </a:solidFill>
                <a:latin typeface="Times New Roman"/>
                <a:ea typeface="Times New Roman"/>
                <a:cs typeface="Times New Roman"/>
                <a:sym typeface="Times New Roman"/>
              </a:rPr>
              <a:t>18</a:t>
            </a:fld>
            <a:endParaRPr sz="1200" b="0">
              <a:solidFill>
                <a:schemeClr val="dk1"/>
              </a:solidFill>
              <a:latin typeface="Times New Roman"/>
              <a:ea typeface="Times New Roman"/>
              <a:cs typeface="Times New Roman"/>
              <a:sym typeface="Times New Roman"/>
            </a:endParaRPr>
          </a:p>
        </p:txBody>
      </p:sp>
      <p:sp>
        <p:nvSpPr>
          <p:cNvPr id="253" name="Google Shape;253;p21:notes"/>
          <p:cNvSpPr>
            <a:spLocks noGrp="1" noRot="1" noChangeAspect="1"/>
          </p:cNvSpPr>
          <p:nvPr>
            <p:ph type="sldImg" idx="2"/>
          </p:nvPr>
        </p:nvSpPr>
        <p:spPr>
          <a:xfrm>
            <a:off x="3438525" y="2390775"/>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4" name="Google Shape;254;p21:notes"/>
          <p:cNvSpPr txBox="1">
            <a:spLocks noGrp="1"/>
          </p:cNvSpPr>
          <p:nvPr>
            <p:ph type="body" idx="1"/>
          </p:nvPr>
        </p:nvSpPr>
        <p:spPr>
          <a:xfrm>
            <a:off x="685800" y="4400550"/>
            <a:ext cx="5486400" cy="3600450"/>
          </a:xfrm>
          <a:prstGeom prst="rect">
            <a:avLst/>
          </a:prstGeom>
          <a:noFill/>
          <a:ln>
            <a:noFill/>
          </a:ln>
        </p:spPr>
        <p:txBody>
          <a:bodyPr spcFirstLastPara="1" wrap="square" lIns="91275" tIns="45625" rIns="91275" bIns="45625"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a:solidFill>
                  <a:schemeClr val="dk1"/>
                </a:solidFill>
                <a:latin typeface="Times New Roman"/>
                <a:ea typeface="Times New Roman"/>
                <a:cs typeface="Times New Roman"/>
                <a:sym typeface="Times New Roman"/>
              </a:rPr>
              <a:t>19</a:t>
            </a:fld>
            <a:endParaRPr sz="1200" b="0">
              <a:solidFill>
                <a:schemeClr val="dk1"/>
              </a:solidFill>
              <a:latin typeface="Times New Roman"/>
              <a:ea typeface="Times New Roman"/>
              <a:cs typeface="Times New Roman"/>
              <a:sym typeface="Times New Roman"/>
            </a:endParaRPr>
          </a:p>
        </p:txBody>
      </p:sp>
      <p:sp>
        <p:nvSpPr>
          <p:cNvPr id="261" name="Google Shape;261;p22:notes"/>
          <p:cNvSpPr>
            <a:spLocks noGrp="1" noRot="1" noChangeAspect="1"/>
          </p:cNvSpPr>
          <p:nvPr>
            <p:ph type="sldImg" idx="2"/>
          </p:nvPr>
        </p:nvSpPr>
        <p:spPr>
          <a:xfrm>
            <a:off x="3438525" y="2390775"/>
            <a:ext cx="0" cy="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2" name="Google Shape;262;p22:notes"/>
          <p:cNvSpPr txBox="1">
            <a:spLocks noGrp="1"/>
          </p:cNvSpPr>
          <p:nvPr>
            <p:ph type="body" idx="1"/>
          </p:nvPr>
        </p:nvSpPr>
        <p:spPr>
          <a:xfrm>
            <a:off x="685800" y="4400550"/>
            <a:ext cx="5486400" cy="3600450"/>
          </a:xfrm>
          <a:prstGeom prst="rect">
            <a:avLst/>
          </a:prstGeom>
          <a:noFill/>
          <a:ln>
            <a:noFill/>
          </a:ln>
        </p:spPr>
        <p:txBody>
          <a:bodyPr spcFirstLastPara="1" wrap="square" lIns="91275" tIns="45625" rIns="91275" bIns="45625"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3:notes"/>
          <p:cNvSpPr/>
          <p:nvPr/>
        </p:nvSpPr>
        <p:spPr>
          <a:xfrm>
            <a:off x="4144963" y="0"/>
            <a:ext cx="3170237" cy="4794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269" name="Google Shape;269;p23:notes"/>
          <p:cNvSpPr/>
          <p:nvPr/>
        </p:nvSpPr>
        <p:spPr>
          <a:xfrm>
            <a:off x="4144963" y="9121775"/>
            <a:ext cx="3170237" cy="479425"/>
          </a:xfrm>
          <a:prstGeom prst="rect">
            <a:avLst/>
          </a:prstGeom>
          <a:noFill/>
          <a:ln>
            <a:noFill/>
          </a:ln>
        </p:spPr>
        <p:txBody>
          <a:bodyPr spcFirstLastPara="1" wrap="square" lIns="95650" tIns="46975" rIns="95650" bIns="46975" anchor="b" anchorCtr="0">
            <a:noAutofit/>
          </a:bodyPr>
          <a:lstStyle/>
          <a:p>
            <a:pPr marL="0" marR="0" lvl="0" indent="0" algn="r" rtl="0">
              <a:spcBef>
                <a:spcPts val="0"/>
              </a:spcBef>
              <a:spcAft>
                <a:spcPts val="0"/>
              </a:spcAft>
              <a:buNone/>
            </a:pPr>
            <a:r>
              <a:rPr lang="en-US" sz="1300">
                <a:solidFill>
                  <a:schemeClr val="dk1"/>
                </a:solidFill>
                <a:latin typeface="Times New Roman"/>
                <a:ea typeface="Times New Roman"/>
                <a:cs typeface="Times New Roman"/>
                <a:sym typeface="Times New Roman"/>
              </a:rPr>
              <a:t>2</a:t>
            </a:r>
            <a:endParaRPr/>
          </a:p>
        </p:txBody>
      </p:sp>
      <p:sp>
        <p:nvSpPr>
          <p:cNvPr id="270" name="Google Shape;270;p23:notes"/>
          <p:cNvSpPr/>
          <p:nvPr/>
        </p:nvSpPr>
        <p:spPr>
          <a:xfrm>
            <a:off x="0" y="9121775"/>
            <a:ext cx="3170238" cy="4794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271" name="Google Shape;271;p23:notes"/>
          <p:cNvSpPr/>
          <p:nvPr/>
        </p:nvSpPr>
        <p:spPr>
          <a:xfrm>
            <a:off x="0" y="0"/>
            <a:ext cx="3170238" cy="4794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272" name="Google Shape;27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3" name="Google Shape;273;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24:notes"/>
          <p:cNvSpPr/>
          <p:nvPr/>
        </p:nvSpPr>
        <p:spPr>
          <a:xfrm>
            <a:off x="4144963" y="0"/>
            <a:ext cx="3170237" cy="4794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279" name="Google Shape;279;p24:notes"/>
          <p:cNvSpPr/>
          <p:nvPr/>
        </p:nvSpPr>
        <p:spPr>
          <a:xfrm>
            <a:off x="4144963" y="9121775"/>
            <a:ext cx="3170237" cy="479425"/>
          </a:xfrm>
          <a:prstGeom prst="rect">
            <a:avLst/>
          </a:prstGeom>
          <a:noFill/>
          <a:ln>
            <a:noFill/>
          </a:ln>
        </p:spPr>
        <p:txBody>
          <a:bodyPr spcFirstLastPara="1" wrap="square" lIns="95650" tIns="46975" rIns="95650" bIns="46975" anchor="b" anchorCtr="0">
            <a:noAutofit/>
          </a:bodyPr>
          <a:lstStyle/>
          <a:p>
            <a:pPr marL="0" marR="0" lvl="0" indent="0" algn="r" rtl="0">
              <a:spcBef>
                <a:spcPts val="0"/>
              </a:spcBef>
              <a:spcAft>
                <a:spcPts val="0"/>
              </a:spcAft>
              <a:buNone/>
            </a:pPr>
            <a:r>
              <a:rPr lang="en-US" sz="1300">
                <a:solidFill>
                  <a:schemeClr val="dk1"/>
                </a:solidFill>
                <a:latin typeface="Times New Roman"/>
                <a:ea typeface="Times New Roman"/>
                <a:cs typeface="Times New Roman"/>
                <a:sym typeface="Times New Roman"/>
              </a:rPr>
              <a:t>3</a:t>
            </a:r>
            <a:endParaRPr/>
          </a:p>
        </p:txBody>
      </p:sp>
      <p:sp>
        <p:nvSpPr>
          <p:cNvPr id="280" name="Google Shape;280;p24:notes"/>
          <p:cNvSpPr/>
          <p:nvPr/>
        </p:nvSpPr>
        <p:spPr>
          <a:xfrm>
            <a:off x="0" y="9121775"/>
            <a:ext cx="3170238" cy="4794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281" name="Google Shape;281;p24:notes"/>
          <p:cNvSpPr/>
          <p:nvPr/>
        </p:nvSpPr>
        <p:spPr>
          <a:xfrm>
            <a:off x="0" y="0"/>
            <a:ext cx="3170238" cy="4794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282" name="Google Shape;282;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3" name="Google Shape;283;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5:notes"/>
          <p:cNvSpPr/>
          <p:nvPr/>
        </p:nvSpPr>
        <p:spPr>
          <a:xfrm>
            <a:off x="4144963" y="0"/>
            <a:ext cx="3170237" cy="4794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289" name="Google Shape;289;p25:notes"/>
          <p:cNvSpPr/>
          <p:nvPr/>
        </p:nvSpPr>
        <p:spPr>
          <a:xfrm>
            <a:off x="4144963" y="9121775"/>
            <a:ext cx="3170237" cy="479425"/>
          </a:xfrm>
          <a:prstGeom prst="rect">
            <a:avLst/>
          </a:prstGeom>
          <a:noFill/>
          <a:ln>
            <a:noFill/>
          </a:ln>
        </p:spPr>
        <p:txBody>
          <a:bodyPr spcFirstLastPara="1" wrap="square" lIns="95650" tIns="46975" rIns="95650" bIns="46975" anchor="b" anchorCtr="0">
            <a:noAutofit/>
          </a:bodyPr>
          <a:lstStyle/>
          <a:p>
            <a:pPr marL="0" marR="0" lvl="0" indent="0" algn="r" rtl="0">
              <a:spcBef>
                <a:spcPts val="0"/>
              </a:spcBef>
              <a:spcAft>
                <a:spcPts val="0"/>
              </a:spcAft>
              <a:buNone/>
            </a:pPr>
            <a:r>
              <a:rPr lang="en-US" sz="1300">
                <a:solidFill>
                  <a:schemeClr val="dk1"/>
                </a:solidFill>
                <a:latin typeface="Times New Roman"/>
                <a:ea typeface="Times New Roman"/>
                <a:cs typeface="Times New Roman"/>
                <a:sym typeface="Times New Roman"/>
              </a:rPr>
              <a:t>4</a:t>
            </a:r>
            <a:endParaRPr/>
          </a:p>
        </p:txBody>
      </p:sp>
      <p:sp>
        <p:nvSpPr>
          <p:cNvPr id="290" name="Google Shape;290;p25:notes"/>
          <p:cNvSpPr/>
          <p:nvPr/>
        </p:nvSpPr>
        <p:spPr>
          <a:xfrm>
            <a:off x="0" y="9121775"/>
            <a:ext cx="3170238" cy="4794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291" name="Google Shape;291;p25:notes"/>
          <p:cNvSpPr/>
          <p:nvPr/>
        </p:nvSpPr>
        <p:spPr>
          <a:xfrm>
            <a:off x="0" y="0"/>
            <a:ext cx="3170238" cy="4794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292" name="Google Shape;29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3" name="Google Shape;293;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26:notes"/>
          <p:cNvSpPr/>
          <p:nvPr/>
        </p:nvSpPr>
        <p:spPr>
          <a:xfrm>
            <a:off x="4144963" y="0"/>
            <a:ext cx="3170237" cy="4794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299" name="Google Shape;299;p26:notes"/>
          <p:cNvSpPr/>
          <p:nvPr/>
        </p:nvSpPr>
        <p:spPr>
          <a:xfrm>
            <a:off x="4144963" y="9121775"/>
            <a:ext cx="3170237" cy="479425"/>
          </a:xfrm>
          <a:prstGeom prst="rect">
            <a:avLst/>
          </a:prstGeom>
          <a:noFill/>
          <a:ln>
            <a:noFill/>
          </a:ln>
        </p:spPr>
        <p:txBody>
          <a:bodyPr spcFirstLastPara="1" wrap="square" lIns="95650" tIns="46975" rIns="95650" bIns="46975" anchor="b" anchorCtr="0">
            <a:noAutofit/>
          </a:bodyPr>
          <a:lstStyle/>
          <a:p>
            <a:pPr marL="0" marR="0" lvl="0" indent="0" algn="r" rtl="0">
              <a:spcBef>
                <a:spcPts val="0"/>
              </a:spcBef>
              <a:spcAft>
                <a:spcPts val="0"/>
              </a:spcAft>
              <a:buNone/>
            </a:pPr>
            <a:r>
              <a:rPr lang="en-US" sz="1300">
                <a:solidFill>
                  <a:schemeClr val="dk1"/>
                </a:solidFill>
                <a:latin typeface="Times New Roman"/>
                <a:ea typeface="Times New Roman"/>
                <a:cs typeface="Times New Roman"/>
                <a:sym typeface="Times New Roman"/>
              </a:rPr>
              <a:t>5</a:t>
            </a:r>
            <a:endParaRPr/>
          </a:p>
        </p:txBody>
      </p:sp>
      <p:sp>
        <p:nvSpPr>
          <p:cNvPr id="300" name="Google Shape;300;p26:notes"/>
          <p:cNvSpPr/>
          <p:nvPr/>
        </p:nvSpPr>
        <p:spPr>
          <a:xfrm>
            <a:off x="0" y="9121775"/>
            <a:ext cx="3170238" cy="4794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301" name="Google Shape;301;p26:notes"/>
          <p:cNvSpPr/>
          <p:nvPr/>
        </p:nvSpPr>
        <p:spPr>
          <a:xfrm>
            <a:off x="0" y="0"/>
            <a:ext cx="3170238" cy="4794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302" name="Google Shape;30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3" name="Google Shape;303;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7:notes"/>
          <p:cNvSpPr/>
          <p:nvPr/>
        </p:nvSpPr>
        <p:spPr>
          <a:xfrm>
            <a:off x="4144963" y="0"/>
            <a:ext cx="3170237" cy="4794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309" name="Google Shape;309;p27:notes"/>
          <p:cNvSpPr/>
          <p:nvPr/>
        </p:nvSpPr>
        <p:spPr>
          <a:xfrm>
            <a:off x="4144963" y="9121775"/>
            <a:ext cx="3170237" cy="479425"/>
          </a:xfrm>
          <a:prstGeom prst="rect">
            <a:avLst/>
          </a:prstGeom>
          <a:noFill/>
          <a:ln>
            <a:noFill/>
          </a:ln>
        </p:spPr>
        <p:txBody>
          <a:bodyPr spcFirstLastPara="1" wrap="square" lIns="95650" tIns="46975" rIns="95650" bIns="46975" anchor="b" anchorCtr="0">
            <a:noAutofit/>
          </a:bodyPr>
          <a:lstStyle/>
          <a:p>
            <a:pPr marL="0" marR="0" lvl="0" indent="0" algn="r" rtl="0">
              <a:spcBef>
                <a:spcPts val="0"/>
              </a:spcBef>
              <a:spcAft>
                <a:spcPts val="0"/>
              </a:spcAft>
              <a:buNone/>
            </a:pPr>
            <a:r>
              <a:rPr lang="en-US" sz="1300">
                <a:solidFill>
                  <a:schemeClr val="dk1"/>
                </a:solidFill>
                <a:latin typeface="Times New Roman"/>
                <a:ea typeface="Times New Roman"/>
                <a:cs typeface="Times New Roman"/>
                <a:sym typeface="Times New Roman"/>
              </a:rPr>
              <a:t>6</a:t>
            </a:r>
            <a:endParaRPr/>
          </a:p>
        </p:txBody>
      </p:sp>
      <p:sp>
        <p:nvSpPr>
          <p:cNvPr id="310" name="Google Shape;310;p27:notes"/>
          <p:cNvSpPr/>
          <p:nvPr/>
        </p:nvSpPr>
        <p:spPr>
          <a:xfrm>
            <a:off x="0" y="9121775"/>
            <a:ext cx="3170238" cy="4794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311" name="Google Shape;311;p27:notes"/>
          <p:cNvSpPr/>
          <p:nvPr/>
        </p:nvSpPr>
        <p:spPr>
          <a:xfrm>
            <a:off x="0" y="0"/>
            <a:ext cx="3170238" cy="4794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312" name="Google Shape;312;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3" name="Google Shape;313;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28:notes"/>
          <p:cNvSpPr/>
          <p:nvPr/>
        </p:nvSpPr>
        <p:spPr>
          <a:xfrm>
            <a:off x="4144963" y="0"/>
            <a:ext cx="3170237" cy="4794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319" name="Google Shape;319;p28:notes"/>
          <p:cNvSpPr/>
          <p:nvPr/>
        </p:nvSpPr>
        <p:spPr>
          <a:xfrm>
            <a:off x="4144963" y="9121775"/>
            <a:ext cx="3170237" cy="479425"/>
          </a:xfrm>
          <a:prstGeom prst="rect">
            <a:avLst/>
          </a:prstGeom>
          <a:noFill/>
          <a:ln>
            <a:noFill/>
          </a:ln>
        </p:spPr>
        <p:txBody>
          <a:bodyPr spcFirstLastPara="1" wrap="square" lIns="95650" tIns="46975" rIns="95650" bIns="46975" anchor="b" anchorCtr="0">
            <a:noAutofit/>
          </a:bodyPr>
          <a:lstStyle/>
          <a:p>
            <a:pPr marL="0" marR="0" lvl="0" indent="0" algn="r" rtl="0">
              <a:spcBef>
                <a:spcPts val="0"/>
              </a:spcBef>
              <a:spcAft>
                <a:spcPts val="0"/>
              </a:spcAft>
              <a:buNone/>
            </a:pPr>
            <a:r>
              <a:rPr lang="en-US" sz="1300">
                <a:solidFill>
                  <a:schemeClr val="dk1"/>
                </a:solidFill>
                <a:latin typeface="Times New Roman"/>
                <a:ea typeface="Times New Roman"/>
                <a:cs typeface="Times New Roman"/>
                <a:sym typeface="Times New Roman"/>
              </a:rPr>
              <a:t>7</a:t>
            </a:r>
            <a:endParaRPr/>
          </a:p>
        </p:txBody>
      </p:sp>
      <p:sp>
        <p:nvSpPr>
          <p:cNvPr id="320" name="Google Shape;320;p28:notes"/>
          <p:cNvSpPr/>
          <p:nvPr/>
        </p:nvSpPr>
        <p:spPr>
          <a:xfrm>
            <a:off x="0" y="9121775"/>
            <a:ext cx="3170238" cy="4794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321" name="Google Shape;321;p28:notes"/>
          <p:cNvSpPr/>
          <p:nvPr/>
        </p:nvSpPr>
        <p:spPr>
          <a:xfrm>
            <a:off x="0" y="0"/>
            <a:ext cx="3170238" cy="4794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600">
              <a:solidFill>
                <a:schemeClr val="dk1"/>
              </a:solidFill>
              <a:latin typeface="Helvetica Neue"/>
              <a:ea typeface="Helvetica Neue"/>
              <a:cs typeface="Helvetica Neue"/>
              <a:sym typeface="Helvetica Neue"/>
            </a:endParaRPr>
          </a:p>
        </p:txBody>
      </p:sp>
      <p:sp>
        <p:nvSpPr>
          <p:cNvPr id="322" name="Google Shape;32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3" name="Google Shape;323;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0" name="Google Shape;330;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6" name="Google Shape;336;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2" name="Google Shape;342;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3E515C3A-F9C9-4C8D-BBA8-FC125716AA69}"/>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D6C8AD9D-7D46-4AAB-BDC2-0D2864EC69C1}"/>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0C60020B-5F19-48B3-A206-E5C7E9687A7A}"/>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1EE6AC23-C409-4031-840E-C12D82069B35}"/>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DC0E13C3-0314-4FD2-86E9-85D8289A30DA}"/>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C171EA37-7A62-47AD-9017-CA746CAAF0B2}"/>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048BA98D-9149-4267-A8F7-136167E6C379}"/>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50BE9BCE-7BFD-4306-A1D1-460D34BFDD39}"/>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3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4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4"/>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30" name="Google Shape;30;p3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35"/>
        <p:cNvGrpSpPr/>
        <p:nvPr/>
      </p:nvGrpSpPr>
      <p:grpSpPr>
        <a:xfrm>
          <a:off x="0" y="0"/>
          <a:ext cx="0" cy="0"/>
          <a:chOff x="0" y="0"/>
          <a:chExt cx="0" cy="0"/>
        </a:xfrm>
      </p:grpSpPr>
      <p:sp>
        <p:nvSpPr>
          <p:cNvPr id="36" name="Google Shape;36;p36"/>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6"/>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6"/>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b="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36"/>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40" name="Google Shape;40;p36"/>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3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3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43" name="Google Shape;43;p36"/>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44"/>
        <p:cNvGrpSpPr/>
        <p:nvPr/>
      </p:nvGrpSpPr>
      <p:grpSpPr>
        <a:xfrm>
          <a:off x="0" y="0"/>
          <a:ext cx="0" cy="0"/>
          <a:chOff x="0" y="0"/>
          <a:chExt cx="0" cy="0"/>
        </a:xfrm>
      </p:grpSpPr>
      <p:sp>
        <p:nvSpPr>
          <p:cNvPr id="45" name="Google Shape;45;p37"/>
          <p:cNvSpPr/>
          <p:nvPr/>
        </p:nvSpPr>
        <p:spPr>
          <a:xfrm>
            <a:off x="0" y="4953000"/>
            <a:ext cx="12188825" cy="1905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7"/>
          <p:cNvSpPr/>
          <p:nvPr/>
        </p:nvSpPr>
        <p:spPr>
          <a:xfrm>
            <a:off x="15" y="491507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7"/>
          <p:cNvSpPr txBox="1">
            <a:spLocks noGrp="1"/>
          </p:cNvSpPr>
          <p:nvPr>
            <p:ph type="title"/>
          </p:nvPr>
        </p:nvSpPr>
        <p:spPr>
          <a:xfrm>
            <a:off x="1097280" y="5074920"/>
            <a:ext cx="10113264"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48" name="Google Shape;48;p37"/>
          <p:cNvPicPr preferRelativeResize="0">
            <a:picLocks noGrp="1"/>
          </p:cNvPicPr>
          <p:nvPr>
            <p:ph type="pic" idx="2"/>
          </p:nvPr>
        </p:nvPicPr>
        <p:blipFill/>
        <p:spPr>
          <a:xfrm>
            <a:off x="15" y="0"/>
            <a:ext cx="12191985" cy="4915076"/>
          </a:xfrm>
          <a:prstGeom prst="rect">
            <a:avLst/>
          </a:prstGeom>
          <a:blipFill rotWithShape="1">
            <a:blip r:embed="rId2">
              <a:alphaModFix/>
            </a:blip>
            <a:stretch>
              <a:fillRect/>
            </a:stretch>
          </a:blipFill>
          <a:ln>
            <a:noFill/>
          </a:ln>
        </p:spPr>
      </p:pic>
      <p:sp>
        <p:nvSpPr>
          <p:cNvPr id="49" name="Google Shape;49;p37"/>
          <p:cNvSpPr txBox="1">
            <a:spLocks noGrp="1"/>
          </p:cNvSpPr>
          <p:nvPr>
            <p:ph type="body" idx="1"/>
          </p:nvPr>
        </p:nvSpPr>
        <p:spPr>
          <a:xfrm>
            <a:off x="1097280" y="5907023"/>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50" name="Google Shape;50;p37"/>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37"/>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53"/>
        <p:cNvGrpSpPr/>
        <p:nvPr/>
      </p:nvGrpSpPr>
      <p:grpSpPr>
        <a:xfrm>
          <a:off x="0" y="0"/>
          <a:ext cx="0" cy="0"/>
          <a:chOff x="0" y="0"/>
          <a:chExt cx="0" cy="0"/>
        </a:xfrm>
      </p:grpSpPr>
      <p:sp>
        <p:nvSpPr>
          <p:cNvPr id="54" name="Google Shape;54;p38"/>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8"/>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8"/>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8"/>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3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59"/>
        <p:cNvGrpSpPr/>
        <p:nvPr/>
      </p:nvGrpSpPr>
      <p:grpSpPr>
        <a:xfrm>
          <a:off x="0" y="0"/>
          <a:ext cx="0" cy="0"/>
          <a:chOff x="0" y="0"/>
          <a:chExt cx="0" cy="0"/>
        </a:xfrm>
      </p:grpSpPr>
      <p:sp>
        <p:nvSpPr>
          <p:cNvPr id="60" name="Google Shape;60;p39"/>
          <p:cNvSpPr/>
          <p:nvPr/>
        </p:nvSpPr>
        <p:spPr>
          <a:xfrm>
            <a:off x="16" y="0"/>
            <a:ext cx="4050791"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9"/>
          <p:cNvSpPr/>
          <p:nvPr/>
        </p:nvSpPr>
        <p:spPr>
          <a:xfrm>
            <a:off x="4040071" y="0"/>
            <a:ext cx="64008"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9"/>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9"/>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4" name="Google Shape;64;p39"/>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65" name="Google Shape;65;p39"/>
          <p:cNvSpPr txBox="1">
            <a:spLocks noGrp="1"/>
          </p:cNvSpPr>
          <p:nvPr>
            <p:ph type="dt" idx="10"/>
          </p:nvPr>
        </p:nvSpPr>
        <p:spPr>
          <a:xfrm>
            <a:off x="465512" y="6459785"/>
            <a:ext cx="26185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9"/>
          <p:cNvSpPr txBox="1">
            <a:spLocks noGrp="1"/>
          </p:cNvSpPr>
          <p:nvPr>
            <p:ph type="ftr" idx="11"/>
          </p:nvPr>
        </p:nvSpPr>
        <p:spPr>
          <a:xfrm>
            <a:off x="4800600" y="6459785"/>
            <a:ext cx="4648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50">
                <a:solidFill>
                  <a:schemeClr val="dk2"/>
                </a:solidFill>
                <a:latin typeface="Calibri"/>
                <a:ea typeface="Calibri"/>
                <a:cs typeface="Calibri"/>
                <a:sym typeface="Calibri"/>
              </a:defRPr>
            </a:lvl1pPr>
            <a:lvl2pPr marL="0" lvl="1" indent="0" algn="r">
              <a:spcBef>
                <a:spcPts val="0"/>
              </a:spcBef>
              <a:buNone/>
              <a:defRPr sz="1050">
                <a:solidFill>
                  <a:schemeClr val="dk2"/>
                </a:solidFill>
                <a:latin typeface="Calibri"/>
                <a:ea typeface="Calibri"/>
                <a:cs typeface="Calibri"/>
                <a:sym typeface="Calibri"/>
              </a:defRPr>
            </a:lvl2pPr>
            <a:lvl3pPr marL="0" lvl="2" indent="0" algn="r">
              <a:spcBef>
                <a:spcPts val="0"/>
              </a:spcBef>
              <a:buNone/>
              <a:defRPr sz="1050">
                <a:solidFill>
                  <a:schemeClr val="dk2"/>
                </a:solidFill>
                <a:latin typeface="Calibri"/>
                <a:ea typeface="Calibri"/>
                <a:cs typeface="Calibri"/>
                <a:sym typeface="Calibri"/>
              </a:defRPr>
            </a:lvl3pPr>
            <a:lvl4pPr marL="0" lvl="3" indent="0" algn="r">
              <a:spcBef>
                <a:spcPts val="0"/>
              </a:spcBef>
              <a:buNone/>
              <a:defRPr sz="1050">
                <a:solidFill>
                  <a:schemeClr val="dk2"/>
                </a:solidFill>
                <a:latin typeface="Calibri"/>
                <a:ea typeface="Calibri"/>
                <a:cs typeface="Calibri"/>
                <a:sym typeface="Calibri"/>
              </a:defRPr>
            </a:lvl4pPr>
            <a:lvl5pPr marL="0" lvl="4" indent="0" algn="r">
              <a:spcBef>
                <a:spcPts val="0"/>
              </a:spcBef>
              <a:buNone/>
              <a:defRPr sz="1050">
                <a:solidFill>
                  <a:schemeClr val="dk2"/>
                </a:solidFill>
                <a:latin typeface="Calibri"/>
                <a:ea typeface="Calibri"/>
                <a:cs typeface="Calibri"/>
                <a:sym typeface="Calibri"/>
              </a:defRPr>
            </a:lvl5pPr>
            <a:lvl6pPr marL="0" lvl="5" indent="0" algn="r">
              <a:spcBef>
                <a:spcPts val="0"/>
              </a:spcBef>
              <a:buNone/>
              <a:defRPr sz="1050">
                <a:solidFill>
                  <a:schemeClr val="dk2"/>
                </a:solidFill>
                <a:latin typeface="Calibri"/>
                <a:ea typeface="Calibri"/>
                <a:cs typeface="Calibri"/>
                <a:sym typeface="Calibri"/>
              </a:defRPr>
            </a:lvl6pPr>
            <a:lvl7pPr marL="0" lvl="6" indent="0" algn="r">
              <a:spcBef>
                <a:spcPts val="0"/>
              </a:spcBef>
              <a:buNone/>
              <a:defRPr sz="1050">
                <a:solidFill>
                  <a:schemeClr val="dk2"/>
                </a:solidFill>
                <a:latin typeface="Calibri"/>
                <a:ea typeface="Calibri"/>
                <a:cs typeface="Calibri"/>
                <a:sym typeface="Calibri"/>
              </a:defRPr>
            </a:lvl7pPr>
            <a:lvl8pPr marL="0" lvl="7" indent="0" algn="r">
              <a:spcBef>
                <a:spcPts val="0"/>
              </a:spcBef>
              <a:buNone/>
              <a:defRPr sz="1050">
                <a:solidFill>
                  <a:schemeClr val="dk2"/>
                </a:solidFill>
                <a:latin typeface="Calibri"/>
                <a:ea typeface="Calibri"/>
                <a:cs typeface="Calibri"/>
                <a:sym typeface="Calibri"/>
              </a:defRPr>
            </a:lvl8pPr>
            <a:lvl9pPr marL="0" lvl="8" indent="0" algn="r">
              <a:spcBef>
                <a:spcPts val="0"/>
              </a:spcBef>
              <a:buNone/>
              <a:defRPr sz="1050">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68"/>
        <p:cNvGrpSpPr/>
        <p:nvPr/>
      </p:nvGrpSpPr>
      <p:grpSpPr>
        <a:xfrm>
          <a:off x="0" y="0"/>
          <a:ext cx="0" cy="0"/>
          <a:chOff x="0" y="0"/>
          <a:chExt cx="0" cy="0"/>
        </a:xfrm>
      </p:grpSpPr>
      <p:sp>
        <p:nvSpPr>
          <p:cNvPr id="69" name="Google Shape;69;p4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40"/>
          <p:cNvSpPr txBox="1">
            <a:spLocks noGrp="1"/>
          </p:cNvSpPr>
          <p:nvPr>
            <p:ph type="body" idx="1"/>
          </p:nvPr>
        </p:nvSpPr>
        <p:spPr>
          <a:xfrm>
            <a:off x="1097279" y="1845734"/>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1" name="Google Shape;71;p40"/>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2" name="Google Shape;72;p4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4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5"/>
        <p:cNvGrpSpPr/>
        <p:nvPr/>
      </p:nvGrpSpPr>
      <p:grpSpPr>
        <a:xfrm>
          <a:off x="0" y="0"/>
          <a:ext cx="0" cy="0"/>
          <a:chOff x="0" y="0"/>
          <a:chExt cx="0" cy="0"/>
        </a:xfrm>
      </p:grpSpPr>
      <p:sp>
        <p:nvSpPr>
          <p:cNvPr id="76" name="Google Shape;76;p4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41"/>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78" name="Google Shape;78;p41"/>
          <p:cNvSpPr txBox="1">
            <a:spLocks noGrp="1"/>
          </p:cNvSpPr>
          <p:nvPr>
            <p:ph type="body" idx="2"/>
          </p:nvPr>
        </p:nvSpPr>
        <p:spPr>
          <a:xfrm>
            <a:off x="109728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9" name="Google Shape;79;p41"/>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80" name="Google Shape;80;p41"/>
          <p:cNvSpPr txBox="1">
            <a:spLocks noGrp="1"/>
          </p:cNvSpPr>
          <p:nvPr>
            <p:ph type="body" idx="4"/>
          </p:nvPr>
        </p:nvSpPr>
        <p:spPr>
          <a:xfrm>
            <a:off x="621792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81" name="Google Shape;81;p4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4"/>
        <p:cNvGrpSpPr/>
        <p:nvPr/>
      </p:nvGrpSpPr>
      <p:grpSpPr>
        <a:xfrm>
          <a:off x="0" y="0"/>
          <a:ext cx="0" cy="0"/>
          <a:chOff x="0" y="0"/>
          <a:chExt cx="0" cy="0"/>
        </a:xfrm>
      </p:grpSpPr>
      <p:sp>
        <p:nvSpPr>
          <p:cNvPr id="85" name="Google Shape;85;p4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4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4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4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9"/>
        <p:cNvGrpSpPr/>
        <p:nvPr/>
      </p:nvGrpSpPr>
      <p:grpSpPr>
        <a:xfrm>
          <a:off x="0" y="0"/>
          <a:ext cx="0" cy="0"/>
          <a:chOff x="0" y="0"/>
          <a:chExt cx="0" cy="0"/>
        </a:xfrm>
      </p:grpSpPr>
      <p:sp>
        <p:nvSpPr>
          <p:cNvPr id="90" name="Google Shape;90;p4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43"/>
          <p:cNvSpPr txBox="1">
            <a:spLocks noGrp="1"/>
          </p:cNvSpPr>
          <p:nvPr>
            <p:ph type="body" idx="1"/>
          </p:nvPr>
        </p:nvSpPr>
        <p:spPr>
          <a:xfrm rot="5400000">
            <a:off x="4114800" y="-1171786"/>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2" name="Google Shape;92;p4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4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4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5"/>
        <p:cNvGrpSpPr/>
        <p:nvPr/>
      </p:nvGrpSpPr>
      <p:grpSpPr>
        <a:xfrm>
          <a:off x="0" y="0"/>
          <a:ext cx="0" cy="0"/>
          <a:chOff x="0" y="0"/>
          <a:chExt cx="0" cy="0"/>
        </a:xfrm>
      </p:grpSpPr>
      <p:sp>
        <p:nvSpPr>
          <p:cNvPr id="96" name="Google Shape;96;p44"/>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44"/>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44"/>
          <p:cNvSpPr txBox="1">
            <a:spLocks noGrp="1"/>
          </p:cNvSpPr>
          <p:nvPr>
            <p:ph type="title"/>
          </p:nvPr>
        </p:nvSpPr>
        <p:spPr>
          <a:xfrm rot="5400000">
            <a:off x="7160640" y="1979039"/>
            <a:ext cx="5757421"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44"/>
          <p:cNvSpPr txBox="1">
            <a:spLocks noGrp="1"/>
          </p:cNvSpPr>
          <p:nvPr>
            <p:ph type="body" idx="1"/>
          </p:nvPr>
        </p:nvSpPr>
        <p:spPr>
          <a:xfrm rot="5400000">
            <a:off x="1826639" y="-573661"/>
            <a:ext cx="5757422"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00" name="Google Shape;100;p4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4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4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2"/>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32"/>
          <p:cNvSpPr/>
          <p:nvPr/>
        </p:nvSpPr>
        <p:spPr>
          <a:xfrm>
            <a:off x="0" y="6334316"/>
            <a:ext cx="12192001" cy="659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3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32"/>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4" name="Google Shape;14;p3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3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3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b="0" i="0" u="none" strike="noStrike" cap="none">
                <a:solidFill>
                  <a:srgbClr val="FFFFFF"/>
                </a:solidFill>
                <a:latin typeface="Calibri"/>
                <a:ea typeface="Calibri"/>
                <a:cs typeface="Calibri"/>
                <a:sym typeface="Calibri"/>
              </a:defRPr>
            </a:lvl1pPr>
            <a:lvl2pPr marL="0" marR="0" lvl="1" indent="0" algn="r" rtl="0">
              <a:spcBef>
                <a:spcPts val="0"/>
              </a:spcBef>
              <a:buNone/>
              <a:defRPr sz="1050" b="0" i="0" u="none" strike="noStrike" cap="none">
                <a:solidFill>
                  <a:srgbClr val="FFFFFF"/>
                </a:solidFill>
                <a:latin typeface="Calibri"/>
                <a:ea typeface="Calibri"/>
                <a:cs typeface="Calibri"/>
                <a:sym typeface="Calibri"/>
              </a:defRPr>
            </a:lvl2pPr>
            <a:lvl3pPr marL="0" marR="0" lvl="2" indent="0" algn="r" rtl="0">
              <a:spcBef>
                <a:spcPts val="0"/>
              </a:spcBef>
              <a:buNone/>
              <a:defRPr sz="1050" b="0" i="0" u="none" strike="noStrike" cap="none">
                <a:solidFill>
                  <a:srgbClr val="FFFFFF"/>
                </a:solidFill>
                <a:latin typeface="Calibri"/>
                <a:ea typeface="Calibri"/>
                <a:cs typeface="Calibri"/>
                <a:sym typeface="Calibri"/>
              </a:defRPr>
            </a:lvl3pPr>
            <a:lvl4pPr marL="0" marR="0" lvl="3" indent="0" algn="r" rtl="0">
              <a:spcBef>
                <a:spcPts val="0"/>
              </a:spcBef>
              <a:buNone/>
              <a:defRPr sz="1050" b="0" i="0" u="none" strike="noStrike" cap="none">
                <a:solidFill>
                  <a:srgbClr val="FFFFFF"/>
                </a:solidFill>
                <a:latin typeface="Calibri"/>
                <a:ea typeface="Calibri"/>
                <a:cs typeface="Calibri"/>
                <a:sym typeface="Calibri"/>
              </a:defRPr>
            </a:lvl4pPr>
            <a:lvl5pPr marL="0" marR="0" lvl="4" indent="0" algn="r" rtl="0">
              <a:spcBef>
                <a:spcPts val="0"/>
              </a:spcBef>
              <a:buNone/>
              <a:defRPr sz="1050" b="0" i="0" u="none" strike="noStrike" cap="none">
                <a:solidFill>
                  <a:srgbClr val="FFFFFF"/>
                </a:solidFill>
                <a:latin typeface="Calibri"/>
                <a:ea typeface="Calibri"/>
                <a:cs typeface="Calibri"/>
                <a:sym typeface="Calibri"/>
              </a:defRPr>
            </a:lvl5pPr>
            <a:lvl6pPr marL="0" marR="0" lvl="5" indent="0" algn="r" rtl="0">
              <a:spcBef>
                <a:spcPts val="0"/>
              </a:spcBef>
              <a:buNone/>
              <a:defRPr sz="1050" b="0" i="0" u="none" strike="noStrike" cap="none">
                <a:solidFill>
                  <a:srgbClr val="FFFFFF"/>
                </a:solidFill>
                <a:latin typeface="Calibri"/>
                <a:ea typeface="Calibri"/>
                <a:cs typeface="Calibri"/>
                <a:sym typeface="Calibri"/>
              </a:defRPr>
            </a:lvl6pPr>
            <a:lvl7pPr marL="0" marR="0" lvl="6" indent="0" algn="r" rtl="0">
              <a:spcBef>
                <a:spcPts val="0"/>
              </a:spcBef>
              <a:buNone/>
              <a:defRPr sz="1050" b="0" i="0" u="none" strike="noStrike" cap="none">
                <a:solidFill>
                  <a:srgbClr val="FFFFFF"/>
                </a:solidFill>
                <a:latin typeface="Calibri"/>
                <a:ea typeface="Calibri"/>
                <a:cs typeface="Calibri"/>
                <a:sym typeface="Calibri"/>
              </a:defRPr>
            </a:lvl7pPr>
            <a:lvl8pPr marL="0" marR="0" lvl="7" indent="0" algn="r" rtl="0">
              <a:spcBef>
                <a:spcPts val="0"/>
              </a:spcBef>
              <a:buNone/>
              <a:defRPr sz="1050" b="0" i="0" u="none" strike="noStrike" cap="none">
                <a:solidFill>
                  <a:srgbClr val="FFFFFF"/>
                </a:solidFill>
                <a:latin typeface="Calibri"/>
                <a:ea typeface="Calibri"/>
                <a:cs typeface="Calibri"/>
                <a:sym typeface="Calibri"/>
              </a:defRPr>
            </a:lvl8pPr>
            <a:lvl9pPr marL="0" marR="0" lvl="8" indent="0" algn="r" rtl="0">
              <a:spcBef>
                <a:spcPts val="0"/>
              </a:spcBef>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7" name="Google Shape;17;p32"/>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50"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4"/>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262626"/>
              </a:buClr>
              <a:buSzPts val="6000"/>
              <a:buFont typeface="Calibri"/>
              <a:buNone/>
            </a:pPr>
            <a:r>
              <a:rPr lang="en-US" sz="6000"/>
              <a:t>SQL -Structured Query Language</a:t>
            </a:r>
            <a:endParaRPr sz="6000"/>
          </a:p>
        </p:txBody>
      </p:sp>
      <p:sp>
        <p:nvSpPr>
          <p:cNvPr id="131" name="Google Shape;131;p4"/>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400"/>
              <a:buNone/>
            </a:pPr>
            <a:r>
              <a:rPr lang="en-US"/>
              <a:t>A LANGUAGE FOR RELATIONAL DBMS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History</a:t>
            </a:r>
            <a:endParaRPr/>
          </a:p>
        </p:txBody>
      </p:sp>
      <p:sp>
        <p:nvSpPr>
          <p:cNvPr id="137" name="Google Shape;137;p5"/>
          <p:cNvSpPr txBox="1">
            <a:spLocks noGrp="1"/>
          </p:cNvSpPr>
          <p:nvPr>
            <p:ph type="body" idx="1"/>
          </p:nvPr>
        </p:nvSpPr>
        <p:spPr>
          <a:xfrm>
            <a:off x="2091267" y="1947334"/>
            <a:ext cx="6908800" cy="4199997"/>
          </a:xfrm>
          <a:prstGeom prst="rect">
            <a:avLst/>
          </a:prstGeom>
          <a:noFill/>
          <a:ln>
            <a:noFill/>
          </a:ln>
        </p:spPr>
        <p:txBody>
          <a:bodyPr spcFirstLastPara="1" wrap="square" lIns="0" tIns="45700" rIns="0" bIns="45700" anchor="t" anchorCtr="0">
            <a:normAutofit lnSpcReduction="10000"/>
          </a:bodyPr>
          <a:lstStyle/>
          <a:p>
            <a:pPr marL="91440" lvl="0" indent="-127000" algn="l" rtl="0">
              <a:lnSpc>
                <a:spcPct val="90000"/>
              </a:lnSpc>
              <a:spcBef>
                <a:spcPts val="0"/>
              </a:spcBef>
              <a:spcAft>
                <a:spcPts val="0"/>
              </a:spcAft>
              <a:buSzPts val="2000"/>
              <a:buChar char=" "/>
            </a:pPr>
            <a:r>
              <a:rPr lang="en-US"/>
              <a:t>IBM Sequel language developed as part of System R project at the IBM San Jose Research Laboratory</a:t>
            </a:r>
            <a:endParaRPr/>
          </a:p>
          <a:p>
            <a:pPr marL="91440" lvl="0" indent="-127000" algn="l" rtl="0">
              <a:lnSpc>
                <a:spcPct val="90000"/>
              </a:lnSpc>
              <a:spcBef>
                <a:spcPts val="1400"/>
              </a:spcBef>
              <a:spcAft>
                <a:spcPts val="0"/>
              </a:spcAft>
              <a:buSzPts val="2000"/>
              <a:buChar char=" "/>
            </a:pPr>
            <a:r>
              <a:rPr lang="en-US"/>
              <a:t>Renamed Structured Query Language (SQL)</a:t>
            </a:r>
            <a:endParaRPr/>
          </a:p>
          <a:p>
            <a:pPr marL="91440" lvl="0" indent="-127000" algn="l" rtl="0">
              <a:lnSpc>
                <a:spcPct val="90000"/>
              </a:lnSpc>
              <a:spcBef>
                <a:spcPts val="1400"/>
              </a:spcBef>
              <a:spcAft>
                <a:spcPts val="0"/>
              </a:spcAft>
              <a:buSzPts val="2000"/>
              <a:buChar char=" "/>
            </a:pPr>
            <a:r>
              <a:rPr lang="en-US"/>
              <a:t>ANSI and ISO standard SQL:</a:t>
            </a:r>
            <a:endParaRPr/>
          </a:p>
          <a:p>
            <a:pPr marL="384048" lvl="1" indent="-182880" algn="l" rtl="0">
              <a:lnSpc>
                <a:spcPct val="90000"/>
              </a:lnSpc>
              <a:spcBef>
                <a:spcPts val="400"/>
              </a:spcBef>
              <a:spcAft>
                <a:spcPts val="0"/>
              </a:spcAft>
              <a:buSzPts val="1400"/>
              <a:buChar char="◦"/>
            </a:pPr>
            <a:r>
              <a:rPr lang="en-US" sz="1400"/>
              <a:t>SQL-86</a:t>
            </a:r>
            <a:endParaRPr/>
          </a:p>
          <a:p>
            <a:pPr marL="384048" lvl="1" indent="-182880" algn="l" rtl="0">
              <a:lnSpc>
                <a:spcPct val="90000"/>
              </a:lnSpc>
              <a:spcBef>
                <a:spcPts val="600"/>
              </a:spcBef>
              <a:spcAft>
                <a:spcPts val="0"/>
              </a:spcAft>
              <a:buSzPts val="1400"/>
              <a:buChar char="◦"/>
            </a:pPr>
            <a:r>
              <a:rPr lang="en-US" sz="1400"/>
              <a:t>SQL-89</a:t>
            </a:r>
            <a:endParaRPr/>
          </a:p>
          <a:p>
            <a:pPr marL="384048" lvl="1" indent="-182880" algn="l" rtl="0">
              <a:lnSpc>
                <a:spcPct val="90000"/>
              </a:lnSpc>
              <a:spcBef>
                <a:spcPts val="600"/>
              </a:spcBef>
              <a:spcAft>
                <a:spcPts val="0"/>
              </a:spcAft>
              <a:buSzPts val="1400"/>
              <a:buChar char="◦"/>
            </a:pPr>
            <a:r>
              <a:rPr lang="en-US" sz="1400"/>
              <a:t>SQL-92</a:t>
            </a:r>
            <a:endParaRPr/>
          </a:p>
          <a:p>
            <a:pPr marL="384048" lvl="1" indent="-182880" algn="l" rtl="0">
              <a:lnSpc>
                <a:spcPct val="90000"/>
              </a:lnSpc>
              <a:spcBef>
                <a:spcPts val="600"/>
              </a:spcBef>
              <a:spcAft>
                <a:spcPts val="0"/>
              </a:spcAft>
              <a:buSzPts val="1400"/>
              <a:buChar char="◦"/>
            </a:pPr>
            <a:r>
              <a:rPr lang="en-US" sz="1400"/>
              <a:t>SQL:1999</a:t>
            </a:r>
            <a:endParaRPr/>
          </a:p>
          <a:p>
            <a:pPr marL="384048" lvl="1" indent="-182880" algn="l" rtl="0">
              <a:lnSpc>
                <a:spcPct val="90000"/>
              </a:lnSpc>
              <a:spcBef>
                <a:spcPts val="600"/>
              </a:spcBef>
              <a:spcAft>
                <a:spcPts val="0"/>
              </a:spcAft>
              <a:buSzPts val="1400"/>
              <a:buChar char="◦"/>
            </a:pPr>
            <a:r>
              <a:rPr lang="en-US" sz="1400"/>
              <a:t>SQL:2003</a:t>
            </a:r>
            <a:endParaRPr/>
          </a:p>
          <a:p>
            <a:pPr marL="384048" lvl="1" indent="-182880" algn="l" rtl="0">
              <a:lnSpc>
                <a:spcPct val="90000"/>
              </a:lnSpc>
              <a:spcBef>
                <a:spcPts val="600"/>
              </a:spcBef>
              <a:spcAft>
                <a:spcPts val="0"/>
              </a:spcAft>
              <a:buSzPts val="1400"/>
              <a:buChar char="◦"/>
            </a:pPr>
            <a:r>
              <a:rPr lang="en-US" sz="1400"/>
              <a:t>SQL:2006</a:t>
            </a:r>
            <a:endParaRPr/>
          </a:p>
          <a:p>
            <a:pPr marL="384048" lvl="1" indent="-182880" algn="l" rtl="0">
              <a:lnSpc>
                <a:spcPct val="90000"/>
              </a:lnSpc>
              <a:spcBef>
                <a:spcPts val="600"/>
              </a:spcBef>
              <a:spcAft>
                <a:spcPts val="0"/>
              </a:spcAft>
              <a:buSzPts val="1400"/>
              <a:buChar char="◦"/>
            </a:pPr>
            <a:r>
              <a:rPr lang="en-US" sz="1400"/>
              <a:t>SQL:2008</a:t>
            </a:r>
            <a:endParaRPr/>
          </a:p>
          <a:p>
            <a:pPr marL="384048" lvl="1" indent="-182880" algn="l" rtl="0">
              <a:lnSpc>
                <a:spcPct val="90000"/>
              </a:lnSpc>
              <a:spcBef>
                <a:spcPts val="600"/>
              </a:spcBef>
              <a:spcAft>
                <a:spcPts val="0"/>
              </a:spcAft>
              <a:buSzPts val="1400"/>
              <a:buChar char="◦"/>
            </a:pPr>
            <a:r>
              <a:rPr lang="en-US" sz="1400"/>
              <a:t>SQL:2011</a:t>
            </a:r>
            <a:endParaRPr/>
          </a:p>
          <a:p>
            <a:pPr marL="384048" lvl="1" indent="-182880" algn="l" rtl="0">
              <a:lnSpc>
                <a:spcPct val="90000"/>
              </a:lnSpc>
              <a:spcBef>
                <a:spcPts val="600"/>
              </a:spcBef>
              <a:spcAft>
                <a:spcPts val="0"/>
              </a:spcAft>
              <a:buSzPts val="1400"/>
              <a:buChar char="◦"/>
            </a:pPr>
            <a:r>
              <a:rPr lang="en-US" sz="1400"/>
              <a:t>SQL:2016</a:t>
            </a:r>
            <a:endParaRPr/>
          </a:p>
          <a:p>
            <a:pPr marL="384048" lvl="1" indent="-182880" algn="l" rtl="0">
              <a:lnSpc>
                <a:spcPct val="90000"/>
              </a:lnSpc>
              <a:spcBef>
                <a:spcPts val="600"/>
              </a:spcBef>
              <a:spcAft>
                <a:spcPts val="0"/>
              </a:spcAft>
              <a:buSzPts val="1400"/>
              <a:buChar char="◦"/>
            </a:pPr>
            <a:r>
              <a:rPr lang="en-US" sz="1400"/>
              <a:t>SQL:2023</a:t>
            </a:r>
            <a:endParaRPr/>
          </a:p>
          <a:p>
            <a:pPr marL="566928" lvl="2" indent="-273050" algn="l" rtl="0">
              <a:lnSpc>
                <a:spcPct val="90000"/>
              </a:lnSpc>
              <a:spcBef>
                <a:spcPts val="600"/>
              </a:spcBef>
              <a:spcAft>
                <a:spcPts val="0"/>
              </a:spcAft>
              <a:buSzPts val="1800"/>
              <a:buNone/>
            </a:pPr>
            <a:r>
              <a:rPr lang="en-US" sz="1800"/>
              <a:t>“Not all examples here may work on your particular system”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6"/>
          <p:cNvSpPr txBox="1">
            <a:spLocks noGrp="1"/>
          </p:cNvSpPr>
          <p:nvPr>
            <p:ph type="title"/>
          </p:nvPr>
        </p:nvSpPr>
        <p:spPr>
          <a:xfrm>
            <a:off x="2211388" y="327026"/>
            <a:ext cx="8077200" cy="746125"/>
          </a:xfrm>
          <a:prstGeom prst="rect">
            <a:avLst/>
          </a:prstGeom>
          <a:noFill/>
          <a:ln>
            <a:noFill/>
          </a:ln>
        </p:spPr>
        <p:txBody>
          <a:bodyPr spcFirstLastPara="1" wrap="square" lIns="91425" tIns="45700" rIns="91425" bIns="45700" anchor="b" anchorCtr="0">
            <a:normAutofit fontScale="90000"/>
          </a:bodyPr>
          <a:lstStyle/>
          <a:p>
            <a:pPr marL="0" lvl="0" indent="0" algn="l" rtl="0">
              <a:lnSpc>
                <a:spcPct val="85000"/>
              </a:lnSpc>
              <a:spcBef>
                <a:spcPts val="0"/>
              </a:spcBef>
              <a:spcAft>
                <a:spcPts val="0"/>
              </a:spcAft>
              <a:buClr>
                <a:srgbClr val="3F3F3F"/>
              </a:buClr>
              <a:buSzPct val="100000"/>
              <a:buFont typeface="Calibri"/>
              <a:buNone/>
            </a:pPr>
            <a:r>
              <a:rPr lang="en-US"/>
              <a:t>SQL - A language for Relational DBs</a:t>
            </a:r>
            <a:endParaRPr/>
          </a:p>
        </p:txBody>
      </p:sp>
      <p:sp>
        <p:nvSpPr>
          <p:cNvPr id="143" name="Google Shape;143;p6"/>
          <p:cNvSpPr txBox="1">
            <a:spLocks noGrp="1"/>
          </p:cNvSpPr>
          <p:nvPr>
            <p:ph type="body" idx="1"/>
          </p:nvPr>
        </p:nvSpPr>
        <p:spPr>
          <a:xfrm>
            <a:off x="1845734" y="1837266"/>
            <a:ext cx="8280400" cy="4004733"/>
          </a:xfrm>
          <a:prstGeom prst="rect">
            <a:avLst/>
          </a:prstGeom>
          <a:noFill/>
          <a:ln>
            <a:noFill/>
          </a:ln>
        </p:spPr>
        <p:txBody>
          <a:bodyPr spcFirstLastPara="1" wrap="square" lIns="0" tIns="45700" rIns="0" bIns="45700" anchor="t" anchorCtr="0">
            <a:normAutofit/>
          </a:bodyPr>
          <a:lstStyle/>
          <a:p>
            <a:pPr marL="91440" lvl="0" indent="0" algn="l" rtl="0">
              <a:lnSpc>
                <a:spcPct val="90000"/>
              </a:lnSpc>
              <a:spcBef>
                <a:spcPts val="0"/>
              </a:spcBef>
              <a:spcAft>
                <a:spcPts val="0"/>
              </a:spcAft>
              <a:buSzPts val="2000"/>
              <a:buNone/>
            </a:pPr>
            <a:endParaRPr/>
          </a:p>
          <a:p>
            <a:pPr marL="91440" lvl="0" indent="-127000" algn="l" rtl="0">
              <a:lnSpc>
                <a:spcPct val="90000"/>
              </a:lnSpc>
              <a:spcBef>
                <a:spcPts val="1400"/>
              </a:spcBef>
              <a:spcAft>
                <a:spcPts val="0"/>
              </a:spcAft>
              <a:buSzPts val="2000"/>
              <a:buChar char=" "/>
            </a:pPr>
            <a:r>
              <a:rPr lang="en-US"/>
              <a:t>Data Definition Language (DDL)- create, alter, drop</a:t>
            </a:r>
            <a:endParaRPr/>
          </a:p>
          <a:p>
            <a:pPr marL="91440" lvl="0" indent="-127000" algn="l" rtl="0">
              <a:lnSpc>
                <a:spcPct val="90000"/>
              </a:lnSpc>
              <a:spcBef>
                <a:spcPts val="1400"/>
              </a:spcBef>
              <a:spcAft>
                <a:spcPts val="0"/>
              </a:spcAft>
              <a:buSzPts val="2000"/>
              <a:buChar char=" "/>
            </a:pPr>
            <a:r>
              <a:rPr lang="en-US"/>
              <a:t>Data Manipulation Language (DML)-insert, update, delete, select</a:t>
            </a:r>
            <a:endParaRPr/>
          </a:p>
          <a:p>
            <a:pPr marL="91440" lvl="0" indent="-127000" algn="l" rtl="0">
              <a:lnSpc>
                <a:spcPct val="90000"/>
              </a:lnSpc>
              <a:spcBef>
                <a:spcPts val="1400"/>
              </a:spcBef>
              <a:spcAft>
                <a:spcPts val="0"/>
              </a:spcAft>
              <a:buSzPts val="2000"/>
              <a:buChar char=" "/>
            </a:pPr>
            <a:r>
              <a:rPr lang="en-US"/>
              <a:t>Data Control Language (DCL)-grant, revoke</a:t>
            </a:r>
            <a:endParaRPr/>
          </a:p>
          <a:p>
            <a:pPr marL="91440" lvl="0" indent="-127000" algn="l" rtl="0">
              <a:lnSpc>
                <a:spcPct val="90000"/>
              </a:lnSpc>
              <a:spcBef>
                <a:spcPts val="1400"/>
              </a:spcBef>
              <a:spcAft>
                <a:spcPts val="0"/>
              </a:spcAft>
              <a:buSzPts val="2000"/>
              <a:buChar char=" "/>
            </a:pPr>
            <a:r>
              <a:rPr lang="en-US"/>
              <a:t>Transaction Control language(TCL)-commit, savepoint, rollback</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7"/>
          <p:cNvSpPr txBox="1">
            <a:spLocks noGrp="1"/>
          </p:cNvSpPr>
          <p:nvPr>
            <p:ph type="title"/>
          </p:nvPr>
        </p:nvSpPr>
        <p:spPr>
          <a:xfrm>
            <a:off x="1097280" y="5074920"/>
            <a:ext cx="10113264" cy="822960"/>
          </a:xfrm>
          <a:prstGeom prst="rect">
            <a:avLst/>
          </a:prstGeom>
          <a:noFill/>
          <a:ln>
            <a:noFill/>
          </a:ln>
        </p:spPr>
        <p:txBody>
          <a:bodyPr spcFirstLastPara="1" wrap="square" lIns="91425" tIns="0" rIns="91425" bIns="0" anchor="b" anchorCtr="0">
            <a:noAutofit/>
          </a:bodyPr>
          <a:lstStyle/>
          <a:p>
            <a:pPr marL="0" lvl="0" indent="0" algn="l" rtl="0">
              <a:lnSpc>
                <a:spcPct val="85000"/>
              </a:lnSpc>
              <a:spcBef>
                <a:spcPts val="0"/>
              </a:spcBef>
              <a:spcAft>
                <a:spcPts val="0"/>
              </a:spcAft>
              <a:buClr>
                <a:srgbClr val="FFFFFF"/>
              </a:buClr>
              <a:buSzPts val="3600"/>
              <a:buFont typeface="Calibri"/>
              <a:buNone/>
            </a:pPr>
            <a:r>
              <a:rPr lang="en-US"/>
              <a:t>Data Definition Language (DDL)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Data Definition Language</a:t>
            </a:r>
            <a:endParaRPr/>
          </a:p>
        </p:txBody>
      </p:sp>
      <p:sp>
        <p:nvSpPr>
          <p:cNvPr id="154" name="Google Shape;154;p8"/>
          <p:cNvSpPr txBox="1">
            <a:spLocks noGrp="1"/>
          </p:cNvSpPr>
          <p:nvPr>
            <p:ph type="body" idx="1"/>
          </p:nvPr>
        </p:nvSpPr>
        <p:spPr>
          <a:xfrm>
            <a:off x="2562225" y="2846388"/>
            <a:ext cx="6637338" cy="2633662"/>
          </a:xfrm>
          <a:prstGeom prst="rect">
            <a:avLst/>
          </a:prstGeom>
          <a:noFill/>
          <a:ln>
            <a:noFill/>
          </a:ln>
        </p:spPr>
        <p:txBody>
          <a:bodyPr spcFirstLastPara="1" wrap="square" lIns="0" tIns="45700" rIns="0" bIns="45700" anchor="t" anchorCtr="0">
            <a:normAutofit/>
          </a:bodyPr>
          <a:lstStyle/>
          <a:p>
            <a:pPr marL="274320" lvl="0" indent="-274320" algn="l" rtl="0">
              <a:lnSpc>
                <a:spcPct val="90000"/>
              </a:lnSpc>
              <a:spcBef>
                <a:spcPts val="0"/>
              </a:spcBef>
              <a:spcAft>
                <a:spcPts val="0"/>
              </a:spcAft>
              <a:buSzPts val="2000"/>
              <a:buFont typeface="Noto Sans Symbols"/>
              <a:buChar char="🞆"/>
            </a:pPr>
            <a:r>
              <a:rPr lang="en-US"/>
              <a:t>The schema for each relation.</a:t>
            </a:r>
            <a:endParaRPr/>
          </a:p>
          <a:p>
            <a:pPr marL="274320" lvl="0" indent="-274320" algn="l" rtl="0">
              <a:lnSpc>
                <a:spcPct val="90000"/>
              </a:lnSpc>
              <a:spcBef>
                <a:spcPts val="1200"/>
              </a:spcBef>
              <a:spcAft>
                <a:spcPts val="0"/>
              </a:spcAft>
              <a:buSzPts val="2000"/>
              <a:buFont typeface="Noto Sans Symbols"/>
              <a:buChar char="🞆"/>
            </a:pPr>
            <a:r>
              <a:rPr lang="en-US"/>
              <a:t>The domain of values associated with each attribute.</a:t>
            </a:r>
            <a:endParaRPr/>
          </a:p>
          <a:p>
            <a:pPr marL="274320" lvl="0" indent="-274320" algn="l" rtl="0">
              <a:lnSpc>
                <a:spcPct val="90000"/>
              </a:lnSpc>
              <a:spcBef>
                <a:spcPts val="1200"/>
              </a:spcBef>
              <a:spcAft>
                <a:spcPts val="0"/>
              </a:spcAft>
              <a:buSzPts val="2000"/>
              <a:buFont typeface="Noto Sans Symbols"/>
              <a:buChar char="🞆"/>
            </a:pPr>
            <a:r>
              <a:rPr lang="en-US"/>
              <a:t>Integrity constraints</a:t>
            </a:r>
            <a:endParaRPr/>
          </a:p>
          <a:p>
            <a:pPr marL="274320" lvl="0" indent="-274320" algn="l" rtl="0">
              <a:lnSpc>
                <a:spcPct val="90000"/>
              </a:lnSpc>
              <a:spcBef>
                <a:spcPts val="1200"/>
              </a:spcBef>
              <a:spcAft>
                <a:spcPts val="0"/>
              </a:spcAft>
              <a:buSzPts val="2000"/>
              <a:buFont typeface="Noto Sans Symbols"/>
              <a:buChar char="🞆"/>
            </a:pPr>
            <a:r>
              <a:rPr lang="en-US">
                <a:solidFill>
                  <a:srgbClr val="FF0000"/>
                </a:solidFill>
              </a:rPr>
              <a:t>The set of indices to be maintained for each relations.</a:t>
            </a:r>
            <a:endParaRPr/>
          </a:p>
          <a:p>
            <a:pPr marL="274320" lvl="0" indent="-274320" algn="l" rtl="0">
              <a:lnSpc>
                <a:spcPct val="90000"/>
              </a:lnSpc>
              <a:spcBef>
                <a:spcPts val="1200"/>
              </a:spcBef>
              <a:spcAft>
                <a:spcPts val="0"/>
              </a:spcAft>
              <a:buSzPts val="2000"/>
              <a:buFont typeface="Noto Sans Symbols"/>
              <a:buChar char="🞆"/>
            </a:pPr>
            <a:r>
              <a:rPr lang="en-US"/>
              <a:t>Security and authorization information for each relation.</a:t>
            </a:r>
            <a:endParaRPr/>
          </a:p>
          <a:p>
            <a:pPr marL="274320" lvl="0" indent="-274320" algn="l" rtl="0">
              <a:lnSpc>
                <a:spcPct val="90000"/>
              </a:lnSpc>
              <a:spcBef>
                <a:spcPts val="1200"/>
              </a:spcBef>
              <a:spcAft>
                <a:spcPts val="0"/>
              </a:spcAft>
              <a:buSzPts val="2000"/>
              <a:buFont typeface="Noto Sans Symbols"/>
              <a:buChar char="🞆"/>
            </a:pPr>
            <a:r>
              <a:rPr lang="en-US">
                <a:solidFill>
                  <a:srgbClr val="FF0000"/>
                </a:solidFill>
              </a:rPr>
              <a:t>The physical storage structure of each relation on disk.</a:t>
            </a:r>
            <a:endParaRPr/>
          </a:p>
        </p:txBody>
      </p:sp>
      <p:sp>
        <p:nvSpPr>
          <p:cNvPr id="155" name="Google Shape;155;p8"/>
          <p:cNvSpPr txBox="1"/>
          <p:nvPr/>
        </p:nvSpPr>
        <p:spPr>
          <a:xfrm>
            <a:off x="1097280" y="1941036"/>
            <a:ext cx="1073912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Helvetica Neue"/>
                <a:ea typeface="Helvetica Neue"/>
                <a:cs typeface="Helvetica Neue"/>
                <a:sym typeface="Helvetica Neue"/>
              </a:rPr>
              <a:t>Deals with structure of the relation/table: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Domain Types in SQL</a:t>
            </a:r>
            <a:endParaRPr/>
          </a:p>
        </p:txBody>
      </p:sp>
      <p:sp>
        <p:nvSpPr>
          <p:cNvPr id="161" name="Google Shape;161;p9"/>
          <p:cNvSpPr txBox="1">
            <a:spLocks noGrp="1"/>
          </p:cNvSpPr>
          <p:nvPr>
            <p:ph type="body" idx="1"/>
          </p:nvPr>
        </p:nvSpPr>
        <p:spPr>
          <a:xfrm>
            <a:off x="2220912" y="2015068"/>
            <a:ext cx="8091487" cy="4131732"/>
          </a:xfrm>
          <a:prstGeom prst="rect">
            <a:avLst/>
          </a:prstGeom>
          <a:noFill/>
          <a:ln>
            <a:noFill/>
          </a:ln>
        </p:spPr>
        <p:txBody>
          <a:bodyPr spcFirstLastPara="1" wrap="square" lIns="0" tIns="45700" rIns="0" bIns="45700" anchor="t" anchorCtr="0">
            <a:normAutofit fontScale="92500" lnSpcReduction="20000"/>
          </a:bodyPr>
          <a:lstStyle/>
          <a:p>
            <a:pPr marL="274320" lvl="0" indent="-274320" algn="l" rtl="0">
              <a:lnSpc>
                <a:spcPct val="90000"/>
              </a:lnSpc>
              <a:spcBef>
                <a:spcPts val="0"/>
              </a:spcBef>
              <a:spcAft>
                <a:spcPts val="0"/>
              </a:spcAft>
              <a:buSzPct val="100000"/>
              <a:buFont typeface="Noto Sans Symbols"/>
              <a:buChar char="🞆"/>
            </a:pPr>
            <a:r>
              <a:rPr lang="en-US" b="1" dirty="0">
                <a:solidFill>
                  <a:schemeClr val="dk2"/>
                </a:solidFill>
              </a:rPr>
              <a:t>char(n).</a:t>
            </a:r>
            <a:r>
              <a:rPr lang="en-US" dirty="0"/>
              <a:t>  Fixed length character string, with user-specified length </a:t>
            </a:r>
            <a:r>
              <a:rPr lang="en-US" i="1" dirty="0"/>
              <a:t>n.</a:t>
            </a:r>
            <a:endParaRPr dirty="0"/>
          </a:p>
          <a:p>
            <a:pPr marL="274320" lvl="0" indent="-274320" algn="l" rtl="0">
              <a:lnSpc>
                <a:spcPct val="90000"/>
              </a:lnSpc>
              <a:spcBef>
                <a:spcPts val="1200"/>
              </a:spcBef>
              <a:spcAft>
                <a:spcPts val="0"/>
              </a:spcAft>
              <a:buSzPct val="100000"/>
              <a:buFont typeface="Noto Sans Symbols"/>
              <a:buChar char="🞆"/>
            </a:pPr>
            <a:r>
              <a:rPr lang="en-US" b="1" dirty="0">
                <a:solidFill>
                  <a:schemeClr val="dk2"/>
                </a:solidFill>
              </a:rPr>
              <a:t>varchar(n)/varchar2(n).</a:t>
            </a:r>
            <a:r>
              <a:rPr lang="en-US" b="1" dirty="0"/>
              <a:t> </a:t>
            </a:r>
            <a:r>
              <a:rPr lang="en-US" dirty="0"/>
              <a:t> Variable length character strings, with user-specified maximum length </a:t>
            </a:r>
            <a:r>
              <a:rPr lang="en-US" i="1" dirty="0"/>
              <a:t>n.</a:t>
            </a:r>
            <a:endParaRPr dirty="0"/>
          </a:p>
          <a:p>
            <a:pPr marL="274320" lvl="0" indent="-274320" algn="l" rtl="0">
              <a:lnSpc>
                <a:spcPct val="90000"/>
              </a:lnSpc>
              <a:spcBef>
                <a:spcPts val="1200"/>
              </a:spcBef>
              <a:spcAft>
                <a:spcPts val="0"/>
              </a:spcAft>
              <a:buSzPct val="100000"/>
              <a:buFont typeface="Noto Sans Symbols"/>
              <a:buChar char="🞆"/>
            </a:pPr>
            <a:r>
              <a:rPr lang="en-US" b="1" dirty="0">
                <a:solidFill>
                  <a:schemeClr val="dk2"/>
                </a:solidFill>
              </a:rPr>
              <a:t>int.</a:t>
            </a:r>
            <a:r>
              <a:rPr lang="en-US" b="1" dirty="0"/>
              <a:t>  </a:t>
            </a:r>
            <a:r>
              <a:rPr lang="en-US" dirty="0"/>
              <a:t>Integer (a finite subset of the integers that is machine-dependent).</a:t>
            </a:r>
            <a:endParaRPr dirty="0"/>
          </a:p>
          <a:p>
            <a:pPr marL="274320" lvl="0" indent="-274320" algn="l" rtl="0">
              <a:lnSpc>
                <a:spcPct val="90000"/>
              </a:lnSpc>
              <a:spcBef>
                <a:spcPts val="1200"/>
              </a:spcBef>
              <a:spcAft>
                <a:spcPts val="0"/>
              </a:spcAft>
              <a:buSzPct val="100000"/>
              <a:buFont typeface="Noto Sans Symbols"/>
              <a:buChar char="🞆"/>
            </a:pPr>
            <a:r>
              <a:rPr lang="en-US" b="1" dirty="0" err="1">
                <a:solidFill>
                  <a:schemeClr val="dk2"/>
                </a:solidFill>
              </a:rPr>
              <a:t>smallint</a:t>
            </a:r>
            <a:r>
              <a:rPr lang="en-US" b="1" dirty="0">
                <a:solidFill>
                  <a:schemeClr val="dk2"/>
                </a:solidFill>
              </a:rPr>
              <a:t>.</a:t>
            </a:r>
            <a:r>
              <a:rPr lang="en-US" dirty="0"/>
              <a:t>  Small integer (a machine-dependent subset of the integer domain type).</a:t>
            </a:r>
            <a:endParaRPr dirty="0"/>
          </a:p>
          <a:p>
            <a:pPr marL="274320" lvl="0" indent="-274320" algn="l" rtl="0">
              <a:lnSpc>
                <a:spcPct val="90000"/>
              </a:lnSpc>
              <a:spcBef>
                <a:spcPts val="1200"/>
              </a:spcBef>
              <a:spcAft>
                <a:spcPts val="0"/>
              </a:spcAft>
              <a:buSzPct val="100000"/>
              <a:buFont typeface="Noto Sans Symbols"/>
              <a:buChar char="🞆"/>
            </a:pPr>
            <a:r>
              <a:rPr lang="en-US" b="1" dirty="0">
                <a:solidFill>
                  <a:schemeClr val="dk2"/>
                </a:solidFill>
              </a:rPr>
              <a:t>numeric(</a:t>
            </a:r>
            <a:r>
              <a:rPr lang="en-US" b="1" dirty="0" err="1">
                <a:solidFill>
                  <a:schemeClr val="dk2"/>
                </a:solidFill>
              </a:rPr>
              <a:t>p,d</a:t>
            </a:r>
            <a:r>
              <a:rPr lang="en-US" b="1" dirty="0">
                <a:solidFill>
                  <a:schemeClr val="dk2"/>
                </a:solidFill>
              </a:rPr>
              <a:t>).</a:t>
            </a:r>
            <a:r>
              <a:rPr lang="en-US" dirty="0"/>
              <a:t>  Fixed point number, with user-specified precision of </a:t>
            </a:r>
            <a:r>
              <a:rPr lang="en-US" i="1" dirty="0"/>
              <a:t>p</a:t>
            </a:r>
            <a:r>
              <a:rPr lang="en-US" dirty="0"/>
              <a:t> digits, with </a:t>
            </a:r>
            <a:r>
              <a:rPr lang="en-US" i="1" dirty="0"/>
              <a:t>n</a:t>
            </a:r>
            <a:r>
              <a:rPr lang="en-US" dirty="0"/>
              <a:t> digits to the right of decimal point. </a:t>
            </a:r>
            <a:endParaRPr dirty="0"/>
          </a:p>
          <a:p>
            <a:pPr marL="274320" lvl="0" indent="-274320" algn="l" rtl="0">
              <a:lnSpc>
                <a:spcPct val="90000"/>
              </a:lnSpc>
              <a:spcBef>
                <a:spcPts val="1200"/>
              </a:spcBef>
              <a:spcAft>
                <a:spcPts val="0"/>
              </a:spcAft>
              <a:buSzPct val="100000"/>
              <a:buFont typeface="Noto Sans Symbols"/>
              <a:buChar char="🞆"/>
            </a:pPr>
            <a:r>
              <a:rPr lang="en-US" b="1" dirty="0">
                <a:solidFill>
                  <a:schemeClr val="dk2"/>
                </a:solidFill>
              </a:rPr>
              <a:t>real, double precision.</a:t>
            </a:r>
            <a:r>
              <a:rPr lang="en-US" dirty="0"/>
              <a:t>  Floating point and double-precision floating point numbers, with machine-dependent precision.</a:t>
            </a:r>
            <a:endParaRPr dirty="0"/>
          </a:p>
          <a:p>
            <a:pPr marL="274320" lvl="0" indent="-274320" algn="l" rtl="0">
              <a:lnSpc>
                <a:spcPct val="90000"/>
              </a:lnSpc>
              <a:spcBef>
                <a:spcPts val="1200"/>
              </a:spcBef>
              <a:spcAft>
                <a:spcPts val="0"/>
              </a:spcAft>
              <a:buSzPct val="100000"/>
              <a:buFont typeface="Noto Sans Symbols"/>
              <a:buChar char="🞆"/>
            </a:pPr>
            <a:r>
              <a:rPr lang="en-US" b="1" dirty="0">
                <a:solidFill>
                  <a:schemeClr val="dk2"/>
                </a:solidFill>
              </a:rPr>
              <a:t>float(n).</a:t>
            </a:r>
            <a:r>
              <a:rPr lang="en-US" dirty="0"/>
              <a:t>  Floating point number, with user-specified precision of at least </a:t>
            </a:r>
            <a:r>
              <a:rPr lang="en-US" i="1" dirty="0"/>
              <a:t>n</a:t>
            </a:r>
            <a:r>
              <a:rPr lang="en-US" dirty="0"/>
              <a:t> digits.</a:t>
            </a:r>
            <a:endParaRPr dirty="0"/>
          </a:p>
          <a:p>
            <a:pPr marL="274320" lvl="0" indent="-274320" algn="l" rtl="0">
              <a:lnSpc>
                <a:spcPct val="90000"/>
              </a:lnSpc>
              <a:spcBef>
                <a:spcPts val="1200"/>
              </a:spcBef>
              <a:spcAft>
                <a:spcPts val="0"/>
              </a:spcAft>
              <a:buSzPct val="100000"/>
              <a:buFont typeface="Noto Sans Symbols"/>
              <a:buChar char="🞆"/>
            </a:pPr>
            <a:r>
              <a:rPr lang="en-US" b="1" dirty="0">
                <a:solidFill>
                  <a:schemeClr val="dk2"/>
                </a:solidFill>
              </a:rPr>
              <a:t>Date. </a:t>
            </a:r>
            <a:r>
              <a:rPr lang="en-US" dirty="0"/>
              <a:t>Date in dd-</a:t>
            </a:r>
            <a:r>
              <a:rPr lang="en-US" dirty="0" err="1"/>
              <a:t>mon</a:t>
            </a:r>
            <a:r>
              <a:rPr lang="en-US" dirty="0"/>
              <a:t>-</a:t>
            </a:r>
            <a:r>
              <a:rPr lang="en-US" dirty="0" err="1"/>
              <a:t>yyyy</a:t>
            </a:r>
            <a:r>
              <a:rPr lang="en-US" dirty="0"/>
              <a:t> or dd/</a:t>
            </a:r>
            <a:r>
              <a:rPr lang="en-US" dirty="0" err="1"/>
              <a:t>mon</a:t>
            </a:r>
            <a:r>
              <a:rPr lang="en-US" dirty="0"/>
              <a:t>/</a:t>
            </a:r>
            <a:r>
              <a:rPr lang="en-US" dirty="0" err="1"/>
              <a:t>yyyy</a:t>
            </a:r>
            <a:r>
              <a:rPr lang="en-US" dirty="0"/>
              <a:t> format</a:t>
            </a:r>
            <a:endParaRPr dirty="0"/>
          </a:p>
          <a:p>
            <a:pPr marL="274320" lvl="0" indent="-274320" algn="l" rtl="0">
              <a:lnSpc>
                <a:spcPct val="90000"/>
              </a:lnSpc>
              <a:spcBef>
                <a:spcPts val="1200"/>
              </a:spcBef>
              <a:spcAft>
                <a:spcPts val="0"/>
              </a:spcAft>
              <a:buSzPct val="100000"/>
              <a:buNone/>
            </a:pPr>
            <a:endParaRPr dirty="0"/>
          </a:p>
          <a:p>
            <a:pPr marL="274320" lvl="0" indent="-274320" algn="l" rtl="0">
              <a:lnSpc>
                <a:spcPct val="90000"/>
              </a:lnSpc>
              <a:spcBef>
                <a:spcPts val="1200"/>
              </a:spcBef>
              <a:spcAft>
                <a:spcPts val="0"/>
              </a:spcAft>
              <a:buSzPct val="100000"/>
              <a:buNone/>
            </a:pPr>
            <a:endParaRPr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400" b="0">
                <a:solidFill>
                  <a:schemeClr val="dk1"/>
                </a:solidFill>
                <a:latin typeface="Times New Roman"/>
                <a:ea typeface="Times New Roman"/>
                <a:cs typeface="Times New Roman"/>
                <a:sym typeface="Times New Roman"/>
              </a:rPr>
              <a:t>7</a:t>
            </a:fld>
            <a:endParaRPr sz="1400" b="0">
              <a:solidFill>
                <a:schemeClr val="dk1"/>
              </a:solidFill>
              <a:latin typeface="Times New Roman"/>
              <a:ea typeface="Times New Roman"/>
              <a:cs typeface="Times New Roman"/>
              <a:sym typeface="Times New Roman"/>
            </a:endParaRPr>
          </a:p>
        </p:txBody>
      </p:sp>
      <p:sp>
        <p:nvSpPr>
          <p:cNvPr id="168" name="Google Shape;168;p10"/>
          <p:cNvSpPr txBox="1">
            <a:spLocks noGrp="1"/>
          </p:cNvSpPr>
          <p:nvPr>
            <p:ph type="body" idx="4294967295"/>
          </p:nvPr>
        </p:nvSpPr>
        <p:spPr>
          <a:xfrm>
            <a:off x="3657600" y="1143000"/>
            <a:ext cx="8534400" cy="5105400"/>
          </a:xfrm>
          <a:prstGeom prst="rect">
            <a:avLst/>
          </a:prstGeom>
          <a:noFill/>
          <a:ln>
            <a:noFill/>
          </a:ln>
        </p:spPr>
        <p:txBody>
          <a:bodyPr spcFirstLastPara="1" wrap="square" lIns="0" tIns="45700" rIns="0" bIns="45700" anchor="t" anchorCtr="0">
            <a:normAutofit/>
          </a:bodyPr>
          <a:lstStyle/>
          <a:p>
            <a:pPr marL="533400" lvl="0" indent="-533400" algn="l" rtl="0">
              <a:lnSpc>
                <a:spcPct val="90000"/>
              </a:lnSpc>
              <a:spcBef>
                <a:spcPts val="0"/>
              </a:spcBef>
              <a:spcAft>
                <a:spcPts val="0"/>
              </a:spcAft>
              <a:buSzPts val="2400"/>
              <a:buChar char=" "/>
            </a:pPr>
            <a:r>
              <a:rPr lang="en-US" sz="2400" b="1"/>
              <a:t>Syntax</a:t>
            </a:r>
            <a:endParaRPr/>
          </a:p>
          <a:p>
            <a:pPr marL="1023938" lvl="1" indent="-457200" algn="l" rtl="0">
              <a:lnSpc>
                <a:spcPct val="90000"/>
              </a:lnSpc>
              <a:spcBef>
                <a:spcPts val="400"/>
              </a:spcBef>
              <a:spcAft>
                <a:spcPts val="0"/>
              </a:spcAft>
              <a:buSzPts val="2000"/>
              <a:buNone/>
            </a:pPr>
            <a:r>
              <a:rPr lang="en-US" sz="2000"/>
              <a:t>CREATE TABLE table_name</a:t>
            </a:r>
            <a:endParaRPr sz="2000"/>
          </a:p>
          <a:p>
            <a:pPr marL="1023938" lvl="1" indent="-457200" algn="l" rtl="0">
              <a:lnSpc>
                <a:spcPct val="90000"/>
              </a:lnSpc>
              <a:spcBef>
                <a:spcPts val="600"/>
              </a:spcBef>
              <a:spcAft>
                <a:spcPts val="0"/>
              </a:spcAft>
              <a:buSzPts val="2000"/>
              <a:buNone/>
            </a:pPr>
            <a:r>
              <a:rPr lang="en-US" sz="2000"/>
              <a:t>(Column_name	datatype[(size)],</a:t>
            </a:r>
            <a:endParaRPr/>
          </a:p>
          <a:p>
            <a:pPr marL="1023938" lvl="1" indent="-457200" algn="l" rtl="0">
              <a:lnSpc>
                <a:spcPct val="90000"/>
              </a:lnSpc>
              <a:spcBef>
                <a:spcPts val="600"/>
              </a:spcBef>
              <a:spcAft>
                <a:spcPts val="0"/>
              </a:spcAft>
              <a:buSzPts val="2000"/>
              <a:buNone/>
            </a:pPr>
            <a:r>
              <a:rPr lang="en-US" sz="2000"/>
              <a:t> Column_name	datatype[(size)],</a:t>
            </a:r>
            <a:endParaRPr/>
          </a:p>
          <a:p>
            <a:pPr marL="1023938" lvl="1" indent="-457200" algn="l" rtl="0">
              <a:lnSpc>
                <a:spcPct val="90000"/>
              </a:lnSpc>
              <a:spcBef>
                <a:spcPts val="600"/>
              </a:spcBef>
              <a:spcAft>
                <a:spcPts val="0"/>
              </a:spcAft>
              <a:buSzPts val="2000"/>
              <a:buNone/>
            </a:pPr>
            <a:r>
              <a:rPr lang="en-US" sz="2000"/>
              <a:t>)</a:t>
            </a:r>
            <a:endParaRPr/>
          </a:p>
          <a:p>
            <a:pPr marL="533400" lvl="0" indent="-533400" algn="l" rtl="0">
              <a:lnSpc>
                <a:spcPct val="90000"/>
              </a:lnSpc>
              <a:spcBef>
                <a:spcPts val="1600"/>
              </a:spcBef>
              <a:spcAft>
                <a:spcPts val="0"/>
              </a:spcAft>
              <a:buSzPts val="2400"/>
              <a:buChar char=" "/>
            </a:pPr>
            <a:r>
              <a:rPr lang="en-US" sz="2400" b="1"/>
              <a:t>Example</a:t>
            </a:r>
            <a:endParaRPr/>
          </a:p>
          <a:p>
            <a:pPr marL="533400" lvl="0" indent="-533400" algn="l" rtl="0">
              <a:lnSpc>
                <a:spcPct val="90000"/>
              </a:lnSpc>
              <a:spcBef>
                <a:spcPts val="1400"/>
              </a:spcBef>
              <a:spcAft>
                <a:spcPts val="0"/>
              </a:spcAft>
              <a:buSzPts val="2400"/>
              <a:buNone/>
            </a:pPr>
            <a:endParaRPr sz="2400"/>
          </a:p>
        </p:txBody>
      </p:sp>
      <p:sp>
        <p:nvSpPr>
          <p:cNvPr id="169" name="Google Shape;169;p10"/>
          <p:cNvSpPr/>
          <p:nvPr/>
        </p:nvSpPr>
        <p:spPr>
          <a:xfrm>
            <a:off x="1244601" y="152400"/>
            <a:ext cx="7772400" cy="990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4800" b="1">
                <a:solidFill>
                  <a:srgbClr val="3F3F3F"/>
                </a:solidFill>
                <a:latin typeface="Calibri"/>
                <a:ea typeface="Calibri"/>
                <a:cs typeface="Calibri"/>
                <a:sym typeface="Calibri"/>
              </a:rPr>
              <a:t>DDL : Creating a Table</a:t>
            </a:r>
            <a:endParaRPr/>
          </a:p>
        </p:txBody>
      </p:sp>
      <p:pic>
        <p:nvPicPr>
          <p:cNvPr id="170" name="Google Shape;170;p10"/>
          <p:cNvPicPr preferRelativeResize="0"/>
          <p:nvPr/>
        </p:nvPicPr>
        <p:blipFill rotWithShape="1">
          <a:blip r:embed="rId3">
            <a:alphaModFix/>
          </a:blip>
          <a:srcRect/>
          <a:stretch/>
        </p:blipFill>
        <p:spPr>
          <a:xfrm>
            <a:off x="4500795" y="3635844"/>
            <a:ext cx="3350114" cy="2356247"/>
          </a:xfrm>
          <a:prstGeom prst="rect">
            <a:avLst/>
          </a:prstGeom>
          <a:noFill/>
          <a:ln>
            <a:noFill/>
          </a:ln>
        </p:spPr>
      </p:pic>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graphicFrame>
        <p:nvGraphicFramePr>
          <p:cNvPr id="175" name="Google Shape;175;p11"/>
          <p:cNvGraphicFramePr/>
          <p:nvPr/>
        </p:nvGraphicFramePr>
        <p:xfrm>
          <a:off x="2050473" y="2095500"/>
          <a:ext cx="8317950" cy="2907030"/>
        </p:xfrm>
        <a:graphic>
          <a:graphicData uri="http://schemas.openxmlformats.org/drawingml/2006/table">
            <a:tbl>
              <a:tblPr>
                <a:noFill/>
                <a:tableStyleId>{01CA0F2F-2A02-4DE3-B8CA-708CFF4511C0}</a:tableStyleId>
              </a:tblPr>
              <a:tblGrid>
                <a:gridCol w="1510850">
                  <a:extLst>
                    <a:ext uri="{9D8B030D-6E8A-4147-A177-3AD203B41FA5}">
                      <a16:colId xmlns:a16="http://schemas.microsoft.com/office/drawing/2014/main" val="20000"/>
                    </a:ext>
                  </a:extLst>
                </a:gridCol>
                <a:gridCol w="3638250">
                  <a:extLst>
                    <a:ext uri="{9D8B030D-6E8A-4147-A177-3AD203B41FA5}">
                      <a16:colId xmlns:a16="http://schemas.microsoft.com/office/drawing/2014/main" val="20001"/>
                    </a:ext>
                  </a:extLst>
                </a:gridCol>
                <a:gridCol w="3168850">
                  <a:extLst>
                    <a:ext uri="{9D8B030D-6E8A-4147-A177-3AD203B41FA5}">
                      <a16:colId xmlns:a16="http://schemas.microsoft.com/office/drawing/2014/main" val="20002"/>
                    </a:ext>
                  </a:extLst>
                </a:gridCol>
              </a:tblGrid>
              <a:tr h="190500">
                <a:tc>
                  <a:txBody>
                    <a:bodyPr/>
                    <a:lstStyle/>
                    <a:p>
                      <a:pPr marL="0" marR="0" lvl="0" indent="0" algn="ctr" rtl="0">
                        <a:spcBef>
                          <a:spcPts val="0"/>
                        </a:spcBef>
                        <a:spcAft>
                          <a:spcPts val="0"/>
                        </a:spcAft>
                        <a:buNone/>
                      </a:pPr>
                      <a:r>
                        <a:rPr lang="en-US" sz="2000" b="1" u="none" strike="noStrike" cap="none"/>
                        <a:t>Key Type</a:t>
                      </a:r>
                      <a:endParaRPr sz="2000" b="1" i="0" u="none" strike="noStrike" cap="none">
                        <a:solidFill>
                          <a:srgbClr val="000000"/>
                        </a:solidFill>
                        <a:latin typeface="Calibri"/>
                        <a:ea typeface="Calibri"/>
                        <a:cs typeface="Calibri"/>
                        <a:sym typeface="Calibri"/>
                      </a:endParaRPr>
                    </a:p>
                  </a:txBody>
                  <a:tcPr marL="9525" marR="9525" marT="9525" marB="0" anchor="ctr"/>
                </a:tc>
                <a:tc>
                  <a:txBody>
                    <a:bodyPr/>
                    <a:lstStyle/>
                    <a:p>
                      <a:pPr marL="0" marR="0" lvl="0" indent="0" algn="ctr" rtl="0">
                        <a:spcBef>
                          <a:spcPts val="0"/>
                        </a:spcBef>
                        <a:spcAft>
                          <a:spcPts val="0"/>
                        </a:spcAft>
                        <a:buNone/>
                      </a:pPr>
                      <a:r>
                        <a:rPr lang="en-US" sz="2000" b="1" u="none" strike="noStrike" cap="none"/>
                        <a:t>Definition</a:t>
                      </a:r>
                      <a:endParaRPr sz="2000" b="1" i="0" u="none" strike="noStrike" cap="none">
                        <a:solidFill>
                          <a:srgbClr val="000000"/>
                        </a:solidFill>
                        <a:latin typeface="Calibri"/>
                        <a:ea typeface="Calibri"/>
                        <a:cs typeface="Calibri"/>
                        <a:sym typeface="Calibri"/>
                      </a:endParaRPr>
                    </a:p>
                  </a:txBody>
                  <a:tcPr marL="9525" marR="9525" marT="9525" marB="0" anchor="ctr"/>
                </a:tc>
                <a:tc>
                  <a:txBody>
                    <a:bodyPr/>
                    <a:lstStyle/>
                    <a:p>
                      <a:pPr marL="0" marR="0" lvl="0" indent="0" algn="ctr" rtl="0">
                        <a:spcBef>
                          <a:spcPts val="0"/>
                        </a:spcBef>
                        <a:spcAft>
                          <a:spcPts val="0"/>
                        </a:spcAft>
                        <a:buNone/>
                      </a:pPr>
                      <a:r>
                        <a:rPr lang="en-US" sz="2000" b="1" u="none" strike="noStrike" cap="none"/>
                        <a:t>Example</a:t>
                      </a:r>
                      <a:endParaRPr sz="2000" b="1" i="0" u="none" strike="noStrike" cap="none">
                        <a:solidFill>
                          <a:srgbClr val="000000"/>
                        </a:solidFill>
                        <a:latin typeface="Calibri"/>
                        <a:ea typeface="Calibri"/>
                        <a:cs typeface="Calibri"/>
                        <a:sym typeface="Calibri"/>
                      </a:endParaRPr>
                    </a:p>
                  </a:txBody>
                  <a:tcPr marL="9525" marR="9525" marT="9525" marB="0" anchor="ctr"/>
                </a:tc>
                <a:extLst>
                  <a:ext uri="{0D108BD9-81ED-4DB2-BD59-A6C34878D82A}">
                    <a16:rowId xmlns:a16="http://schemas.microsoft.com/office/drawing/2014/main" val="10000"/>
                  </a:ext>
                </a:extLst>
              </a:tr>
              <a:tr h="381000">
                <a:tc>
                  <a:txBody>
                    <a:bodyPr/>
                    <a:lstStyle/>
                    <a:p>
                      <a:pPr marL="0" marR="0" lvl="0" indent="0" algn="l" rtl="0">
                        <a:spcBef>
                          <a:spcPts val="0"/>
                        </a:spcBef>
                        <a:spcAft>
                          <a:spcPts val="0"/>
                        </a:spcAft>
                        <a:buNone/>
                      </a:pPr>
                      <a:r>
                        <a:rPr lang="en-US" sz="1600" b="1" u="none" strike="noStrike" cap="none"/>
                        <a:t>Superkey</a:t>
                      </a:r>
                      <a:endParaRPr sz="1600" b="1" i="0" u="none" strike="noStrike" cap="non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600" u="none" strike="noStrike" cap="none"/>
                        <a:t>A set of one or more attributes that uniquely identify a row.</a:t>
                      </a:r>
                      <a:endParaRPr sz="1600" b="0" i="0" u="none" strike="noStrike" cap="non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200" u="none" strike="noStrike" cap="none"/>
                        <a:t>(SSN, Address)</a:t>
                      </a:r>
                      <a:r>
                        <a:rPr lang="en-US" sz="1600" u="none" strike="noStrike" cap="none"/>
                        <a:t>, </a:t>
                      </a:r>
                      <a:r>
                        <a:rPr lang="en-US" sz="1200" u="none" strike="noStrike" cap="none"/>
                        <a:t>(SSN, Name, Phone)</a:t>
                      </a:r>
                      <a:endParaRPr sz="1200" b="0" i="0" u="none" strike="noStrike" cap="none">
                        <a:solidFill>
                          <a:srgbClr val="000000"/>
                        </a:solidFill>
                        <a:latin typeface="Arimo"/>
                        <a:ea typeface="Arimo"/>
                        <a:cs typeface="Arimo"/>
                        <a:sym typeface="Arimo"/>
                      </a:endParaRPr>
                    </a:p>
                  </a:txBody>
                  <a:tcPr marL="9525" marR="9525" marT="9525" marB="0" anchor="ctr"/>
                </a:tc>
                <a:extLst>
                  <a:ext uri="{0D108BD9-81ED-4DB2-BD59-A6C34878D82A}">
                    <a16:rowId xmlns:a16="http://schemas.microsoft.com/office/drawing/2014/main" val="10001"/>
                  </a:ext>
                </a:extLst>
              </a:tr>
              <a:tr h="571500">
                <a:tc>
                  <a:txBody>
                    <a:bodyPr/>
                    <a:lstStyle/>
                    <a:p>
                      <a:pPr marL="0" marR="0" lvl="0" indent="0" algn="l" rtl="0">
                        <a:spcBef>
                          <a:spcPts val="0"/>
                        </a:spcBef>
                        <a:spcAft>
                          <a:spcPts val="0"/>
                        </a:spcAft>
                        <a:buNone/>
                      </a:pPr>
                      <a:r>
                        <a:rPr lang="en-US" sz="1600" b="1" u="none" strike="noStrike" cap="none"/>
                        <a:t>Candidate Key</a:t>
                      </a:r>
                      <a:endParaRPr sz="1600" b="1" i="0" u="none" strike="noStrike" cap="non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600" u="none" strike="noStrike" cap="none"/>
                        <a:t>A minimal superkey (removing any attribute makes it non-unique).</a:t>
                      </a:r>
                      <a:endParaRPr sz="1600" b="0" i="0" u="none" strike="noStrike" cap="non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200" u="none" strike="noStrike" cap="none"/>
                        <a:t>SSN</a:t>
                      </a:r>
                      <a:r>
                        <a:rPr lang="en-US" sz="1600" u="none" strike="noStrike" cap="none"/>
                        <a:t>, </a:t>
                      </a:r>
                      <a:r>
                        <a:rPr lang="en-US" sz="1200" u="none" strike="noStrike" cap="none"/>
                        <a:t>EmployeeID</a:t>
                      </a:r>
                      <a:endParaRPr sz="1200" b="0" i="0" u="none" strike="noStrike" cap="none">
                        <a:solidFill>
                          <a:srgbClr val="000000"/>
                        </a:solidFill>
                        <a:latin typeface="Arimo"/>
                        <a:ea typeface="Arimo"/>
                        <a:cs typeface="Arimo"/>
                        <a:sym typeface="Arimo"/>
                      </a:endParaRPr>
                    </a:p>
                  </a:txBody>
                  <a:tcPr marL="9525" marR="9525" marT="9525" marB="0" anchor="ctr"/>
                </a:tc>
                <a:extLst>
                  <a:ext uri="{0D108BD9-81ED-4DB2-BD59-A6C34878D82A}">
                    <a16:rowId xmlns:a16="http://schemas.microsoft.com/office/drawing/2014/main" val="10002"/>
                  </a:ext>
                </a:extLst>
              </a:tr>
              <a:tr h="571500">
                <a:tc>
                  <a:txBody>
                    <a:bodyPr/>
                    <a:lstStyle/>
                    <a:p>
                      <a:pPr marL="0" marR="0" lvl="0" indent="0" algn="l" rtl="0">
                        <a:spcBef>
                          <a:spcPts val="0"/>
                        </a:spcBef>
                        <a:spcAft>
                          <a:spcPts val="0"/>
                        </a:spcAft>
                        <a:buNone/>
                      </a:pPr>
                      <a:r>
                        <a:rPr lang="en-US" sz="1600" b="1" u="none" strike="noStrike" cap="none"/>
                        <a:t>Primary Key</a:t>
                      </a:r>
                      <a:endParaRPr sz="1600" b="1" i="0" u="none" strike="noStrike" cap="non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600" u="none" strike="noStrike" cap="none"/>
                        <a:t>The chosen candidate key that serves as the unique identifier for a table.</a:t>
                      </a:r>
                      <a:endParaRPr sz="1600" b="0" i="0" u="none" strike="noStrike" cap="non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200" u="none" strike="noStrike" cap="none"/>
                        <a:t>EmployeeID (PK)</a:t>
                      </a:r>
                      <a:endParaRPr sz="1200" b="0" i="0" u="none" strike="noStrike" cap="none">
                        <a:solidFill>
                          <a:srgbClr val="000000"/>
                        </a:solidFill>
                        <a:latin typeface="Arimo"/>
                        <a:ea typeface="Arimo"/>
                        <a:cs typeface="Arimo"/>
                        <a:sym typeface="Arimo"/>
                      </a:endParaRPr>
                    </a:p>
                  </a:txBody>
                  <a:tcPr marL="9525" marR="9525" marT="9525" marB="0" anchor="ctr"/>
                </a:tc>
                <a:extLst>
                  <a:ext uri="{0D108BD9-81ED-4DB2-BD59-A6C34878D82A}">
                    <a16:rowId xmlns:a16="http://schemas.microsoft.com/office/drawing/2014/main" val="10003"/>
                  </a:ext>
                </a:extLst>
              </a:tr>
              <a:tr h="952500">
                <a:tc>
                  <a:txBody>
                    <a:bodyPr/>
                    <a:lstStyle/>
                    <a:p>
                      <a:pPr marL="0" marR="0" lvl="0" indent="0" algn="l" rtl="0">
                        <a:spcBef>
                          <a:spcPts val="0"/>
                        </a:spcBef>
                        <a:spcAft>
                          <a:spcPts val="0"/>
                        </a:spcAft>
                        <a:buNone/>
                      </a:pPr>
                      <a:r>
                        <a:rPr lang="en-US" sz="1600" b="1" u="none" strike="noStrike" cap="none"/>
                        <a:t>Foreign Key</a:t>
                      </a:r>
                      <a:endParaRPr sz="1600" b="1" i="0" u="none" strike="noStrike" cap="non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600" u="none" strike="noStrike" cap="none"/>
                        <a:t>An attribute (or set of attributes) that refers to the primary key of another table, establishing a relationship between tables.</a:t>
                      </a:r>
                      <a:endParaRPr sz="1600" b="0" i="0" u="none" strike="noStrike" cap="none">
                        <a:solidFill>
                          <a:srgbClr val="000000"/>
                        </a:solidFill>
                        <a:latin typeface="Calibri"/>
                        <a:ea typeface="Calibri"/>
                        <a:cs typeface="Calibri"/>
                        <a:sym typeface="Calibri"/>
                      </a:endParaRPr>
                    </a:p>
                  </a:txBody>
                  <a:tcPr marL="9525" marR="9525" marT="9525" marB="0" anchor="ctr"/>
                </a:tc>
                <a:tc>
                  <a:txBody>
                    <a:bodyPr/>
                    <a:lstStyle/>
                    <a:p>
                      <a:pPr marL="0" marR="0" lvl="0" indent="0" algn="l" rtl="0">
                        <a:spcBef>
                          <a:spcPts val="0"/>
                        </a:spcBef>
                        <a:spcAft>
                          <a:spcPts val="0"/>
                        </a:spcAft>
                        <a:buNone/>
                      </a:pPr>
                      <a:r>
                        <a:rPr lang="en-US" sz="1200" u="none" strike="noStrike" cap="none"/>
                        <a:t>DeptID</a:t>
                      </a:r>
                      <a:r>
                        <a:rPr lang="en-US" sz="1600" u="none" strike="noStrike" cap="none"/>
                        <a:t> in </a:t>
                      </a:r>
                      <a:r>
                        <a:rPr lang="en-US" sz="1200" u="none" strike="noStrike" cap="none"/>
                        <a:t>Employees</a:t>
                      </a:r>
                      <a:r>
                        <a:rPr lang="en-US" sz="1600" u="none" strike="noStrike" cap="none"/>
                        <a:t> references </a:t>
                      </a:r>
                      <a:r>
                        <a:rPr lang="en-US" sz="1200" u="none" strike="noStrike" cap="none"/>
                        <a:t>DeptID</a:t>
                      </a:r>
                      <a:r>
                        <a:rPr lang="en-US" sz="1600" u="none" strike="noStrike" cap="none"/>
                        <a:t> in </a:t>
                      </a:r>
                      <a:r>
                        <a:rPr lang="en-US" sz="1200" u="none" strike="noStrike" cap="none"/>
                        <a:t>Departments</a:t>
                      </a:r>
                      <a:endParaRPr sz="1200" b="0" i="0" u="none" strike="noStrike" cap="none">
                        <a:solidFill>
                          <a:srgbClr val="000000"/>
                        </a:solidFill>
                        <a:latin typeface="Arimo"/>
                        <a:ea typeface="Arimo"/>
                        <a:cs typeface="Arimo"/>
                        <a:sym typeface="Arimo"/>
                      </a:endParaRPr>
                    </a:p>
                  </a:txBody>
                  <a:tcPr marL="9525" marR="9525" marT="9525" marB="0" anchor="ctr"/>
                </a:tc>
                <a:extLst>
                  <a:ext uri="{0D108BD9-81ED-4DB2-BD59-A6C34878D82A}">
                    <a16:rowId xmlns:a16="http://schemas.microsoft.com/office/drawing/2014/main" val="10004"/>
                  </a:ext>
                </a:extLst>
              </a:tr>
            </a:tbl>
          </a:graphicData>
        </a:graphic>
      </p:graphicFrame>
      <p:sp>
        <p:nvSpPr>
          <p:cNvPr id="176" name="Google Shape;176;p11"/>
          <p:cNvSpPr txBox="1"/>
          <p:nvPr/>
        </p:nvSpPr>
        <p:spPr>
          <a:xfrm>
            <a:off x="2221923" y="1048435"/>
            <a:ext cx="74537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Understanding Superkey, Candidate Key, Primary Key and Foreign Key in SQL</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Constraints on table</a:t>
            </a:r>
            <a:endParaRPr/>
          </a:p>
        </p:txBody>
      </p:sp>
      <p:sp>
        <p:nvSpPr>
          <p:cNvPr id="182" name="Google Shape;182;p12"/>
          <p:cNvSpPr txBox="1">
            <a:spLocks noGrp="1"/>
          </p:cNvSpPr>
          <p:nvPr>
            <p:ph type="body" idx="1"/>
          </p:nvPr>
        </p:nvSpPr>
        <p:spPr>
          <a:xfrm>
            <a:off x="1066800" y="1895091"/>
            <a:ext cx="4673600" cy="4370242"/>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Types of Constraints</a:t>
            </a:r>
            <a:endParaRPr/>
          </a:p>
          <a:p>
            <a:pPr marL="91440" lvl="0" indent="0" algn="l" rtl="0">
              <a:lnSpc>
                <a:spcPct val="90000"/>
              </a:lnSpc>
              <a:spcBef>
                <a:spcPts val="1400"/>
              </a:spcBef>
              <a:spcAft>
                <a:spcPts val="0"/>
              </a:spcAft>
              <a:buSzPts val="2000"/>
              <a:buNone/>
            </a:pPr>
            <a:endParaRPr/>
          </a:p>
          <a:p>
            <a:pPr marL="749808" lvl="1" indent="-457200" algn="l" rtl="0">
              <a:lnSpc>
                <a:spcPct val="90000"/>
              </a:lnSpc>
              <a:spcBef>
                <a:spcPts val="400"/>
              </a:spcBef>
              <a:spcAft>
                <a:spcPts val="0"/>
              </a:spcAft>
              <a:buSzPts val="1800"/>
              <a:buFont typeface="Calibri"/>
              <a:buAutoNum type="arabicPeriod"/>
            </a:pPr>
            <a:r>
              <a:rPr lang="en-US"/>
              <a:t>Not null</a:t>
            </a:r>
            <a:endParaRPr/>
          </a:p>
          <a:p>
            <a:pPr marL="749808" lvl="1" indent="-457200" algn="l" rtl="0">
              <a:lnSpc>
                <a:spcPct val="90000"/>
              </a:lnSpc>
              <a:spcBef>
                <a:spcPts val="600"/>
              </a:spcBef>
              <a:spcAft>
                <a:spcPts val="0"/>
              </a:spcAft>
              <a:buSzPts val="1800"/>
              <a:buFont typeface="Calibri"/>
              <a:buAutoNum type="arabicPeriod"/>
            </a:pPr>
            <a:r>
              <a:rPr lang="en-US"/>
              <a:t>Primary key</a:t>
            </a:r>
            <a:endParaRPr/>
          </a:p>
          <a:p>
            <a:pPr marL="749808" lvl="1" indent="-457200" algn="l" rtl="0">
              <a:lnSpc>
                <a:spcPct val="90000"/>
              </a:lnSpc>
              <a:spcBef>
                <a:spcPts val="600"/>
              </a:spcBef>
              <a:spcAft>
                <a:spcPts val="0"/>
              </a:spcAft>
              <a:buSzPts val="1800"/>
              <a:buFont typeface="Calibri"/>
              <a:buAutoNum type="arabicPeriod"/>
            </a:pPr>
            <a:r>
              <a:rPr lang="en-US"/>
              <a:t>Unique ( </a:t>
            </a:r>
            <a:r>
              <a:rPr lang="en-US" sz="1600" i="1"/>
              <a:t>to indicate other candidate keys</a:t>
            </a:r>
            <a:r>
              <a:rPr lang="en-US"/>
              <a:t>)</a:t>
            </a:r>
            <a:endParaRPr/>
          </a:p>
          <a:p>
            <a:pPr marL="749808" lvl="1" indent="-457200" algn="l" rtl="0">
              <a:lnSpc>
                <a:spcPct val="90000"/>
              </a:lnSpc>
              <a:spcBef>
                <a:spcPts val="600"/>
              </a:spcBef>
              <a:spcAft>
                <a:spcPts val="0"/>
              </a:spcAft>
              <a:buSzPts val="1800"/>
              <a:buFont typeface="Calibri"/>
              <a:buAutoNum type="arabicPeriod"/>
            </a:pPr>
            <a:r>
              <a:rPr lang="en-US"/>
              <a:t>Default</a:t>
            </a:r>
            <a:endParaRPr/>
          </a:p>
          <a:p>
            <a:pPr marL="749808" lvl="1" indent="-457200" algn="l" rtl="0">
              <a:lnSpc>
                <a:spcPct val="90000"/>
              </a:lnSpc>
              <a:spcBef>
                <a:spcPts val="600"/>
              </a:spcBef>
              <a:spcAft>
                <a:spcPts val="0"/>
              </a:spcAft>
              <a:buSzPts val="1800"/>
              <a:buFont typeface="Calibri"/>
              <a:buAutoNum type="arabicPeriod"/>
            </a:pPr>
            <a:r>
              <a:rPr lang="en-US"/>
              <a:t>Foreign key</a:t>
            </a:r>
            <a:endParaRPr/>
          </a:p>
          <a:p>
            <a:pPr marL="749808" lvl="1" indent="-457200" algn="l" rtl="0">
              <a:lnSpc>
                <a:spcPct val="90000"/>
              </a:lnSpc>
              <a:spcBef>
                <a:spcPts val="600"/>
              </a:spcBef>
              <a:spcAft>
                <a:spcPts val="0"/>
              </a:spcAft>
              <a:buSzPts val="1800"/>
              <a:buFont typeface="Calibri"/>
              <a:buAutoNum type="arabicPeriod"/>
            </a:pPr>
            <a:r>
              <a:rPr lang="en-US"/>
              <a:t>Check</a:t>
            </a:r>
            <a:endParaRPr/>
          </a:p>
        </p:txBody>
      </p:sp>
      <p:sp>
        <p:nvSpPr>
          <p:cNvPr id="183" name="Google Shape;183;p12"/>
          <p:cNvSpPr txBox="1"/>
          <p:nvPr/>
        </p:nvSpPr>
        <p:spPr>
          <a:xfrm>
            <a:off x="6126480" y="1778251"/>
            <a:ext cx="4673600" cy="4370242"/>
          </a:xfrm>
          <a:prstGeom prst="rect">
            <a:avLst/>
          </a:prstGeom>
          <a:noFill/>
          <a:ln>
            <a:noFill/>
          </a:ln>
        </p:spPr>
        <p:txBody>
          <a:bodyPr spcFirstLastPara="1" wrap="square" lIns="0" tIns="45700" rIns="0" bIns="45700" anchor="t" anchorCtr="0">
            <a:normAutofit/>
          </a:bodyPr>
          <a:lstStyle/>
          <a:p>
            <a:pPr marL="91440" marR="0" lvl="0" indent="-127000" algn="l" rtl="0">
              <a:lnSpc>
                <a:spcPct val="90000"/>
              </a:lnSpc>
              <a:spcBef>
                <a:spcPts val="0"/>
              </a:spcBef>
              <a:spcAft>
                <a:spcPts val="0"/>
              </a:spcAft>
              <a:buClr>
                <a:schemeClr val="accent1"/>
              </a:buClr>
              <a:buSzPts val="2000"/>
              <a:buFont typeface="Calibri"/>
              <a:buChar char=" "/>
            </a:pPr>
            <a:r>
              <a:rPr lang="en-US" sz="2000">
                <a:solidFill>
                  <a:srgbClr val="3F3F3F"/>
                </a:solidFill>
                <a:latin typeface="Calibri"/>
                <a:ea typeface="Calibri"/>
                <a:cs typeface="Calibri"/>
                <a:sym typeface="Calibri"/>
              </a:rPr>
              <a:t>Specification of constraints</a:t>
            </a:r>
            <a:endParaRPr/>
          </a:p>
          <a:p>
            <a:pPr marL="91440" marR="0" lvl="0" indent="0" algn="l" rtl="0">
              <a:lnSpc>
                <a:spcPct val="90000"/>
              </a:lnSpc>
              <a:spcBef>
                <a:spcPts val="1400"/>
              </a:spcBef>
              <a:spcAft>
                <a:spcPts val="0"/>
              </a:spcAft>
              <a:buClr>
                <a:schemeClr val="accent1"/>
              </a:buClr>
              <a:buSzPts val="2000"/>
              <a:buFont typeface="Calibri"/>
              <a:buNone/>
            </a:pPr>
            <a:endParaRPr sz="2000">
              <a:solidFill>
                <a:srgbClr val="3F3F3F"/>
              </a:solidFill>
              <a:latin typeface="Calibri"/>
              <a:ea typeface="Calibri"/>
              <a:cs typeface="Calibri"/>
              <a:sym typeface="Calibri"/>
            </a:endParaRPr>
          </a:p>
          <a:p>
            <a:pPr marL="749808" marR="0" lvl="1" indent="-457200" algn="l" rtl="0">
              <a:lnSpc>
                <a:spcPct val="90000"/>
              </a:lnSpc>
              <a:spcBef>
                <a:spcPts val="400"/>
              </a:spcBef>
              <a:spcAft>
                <a:spcPts val="0"/>
              </a:spcAft>
              <a:buClr>
                <a:schemeClr val="accent1"/>
              </a:buClr>
              <a:buSzPts val="1800"/>
              <a:buFont typeface="Calibri"/>
              <a:buAutoNum type="arabicPeriod"/>
            </a:pPr>
            <a:r>
              <a:rPr lang="en-US" sz="1800" b="0" i="0" u="none" strike="noStrike" cap="none">
                <a:solidFill>
                  <a:srgbClr val="3F3F3F"/>
                </a:solidFill>
                <a:latin typeface="Calibri"/>
                <a:ea typeface="Calibri"/>
                <a:cs typeface="Calibri"/>
                <a:sym typeface="Calibri"/>
              </a:rPr>
              <a:t>Column level constraint</a:t>
            </a:r>
            <a:endParaRPr/>
          </a:p>
          <a:p>
            <a:pPr marL="932688" marR="0" lvl="2" indent="-457200" algn="just" rtl="0">
              <a:lnSpc>
                <a:spcPct val="90000"/>
              </a:lnSpc>
              <a:spcBef>
                <a:spcPts val="600"/>
              </a:spcBef>
              <a:spcAft>
                <a:spcPts val="0"/>
              </a:spcAft>
              <a:buClr>
                <a:schemeClr val="accent1"/>
              </a:buClr>
              <a:buSzPts val="1400"/>
              <a:buFont typeface="Calibri"/>
              <a:buChar char="◦"/>
            </a:pPr>
            <a:r>
              <a:rPr lang="en-US" sz="1400" b="0" i="0" u="none" strike="noStrike" cap="none">
                <a:solidFill>
                  <a:srgbClr val="3F3F3F"/>
                </a:solidFill>
                <a:latin typeface="Calibri"/>
                <a:ea typeface="Calibri"/>
                <a:cs typeface="Calibri"/>
                <a:sym typeface="Calibri"/>
              </a:rPr>
              <a:t>Applied directly to a single column during its definition. Constraints are written immediately after the column name and datatype .Useful when constraints apply only to one column.</a:t>
            </a:r>
            <a:endParaRPr/>
          </a:p>
          <a:p>
            <a:pPr marL="749808" marR="0" lvl="1" indent="-457200" algn="l" rtl="0">
              <a:lnSpc>
                <a:spcPct val="90000"/>
              </a:lnSpc>
              <a:spcBef>
                <a:spcPts val="600"/>
              </a:spcBef>
              <a:spcAft>
                <a:spcPts val="0"/>
              </a:spcAft>
              <a:buClr>
                <a:schemeClr val="accent1"/>
              </a:buClr>
              <a:buSzPts val="1800"/>
              <a:buFont typeface="Calibri"/>
              <a:buAutoNum type="arabicPeriod"/>
            </a:pPr>
            <a:r>
              <a:rPr lang="en-US" sz="1800" b="0" i="0" u="none" strike="noStrike" cap="none">
                <a:solidFill>
                  <a:srgbClr val="3F3F3F"/>
                </a:solidFill>
                <a:latin typeface="Calibri"/>
                <a:ea typeface="Calibri"/>
                <a:cs typeface="Calibri"/>
                <a:sym typeface="Calibri"/>
              </a:rPr>
              <a:t>Table level constraint</a:t>
            </a:r>
            <a:endParaRPr/>
          </a:p>
          <a:p>
            <a:pPr marL="932688" marR="0" lvl="2" indent="-457200" algn="just" rtl="0">
              <a:lnSpc>
                <a:spcPct val="90000"/>
              </a:lnSpc>
              <a:spcBef>
                <a:spcPts val="600"/>
              </a:spcBef>
              <a:spcAft>
                <a:spcPts val="0"/>
              </a:spcAft>
              <a:buClr>
                <a:schemeClr val="accent1"/>
              </a:buClr>
              <a:buSzPts val="1400"/>
              <a:buFont typeface="Calibri"/>
              <a:buChar char="◦"/>
            </a:pPr>
            <a:r>
              <a:rPr lang="en-US" sz="1400" b="0" i="0" u="none" strike="noStrike" cap="none">
                <a:solidFill>
                  <a:srgbClr val="3F3F3F"/>
                </a:solidFill>
                <a:latin typeface="Calibri"/>
                <a:ea typeface="Calibri"/>
                <a:cs typeface="Calibri"/>
                <a:sym typeface="Calibri"/>
              </a:rPr>
              <a:t>Defined separately from individual column definitions. Used when constraints involve multiple columns (e.g., composite keys).Often preferred for FOREIGN KEY and CHECK constraints that apply to more than one column.</a:t>
            </a:r>
            <a:endParaRPr sz="1400" b="0" i="0" u="none" strike="noStrike" cap="none">
              <a:solidFill>
                <a:srgbClr val="3F3F3F"/>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p13"/>
          <p:cNvPicPr preferRelativeResize="0"/>
          <p:nvPr/>
        </p:nvPicPr>
        <p:blipFill rotWithShape="1">
          <a:blip r:embed="rId3">
            <a:alphaModFix/>
          </a:blip>
          <a:srcRect/>
          <a:stretch/>
        </p:blipFill>
        <p:spPr>
          <a:xfrm>
            <a:off x="508000" y="1086001"/>
            <a:ext cx="7259063" cy="1724266"/>
          </a:xfrm>
          <a:prstGeom prst="rect">
            <a:avLst/>
          </a:prstGeom>
          <a:noFill/>
          <a:ln>
            <a:noFill/>
          </a:ln>
        </p:spPr>
      </p:pic>
      <p:sp>
        <p:nvSpPr>
          <p:cNvPr id="189" name="Google Shape;189;p13"/>
          <p:cNvSpPr txBox="1"/>
          <p:nvPr/>
        </p:nvSpPr>
        <p:spPr>
          <a:xfrm>
            <a:off x="508000" y="475734"/>
            <a:ext cx="6096000" cy="369332"/>
          </a:xfrm>
          <a:prstGeom prst="rect">
            <a:avLst/>
          </a:prstGeom>
          <a:noFill/>
          <a:ln>
            <a:noFill/>
          </a:ln>
        </p:spPr>
        <p:txBody>
          <a:bodyPr spcFirstLastPara="1" wrap="square" lIns="91425" tIns="45700" rIns="91425" bIns="45700" anchor="t" anchorCtr="0">
            <a:spAutoFit/>
          </a:bodyPr>
          <a:lstStyle/>
          <a:p>
            <a:pPr marL="292608" marR="0" lvl="1" indent="0" algn="l" rtl="0">
              <a:spcBef>
                <a:spcPts val="0"/>
              </a:spcBef>
              <a:spcAft>
                <a:spcPts val="0"/>
              </a:spcAft>
              <a:buNone/>
            </a:pPr>
            <a:r>
              <a:rPr lang="en-US" sz="1800" b="0" i="0" u="none" strike="noStrike" cap="none">
                <a:solidFill>
                  <a:schemeClr val="dk1"/>
                </a:solidFill>
                <a:latin typeface="Calibri"/>
                <a:ea typeface="Calibri"/>
                <a:cs typeface="Calibri"/>
                <a:sym typeface="Calibri"/>
              </a:rPr>
              <a:t>Column level constraints</a:t>
            </a:r>
            <a:endParaRPr/>
          </a:p>
        </p:txBody>
      </p:sp>
      <p:sp>
        <p:nvSpPr>
          <p:cNvPr id="190" name="Google Shape;190;p13"/>
          <p:cNvSpPr txBox="1"/>
          <p:nvPr/>
        </p:nvSpPr>
        <p:spPr>
          <a:xfrm>
            <a:off x="508000" y="3051202"/>
            <a:ext cx="6096000" cy="369332"/>
          </a:xfrm>
          <a:prstGeom prst="rect">
            <a:avLst/>
          </a:prstGeom>
          <a:noFill/>
          <a:ln>
            <a:noFill/>
          </a:ln>
        </p:spPr>
        <p:txBody>
          <a:bodyPr spcFirstLastPara="1" wrap="square" lIns="91425" tIns="45700" rIns="91425" bIns="45700" anchor="t" anchorCtr="0">
            <a:spAutoFit/>
          </a:bodyPr>
          <a:lstStyle/>
          <a:p>
            <a:pPr marL="292608" marR="0" lvl="1" indent="0" algn="l" rtl="0">
              <a:spcBef>
                <a:spcPts val="0"/>
              </a:spcBef>
              <a:spcAft>
                <a:spcPts val="0"/>
              </a:spcAft>
              <a:buNone/>
            </a:pPr>
            <a:r>
              <a:rPr lang="en-US" sz="1800" b="0" i="0" u="none" strike="noStrike" cap="none">
                <a:solidFill>
                  <a:schemeClr val="dk1"/>
                </a:solidFill>
                <a:latin typeface="Calibri"/>
                <a:ea typeface="Calibri"/>
                <a:cs typeface="Calibri"/>
                <a:sym typeface="Calibri"/>
              </a:rPr>
              <a:t>Table level constraints  without/ with constraint names</a:t>
            </a:r>
            <a:endParaRPr/>
          </a:p>
        </p:txBody>
      </p:sp>
      <p:pic>
        <p:nvPicPr>
          <p:cNvPr id="191" name="Google Shape;191;p13"/>
          <p:cNvPicPr preferRelativeResize="0"/>
          <p:nvPr/>
        </p:nvPicPr>
        <p:blipFill rotWithShape="1">
          <a:blip r:embed="rId4">
            <a:alphaModFix/>
          </a:blip>
          <a:srcRect/>
          <a:stretch/>
        </p:blipFill>
        <p:spPr>
          <a:xfrm>
            <a:off x="5971307" y="3628403"/>
            <a:ext cx="6220693" cy="2457793"/>
          </a:xfrm>
          <a:prstGeom prst="rect">
            <a:avLst/>
          </a:prstGeom>
          <a:noFill/>
          <a:ln>
            <a:noFill/>
          </a:ln>
        </p:spPr>
      </p:pic>
      <p:pic>
        <p:nvPicPr>
          <p:cNvPr id="192" name="Google Shape;192;p13"/>
          <p:cNvPicPr preferRelativeResize="0"/>
          <p:nvPr/>
        </p:nvPicPr>
        <p:blipFill rotWithShape="1">
          <a:blip r:embed="rId5">
            <a:alphaModFix/>
          </a:blip>
          <a:srcRect/>
          <a:stretch/>
        </p:blipFill>
        <p:spPr>
          <a:xfrm>
            <a:off x="744758" y="3531031"/>
            <a:ext cx="4420217" cy="2495898"/>
          </a:xfrm>
          <a:prstGeom prst="rect">
            <a:avLst/>
          </a:prstGeom>
          <a:noFill/>
          <a:ln>
            <a:noFill/>
          </a:ln>
        </p:spPr>
      </p:pic>
      <p:pic>
        <p:nvPicPr>
          <p:cNvPr id="193" name="Google Shape;193;p13"/>
          <p:cNvPicPr preferRelativeResize="0"/>
          <p:nvPr/>
        </p:nvPicPr>
        <p:blipFill rotWithShape="1">
          <a:blip r:embed="rId6">
            <a:alphaModFix/>
          </a:blip>
          <a:srcRect/>
          <a:stretch/>
        </p:blipFill>
        <p:spPr>
          <a:xfrm>
            <a:off x="8267616" y="1199225"/>
            <a:ext cx="3267531" cy="85737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pic>
        <p:nvPicPr>
          <p:cNvPr id="198" name="Google Shape;198;p14"/>
          <p:cNvPicPr preferRelativeResize="0"/>
          <p:nvPr/>
        </p:nvPicPr>
        <p:blipFill rotWithShape="1">
          <a:blip r:embed="rId3">
            <a:alphaModFix/>
          </a:blip>
          <a:srcRect/>
          <a:stretch/>
        </p:blipFill>
        <p:spPr>
          <a:xfrm>
            <a:off x="5462074" y="4138802"/>
            <a:ext cx="6220693" cy="2076740"/>
          </a:xfrm>
          <a:prstGeom prst="rect">
            <a:avLst/>
          </a:prstGeom>
          <a:noFill/>
          <a:ln>
            <a:noFill/>
          </a:ln>
        </p:spPr>
      </p:pic>
      <p:graphicFrame>
        <p:nvGraphicFramePr>
          <p:cNvPr id="199" name="Google Shape;199;p14"/>
          <p:cNvGraphicFramePr/>
          <p:nvPr/>
        </p:nvGraphicFramePr>
        <p:xfrm>
          <a:off x="0" y="3910252"/>
          <a:ext cx="4330450" cy="2103170"/>
        </p:xfrm>
        <a:graphic>
          <a:graphicData uri="http://schemas.openxmlformats.org/drawingml/2006/table">
            <a:tbl>
              <a:tblPr>
                <a:noFill/>
                <a:tableStyleId>{63FC2C5F-EE98-4A70-AB7D-2227076FA3F5}</a:tableStyleId>
              </a:tblPr>
              <a:tblGrid>
                <a:gridCol w="1464425">
                  <a:extLst>
                    <a:ext uri="{9D8B030D-6E8A-4147-A177-3AD203B41FA5}">
                      <a16:colId xmlns:a16="http://schemas.microsoft.com/office/drawing/2014/main" val="20000"/>
                    </a:ext>
                  </a:extLst>
                </a:gridCol>
                <a:gridCol w="2866025">
                  <a:extLst>
                    <a:ext uri="{9D8B030D-6E8A-4147-A177-3AD203B41FA5}">
                      <a16:colId xmlns:a16="http://schemas.microsoft.com/office/drawing/2014/main" val="20001"/>
                    </a:ext>
                  </a:extLst>
                </a:gridCol>
              </a:tblGrid>
              <a:tr h="152400">
                <a:tc>
                  <a:txBody>
                    <a:bodyPr/>
                    <a:lstStyle/>
                    <a:p>
                      <a:pPr marL="0" marR="0" lvl="0" indent="0" algn="l" rtl="0">
                        <a:spcBef>
                          <a:spcPts val="0"/>
                        </a:spcBef>
                        <a:spcAft>
                          <a:spcPts val="0"/>
                        </a:spcAft>
                        <a:buNone/>
                      </a:pPr>
                      <a:r>
                        <a:rPr lang="en-US" sz="1200" u="none" strike="noStrike" cap="none">
                          <a:highlight>
                            <a:srgbClr val="FFFF00"/>
                          </a:highlight>
                        </a:rPr>
                        <a:t>Constraint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a:highlight>
                            <a:srgbClr val="FFFF00"/>
                          </a:highlight>
                        </a:rPr>
                        <a:t>Description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52400">
                <a:tc>
                  <a:txBody>
                    <a:bodyPr/>
                    <a:lstStyle/>
                    <a:p>
                      <a:pPr marL="0" marR="0" lvl="0" indent="0" algn="l" rtl="0">
                        <a:spcBef>
                          <a:spcPts val="0"/>
                        </a:spcBef>
                        <a:spcAft>
                          <a:spcPts val="0"/>
                        </a:spcAft>
                        <a:buNone/>
                      </a:pPr>
                      <a:r>
                        <a:rPr lang="en-US" sz="1200" b="1"/>
                        <a:t>PRIMARY KEY</a:t>
                      </a:r>
                      <a:endParaRPr sz="12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a:t>Can be defined across multiple columns (composite key).</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152400">
                <a:tc>
                  <a:txBody>
                    <a:bodyPr/>
                    <a:lstStyle/>
                    <a:p>
                      <a:pPr marL="0" marR="0" lvl="0" indent="0" algn="l" rtl="0">
                        <a:spcBef>
                          <a:spcPts val="0"/>
                        </a:spcBef>
                        <a:spcAft>
                          <a:spcPts val="0"/>
                        </a:spcAft>
                        <a:buNone/>
                      </a:pPr>
                      <a:r>
                        <a:rPr lang="en-US" sz="1200" b="1"/>
                        <a:t>FOREIGN KEY</a:t>
                      </a:r>
                      <a:endParaRPr sz="12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a:t>References one or more columns from another table.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52400">
                <a:tc>
                  <a:txBody>
                    <a:bodyPr/>
                    <a:lstStyle/>
                    <a:p>
                      <a:pPr marL="0" marR="0" lvl="0" indent="0" algn="l" rtl="0">
                        <a:spcBef>
                          <a:spcPts val="0"/>
                        </a:spcBef>
                        <a:spcAft>
                          <a:spcPts val="0"/>
                        </a:spcAft>
                        <a:buNone/>
                      </a:pPr>
                      <a:r>
                        <a:rPr lang="en-US" sz="1200" b="1"/>
                        <a:t>CHECK</a:t>
                      </a:r>
                      <a:endParaRPr sz="12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a:t>Applies conditions that involve multiple columns.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52400">
                <a:tc>
                  <a:txBody>
                    <a:bodyPr/>
                    <a:lstStyle/>
                    <a:p>
                      <a:pPr marL="0" marR="0" lvl="0" indent="0" algn="l" rtl="0">
                        <a:spcBef>
                          <a:spcPts val="0"/>
                        </a:spcBef>
                        <a:spcAft>
                          <a:spcPts val="0"/>
                        </a:spcAft>
                        <a:buNone/>
                      </a:pPr>
                      <a:r>
                        <a:rPr lang="en-US" sz="1200" b="1"/>
                        <a:t>UNIQUE</a:t>
                      </a:r>
                      <a:endParaRPr sz="12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a:t>Ensures unique values in a set of columns.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00" name="Google Shape;200;p14"/>
          <p:cNvSpPr/>
          <p:nvPr/>
        </p:nvSpPr>
        <p:spPr>
          <a:xfrm>
            <a:off x="0" y="3515554"/>
            <a:ext cx="3830128" cy="623248"/>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050"/>
              <a:buFont typeface="Arial"/>
              <a:buNone/>
            </a:pPr>
            <a:r>
              <a:rPr lang="en-US" sz="1050" b="1" i="0" u="none" strike="noStrike" cap="none">
                <a:solidFill>
                  <a:schemeClr val="dk1"/>
                </a:solidFill>
                <a:latin typeface="Arial"/>
                <a:ea typeface="Arial"/>
                <a:cs typeface="Arial"/>
                <a:sym typeface="Arial"/>
              </a:rPr>
              <a:t>Table-Level Constraints</a:t>
            </a:r>
            <a:endParaRPr/>
          </a:p>
          <a:p>
            <a:pPr marL="0" marR="0" lvl="0" indent="0" algn="l" rtl="0">
              <a:lnSpc>
                <a:spcPct val="100000"/>
              </a:lnSpc>
              <a:spcBef>
                <a:spcPts val="0"/>
              </a:spcBef>
              <a:spcAft>
                <a:spcPts val="0"/>
              </a:spcAft>
              <a:buClr>
                <a:schemeClr val="dk1"/>
              </a:buClr>
              <a:buSzPts val="2400"/>
              <a:buFont typeface="Calibri"/>
              <a:buNone/>
            </a:pPr>
            <a:endParaRPr sz="2400" b="0" i="0" u="none" strike="noStrike" cap="none">
              <a:solidFill>
                <a:schemeClr val="dk1"/>
              </a:solidFill>
              <a:latin typeface="Arial"/>
              <a:ea typeface="Arial"/>
              <a:cs typeface="Arial"/>
              <a:sym typeface="Arial"/>
            </a:endParaRPr>
          </a:p>
        </p:txBody>
      </p:sp>
      <p:graphicFrame>
        <p:nvGraphicFramePr>
          <p:cNvPr id="201" name="Google Shape;201;p14"/>
          <p:cNvGraphicFramePr/>
          <p:nvPr/>
        </p:nvGraphicFramePr>
        <p:xfrm>
          <a:off x="0" y="809157"/>
          <a:ext cx="4123450" cy="2560380"/>
        </p:xfrm>
        <a:graphic>
          <a:graphicData uri="http://schemas.openxmlformats.org/drawingml/2006/table">
            <a:tbl>
              <a:tblPr>
                <a:noFill/>
                <a:tableStyleId>{63FC2C5F-EE98-4A70-AB7D-2227076FA3F5}</a:tableStyleId>
              </a:tblPr>
              <a:tblGrid>
                <a:gridCol w="2061725">
                  <a:extLst>
                    <a:ext uri="{9D8B030D-6E8A-4147-A177-3AD203B41FA5}">
                      <a16:colId xmlns:a16="http://schemas.microsoft.com/office/drawing/2014/main" val="20000"/>
                    </a:ext>
                  </a:extLst>
                </a:gridCol>
                <a:gridCol w="2061725">
                  <a:extLst>
                    <a:ext uri="{9D8B030D-6E8A-4147-A177-3AD203B41FA5}">
                      <a16:colId xmlns:a16="http://schemas.microsoft.com/office/drawing/2014/main" val="20001"/>
                    </a:ext>
                  </a:extLst>
                </a:gridCol>
              </a:tblGrid>
              <a:tr h="139700">
                <a:tc>
                  <a:txBody>
                    <a:bodyPr/>
                    <a:lstStyle/>
                    <a:p>
                      <a:pPr marL="0" marR="0" lvl="0" indent="0" algn="l" rtl="0">
                        <a:spcBef>
                          <a:spcPts val="0"/>
                        </a:spcBef>
                        <a:spcAft>
                          <a:spcPts val="0"/>
                        </a:spcAft>
                        <a:buNone/>
                      </a:pPr>
                      <a:r>
                        <a:rPr lang="en-US" sz="1100" b="1">
                          <a:highlight>
                            <a:srgbClr val="FFFF00"/>
                          </a:highlight>
                        </a:rPr>
                        <a:t>Constraint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00" b="1">
                          <a:highlight>
                            <a:srgbClr val="FFFF00"/>
                          </a:highlight>
                        </a:rPr>
                        <a:t>Description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39700">
                <a:tc>
                  <a:txBody>
                    <a:bodyPr/>
                    <a:lstStyle/>
                    <a:p>
                      <a:pPr marL="0" marR="0" lvl="0" indent="0" algn="l" rtl="0">
                        <a:spcBef>
                          <a:spcPts val="0"/>
                        </a:spcBef>
                        <a:spcAft>
                          <a:spcPts val="0"/>
                        </a:spcAft>
                        <a:buNone/>
                      </a:pPr>
                      <a:r>
                        <a:rPr lang="en-US" sz="1100" b="1"/>
                        <a:t>PRIMARY KEY</a:t>
                      </a:r>
                      <a:endParaRPr sz="11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00"/>
                        <a:t>Ensures a column has unique values and is not NULL.</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139700">
                <a:tc>
                  <a:txBody>
                    <a:bodyPr/>
                    <a:lstStyle/>
                    <a:p>
                      <a:pPr marL="0" marR="0" lvl="0" indent="0" algn="l" rtl="0">
                        <a:spcBef>
                          <a:spcPts val="0"/>
                        </a:spcBef>
                        <a:spcAft>
                          <a:spcPts val="0"/>
                        </a:spcAft>
                        <a:buNone/>
                      </a:pPr>
                      <a:r>
                        <a:rPr lang="en-US" sz="1100" b="1"/>
                        <a:t>UNIQUE</a:t>
                      </a:r>
                      <a:endParaRPr sz="11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00"/>
                        <a:t>Ensures all values in a column are distinct.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39700">
                <a:tc>
                  <a:txBody>
                    <a:bodyPr/>
                    <a:lstStyle/>
                    <a:p>
                      <a:pPr marL="0" marR="0" lvl="0" indent="0" algn="l" rtl="0">
                        <a:spcBef>
                          <a:spcPts val="0"/>
                        </a:spcBef>
                        <a:spcAft>
                          <a:spcPts val="0"/>
                        </a:spcAft>
                        <a:buNone/>
                      </a:pPr>
                      <a:r>
                        <a:rPr lang="en-US" sz="1100" b="1"/>
                        <a:t>NOT NULL</a:t>
                      </a:r>
                      <a:endParaRPr sz="11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00"/>
                        <a:t>Prevents NULL values in the column.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39700">
                <a:tc>
                  <a:txBody>
                    <a:bodyPr/>
                    <a:lstStyle/>
                    <a:p>
                      <a:pPr marL="0" marR="0" lvl="0" indent="0" algn="l" rtl="0">
                        <a:spcBef>
                          <a:spcPts val="0"/>
                        </a:spcBef>
                        <a:spcAft>
                          <a:spcPts val="0"/>
                        </a:spcAft>
                        <a:buNone/>
                      </a:pPr>
                      <a:r>
                        <a:rPr lang="en-US" sz="1100" b="1"/>
                        <a:t>CHECK</a:t>
                      </a:r>
                      <a:endParaRPr sz="11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00"/>
                        <a:t>Validates values based on a condition (e.g., Salary &gt; 0).</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139700">
                <a:tc>
                  <a:txBody>
                    <a:bodyPr/>
                    <a:lstStyle/>
                    <a:p>
                      <a:pPr marL="0" marR="0" lvl="0" indent="0" algn="l" rtl="0">
                        <a:spcBef>
                          <a:spcPts val="0"/>
                        </a:spcBef>
                        <a:spcAft>
                          <a:spcPts val="0"/>
                        </a:spcAft>
                        <a:buNone/>
                      </a:pPr>
                      <a:r>
                        <a:rPr lang="en-US" sz="1100" b="1"/>
                        <a:t>FOREIGN KEY</a:t>
                      </a:r>
                      <a:endParaRPr sz="11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00"/>
                        <a:t>References a column in another table (must exist in that table).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02" name="Google Shape;202;p14"/>
          <p:cNvSpPr/>
          <p:nvPr/>
        </p:nvSpPr>
        <p:spPr>
          <a:xfrm>
            <a:off x="0" y="417325"/>
            <a:ext cx="3933645" cy="553998"/>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000"/>
              <a:buFont typeface="Arial"/>
              <a:buNone/>
            </a:pPr>
            <a:r>
              <a:rPr lang="en-US" sz="1000" b="1" i="0" u="none" strike="noStrike" cap="none">
                <a:solidFill>
                  <a:schemeClr val="dk1"/>
                </a:solidFill>
                <a:latin typeface="Arial"/>
                <a:ea typeface="Arial"/>
                <a:cs typeface="Arial"/>
                <a:sym typeface="Arial"/>
              </a:rPr>
              <a:t>Column-Level Constraints</a:t>
            </a:r>
            <a:endParaRPr/>
          </a:p>
          <a:p>
            <a:pPr marL="0" marR="0" lvl="0" indent="0" algn="l" rtl="0">
              <a:lnSpc>
                <a:spcPct val="100000"/>
              </a:lnSpc>
              <a:spcBef>
                <a:spcPts val="0"/>
              </a:spcBef>
              <a:spcAft>
                <a:spcPts val="0"/>
              </a:spcAft>
              <a:buClr>
                <a:schemeClr val="dk1"/>
              </a:buClr>
              <a:buSzPts val="2000"/>
              <a:buFont typeface="Calibri"/>
              <a:buNone/>
            </a:pPr>
            <a:endParaRPr sz="2000" b="0" i="0" u="none" strike="noStrike" cap="none">
              <a:solidFill>
                <a:schemeClr val="dk1"/>
              </a:solidFill>
              <a:latin typeface="Arial"/>
              <a:ea typeface="Arial"/>
              <a:cs typeface="Arial"/>
              <a:sym typeface="Arial"/>
            </a:endParaRPr>
          </a:p>
        </p:txBody>
      </p:sp>
      <p:graphicFrame>
        <p:nvGraphicFramePr>
          <p:cNvPr id="203" name="Google Shape;203;p14"/>
          <p:cNvGraphicFramePr/>
          <p:nvPr/>
        </p:nvGraphicFramePr>
        <p:xfrm>
          <a:off x="6096000" y="953937"/>
          <a:ext cx="5817075" cy="2286050"/>
        </p:xfrm>
        <a:graphic>
          <a:graphicData uri="http://schemas.openxmlformats.org/drawingml/2006/table">
            <a:tbl>
              <a:tblPr>
                <a:noFill/>
                <a:tableStyleId>{63FC2C5F-EE98-4A70-AB7D-2227076FA3F5}</a:tableStyleId>
              </a:tblPr>
              <a:tblGrid>
                <a:gridCol w="1939025">
                  <a:extLst>
                    <a:ext uri="{9D8B030D-6E8A-4147-A177-3AD203B41FA5}">
                      <a16:colId xmlns:a16="http://schemas.microsoft.com/office/drawing/2014/main" val="20000"/>
                    </a:ext>
                  </a:extLst>
                </a:gridCol>
                <a:gridCol w="1939025">
                  <a:extLst>
                    <a:ext uri="{9D8B030D-6E8A-4147-A177-3AD203B41FA5}">
                      <a16:colId xmlns:a16="http://schemas.microsoft.com/office/drawing/2014/main" val="20001"/>
                    </a:ext>
                  </a:extLst>
                </a:gridCol>
                <a:gridCol w="1939025">
                  <a:extLst>
                    <a:ext uri="{9D8B030D-6E8A-4147-A177-3AD203B41FA5}">
                      <a16:colId xmlns:a16="http://schemas.microsoft.com/office/drawing/2014/main" val="20002"/>
                    </a:ext>
                  </a:extLst>
                </a:gridCol>
              </a:tblGrid>
              <a:tr h="270875">
                <a:tc>
                  <a:txBody>
                    <a:bodyPr/>
                    <a:lstStyle/>
                    <a:p>
                      <a:pPr marL="0" marR="0" lvl="0" indent="0" algn="l" rtl="0">
                        <a:spcBef>
                          <a:spcPts val="0"/>
                        </a:spcBef>
                        <a:spcAft>
                          <a:spcPts val="0"/>
                        </a:spcAft>
                        <a:buNone/>
                      </a:pPr>
                      <a:r>
                        <a:rPr lang="en-US" sz="1200">
                          <a:highlight>
                            <a:srgbClr val="FFFF00"/>
                          </a:highlight>
                        </a:rPr>
                        <a:t>Feature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a:highlight>
                            <a:srgbClr val="FFFF00"/>
                          </a:highlight>
                        </a:rPr>
                        <a:t>Column-Level Constraints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a:highlight>
                            <a:srgbClr val="FFFF00"/>
                          </a:highlight>
                        </a:rPr>
                        <a:t>Table-Level Constraints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451475">
                <a:tc>
                  <a:txBody>
                    <a:bodyPr/>
                    <a:lstStyle/>
                    <a:p>
                      <a:pPr marL="0" marR="0" lvl="0" indent="0" algn="l" rtl="0">
                        <a:spcBef>
                          <a:spcPts val="0"/>
                        </a:spcBef>
                        <a:spcAft>
                          <a:spcPts val="0"/>
                        </a:spcAft>
                        <a:buNone/>
                      </a:pPr>
                      <a:r>
                        <a:rPr lang="en-US" sz="1200"/>
                        <a:t>Scope</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a:t>Applied to a </a:t>
                      </a:r>
                      <a:r>
                        <a:rPr lang="en-US" sz="1200" b="1"/>
                        <a:t>single column</a:t>
                      </a:r>
                      <a:endParaRPr sz="12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a:t>Can be applied to </a:t>
                      </a:r>
                      <a:r>
                        <a:rPr lang="en-US" sz="1200" b="1"/>
                        <a:t>one or more columns</a:t>
                      </a:r>
                      <a:endParaRPr sz="12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51475">
                <a:tc>
                  <a:txBody>
                    <a:bodyPr/>
                    <a:lstStyle/>
                    <a:p>
                      <a:pPr marL="0" marR="0" lvl="0" indent="0" algn="l" rtl="0">
                        <a:spcBef>
                          <a:spcPts val="0"/>
                        </a:spcBef>
                        <a:spcAft>
                          <a:spcPts val="0"/>
                        </a:spcAft>
                        <a:buNone/>
                      </a:pPr>
                      <a:r>
                        <a:rPr lang="en-US" sz="1200"/>
                        <a:t>Placement</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a:t>Defined </a:t>
                      </a:r>
                      <a:r>
                        <a:rPr lang="en-US" sz="1200" b="1"/>
                        <a:t>within</a:t>
                      </a:r>
                      <a:r>
                        <a:rPr lang="en-US" sz="1200"/>
                        <a:t> the column definition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a:t>Defined </a:t>
                      </a:r>
                      <a:r>
                        <a:rPr lang="en-US" sz="1200" b="1"/>
                        <a:t>at the end</a:t>
                      </a:r>
                      <a:r>
                        <a:rPr lang="en-US" sz="1200"/>
                        <a:t> of the table definition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51475">
                <a:tc>
                  <a:txBody>
                    <a:bodyPr/>
                    <a:lstStyle/>
                    <a:p>
                      <a:pPr marL="0" marR="0" lvl="0" indent="0" algn="l" rtl="0">
                        <a:spcBef>
                          <a:spcPts val="0"/>
                        </a:spcBef>
                        <a:spcAft>
                          <a:spcPts val="0"/>
                        </a:spcAft>
                        <a:buNone/>
                      </a:pPr>
                      <a:r>
                        <a:rPr lang="en-US" sz="1200"/>
                        <a:t>Composite Keys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1"/>
                        <a:t>Not possible</a:t>
                      </a:r>
                      <a:endParaRPr sz="12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1"/>
                        <a:t>Possible</a:t>
                      </a:r>
                      <a:r>
                        <a:rPr lang="en-US" sz="1200"/>
                        <a:t> (multiple columns in a PRIMARY KEY)</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51475">
                <a:tc>
                  <a:txBody>
                    <a:bodyPr/>
                    <a:lstStyle/>
                    <a:p>
                      <a:pPr marL="0" marR="0" lvl="0" indent="0" algn="l" rtl="0">
                        <a:spcBef>
                          <a:spcPts val="0"/>
                        </a:spcBef>
                        <a:spcAft>
                          <a:spcPts val="0"/>
                        </a:spcAft>
                        <a:buNone/>
                      </a:pPr>
                      <a:r>
                        <a:rPr lang="en-US" sz="1200"/>
                        <a:t>Foreign Keys</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a:t>Can be defined within a single column</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a:t>More commonly defined at table level</a:t>
                      </a:r>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04" name="Google Shape;204;p14"/>
          <p:cNvSpPr/>
          <p:nvPr/>
        </p:nvSpPr>
        <p:spPr>
          <a:xfrm>
            <a:off x="6014265" y="440409"/>
            <a:ext cx="5529431" cy="553998"/>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chemeClr val="dk1"/>
              </a:buClr>
              <a:buSzPts val="1000"/>
              <a:buFont typeface="Arial"/>
              <a:buNone/>
            </a:pPr>
            <a:r>
              <a:rPr lang="en-US" sz="1000" b="1" i="0" u="none" strike="noStrike" cap="none">
                <a:solidFill>
                  <a:schemeClr val="dk1"/>
                </a:solidFill>
                <a:latin typeface="Arial"/>
                <a:ea typeface="Arial"/>
                <a:cs typeface="Arial"/>
                <a:sym typeface="Arial"/>
              </a:rPr>
              <a:t>Key Differences Between Column-Level and Table-Level Constraints</a:t>
            </a:r>
            <a:endParaRPr/>
          </a:p>
          <a:p>
            <a:pPr marL="0" marR="0" lvl="0" indent="0" algn="l" rtl="0">
              <a:lnSpc>
                <a:spcPct val="100000"/>
              </a:lnSpc>
              <a:spcBef>
                <a:spcPts val="0"/>
              </a:spcBef>
              <a:spcAft>
                <a:spcPts val="0"/>
              </a:spcAft>
              <a:buClr>
                <a:schemeClr val="dk1"/>
              </a:buClr>
              <a:buSzPts val="2000"/>
              <a:buFont typeface="Calibri"/>
              <a:buNone/>
            </a:pPr>
            <a:endParaRPr sz="2000" b="0" i="0" u="none" strike="noStrike" cap="none">
              <a:solidFill>
                <a:schemeClr val="dk1"/>
              </a:solidFill>
              <a:latin typeface="Arial"/>
              <a:ea typeface="Arial"/>
              <a:cs typeface="Arial"/>
              <a:sym typeface="Arial"/>
            </a:endParaRPr>
          </a:p>
        </p:txBody>
      </p:sp>
      <p:sp>
        <p:nvSpPr>
          <p:cNvPr id="205" name="Google Shape;205;p14"/>
          <p:cNvSpPr txBox="1"/>
          <p:nvPr/>
        </p:nvSpPr>
        <p:spPr>
          <a:xfrm>
            <a:off x="5447696" y="3679419"/>
            <a:ext cx="60960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Calibri"/>
                <a:ea typeface="Calibri"/>
                <a:cs typeface="Calibri"/>
                <a:sym typeface="Calibri"/>
              </a:rPr>
              <a:t>Example for Composite primary key</a:t>
            </a:r>
            <a:r>
              <a:rPr lang="en-US" sz="1200">
                <a:solidFill>
                  <a:schemeClr val="dk1"/>
                </a:solidFill>
                <a:latin typeface="Calibri"/>
                <a:ea typeface="Calibri"/>
                <a:cs typeface="Calibri"/>
                <a:sym typeface="Calibri"/>
              </a:rPr>
              <a:t>, </a:t>
            </a:r>
            <a:r>
              <a:rPr lang="en-US" sz="1200" b="1">
                <a:solidFill>
                  <a:schemeClr val="dk1"/>
                </a:solidFill>
                <a:latin typeface="Calibri"/>
                <a:ea typeface="Calibri"/>
                <a:cs typeface="Calibri"/>
                <a:sym typeface="Calibri"/>
              </a:rPr>
              <a:t>foreign key</a:t>
            </a:r>
            <a:r>
              <a:rPr lang="en-US" sz="1200">
                <a:solidFill>
                  <a:schemeClr val="dk1"/>
                </a:solidFill>
                <a:latin typeface="Calibri"/>
                <a:ea typeface="Calibri"/>
                <a:cs typeface="Calibri"/>
                <a:sym typeface="Calibri"/>
              </a:rPr>
              <a:t>, and a </a:t>
            </a:r>
            <a:r>
              <a:rPr lang="en-US" sz="1200" b="1">
                <a:solidFill>
                  <a:schemeClr val="dk1"/>
                </a:solidFill>
                <a:latin typeface="Calibri"/>
                <a:ea typeface="Calibri"/>
                <a:cs typeface="Calibri"/>
                <a:sym typeface="Calibri"/>
              </a:rPr>
              <a:t>CHECK constraint involving multiple columns</a:t>
            </a:r>
            <a:r>
              <a:rPr lang="en-US" sz="1200">
                <a:solidFill>
                  <a:schemeClr val="dk1"/>
                </a:solidFill>
                <a:latin typeface="Calibri"/>
                <a:ea typeface="Calibri"/>
                <a:cs typeface="Calibri"/>
                <a:sym typeface="Calibri"/>
              </a:rPr>
              <a:t> in SQL:( Significance of table level)</a:t>
            </a:r>
            <a:endParaRPr sz="1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pic>
        <p:nvPicPr>
          <p:cNvPr id="210" name="Google Shape;210;p15"/>
          <p:cNvPicPr preferRelativeResize="0"/>
          <p:nvPr/>
        </p:nvPicPr>
        <p:blipFill rotWithShape="1">
          <a:blip r:embed="rId3">
            <a:alphaModFix/>
          </a:blip>
          <a:srcRect/>
          <a:stretch/>
        </p:blipFill>
        <p:spPr>
          <a:xfrm>
            <a:off x="4971042" y="82857"/>
            <a:ext cx="7220958" cy="5934903"/>
          </a:xfrm>
          <a:prstGeom prst="rect">
            <a:avLst/>
          </a:prstGeom>
          <a:noFill/>
          <a:ln>
            <a:noFill/>
          </a:ln>
        </p:spPr>
      </p:pic>
      <p:pic>
        <p:nvPicPr>
          <p:cNvPr id="211" name="Google Shape;211;p15"/>
          <p:cNvPicPr preferRelativeResize="0"/>
          <p:nvPr/>
        </p:nvPicPr>
        <p:blipFill rotWithShape="1">
          <a:blip r:embed="rId4">
            <a:alphaModFix/>
          </a:blip>
          <a:srcRect/>
          <a:stretch/>
        </p:blipFill>
        <p:spPr>
          <a:xfrm>
            <a:off x="4971042" y="6102034"/>
            <a:ext cx="3905795" cy="362001"/>
          </a:xfrm>
          <a:prstGeom prst="rect">
            <a:avLst/>
          </a:prstGeom>
          <a:noFill/>
          <a:ln>
            <a:noFill/>
          </a:ln>
        </p:spPr>
      </p:pic>
      <p:sp>
        <p:nvSpPr>
          <p:cNvPr id="212" name="Google Shape;212;p15"/>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3600"/>
              <a:buFont typeface="Calibri"/>
              <a:buNone/>
            </a:pPr>
            <a:r>
              <a:rPr lang="en-US"/>
              <a:t>Alter Statements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6"/>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3600"/>
              <a:buFont typeface="Calibri"/>
              <a:buNone/>
            </a:pPr>
            <a:r>
              <a:rPr lang="en-US" b="1"/>
              <a:t>DROP a Table</a:t>
            </a:r>
            <a:br>
              <a:rPr lang="en-US" b="1"/>
            </a:br>
            <a:endParaRPr/>
          </a:p>
        </p:txBody>
      </p:sp>
      <p:sp>
        <p:nvSpPr>
          <p:cNvPr id="218" name="Google Shape;218;p16"/>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Removes an entire table, including all its data and structure.</a:t>
            </a:r>
            <a:br>
              <a:rPr lang="en-US"/>
            </a:br>
            <a:endParaRPr/>
          </a:p>
        </p:txBody>
      </p:sp>
      <p:pic>
        <p:nvPicPr>
          <p:cNvPr id="219" name="Google Shape;219;p16"/>
          <p:cNvPicPr preferRelativeResize="0"/>
          <p:nvPr/>
        </p:nvPicPr>
        <p:blipFill rotWithShape="1">
          <a:blip r:embed="rId3">
            <a:alphaModFix/>
          </a:blip>
          <a:srcRect/>
          <a:stretch/>
        </p:blipFill>
        <p:spPr>
          <a:xfrm>
            <a:off x="6767103" y="1480148"/>
            <a:ext cx="1724266" cy="25721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7"/>
          <p:cNvSpPr txBox="1">
            <a:spLocks noGrp="1"/>
          </p:cNvSpPr>
          <p:nvPr>
            <p:ph type="title"/>
          </p:nvPr>
        </p:nvSpPr>
        <p:spPr>
          <a:xfrm>
            <a:off x="1097280" y="5074920"/>
            <a:ext cx="10113264" cy="822960"/>
          </a:xfrm>
          <a:prstGeom prst="rect">
            <a:avLst/>
          </a:prstGeom>
          <a:noFill/>
          <a:ln>
            <a:noFill/>
          </a:ln>
        </p:spPr>
        <p:txBody>
          <a:bodyPr spcFirstLastPara="1" wrap="square" lIns="91425" tIns="0" rIns="91425" bIns="0" anchor="b" anchorCtr="0">
            <a:noAutofit/>
          </a:bodyPr>
          <a:lstStyle/>
          <a:p>
            <a:pPr marL="0" lvl="0" indent="0" algn="l" rtl="0">
              <a:lnSpc>
                <a:spcPct val="85000"/>
              </a:lnSpc>
              <a:spcBef>
                <a:spcPts val="0"/>
              </a:spcBef>
              <a:spcAft>
                <a:spcPts val="0"/>
              </a:spcAft>
              <a:buClr>
                <a:srgbClr val="FFFFFF"/>
              </a:buClr>
              <a:buSzPts val="3600"/>
              <a:buFont typeface="Calibri"/>
              <a:buNone/>
            </a:pPr>
            <a:r>
              <a:rPr lang="en-US"/>
              <a:t>Data Manipulation Language (DML)</a:t>
            </a:r>
            <a:endParaRPr/>
          </a:p>
        </p:txBody>
      </p:sp>
      <p:sp>
        <p:nvSpPr>
          <p:cNvPr id="225" name="Google Shape;225;p17"/>
          <p:cNvSpPr txBox="1">
            <a:spLocks noGrp="1"/>
          </p:cNvSpPr>
          <p:nvPr>
            <p:ph type="body" idx="1"/>
          </p:nvPr>
        </p:nvSpPr>
        <p:spPr>
          <a:xfrm>
            <a:off x="1097280" y="5907023"/>
            <a:ext cx="10113264" cy="594360"/>
          </a:xfrm>
          <a:prstGeom prst="rect">
            <a:avLst/>
          </a:prstGeom>
          <a:noFill/>
          <a:ln>
            <a:noFill/>
          </a:ln>
        </p:spPr>
        <p:txBody>
          <a:bodyPr spcFirstLastPara="1" wrap="square" lIns="91425" tIns="0" rIns="91425" bIns="0" anchor="t" anchorCtr="0">
            <a:normAutofit/>
          </a:bodyPr>
          <a:lstStyle/>
          <a:p>
            <a:pPr marL="0" lvl="0" indent="0" algn="l" rtl="0">
              <a:lnSpc>
                <a:spcPct val="90000"/>
              </a:lnSpc>
              <a:spcBef>
                <a:spcPts val="0"/>
              </a:spcBef>
              <a:spcAft>
                <a:spcPts val="0"/>
              </a:spcAft>
              <a:buSzPts val="1500"/>
              <a:buNone/>
            </a:pPr>
            <a:r>
              <a:rPr lang="en-US"/>
              <a:t>Deals with the data in the table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18"/>
          <p:cNvSpPr txBox="1">
            <a:spLocks noGrp="1"/>
          </p:cNvSpPr>
          <p:nvPr>
            <p:ph type="sldNum" idx="12"/>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fld id="{00000000-1234-1234-1234-123412341234}" type="slidenum">
              <a:rPr lang="en-US" sz="1400" b="0">
                <a:solidFill>
                  <a:schemeClr val="dk1"/>
                </a:solidFill>
                <a:latin typeface="Times New Roman"/>
                <a:ea typeface="Times New Roman"/>
                <a:cs typeface="Times New Roman"/>
                <a:sym typeface="Times New Roman"/>
              </a:rPr>
              <a:t>15</a:t>
            </a:fld>
            <a:endParaRPr sz="1400" b="0">
              <a:solidFill>
                <a:schemeClr val="dk1"/>
              </a:solidFill>
              <a:latin typeface="Times New Roman"/>
              <a:ea typeface="Times New Roman"/>
              <a:cs typeface="Times New Roman"/>
              <a:sym typeface="Times New Roman"/>
            </a:endParaRPr>
          </a:p>
        </p:txBody>
      </p:sp>
      <p:sp>
        <p:nvSpPr>
          <p:cNvPr id="232" name="Google Shape;232;p18"/>
          <p:cNvSpPr/>
          <p:nvPr/>
        </p:nvSpPr>
        <p:spPr>
          <a:xfrm>
            <a:off x="251691" y="482599"/>
            <a:ext cx="7772400" cy="990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4000" b="1">
                <a:solidFill>
                  <a:srgbClr val="CC0000"/>
                </a:solidFill>
                <a:latin typeface="Garamond"/>
                <a:ea typeface="Garamond"/>
                <a:cs typeface="Garamond"/>
                <a:sym typeface="Garamond"/>
              </a:rPr>
              <a:t>Modifying Records</a:t>
            </a:r>
            <a:br>
              <a:rPr lang="en-US" sz="4000" b="1">
                <a:solidFill>
                  <a:srgbClr val="CC0000"/>
                </a:solidFill>
                <a:latin typeface="Garamond"/>
                <a:ea typeface="Garamond"/>
                <a:cs typeface="Garamond"/>
                <a:sym typeface="Garamond"/>
              </a:rPr>
            </a:br>
            <a:r>
              <a:rPr lang="en-US" sz="2400" b="1">
                <a:solidFill>
                  <a:srgbClr val="003399"/>
                </a:solidFill>
                <a:latin typeface="Arial"/>
                <a:ea typeface="Arial"/>
                <a:cs typeface="Arial"/>
                <a:sym typeface="Arial"/>
              </a:rPr>
              <a:t>Insert Statement</a:t>
            </a:r>
            <a:endParaRPr/>
          </a:p>
        </p:txBody>
      </p:sp>
      <p:sp>
        <p:nvSpPr>
          <p:cNvPr id="233" name="Google Shape;233;p18"/>
          <p:cNvSpPr txBox="1">
            <a:spLocks noGrp="1"/>
          </p:cNvSpPr>
          <p:nvPr>
            <p:ph type="body" idx="1"/>
          </p:nvPr>
        </p:nvSpPr>
        <p:spPr>
          <a:xfrm>
            <a:off x="508000" y="1893454"/>
            <a:ext cx="10917382" cy="4583545"/>
          </a:xfrm>
          <a:prstGeom prst="rect">
            <a:avLst/>
          </a:prstGeom>
          <a:noFill/>
          <a:ln>
            <a:noFill/>
          </a:ln>
        </p:spPr>
        <p:txBody>
          <a:bodyPr spcFirstLastPara="1" wrap="square" lIns="0" tIns="45700" rIns="0" bIns="45700" anchor="t" anchorCtr="0">
            <a:normAutofit fontScale="92500" lnSpcReduction="20000"/>
          </a:bodyPr>
          <a:lstStyle/>
          <a:p>
            <a:pPr marL="609600" lvl="0" indent="-609600" algn="l" rtl="0">
              <a:lnSpc>
                <a:spcPct val="90000"/>
              </a:lnSpc>
              <a:spcBef>
                <a:spcPts val="0"/>
              </a:spcBef>
              <a:spcAft>
                <a:spcPts val="0"/>
              </a:spcAft>
              <a:buSzPct val="100000"/>
              <a:buChar char=" "/>
            </a:pPr>
            <a:r>
              <a:rPr lang="en-US" sz="2400" b="1"/>
              <a:t>Insert:</a:t>
            </a:r>
            <a:endParaRPr/>
          </a:p>
          <a:p>
            <a:pPr marL="1100138" lvl="1" indent="-533400" algn="l" rtl="0">
              <a:lnSpc>
                <a:spcPct val="90000"/>
              </a:lnSpc>
              <a:spcBef>
                <a:spcPts val="200"/>
              </a:spcBef>
              <a:spcAft>
                <a:spcPts val="0"/>
              </a:spcAft>
              <a:buSzPct val="100000"/>
              <a:buChar char="◦"/>
            </a:pPr>
            <a:r>
              <a:rPr lang="en-US" sz="2000"/>
              <a:t>Allows you to add new records to the Table</a:t>
            </a:r>
            <a:endParaRPr/>
          </a:p>
          <a:p>
            <a:pPr marL="609600" lvl="0" indent="-609600" algn="l" rtl="0">
              <a:lnSpc>
                <a:spcPct val="90000"/>
              </a:lnSpc>
              <a:spcBef>
                <a:spcPts val="400"/>
              </a:spcBef>
              <a:spcAft>
                <a:spcPts val="0"/>
              </a:spcAft>
              <a:buSzPct val="100000"/>
              <a:buChar char=" "/>
            </a:pPr>
            <a:r>
              <a:rPr lang="en-US" sz="2400" b="1"/>
              <a:t>Syntax: </a:t>
            </a:r>
            <a:endParaRPr/>
          </a:p>
          <a:p>
            <a:pPr marL="1100138" lvl="1" indent="-533400" algn="l" rtl="0">
              <a:lnSpc>
                <a:spcPct val="90000"/>
              </a:lnSpc>
              <a:spcBef>
                <a:spcPts val="200"/>
              </a:spcBef>
              <a:spcAft>
                <a:spcPts val="0"/>
              </a:spcAft>
              <a:buSzPct val="100000"/>
              <a:buChar char="◦"/>
            </a:pPr>
            <a:r>
              <a:rPr lang="en-US" sz="2000"/>
              <a:t>Insert into table_name[(column_list)] values (value_list)</a:t>
            </a:r>
            <a:endParaRPr/>
          </a:p>
          <a:p>
            <a:pPr marL="609600" lvl="0" indent="-609600" algn="l" rtl="0">
              <a:lnSpc>
                <a:spcPct val="90000"/>
              </a:lnSpc>
              <a:spcBef>
                <a:spcPts val="400"/>
              </a:spcBef>
              <a:spcAft>
                <a:spcPts val="0"/>
              </a:spcAft>
              <a:buSzPct val="100000"/>
              <a:buChar char=" "/>
            </a:pPr>
            <a:r>
              <a:rPr lang="en-US" sz="2400" b="1"/>
              <a:t>Example:</a:t>
            </a:r>
            <a:endParaRPr/>
          </a:p>
          <a:p>
            <a:pPr marL="609600" lvl="0" indent="-562610" algn="l" rtl="0">
              <a:lnSpc>
                <a:spcPct val="90000"/>
              </a:lnSpc>
              <a:spcBef>
                <a:spcPts val="200"/>
              </a:spcBef>
              <a:spcAft>
                <a:spcPts val="0"/>
              </a:spcAft>
              <a:buSzPct val="100000"/>
              <a:buNone/>
            </a:pPr>
            <a:endParaRPr sz="800" b="1"/>
          </a:p>
          <a:p>
            <a:pPr marL="609600" lvl="0" indent="-609600" algn="l" rtl="0">
              <a:lnSpc>
                <a:spcPct val="90000"/>
              </a:lnSpc>
              <a:spcBef>
                <a:spcPts val="200"/>
              </a:spcBef>
              <a:spcAft>
                <a:spcPts val="0"/>
              </a:spcAft>
              <a:buSzPct val="100000"/>
              <a:buNone/>
            </a:pPr>
            <a:r>
              <a:rPr lang="en-US">
                <a:latin typeface="Consolas"/>
                <a:ea typeface="Consolas"/>
                <a:cs typeface="Consolas"/>
                <a:sym typeface="Consolas"/>
              </a:rPr>
              <a:t>INSERT INTO studios VALUES (1, ‘Giant’, ‘Los Angeles’, ‘CA’)</a:t>
            </a:r>
            <a:endParaRPr/>
          </a:p>
          <a:p>
            <a:pPr marL="609600" lvl="0" indent="-609600" algn="l" rtl="0">
              <a:lnSpc>
                <a:spcPct val="90000"/>
              </a:lnSpc>
              <a:spcBef>
                <a:spcPts val="200"/>
              </a:spcBef>
              <a:spcAft>
                <a:spcPts val="0"/>
              </a:spcAft>
              <a:buSzPct val="100000"/>
              <a:buNone/>
            </a:pPr>
            <a:r>
              <a:rPr lang="en-US">
                <a:latin typeface="Consolas"/>
                <a:ea typeface="Consolas"/>
                <a:cs typeface="Consolas"/>
                <a:sym typeface="Consolas"/>
              </a:rPr>
              <a:t> </a:t>
            </a:r>
            <a:endParaRPr/>
          </a:p>
          <a:p>
            <a:pPr marL="609600" lvl="0" indent="-609600" algn="l" rtl="0">
              <a:lnSpc>
                <a:spcPct val="90000"/>
              </a:lnSpc>
              <a:spcBef>
                <a:spcPts val="200"/>
              </a:spcBef>
              <a:spcAft>
                <a:spcPts val="0"/>
              </a:spcAft>
              <a:buSzPct val="100000"/>
              <a:buNone/>
            </a:pPr>
            <a:r>
              <a:rPr lang="en-US">
                <a:latin typeface="Consolas"/>
                <a:ea typeface="Consolas"/>
                <a:cs typeface="Consolas"/>
                <a:sym typeface="Consolas"/>
              </a:rPr>
              <a:t>INSERT INTO studios (studio_city, studio_state, studio_name, studio_id) VALUES (‘Burbank’, ‘CA’, ‘MPM’, 2) </a:t>
            </a:r>
            <a:endParaRPr/>
          </a:p>
          <a:p>
            <a:pPr marL="609600" lvl="0" indent="-609600" algn="l" rtl="0">
              <a:lnSpc>
                <a:spcPct val="90000"/>
              </a:lnSpc>
              <a:spcBef>
                <a:spcPts val="200"/>
              </a:spcBef>
              <a:spcAft>
                <a:spcPts val="0"/>
              </a:spcAft>
              <a:buSzPct val="100000"/>
              <a:buNone/>
            </a:pPr>
            <a:endParaRPr/>
          </a:p>
          <a:p>
            <a:pPr marL="609600" lvl="0" indent="-609600" algn="l" rtl="0">
              <a:lnSpc>
                <a:spcPct val="90000"/>
              </a:lnSpc>
              <a:spcBef>
                <a:spcPts val="200"/>
              </a:spcBef>
              <a:spcAft>
                <a:spcPts val="0"/>
              </a:spcAft>
              <a:buSzPct val="100000"/>
              <a:buNone/>
            </a:pPr>
            <a:endParaRPr sz="800"/>
          </a:p>
          <a:p>
            <a:pPr marL="609600" lvl="0" indent="-609600" algn="l" rtl="0">
              <a:lnSpc>
                <a:spcPct val="90000"/>
              </a:lnSpc>
              <a:spcBef>
                <a:spcPts val="200"/>
              </a:spcBef>
              <a:spcAft>
                <a:spcPts val="0"/>
              </a:spcAft>
              <a:buSzPct val="100000"/>
              <a:buChar char=" "/>
            </a:pPr>
            <a:r>
              <a:rPr lang="en-US" b="1"/>
              <a:t>Note1: </a:t>
            </a:r>
            <a:r>
              <a:rPr lang="en-US"/>
              <a:t>If the columns are not specified as in the first example the data goes in the order specified in the table</a:t>
            </a:r>
            <a:r>
              <a:rPr lang="en-US" b="1"/>
              <a:t> </a:t>
            </a:r>
            <a:endParaRPr/>
          </a:p>
          <a:p>
            <a:pPr marL="609600" lvl="0" indent="-609600" algn="l" rtl="0">
              <a:lnSpc>
                <a:spcPct val="90000"/>
              </a:lnSpc>
              <a:spcBef>
                <a:spcPts val="200"/>
              </a:spcBef>
              <a:spcAft>
                <a:spcPts val="0"/>
              </a:spcAft>
              <a:buSzPct val="100000"/>
              <a:buChar char=" "/>
            </a:pPr>
            <a:r>
              <a:rPr lang="en-US" b="1"/>
              <a:t>Note2: </a:t>
            </a:r>
            <a:r>
              <a:rPr lang="en-US"/>
              <a:t>There are two ways of inserting Null values</a:t>
            </a:r>
            <a:endParaRPr/>
          </a:p>
          <a:p>
            <a:pPr marL="609600" lvl="0" indent="-609600" algn="l" rtl="0">
              <a:lnSpc>
                <a:spcPct val="90000"/>
              </a:lnSpc>
              <a:spcBef>
                <a:spcPts val="200"/>
              </a:spcBef>
              <a:spcAft>
                <a:spcPts val="0"/>
              </a:spcAft>
              <a:buSzPct val="100000"/>
              <a:buNone/>
            </a:pPr>
            <a:r>
              <a:rPr lang="en-US"/>
              <a:t>	1. If the field has a default value of Null, you can use an Insert statement that ignores the column where the value is to be Null.</a:t>
            </a:r>
            <a:endParaRPr/>
          </a:p>
          <a:p>
            <a:pPr marL="609600" lvl="0" indent="-609600" algn="l" rtl="0">
              <a:lnSpc>
                <a:spcPct val="90000"/>
              </a:lnSpc>
              <a:spcBef>
                <a:spcPts val="200"/>
              </a:spcBef>
              <a:spcAft>
                <a:spcPts val="0"/>
              </a:spcAft>
              <a:buSzPct val="100000"/>
              <a:buNone/>
            </a:pPr>
            <a:r>
              <a:rPr lang="en-US"/>
              <a:t>	2. You can specify the column in the column list specification and assign a value of Null to the corresponding value field. </a:t>
            </a:r>
            <a:endParaRPr/>
          </a:p>
        </p:txBody>
      </p:sp>
      <p:pic>
        <p:nvPicPr>
          <p:cNvPr id="234" name="Google Shape;234;p18"/>
          <p:cNvPicPr preferRelativeResize="0"/>
          <p:nvPr/>
        </p:nvPicPr>
        <p:blipFill rotWithShape="1">
          <a:blip r:embed="rId3">
            <a:alphaModFix/>
          </a:blip>
          <a:srcRect/>
          <a:stretch/>
        </p:blipFill>
        <p:spPr>
          <a:xfrm>
            <a:off x="8289155" y="1998728"/>
            <a:ext cx="2762636" cy="1124107"/>
          </a:xfrm>
          <a:prstGeom prst="rect">
            <a:avLst/>
          </a:prstGeom>
          <a:noFill/>
          <a:ln>
            <a:noFill/>
          </a:ln>
        </p:spPr>
      </p:pic>
    </p:spTree>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9"/>
          <p:cNvSpPr txBox="1">
            <a:spLocks noGrp="1"/>
          </p:cNvSpPr>
          <p:nvPr>
            <p:ph type="sldNum" idx="12"/>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fld id="{00000000-1234-1234-1234-123412341234}" type="slidenum">
              <a:rPr lang="en-US" sz="1400" b="0">
                <a:solidFill>
                  <a:schemeClr val="dk1"/>
                </a:solidFill>
                <a:latin typeface="Times New Roman"/>
                <a:ea typeface="Times New Roman"/>
                <a:cs typeface="Times New Roman"/>
                <a:sym typeface="Times New Roman"/>
              </a:rPr>
              <a:t>16</a:t>
            </a:fld>
            <a:endParaRPr sz="1400" b="0">
              <a:solidFill>
                <a:schemeClr val="dk1"/>
              </a:solidFill>
              <a:latin typeface="Times New Roman"/>
              <a:ea typeface="Times New Roman"/>
              <a:cs typeface="Times New Roman"/>
              <a:sym typeface="Times New Roman"/>
            </a:endParaRPr>
          </a:p>
        </p:txBody>
      </p:sp>
      <p:sp>
        <p:nvSpPr>
          <p:cNvPr id="241" name="Google Shape;241;p19"/>
          <p:cNvSpPr/>
          <p:nvPr/>
        </p:nvSpPr>
        <p:spPr>
          <a:xfrm>
            <a:off x="704273" y="417945"/>
            <a:ext cx="7772400" cy="990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4000" b="1">
                <a:solidFill>
                  <a:srgbClr val="CC0000"/>
                </a:solidFill>
                <a:latin typeface="Garamond"/>
                <a:ea typeface="Garamond"/>
                <a:cs typeface="Garamond"/>
                <a:sym typeface="Garamond"/>
              </a:rPr>
              <a:t>Modifying Records</a:t>
            </a:r>
            <a:br>
              <a:rPr lang="en-US" sz="4000" b="1">
                <a:solidFill>
                  <a:srgbClr val="CC0000"/>
                </a:solidFill>
                <a:latin typeface="Garamond"/>
                <a:ea typeface="Garamond"/>
                <a:cs typeface="Garamond"/>
                <a:sym typeface="Garamond"/>
              </a:rPr>
            </a:br>
            <a:r>
              <a:rPr lang="en-US" sz="2400" b="1">
                <a:solidFill>
                  <a:srgbClr val="003399"/>
                </a:solidFill>
                <a:latin typeface="Arial"/>
                <a:ea typeface="Arial"/>
                <a:cs typeface="Arial"/>
                <a:sym typeface="Arial"/>
              </a:rPr>
              <a:t>Select &amp; Insert</a:t>
            </a:r>
            <a:endParaRPr/>
          </a:p>
        </p:txBody>
      </p:sp>
      <p:sp>
        <p:nvSpPr>
          <p:cNvPr id="242" name="Google Shape;242;p19"/>
          <p:cNvSpPr txBox="1">
            <a:spLocks noGrp="1"/>
          </p:cNvSpPr>
          <p:nvPr>
            <p:ph type="body" idx="1"/>
          </p:nvPr>
        </p:nvSpPr>
        <p:spPr>
          <a:xfrm>
            <a:off x="785091" y="1856509"/>
            <a:ext cx="10621817" cy="4454236"/>
          </a:xfrm>
          <a:prstGeom prst="rect">
            <a:avLst/>
          </a:prstGeom>
          <a:noFill/>
          <a:ln>
            <a:noFill/>
          </a:ln>
        </p:spPr>
        <p:txBody>
          <a:bodyPr spcFirstLastPara="1" wrap="square" lIns="0" tIns="45700" rIns="0" bIns="45700" anchor="t" anchorCtr="0">
            <a:normAutofit/>
          </a:bodyPr>
          <a:lstStyle/>
          <a:p>
            <a:pPr marL="609600" lvl="0" indent="-609600" algn="l" rtl="0">
              <a:lnSpc>
                <a:spcPct val="80000"/>
              </a:lnSpc>
              <a:spcBef>
                <a:spcPts val="0"/>
              </a:spcBef>
              <a:spcAft>
                <a:spcPts val="0"/>
              </a:spcAft>
              <a:buSzPts val="2000"/>
              <a:buChar char=" "/>
            </a:pPr>
            <a:r>
              <a:rPr lang="en-US" b="1"/>
              <a:t>Select &amp; Insert:</a:t>
            </a:r>
            <a:endParaRPr/>
          </a:p>
          <a:p>
            <a:pPr marL="1100138" lvl="1" indent="-533400" algn="l" rtl="0">
              <a:lnSpc>
                <a:spcPct val="80000"/>
              </a:lnSpc>
              <a:spcBef>
                <a:spcPts val="200"/>
              </a:spcBef>
              <a:spcAft>
                <a:spcPts val="0"/>
              </a:spcAft>
              <a:buSzPts val="1800"/>
              <a:buChar char="◦"/>
            </a:pPr>
            <a:r>
              <a:rPr lang="en-US"/>
              <a:t>A select query can be used in the insert statement to get the values for the insert statement</a:t>
            </a:r>
            <a:endParaRPr/>
          </a:p>
          <a:p>
            <a:pPr marL="1100138" lvl="1" indent="-406400" algn="l" rtl="0">
              <a:lnSpc>
                <a:spcPct val="80000"/>
              </a:lnSpc>
              <a:spcBef>
                <a:spcPts val="400"/>
              </a:spcBef>
              <a:spcAft>
                <a:spcPts val="0"/>
              </a:spcAft>
              <a:buSzPts val="2000"/>
              <a:buNone/>
            </a:pPr>
            <a:endParaRPr sz="2000"/>
          </a:p>
          <a:p>
            <a:pPr marL="609600" lvl="0" indent="-609600" algn="l" rtl="0">
              <a:lnSpc>
                <a:spcPct val="80000"/>
              </a:lnSpc>
              <a:spcBef>
                <a:spcPts val="400"/>
              </a:spcBef>
              <a:spcAft>
                <a:spcPts val="0"/>
              </a:spcAft>
              <a:buSzPts val="2000"/>
              <a:buChar char=" "/>
            </a:pPr>
            <a:r>
              <a:rPr lang="en-US" b="1"/>
              <a:t>Example:</a:t>
            </a:r>
            <a:endParaRPr/>
          </a:p>
          <a:p>
            <a:pPr marL="609600" lvl="0" indent="-565150" algn="l" rtl="0">
              <a:lnSpc>
                <a:spcPct val="80000"/>
              </a:lnSpc>
              <a:spcBef>
                <a:spcPts val="200"/>
              </a:spcBef>
              <a:spcAft>
                <a:spcPts val="0"/>
              </a:spcAft>
              <a:buSzPts val="700"/>
              <a:buNone/>
            </a:pPr>
            <a:endParaRPr sz="700" b="1"/>
          </a:p>
          <a:p>
            <a:pPr marL="609600" lvl="0" indent="-609600" algn="l" rtl="0">
              <a:lnSpc>
                <a:spcPct val="80000"/>
              </a:lnSpc>
              <a:spcBef>
                <a:spcPts val="200"/>
              </a:spcBef>
              <a:spcAft>
                <a:spcPts val="0"/>
              </a:spcAft>
              <a:buSzPts val="1800"/>
              <a:buNone/>
            </a:pPr>
            <a:r>
              <a:rPr lang="en-US" sz="1800"/>
              <a:t>INSERT INTO city_state SELECT studio_city, studio_state FROM studios </a:t>
            </a:r>
            <a:endParaRPr/>
          </a:p>
          <a:p>
            <a:pPr marL="609600" lvl="0" indent="-609600" algn="l" rtl="0">
              <a:lnSpc>
                <a:spcPct val="80000"/>
              </a:lnSpc>
              <a:spcBef>
                <a:spcPts val="200"/>
              </a:spcBef>
              <a:spcAft>
                <a:spcPts val="0"/>
              </a:spcAft>
              <a:buSzPts val="700"/>
              <a:buNone/>
            </a:pPr>
            <a:endParaRPr sz="700"/>
          </a:p>
          <a:p>
            <a:pPr marL="609600" lvl="0" indent="-482600" algn="l" rtl="0">
              <a:lnSpc>
                <a:spcPct val="80000"/>
              </a:lnSpc>
              <a:spcBef>
                <a:spcPts val="200"/>
              </a:spcBef>
              <a:spcAft>
                <a:spcPts val="0"/>
              </a:spcAft>
              <a:buSzPts val="2000"/>
              <a:buNone/>
            </a:pPr>
            <a:endParaRPr/>
          </a:p>
          <a:p>
            <a:pPr marL="609600" lvl="0" indent="-609600" algn="l" rtl="0">
              <a:lnSpc>
                <a:spcPct val="80000"/>
              </a:lnSpc>
              <a:spcBef>
                <a:spcPts val="200"/>
              </a:spcBef>
              <a:spcAft>
                <a:spcPts val="0"/>
              </a:spcAft>
              <a:buSzPts val="2000"/>
              <a:buChar char=" "/>
            </a:pPr>
            <a:r>
              <a:rPr lang="en-US"/>
              <a:t>This selects the corresponding fields from the studios table and inserts them into the city_state table.</a:t>
            </a:r>
            <a:endParaRPr/>
          </a:p>
          <a:p>
            <a:pPr marL="609600" lvl="0" indent="-482600" algn="l" rtl="0">
              <a:lnSpc>
                <a:spcPct val="80000"/>
              </a:lnSpc>
              <a:spcBef>
                <a:spcPts val="200"/>
              </a:spcBef>
              <a:spcAft>
                <a:spcPts val="0"/>
              </a:spcAft>
              <a:buSzPts val="2000"/>
              <a:buNone/>
            </a:pPr>
            <a:endParaRPr b="1"/>
          </a:p>
          <a:p>
            <a:pPr marL="609600" lvl="0" indent="-609600" algn="l" rtl="0">
              <a:lnSpc>
                <a:spcPct val="80000"/>
              </a:lnSpc>
              <a:spcBef>
                <a:spcPts val="200"/>
              </a:spcBef>
              <a:spcAft>
                <a:spcPts val="0"/>
              </a:spcAft>
              <a:buSzPts val="2000"/>
              <a:buChar char=" "/>
            </a:pPr>
            <a:r>
              <a:rPr lang="en-US" b="1"/>
              <a:t>Example:</a:t>
            </a:r>
            <a:endParaRPr/>
          </a:p>
          <a:p>
            <a:pPr marL="609600" lvl="0" indent="-565150" algn="l" rtl="0">
              <a:lnSpc>
                <a:spcPct val="80000"/>
              </a:lnSpc>
              <a:spcBef>
                <a:spcPts val="200"/>
              </a:spcBef>
              <a:spcAft>
                <a:spcPts val="0"/>
              </a:spcAft>
              <a:buSzPts val="700"/>
              <a:buNone/>
            </a:pPr>
            <a:endParaRPr sz="700"/>
          </a:p>
          <a:p>
            <a:pPr marL="609600" lvl="0" indent="-565150" algn="l" rtl="0">
              <a:lnSpc>
                <a:spcPct val="80000"/>
              </a:lnSpc>
              <a:spcBef>
                <a:spcPts val="200"/>
              </a:spcBef>
              <a:spcAft>
                <a:spcPts val="0"/>
              </a:spcAft>
              <a:buSzPts val="700"/>
              <a:buNone/>
            </a:pPr>
            <a:endParaRPr sz="700"/>
          </a:p>
          <a:p>
            <a:pPr marL="609600" lvl="0" indent="-609600" algn="l" rtl="0">
              <a:lnSpc>
                <a:spcPct val="80000"/>
              </a:lnSpc>
              <a:spcBef>
                <a:spcPts val="200"/>
              </a:spcBef>
              <a:spcAft>
                <a:spcPts val="0"/>
              </a:spcAft>
              <a:buSzPts val="1800"/>
              <a:buNone/>
            </a:pPr>
            <a:r>
              <a:rPr lang="en-US" sz="1800"/>
              <a:t>INSERT INTO city_state SELECT Distinct studio_city, studio_state FROM studios</a:t>
            </a:r>
            <a:endParaRPr/>
          </a:p>
          <a:p>
            <a:pPr marL="609600" lvl="0" indent="-609600" algn="l" rtl="0">
              <a:lnSpc>
                <a:spcPct val="80000"/>
              </a:lnSpc>
              <a:spcBef>
                <a:spcPts val="200"/>
              </a:spcBef>
              <a:spcAft>
                <a:spcPts val="0"/>
              </a:spcAft>
              <a:buSzPts val="1800"/>
              <a:buNone/>
            </a:pPr>
            <a:r>
              <a:rPr lang="en-US" sz="1800"/>
              <a:t> </a:t>
            </a:r>
            <a:endParaRPr/>
          </a:p>
          <a:p>
            <a:pPr marL="609600" lvl="0" indent="-609600" algn="l" rtl="0">
              <a:lnSpc>
                <a:spcPct val="80000"/>
              </a:lnSpc>
              <a:spcBef>
                <a:spcPts val="200"/>
              </a:spcBef>
              <a:spcAft>
                <a:spcPts val="0"/>
              </a:spcAft>
              <a:buSzPts val="700"/>
              <a:buNone/>
            </a:pPr>
            <a:endParaRPr sz="700"/>
          </a:p>
          <a:p>
            <a:pPr marL="609600" lvl="0" indent="-609600" algn="l" rtl="0">
              <a:lnSpc>
                <a:spcPct val="80000"/>
              </a:lnSpc>
              <a:spcBef>
                <a:spcPts val="200"/>
              </a:spcBef>
              <a:spcAft>
                <a:spcPts val="0"/>
              </a:spcAft>
              <a:buSzPts val="2000"/>
              <a:buChar char=" "/>
            </a:pPr>
            <a:r>
              <a:rPr lang="en-US"/>
              <a:t>This selects the corresponding fields from the studios table, deletes the duplicate fields and inserts them into the city_state table. Thus the final table has distinct rows</a:t>
            </a:r>
            <a:endParaRPr/>
          </a:p>
        </p:txBody>
      </p:sp>
    </p:spTree>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20"/>
          <p:cNvSpPr txBox="1">
            <a:spLocks noGrp="1"/>
          </p:cNvSpPr>
          <p:nvPr>
            <p:ph type="sldNum" idx="12"/>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fld id="{00000000-1234-1234-1234-123412341234}" type="slidenum">
              <a:rPr lang="en-US" sz="1400" b="0">
                <a:solidFill>
                  <a:schemeClr val="dk1"/>
                </a:solidFill>
                <a:latin typeface="Times New Roman"/>
                <a:ea typeface="Times New Roman"/>
                <a:cs typeface="Times New Roman"/>
                <a:sym typeface="Times New Roman"/>
              </a:rPr>
              <a:t>17</a:t>
            </a:fld>
            <a:endParaRPr sz="1400" b="0">
              <a:solidFill>
                <a:schemeClr val="dk1"/>
              </a:solidFill>
              <a:latin typeface="Times New Roman"/>
              <a:ea typeface="Times New Roman"/>
              <a:cs typeface="Times New Roman"/>
              <a:sym typeface="Times New Roman"/>
            </a:endParaRPr>
          </a:p>
        </p:txBody>
      </p:sp>
      <p:sp>
        <p:nvSpPr>
          <p:cNvPr id="249" name="Google Shape;249;p20"/>
          <p:cNvSpPr/>
          <p:nvPr/>
        </p:nvSpPr>
        <p:spPr>
          <a:xfrm>
            <a:off x="260927" y="352270"/>
            <a:ext cx="7772400" cy="990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4000" b="1">
                <a:solidFill>
                  <a:srgbClr val="CC0000"/>
                </a:solidFill>
                <a:latin typeface="Garamond"/>
                <a:ea typeface="Garamond"/>
                <a:cs typeface="Garamond"/>
                <a:sym typeface="Garamond"/>
              </a:rPr>
              <a:t>Modifying Records</a:t>
            </a:r>
            <a:br>
              <a:rPr lang="en-US" sz="4000" b="1">
                <a:solidFill>
                  <a:srgbClr val="CC0000"/>
                </a:solidFill>
                <a:latin typeface="Garamond"/>
                <a:ea typeface="Garamond"/>
                <a:cs typeface="Garamond"/>
                <a:sym typeface="Garamond"/>
              </a:rPr>
            </a:br>
            <a:r>
              <a:rPr lang="en-US" sz="2400" b="1">
                <a:solidFill>
                  <a:srgbClr val="003399"/>
                </a:solidFill>
                <a:latin typeface="Arial"/>
                <a:ea typeface="Arial"/>
                <a:cs typeface="Arial"/>
                <a:sym typeface="Arial"/>
              </a:rPr>
              <a:t>Delete Statement</a:t>
            </a:r>
            <a:endParaRPr/>
          </a:p>
        </p:txBody>
      </p:sp>
      <p:sp>
        <p:nvSpPr>
          <p:cNvPr id="250" name="Google Shape;250;p20"/>
          <p:cNvSpPr txBox="1">
            <a:spLocks noGrp="1"/>
          </p:cNvSpPr>
          <p:nvPr>
            <p:ph type="body" idx="1"/>
          </p:nvPr>
        </p:nvSpPr>
        <p:spPr>
          <a:xfrm>
            <a:off x="487680" y="2004291"/>
            <a:ext cx="10725265" cy="4186382"/>
          </a:xfrm>
          <a:prstGeom prst="rect">
            <a:avLst/>
          </a:prstGeom>
          <a:noFill/>
          <a:ln>
            <a:noFill/>
          </a:ln>
        </p:spPr>
        <p:txBody>
          <a:bodyPr spcFirstLastPara="1" wrap="square" lIns="0" tIns="45700" rIns="0" bIns="45700" anchor="t" anchorCtr="0">
            <a:normAutofit/>
          </a:bodyPr>
          <a:lstStyle/>
          <a:p>
            <a:pPr marL="609600" lvl="0" indent="-609600" algn="l" rtl="0">
              <a:lnSpc>
                <a:spcPct val="90000"/>
              </a:lnSpc>
              <a:spcBef>
                <a:spcPts val="0"/>
              </a:spcBef>
              <a:spcAft>
                <a:spcPts val="0"/>
              </a:spcAft>
              <a:buSzPts val="2400"/>
              <a:buChar char=" "/>
            </a:pPr>
            <a:r>
              <a:rPr lang="en-US" sz="2400" b="1"/>
              <a:t>Delete Statement:</a:t>
            </a:r>
            <a:endParaRPr/>
          </a:p>
          <a:p>
            <a:pPr marL="1100138" lvl="1" indent="-533400" algn="l" rtl="0">
              <a:lnSpc>
                <a:spcPct val="90000"/>
              </a:lnSpc>
              <a:spcBef>
                <a:spcPts val="200"/>
              </a:spcBef>
              <a:spcAft>
                <a:spcPts val="0"/>
              </a:spcAft>
              <a:buSzPts val="2000"/>
              <a:buChar char="◦"/>
            </a:pPr>
            <a:r>
              <a:rPr lang="en-US" sz="2000"/>
              <a:t>is used to remove records from a table of the database. The where clause in the syntax is used to restrict the rows deleted from the table otherwise all the rows from the table are deleted. </a:t>
            </a:r>
            <a:endParaRPr/>
          </a:p>
          <a:p>
            <a:pPr marL="1100138" lvl="1" indent="-406400" algn="l" rtl="0">
              <a:lnSpc>
                <a:spcPct val="90000"/>
              </a:lnSpc>
              <a:spcBef>
                <a:spcPts val="400"/>
              </a:spcBef>
              <a:spcAft>
                <a:spcPts val="0"/>
              </a:spcAft>
              <a:buSzPts val="2000"/>
              <a:buNone/>
            </a:pPr>
            <a:endParaRPr sz="2000"/>
          </a:p>
          <a:p>
            <a:pPr marL="609600" lvl="0" indent="-609600" algn="l" rtl="0">
              <a:lnSpc>
                <a:spcPct val="90000"/>
              </a:lnSpc>
              <a:spcBef>
                <a:spcPts val="400"/>
              </a:spcBef>
              <a:spcAft>
                <a:spcPts val="0"/>
              </a:spcAft>
              <a:buSzPts val="2400"/>
              <a:buChar char=" "/>
            </a:pPr>
            <a:r>
              <a:rPr lang="en-US" sz="2400" b="1"/>
              <a:t>Syntax: </a:t>
            </a:r>
            <a:r>
              <a:rPr lang="en-US" sz="2400">
                <a:latin typeface="Consolas"/>
                <a:ea typeface="Consolas"/>
                <a:cs typeface="Consolas"/>
                <a:sym typeface="Consolas"/>
              </a:rPr>
              <a:t>DELETE FROM table_name [WHERE Condition]</a:t>
            </a:r>
            <a:endParaRPr/>
          </a:p>
          <a:p>
            <a:pPr marL="609600" lvl="0" indent="-457200" algn="l" rtl="0">
              <a:lnSpc>
                <a:spcPct val="90000"/>
              </a:lnSpc>
              <a:spcBef>
                <a:spcPts val="200"/>
              </a:spcBef>
              <a:spcAft>
                <a:spcPts val="0"/>
              </a:spcAft>
              <a:buSzPts val="2400"/>
              <a:buNone/>
            </a:pPr>
            <a:endParaRPr sz="2400"/>
          </a:p>
          <a:p>
            <a:pPr marL="609600" lvl="0" indent="-609600" algn="l" rtl="0">
              <a:lnSpc>
                <a:spcPct val="90000"/>
              </a:lnSpc>
              <a:spcBef>
                <a:spcPts val="200"/>
              </a:spcBef>
              <a:spcAft>
                <a:spcPts val="0"/>
              </a:spcAft>
              <a:buSzPts val="2400"/>
              <a:buChar char=" "/>
            </a:pPr>
            <a:r>
              <a:rPr lang="en-US" sz="2400" b="1"/>
              <a:t>Example:</a:t>
            </a:r>
            <a:endParaRPr/>
          </a:p>
          <a:p>
            <a:pPr marL="609600" lvl="0" indent="-558800" algn="l" rtl="0">
              <a:lnSpc>
                <a:spcPct val="90000"/>
              </a:lnSpc>
              <a:spcBef>
                <a:spcPts val="200"/>
              </a:spcBef>
              <a:spcAft>
                <a:spcPts val="0"/>
              </a:spcAft>
              <a:buSzPts val="800"/>
              <a:buNone/>
            </a:pPr>
            <a:endParaRPr sz="800" b="1"/>
          </a:p>
          <a:p>
            <a:pPr marL="609600" lvl="0" indent="-558800" algn="l" rtl="0">
              <a:lnSpc>
                <a:spcPct val="90000"/>
              </a:lnSpc>
              <a:spcBef>
                <a:spcPts val="200"/>
              </a:spcBef>
              <a:spcAft>
                <a:spcPts val="0"/>
              </a:spcAft>
              <a:buSzPts val="800"/>
              <a:buNone/>
            </a:pPr>
            <a:endParaRPr sz="800" b="1">
              <a:latin typeface="Consolas"/>
              <a:ea typeface="Consolas"/>
              <a:cs typeface="Consolas"/>
              <a:sym typeface="Consolas"/>
            </a:endParaRPr>
          </a:p>
          <a:p>
            <a:pPr marL="609600" lvl="0" indent="-609600" algn="l" rtl="0">
              <a:lnSpc>
                <a:spcPct val="90000"/>
              </a:lnSpc>
              <a:spcBef>
                <a:spcPts val="200"/>
              </a:spcBef>
              <a:spcAft>
                <a:spcPts val="0"/>
              </a:spcAft>
              <a:buSzPts val="2000"/>
              <a:buNone/>
            </a:pPr>
            <a:r>
              <a:rPr lang="en-US">
                <a:latin typeface="Consolas"/>
                <a:ea typeface="Consolas"/>
                <a:cs typeface="Consolas"/>
                <a:sym typeface="Consolas"/>
              </a:rPr>
              <a:t>DELETE FROM City_State WHERE state = ‘TX’ </a:t>
            </a:r>
            <a:endParaRPr sz="800">
              <a:latin typeface="Consolas"/>
              <a:ea typeface="Consolas"/>
              <a:cs typeface="Consolas"/>
              <a:sym typeface="Consolas"/>
            </a:endParaRPr>
          </a:p>
          <a:p>
            <a:pPr marL="609600" lvl="0" indent="-457200" algn="l" rtl="0">
              <a:lnSpc>
                <a:spcPct val="90000"/>
              </a:lnSpc>
              <a:spcBef>
                <a:spcPts val="200"/>
              </a:spcBef>
              <a:spcAft>
                <a:spcPts val="0"/>
              </a:spcAft>
              <a:buSzPts val="2400"/>
              <a:buNone/>
            </a:pPr>
            <a:endParaRPr sz="2400"/>
          </a:p>
          <a:p>
            <a:pPr marL="609600" lvl="0" indent="-609600" algn="l" rtl="0">
              <a:lnSpc>
                <a:spcPct val="90000"/>
              </a:lnSpc>
              <a:spcBef>
                <a:spcPts val="200"/>
              </a:spcBef>
              <a:spcAft>
                <a:spcPts val="0"/>
              </a:spcAft>
              <a:buSzPts val="2400"/>
              <a:buChar char=" "/>
            </a:pPr>
            <a:r>
              <a:rPr lang="en-US" sz="2400"/>
              <a:t>Deletes all the rows where the state is Texas keeps all the other rows. </a:t>
            </a:r>
            <a:endParaRPr/>
          </a:p>
        </p:txBody>
      </p:sp>
    </p:spTree>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sldNum" idx="12"/>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fld id="{00000000-1234-1234-1234-123412341234}" type="slidenum">
              <a:rPr lang="en-US" sz="1400" b="0">
                <a:solidFill>
                  <a:schemeClr val="dk1"/>
                </a:solidFill>
                <a:latin typeface="Times New Roman"/>
                <a:ea typeface="Times New Roman"/>
                <a:cs typeface="Times New Roman"/>
                <a:sym typeface="Times New Roman"/>
              </a:rPr>
              <a:t>18</a:t>
            </a:fld>
            <a:endParaRPr sz="1400" b="0">
              <a:solidFill>
                <a:schemeClr val="dk1"/>
              </a:solidFill>
              <a:latin typeface="Times New Roman"/>
              <a:ea typeface="Times New Roman"/>
              <a:cs typeface="Times New Roman"/>
              <a:sym typeface="Times New Roman"/>
            </a:endParaRPr>
          </a:p>
        </p:txBody>
      </p:sp>
      <p:sp>
        <p:nvSpPr>
          <p:cNvPr id="257" name="Google Shape;257;p21"/>
          <p:cNvSpPr/>
          <p:nvPr/>
        </p:nvSpPr>
        <p:spPr>
          <a:xfrm>
            <a:off x="242454" y="381001"/>
            <a:ext cx="7772400" cy="990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4000" b="1">
                <a:solidFill>
                  <a:srgbClr val="CC0000"/>
                </a:solidFill>
                <a:latin typeface="Garamond"/>
                <a:ea typeface="Garamond"/>
                <a:cs typeface="Garamond"/>
                <a:sym typeface="Garamond"/>
              </a:rPr>
              <a:t>Modifying Records</a:t>
            </a:r>
            <a:br>
              <a:rPr lang="en-US" sz="4000" b="1">
                <a:solidFill>
                  <a:srgbClr val="CC0000"/>
                </a:solidFill>
                <a:latin typeface="Garamond"/>
                <a:ea typeface="Garamond"/>
                <a:cs typeface="Garamond"/>
                <a:sym typeface="Garamond"/>
              </a:rPr>
            </a:br>
            <a:r>
              <a:rPr lang="en-US" sz="2400" b="1">
                <a:solidFill>
                  <a:srgbClr val="003399"/>
                </a:solidFill>
                <a:latin typeface="Arial"/>
                <a:ea typeface="Arial"/>
                <a:cs typeface="Arial"/>
                <a:sym typeface="Arial"/>
              </a:rPr>
              <a:t>Update Statement</a:t>
            </a:r>
            <a:endParaRPr/>
          </a:p>
        </p:txBody>
      </p:sp>
      <p:sp>
        <p:nvSpPr>
          <p:cNvPr id="258" name="Google Shape;258;p21"/>
          <p:cNvSpPr txBox="1">
            <a:spLocks noGrp="1"/>
          </p:cNvSpPr>
          <p:nvPr>
            <p:ph type="body" idx="1"/>
          </p:nvPr>
        </p:nvSpPr>
        <p:spPr>
          <a:xfrm>
            <a:off x="494145" y="1939636"/>
            <a:ext cx="11203709" cy="4269509"/>
          </a:xfrm>
          <a:prstGeom prst="rect">
            <a:avLst/>
          </a:prstGeom>
          <a:noFill/>
          <a:ln>
            <a:noFill/>
          </a:ln>
        </p:spPr>
        <p:txBody>
          <a:bodyPr spcFirstLastPara="1" wrap="square" lIns="0" tIns="45700" rIns="0" bIns="45700" anchor="t" anchorCtr="0">
            <a:normAutofit fontScale="92500" lnSpcReduction="10000"/>
          </a:bodyPr>
          <a:lstStyle/>
          <a:p>
            <a:pPr marL="609600" lvl="0" indent="-609600" algn="l" rtl="0">
              <a:lnSpc>
                <a:spcPct val="90000"/>
              </a:lnSpc>
              <a:spcBef>
                <a:spcPts val="0"/>
              </a:spcBef>
              <a:spcAft>
                <a:spcPts val="0"/>
              </a:spcAft>
              <a:buSzPct val="100000"/>
              <a:buChar char=" "/>
            </a:pPr>
            <a:r>
              <a:rPr lang="en-US" b="1"/>
              <a:t>Update Statement:</a:t>
            </a:r>
            <a:endParaRPr/>
          </a:p>
          <a:p>
            <a:pPr marL="1100138" lvl="1" indent="-533400" algn="l" rtl="0">
              <a:lnSpc>
                <a:spcPct val="90000"/>
              </a:lnSpc>
              <a:spcBef>
                <a:spcPts val="200"/>
              </a:spcBef>
              <a:spcAft>
                <a:spcPts val="0"/>
              </a:spcAft>
              <a:buSzPct val="100000"/>
              <a:buChar char="◦"/>
            </a:pPr>
            <a:r>
              <a:rPr lang="en-US"/>
              <a:t>used to make changes to existing rows of the table. It has three parts. First, you ,must specify which table is going to be updated. The second part of the statement is the set clause, in which you should specify the columns that will be updated as well as the values that will be inserted. Finally, the where clause is used to specify which rows will be updated. </a:t>
            </a:r>
            <a:endParaRPr/>
          </a:p>
          <a:p>
            <a:pPr marL="1100138" lvl="1" indent="-427672" algn="l" rtl="0">
              <a:lnSpc>
                <a:spcPct val="90000"/>
              </a:lnSpc>
              <a:spcBef>
                <a:spcPts val="400"/>
              </a:spcBef>
              <a:spcAft>
                <a:spcPts val="0"/>
              </a:spcAft>
              <a:buSzPct val="100000"/>
              <a:buNone/>
            </a:pPr>
            <a:endParaRPr/>
          </a:p>
          <a:p>
            <a:pPr marL="609600" lvl="0" indent="-609600" algn="l" rtl="0">
              <a:lnSpc>
                <a:spcPct val="90000"/>
              </a:lnSpc>
              <a:spcBef>
                <a:spcPts val="400"/>
              </a:spcBef>
              <a:spcAft>
                <a:spcPts val="0"/>
              </a:spcAft>
              <a:buSzPct val="100000"/>
              <a:buChar char=" "/>
            </a:pPr>
            <a:r>
              <a:rPr lang="en-US" b="1"/>
              <a:t>Syntax: </a:t>
            </a:r>
            <a:endParaRPr/>
          </a:p>
          <a:p>
            <a:pPr marL="609600" lvl="0" indent="-609600" algn="l" rtl="0">
              <a:lnSpc>
                <a:spcPct val="90000"/>
              </a:lnSpc>
              <a:spcBef>
                <a:spcPts val="200"/>
              </a:spcBef>
              <a:spcAft>
                <a:spcPts val="0"/>
              </a:spcAft>
              <a:buSzPct val="100000"/>
              <a:buNone/>
            </a:pPr>
            <a:r>
              <a:rPr lang="en-US">
                <a:latin typeface="Consolas"/>
                <a:ea typeface="Consolas"/>
                <a:cs typeface="Consolas"/>
                <a:sym typeface="Consolas"/>
              </a:rPr>
              <a:t>UPDATE table_name </a:t>
            </a:r>
            <a:endParaRPr/>
          </a:p>
          <a:p>
            <a:pPr marL="609600" lvl="0" indent="-609600" algn="l" rtl="0">
              <a:lnSpc>
                <a:spcPct val="90000"/>
              </a:lnSpc>
              <a:spcBef>
                <a:spcPts val="200"/>
              </a:spcBef>
              <a:spcAft>
                <a:spcPts val="0"/>
              </a:spcAft>
              <a:buSzPct val="100000"/>
              <a:buNone/>
            </a:pPr>
            <a:r>
              <a:rPr lang="en-US">
                <a:latin typeface="Consolas"/>
                <a:ea typeface="Consolas"/>
                <a:cs typeface="Consolas"/>
                <a:sym typeface="Consolas"/>
              </a:rPr>
              <a:t>SET column_name1 = value1,  column_name2 = value2, …..</a:t>
            </a:r>
            <a:endParaRPr/>
          </a:p>
          <a:p>
            <a:pPr marL="609600" lvl="0" indent="-609600" algn="l" rtl="0">
              <a:lnSpc>
                <a:spcPct val="90000"/>
              </a:lnSpc>
              <a:spcBef>
                <a:spcPts val="200"/>
              </a:spcBef>
              <a:spcAft>
                <a:spcPts val="0"/>
              </a:spcAft>
              <a:buSzPct val="100000"/>
              <a:buNone/>
            </a:pPr>
            <a:r>
              <a:rPr lang="en-US">
                <a:latin typeface="Consolas"/>
                <a:ea typeface="Consolas"/>
                <a:cs typeface="Consolas"/>
                <a:sym typeface="Consolas"/>
              </a:rPr>
              <a:t>[WHERE Condition] </a:t>
            </a:r>
            <a:endParaRPr/>
          </a:p>
          <a:p>
            <a:pPr marL="609600" lvl="0" indent="-609600" algn="l" rtl="0">
              <a:lnSpc>
                <a:spcPct val="90000"/>
              </a:lnSpc>
              <a:spcBef>
                <a:spcPts val="200"/>
              </a:spcBef>
              <a:spcAft>
                <a:spcPts val="0"/>
              </a:spcAft>
              <a:buSzPct val="100000"/>
              <a:buChar char=" "/>
            </a:pPr>
            <a:r>
              <a:rPr lang="en-US" b="1"/>
              <a:t>Example:</a:t>
            </a:r>
            <a:endParaRPr/>
          </a:p>
          <a:p>
            <a:pPr marL="609600" lvl="0" indent="-568515" algn="l" rtl="0">
              <a:lnSpc>
                <a:spcPct val="90000"/>
              </a:lnSpc>
              <a:spcBef>
                <a:spcPts val="200"/>
              </a:spcBef>
              <a:spcAft>
                <a:spcPts val="0"/>
              </a:spcAft>
              <a:buSzPct val="100000"/>
              <a:buNone/>
            </a:pPr>
            <a:endParaRPr sz="700" b="1"/>
          </a:p>
          <a:p>
            <a:pPr marL="609600" lvl="0" indent="-568515" algn="l" rtl="0">
              <a:lnSpc>
                <a:spcPct val="90000"/>
              </a:lnSpc>
              <a:spcBef>
                <a:spcPts val="200"/>
              </a:spcBef>
              <a:spcAft>
                <a:spcPts val="0"/>
              </a:spcAft>
              <a:buSzPct val="100000"/>
              <a:buNone/>
            </a:pPr>
            <a:endParaRPr sz="700" b="1"/>
          </a:p>
          <a:p>
            <a:pPr marL="609600" lvl="0" indent="-609600" algn="l" rtl="0">
              <a:lnSpc>
                <a:spcPct val="90000"/>
              </a:lnSpc>
              <a:spcBef>
                <a:spcPts val="200"/>
              </a:spcBef>
              <a:spcAft>
                <a:spcPts val="0"/>
              </a:spcAft>
              <a:buSzPct val="100000"/>
              <a:buNone/>
            </a:pPr>
            <a:r>
              <a:rPr lang="en-US" sz="1800">
                <a:latin typeface="Consolas"/>
                <a:ea typeface="Consolas"/>
                <a:cs typeface="Consolas"/>
                <a:sym typeface="Consolas"/>
              </a:rPr>
              <a:t>UPDATE studios</a:t>
            </a:r>
            <a:endParaRPr sz="1800" b="1">
              <a:latin typeface="Consolas"/>
              <a:ea typeface="Consolas"/>
              <a:cs typeface="Consolas"/>
              <a:sym typeface="Consolas"/>
            </a:endParaRPr>
          </a:p>
          <a:p>
            <a:pPr marL="609600" lvl="0" indent="-609600" algn="l" rtl="0">
              <a:lnSpc>
                <a:spcPct val="90000"/>
              </a:lnSpc>
              <a:spcBef>
                <a:spcPts val="200"/>
              </a:spcBef>
              <a:spcAft>
                <a:spcPts val="0"/>
              </a:spcAft>
              <a:buSzPct val="100000"/>
              <a:buNone/>
            </a:pPr>
            <a:r>
              <a:rPr lang="en-US" sz="1800">
                <a:latin typeface="Consolas"/>
                <a:ea typeface="Consolas"/>
                <a:cs typeface="Consolas"/>
                <a:sym typeface="Consolas"/>
              </a:rPr>
              <a:t>SET studio_city = ‘New York’, studio_state = ‘NY’</a:t>
            </a:r>
            <a:endParaRPr/>
          </a:p>
          <a:p>
            <a:pPr marL="609600" lvl="0" indent="-609600" algn="l" rtl="0">
              <a:lnSpc>
                <a:spcPct val="90000"/>
              </a:lnSpc>
              <a:spcBef>
                <a:spcPts val="200"/>
              </a:spcBef>
              <a:spcAft>
                <a:spcPts val="0"/>
              </a:spcAft>
              <a:buSzPct val="100000"/>
              <a:buNone/>
            </a:pPr>
            <a:r>
              <a:rPr lang="en-US" sz="1800">
                <a:latin typeface="Consolas"/>
                <a:ea typeface="Consolas"/>
                <a:cs typeface="Consolas"/>
                <a:sym typeface="Consolas"/>
              </a:rPr>
              <a:t>WHERE studio_id = 1 </a:t>
            </a:r>
            <a:endParaRPr sz="700">
              <a:latin typeface="Consolas"/>
              <a:ea typeface="Consolas"/>
              <a:cs typeface="Consolas"/>
              <a:sym typeface="Consolas"/>
            </a:endParaRPr>
          </a:p>
          <a:p>
            <a:pPr marL="609600" lvl="0" indent="-492125" algn="l" rtl="0">
              <a:lnSpc>
                <a:spcPct val="90000"/>
              </a:lnSpc>
              <a:spcBef>
                <a:spcPts val="200"/>
              </a:spcBef>
              <a:spcAft>
                <a:spcPts val="0"/>
              </a:spcAft>
              <a:buSzPct val="100000"/>
              <a:buNone/>
            </a:pPr>
            <a:endParaRPr/>
          </a:p>
          <a:p>
            <a:pPr marL="609600" lvl="0" indent="-609600" algn="l" rtl="0">
              <a:lnSpc>
                <a:spcPct val="90000"/>
              </a:lnSpc>
              <a:spcBef>
                <a:spcPts val="200"/>
              </a:spcBef>
              <a:spcAft>
                <a:spcPts val="0"/>
              </a:spcAft>
              <a:buSzPct val="100000"/>
              <a:buChar char=" "/>
            </a:pPr>
            <a:r>
              <a:rPr lang="en-US" b="1"/>
              <a:t>Note</a:t>
            </a:r>
            <a:r>
              <a:rPr lang="en-US"/>
              <a:t>:  If the condition is dropped then all the rows are updated. </a:t>
            </a:r>
            <a:endParaRPr/>
          </a:p>
        </p:txBody>
      </p:sp>
    </p:spTree>
  </p:cSld>
  <p:clrMapOvr>
    <a:masterClrMapping/>
  </p:clrMapOvr>
  <p:transition>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22"/>
          <p:cNvSpPr txBox="1">
            <a:spLocks noGrp="1"/>
          </p:cNvSpPr>
          <p:nvPr>
            <p:ph type="sldNum" idx="12"/>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fld id="{00000000-1234-1234-1234-123412341234}" type="slidenum">
              <a:rPr lang="en-US" sz="1400" b="0">
                <a:solidFill>
                  <a:schemeClr val="dk1"/>
                </a:solidFill>
                <a:latin typeface="Times New Roman"/>
                <a:ea typeface="Times New Roman"/>
                <a:cs typeface="Times New Roman"/>
                <a:sym typeface="Times New Roman"/>
              </a:rPr>
              <a:t>19</a:t>
            </a:fld>
            <a:endParaRPr sz="1400" b="0">
              <a:solidFill>
                <a:schemeClr val="dk1"/>
              </a:solidFill>
              <a:latin typeface="Times New Roman"/>
              <a:ea typeface="Times New Roman"/>
              <a:cs typeface="Times New Roman"/>
              <a:sym typeface="Times New Roman"/>
            </a:endParaRPr>
          </a:p>
        </p:txBody>
      </p:sp>
      <p:sp>
        <p:nvSpPr>
          <p:cNvPr id="265" name="Google Shape;265;p22"/>
          <p:cNvSpPr/>
          <p:nvPr/>
        </p:nvSpPr>
        <p:spPr>
          <a:xfrm>
            <a:off x="381000" y="532615"/>
            <a:ext cx="7772400" cy="990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4000" b="1">
                <a:solidFill>
                  <a:srgbClr val="CC0000"/>
                </a:solidFill>
                <a:latin typeface="Garamond"/>
                <a:ea typeface="Garamond"/>
                <a:cs typeface="Garamond"/>
                <a:sym typeface="Garamond"/>
              </a:rPr>
              <a:t>Modifying Records</a:t>
            </a:r>
            <a:br>
              <a:rPr lang="en-US" sz="4000" b="1">
                <a:solidFill>
                  <a:srgbClr val="CC0000"/>
                </a:solidFill>
                <a:latin typeface="Garamond"/>
                <a:ea typeface="Garamond"/>
                <a:cs typeface="Garamond"/>
                <a:sym typeface="Garamond"/>
              </a:rPr>
            </a:br>
            <a:r>
              <a:rPr lang="en-US" sz="2400" b="1">
                <a:solidFill>
                  <a:srgbClr val="003399"/>
                </a:solidFill>
                <a:latin typeface="Arial"/>
                <a:ea typeface="Arial"/>
                <a:cs typeface="Arial"/>
                <a:sym typeface="Arial"/>
              </a:rPr>
              <a:t>Truncate Statement</a:t>
            </a:r>
            <a:endParaRPr/>
          </a:p>
        </p:txBody>
      </p:sp>
      <p:sp>
        <p:nvSpPr>
          <p:cNvPr id="266" name="Google Shape;266;p22"/>
          <p:cNvSpPr txBox="1">
            <a:spLocks noGrp="1"/>
          </p:cNvSpPr>
          <p:nvPr>
            <p:ph type="body" idx="1"/>
          </p:nvPr>
        </p:nvSpPr>
        <p:spPr>
          <a:xfrm>
            <a:off x="286328" y="1902691"/>
            <a:ext cx="11656290" cy="4574308"/>
          </a:xfrm>
          <a:prstGeom prst="rect">
            <a:avLst/>
          </a:prstGeom>
          <a:noFill/>
          <a:ln>
            <a:noFill/>
          </a:ln>
        </p:spPr>
        <p:txBody>
          <a:bodyPr spcFirstLastPara="1" wrap="square" lIns="0" tIns="45700" rIns="0" bIns="45700" anchor="t" anchorCtr="0">
            <a:normAutofit/>
          </a:bodyPr>
          <a:lstStyle/>
          <a:p>
            <a:pPr marL="609600" lvl="0" indent="-609600" algn="l" rtl="0">
              <a:lnSpc>
                <a:spcPct val="90000"/>
              </a:lnSpc>
              <a:spcBef>
                <a:spcPts val="0"/>
              </a:spcBef>
              <a:spcAft>
                <a:spcPts val="0"/>
              </a:spcAft>
              <a:buSzPts val="2000"/>
              <a:buChar char=" "/>
            </a:pPr>
            <a:r>
              <a:rPr lang="en-US" b="1"/>
              <a:t>Truncate Statement:</a:t>
            </a:r>
            <a:endParaRPr/>
          </a:p>
          <a:p>
            <a:pPr marL="1100138" lvl="1" indent="-533400" algn="l" rtl="0">
              <a:lnSpc>
                <a:spcPct val="90000"/>
              </a:lnSpc>
              <a:spcBef>
                <a:spcPts val="200"/>
              </a:spcBef>
              <a:spcAft>
                <a:spcPts val="0"/>
              </a:spcAft>
              <a:buSzPts val="1800"/>
              <a:buChar char="◦"/>
            </a:pPr>
            <a:r>
              <a:rPr lang="en-US"/>
              <a:t>used to delete all the rows of a table. Delete can also be used to delete all the rows from the table. The difference is that delete performs a delete operation on each row in the table and the database performs all attendant tasks on the way. On the other had the Truncate statement simply throws away all the rows at once and is much quicker. The note of caution is that truncate does not do integrity checks on the way which can lead to inconsistencies on the way. If there are dependencies requiring integrity checks we should use delete. </a:t>
            </a:r>
            <a:endParaRPr/>
          </a:p>
          <a:p>
            <a:pPr marL="1100138" lvl="1" indent="-419100" algn="l" rtl="0">
              <a:lnSpc>
                <a:spcPct val="90000"/>
              </a:lnSpc>
              <a:spcBef>
                <a:spcPts val="400"/>
              </a:spcBef>
              <a:spcAft>
                <a:spcPts val="0"/>
              </a:spcAft>
              <a:buSzPts val="1800"/>
              <a:buNone/>
            </a:pPr>
            <a:endParaRPr/>
          </a:p>
          <a:p>
            <a:pPr marL="609600" lvl="0" indent="-609600" algn="l" rtl="0">
              <a:lnSpc>
                <a:spcPct val="90000"/>
              </a:lnSpc>
              <a:spcBef>
                <a:spcPts val="400"/>
              </a:spcBef>
              <a:spcAft>
                <a:spcPts val="0"/>
              </a:spcAft>
              <a:buSzPts val="2000"/>
              <a:buChar char=" "/>
            </a:pPr>
            <a:r>
              <a:rPr lang="en-US" b="1"/>
              <a:t>Syntax: </a:t>
            </a:r>
            <a:r>
              <a:rPr lang="en-US">
                <a:latin typeface="Consolas"/>
                <a:ea typeface="Consolas"/>
                <a:cs typeface="Consolas"/>
                <a:sym typeface="Consolas"/>
              </a:rPr>
              <a:t>TRUNCATE TABLE table_name</a:t>
            </a:r>
            <a:endParaRPr>
              <a:latin typeface="Consolas"/>
              <a:ea typeface="Consolas"/>
              <a:cs typeface="Consolas"/>
              <a:sym typeface="Consolas"/>
            </a:endParaRPr>
          </a:p>
          <a:p>
            <a:pPr marL="609600" lvl="0" indent="-482600" algn="l" rtl="0">
              <a:lnSpc>
                <a:spcPct val="90000"/>
              </a:lnSpc>
              <a:spcBef>
                <a:spcPts val="200"/>
              </a:spcBef>
              <a:spcAft>
                <a:spcPts val="0"/>
              </a:spcAft>
              <a:buSzPts val="2000"/>
              <a:buNone/>
            </a:pPr>
            <a:endParaRPr b="1"/>
          </a:p>
          <a:p>
            <a:pPr marL="609600" lvl="0" indent="-609600" algn="l" rtl="0">
              <a:lnSpc>
                <a:spcPct val="90000"/>
              </a:lnSpc>
              <a:spcBef>
                <a:spcPts val="200"/>
              </a:spcBef>
              <a:spcAft>
                <a:spcPts val="0"/>
              </a:spcAft>
              <a:buSzPts val="2000"/>
              <a:buChar char=" "/>
            </a:pPr>
            <a:r>
              <a:rPr lang="en-US" b="1"/>
              <a:t>Example:</a:t>
            </a:r>
            <a:endParaRPr/>
          </a:p>
          <a:p>
            <a:pPr marL="609600" lvl="0" indent="-565150" algn="l" rtl="0">
              <a:lnSpc>
                <a:spcPct val="90000"/>
              </a:lnSpc>
              <a:spcBef>
                <a:spcPts val="200"/>
              </a:spcBef>
              <a:spcAft>
                <a:spcPts val="0"/>
              </a:spcAft>
              <a:buSzPts val="700"/>
              <a:buNone/>
            </a:pPr>
            <a:endParaRPr sz="700" b="1"/>
          </a:p>
          <a:p>
            <a:pPr marL="609600" lvl="0" indent="-565150" algn="l" rtl="0">
              <a:lnSpc>
                <a:spcPct val="90000"/>
              </a:lnSpc>
              <a:spcBef>
                <a:spcPts val="200"/>
              </a:spcBef>
              <a:spcAft>
                <a:spcPts val="0"/>
              </a:spcAft>
              <a:buSzPts val="700"/>
              <a:buNone/>
            </a:pPr>
            <a:endParaRPr sz="700" b="1"/>
          </a:p>
          <a:p>
            <a:pPr marL="609600" lvl="0" indent="-609600" algn="l" rtl="0">
              <a:lnSpc>
                <a:spcPct val="90000"/>
              </a:lnSpc>
              <a:spcBef>
                <a:spcPts val="200"/>
              </a:spcBef>
              <a:spcAft>
                <a:spcPts val="0"/>
              </a:spcAft>
              <a:buSzPts val="1800"/>
              <a:buNone/>
            </a:pPr>
            <a:r>
              <a:rPr lang="en-US" sz="1800">
                <a:latin typeface="Consolas"/>
                <a:ea typeface="Consolas"/>
                <a:cs typeface="Consolas"/>
                <a:sym typeface="Consolas"/>
              </a:rPr>
              <a:t>TRUNCATE TABLE studios</a:t>
            </a:r>
            <a:endParaRPr/>
          </a:p>
          <a:p>
            <a:pPr marL="609600" lvl="0" indent="-609600" algn="l" rtl="0">
              <a:lnSpc>
                <a:spcPct val="90000"/>
              </a:lnSpc>
              <a:spcBef>
                <a:spcPts val="200"/>
              </a:spcBef>
              <a:spcAft>
                <a:spcPts val="0"/>
              </a:spcAft>
              <a:buSzPts val="1800"/>
              <a:buNone/>
            </a:pPr>
            <a:endParaRPr sz="1800">
              <a:latin typeface="Times New Roman"/>
              <a:ea typeface="Times New Roman"/>
              <a:cs typeface="Times New Roman"/>
              <a:sym typeface="Times New Roman"/>
            </a:endParaRPr>
          </a:p>
          <a:p>
            <a:pPr marL="609600" lvl="0" indent="-609600" algn="l" rtl="0">
              <a:lnSpc>
                <a:spcPct val="90000"/>
              </a:lnSpc>
              <a:spcBef>
                <a:spcPts val="200"/>
              </a:spcBef>
              <a:spcAft>
                <a:spcPts val="0"/>
              </a:spcAft>
              <a:buSzPts val="700"/>
              <a:buNone/>
            </a:pPr>
            <a:endParaRPr sz="700"/>
          </a:p>
          <a:p>
            <a:pPr marL="609600" lvl="0" indent="-609600" algn="l" rtl="0">
              <a:lnSpc>
                <a:spcPct val="90000"/>
              </a:lnSpc>
              <a:spcBef>
                <a:spcPts val="200"/>
              </a:spcBef>
              <a:spcAft>
                <a:spcPts val="0"/>
              </a:spcAft>
              <a:buSzPts val="2000"/>
              <a:buChar char=" "/>
            </a:pPr>
            <a:r>
              <a:rPr lang="en-US"/>
              <a:t>This deletes all the rows of the table studios</a:t>
            </a:r>
            <a:endParaRPr/>
          </a:p>
        </p:txBody>
      </p:sp>
    </p:spTree>
  </p:cSld>
  <p:clrMapOvr>
    <a:masterClrMapping/>
  </p:clrMapOvr>
  <p:transition>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23"/>
          <p:cNvSpPr txBox="1">
            <a:spLocks noGrp="1"/>
          </p:cNvSpPr>
          <p:nvPr>
            <p:ph type="title"/>
          </p:nvPr>
        </p:nvSpPr>
        <p:spPr>
          <a:xfrm>
            <a:off x="1097280" y="286603"/>
            <a:ext cx="10058400" cy="1450757"/>
          </a:xfrm>
          <a:prstGeom prst="rect">
            <a:avLst/>
          </a:prstGeom>
          <a:noFill/>
          <a:ln>
            <a:noFill/>
          </a:ln>
        </p:spPr>
        <p:txBody>
          <a:bodyPr spcFirstLastPara="1" wrap="square" lIns="90475" tIns="44450" rIns="90475" bIns="44450" anchor="ctr" anchorCtr="0">
            <a:normAutofit/>
          </a:bodyPr>
          <a:lstStyle/>
          <a:p>
            <a:pPr marL="0" lvl="0" indent="0" algn="l" rtl="0">
              <a:lnSpc>
                <a:spcPct val="85000"/>
              </a:lnSpc>
              <a:spcBef>
                <a:spcPts val="0"/>
              </a:spcBef>
              <a:spcAft>
                <a:spcPts val="0"/>
              </a:spcAft>
              <a:buClr>
                <a:srgbClr val="3F3F3F"/>
              </a:buClr>
              <a:buSzPts val="4800"/>
              <a:buFont typeface="Calibri"/>
              <a:buNone/>
            </a:pPr>
            <a:r>
              <a:rPr lang="en-US"/>
              <a:t>Basic Query Structure </a:t>
            </a:r>
            <a:endParaRPr/>
          </a:p>
        </p:txBody>
      </p:sp>
      <p:sp>
        <p:nvSpPr>
          <p:cNvPr id="276" name="Google Shape;276;p23"/>
          <p:cNvSpPr txBox="1">
            <a:spLocks noGrp="1"/>
          </p:cNvSpPr>
          <p:nvPr>
            <p:ph type="body" idx="1"/>
          </p:nvPr>
        </p:nvSpPr>
        <p:spPr>
          <a:xfrm>
            <a:off x="2263775" y="1828800"/>
            <a:ext cx="7042785" cy="4159250"/>
          </a:xfrm>
          <a:prstGeom prst="rect">
            <a:avLst/>
          </a:prstGeom>
          <a:noFill/>
          <a:ln>
            <a:noFill/>
          </a:ln>
        </p:spPr>
        <p:txBody>
          <a:bodyPr spcFirstLastPara="1" wrap="square" lIns="90475" tIns="44450" rIns="90475" bIns="44450" anchor="t" anchorCtr="0">
            <a:normAutofit lnSpcReduction="10000"/>
          </a:bodyPr>
          <a:lstStyle/>
          <a:p>
            <a:pPr marL="274320" lvl="0" indent="-274320" algn="l" rtl="0">
              <a:lnSpc>
                <a:spcPct val="90000"/>
              </a:lnSpc>
              <a:spcBef>
                <a:spcPts val="0"/>
              </a:spcBef>
              <a:spcAft>
                <a:spcPts val="0"/>
              </a:spcAft>
              <a:buSzPts val="2000"/>
              <a:buFont typeface="Noto Sans Symbols"/>
              <a:buChar char="🞆"/>
            </a:pPr>
            <a:r>
              <a:rPr lang="en-US"/>
              <a:t>SQL is based on set and relational operations with certain modifications and enhancements</a:t>
            </a:r>
            <a:endParaRPr/>
          </a:p>
          <a:p>
            <a:pPr marL="274320" lvl="0" indent="-274320" algn="l" rtl="0">
              <a:lnSpc>
                <a:spcPct val="90000"/>
              </a:lnSpc>
              <a:spcBef>
                <a:spcPts val="1200"/>
              </a:spcBef>
              <a:spcAft>
                <a:spcPts val="0"/>
              </a:spcAft>
              <a:buSzPts val="2000"/>
              <a:buFont typeface="Noto Sans Symbols"/>
              <a:buChar char="🞆"/>
            </a:pPr>
            <a:r>
              <a:rPr lang="en-US"/>
              <a:t>A typical SQL query has the form:</a:t>
            </a:r>
            <a:br>
              <a:rPr lang="en-US"/>
            </a:br>
            <a:br>
              <a:rPr lang="en-US"/>
            </a:br>
            <a:r>
              <a:rPr lang="en-US"/>
              <a:t>	</a:t>
            </a:r>
            <a:r>
              <a:rPr lang="en-US" b="1"/>
              <a:t>select </a:t>
            </a:r>
            <a:r>
              <a:rPr lang="en-US" i="1"/>
              <a:t>A</a:t>
            </a:r>
            <a:r>
              <a:rPr lang="en-US" baseline="-25000"/>
              <a:t>1</a:t>
            </a:r>
            <a:r>
              <a:rPr lang="en-US"/>
              <a:t>, </a:t>
            </a:r>
            <a:r>
              <a:rPr lang="en-US" i="1"/>
              <a:t>A</a:t>
            </a:r>
            <a:r>
              <a:rPr lang="en-US" baseline="-25000"/>
              <a:t>2</a:t>
            </a:r>
            <a:r>
              <a:rPr lang="en-US"/>
              <a:t>, ..., </a:t>
            </a:r>
            <a:r>
              <a:rPr lang="en-US" i="1"/>
              <a:t>A</a:t>
            </a:r>
            <a:r>
              <a:rPr lang="en-US" i="1" baseline="-25000"/>
              <a:t>n</a:t>
            </a:r>
            <a:br>
              <a:rPr lang="en-US"/>
            </a:br>
            <a:r>
              <a:rPr lang="en-US"/>
              <a:t>	</a:t>
            </a:r>
            <a:r>
              <a:rPr lang="en-US" b="1"/>
              <a:t>from</a:t>
            </a:r>
            <a:r>
              <a:rPr lang="en-US"/>
              <a:t> </a:t>
            </a:r>
            <a:r>
              <a:rPr lang="en-US" i="1"/>
              <a:t>r</a:t>
            </a:r>
            <a:r>
              <a:rPr lang="en-US" baseline="-25000"/>
              <a:t>1</a:t>
            </a:r>
            <a:r>
              <a:rPr lang="en-US"/>
              <a:t>, </a:t>
            </a:r>
            <a:r>
              <a:rPr lang="en-US" i="1"/>
              <a:t>r</a:t>
            </a:r>
            <a:r>
              <a:rPr lang="en-US" baseline="-25000"/>
              <a:t>2</a:t>
            </a:r>
            <a:r>
              <a:rPr lang="en-US"/>
              <a:t>, ..., </a:t>
            </a:r>
            <a:r>
              <a:rPr lang="en-US" i="1"/>
              <a:t>r</a:t>
            </a:r>
            <a:r>
              <a:rPr lang="en-US" i="1" baseline="-25000"/>
              <a:t>m</a:t>
            </a:r>
            <a:br>
              <a:rPr lang="en-US"/>
            </a:br>
            <a:r>
              <a:rPr lang="en-US"/>
              <a:t>	</a:t>
            </a:r>
            <a:r>
              <a:rPr lang="en-US" b="1"/>
              <a:t>where </a:t>
            </a:r>
            <a:r>
              <a:rPr lang="en-US" i="1"/>
              <a:t>P</a:t>
            </a:r>
            <a:br>
              <a:rPr lang="en-US" i="1"/>
            </a:br>
            <a:endParaRPr/>
          </a:p>
          <a:p>
            <a:pPr marL="640080" lvl="1" indent="-274320" algn="l" rtl="0">
              <a:lnSpc>
                <a:spcPct val="90000"/>
              </a:lnSpc>
              <a:spcBef>
                <a:spcPts val="200"/>
              </a:spcBef>
              <a:spcAft>
                <a:spcPts val="0"/>
              </a:spcAft>
              <a:buSzPts val="1620"/>
              <a:buFont typeface="Noto Sans Symbols"/>
              <a:buChar char="⚫"/>
            </a:pPr>
            <a:r>
              <a:rPr lang="en-US" i="1"/>
              <a:t>A</a:t>
            </a:r>
            <a:r>
              <a:rPr lang="en-US" i="1" baseline="-25000"/>
              <a:t>i </a:t>
            </a:r>
            <a:r>
              <a:rPr lang="en-US"/>
              <a:t>represents an attribute</a:t>
            </a:r>
            <a:endParaRPr/>
          </a:p>
          <a:p>
            <a:pPr marL="640080" lvl="1" indent="-274320" algn="l" rtl="0">
              <a:lnSpc>
                <a:spcPct val="90000"/>
              </a:lnSpc>
              <a:spcBef>
                <a:spcPts val="200"/>
              </a:spcBef>
              <a:spcAft>
                <a:spcPts val="0"/>
              </a:spcAft>
              <a:buSzPts val="1620"/>
              <a:buFont typeface="Noto Sans Symbols"/>
              <a:buChar char="⚫"/>
            </a:pPr>
            <a:r>
              <a:rPr lang="en-US" i="1"/>
              <a:t>R</a:t>
            </a:r>
            <a:r>
              <a:rPr lang="en-US" i="1" baseline="-25000"/>
              <a:t>i </a:t>
            </a:r>
            <a:r>
              <a:rPr lang="en-US"/>
              <a:t>represents a relation</a:t>
            </a:r>
            <a:endParaRPr/>
          </a:p>
          <a:p>
            <a:pPr marL="640080" lvl="1" indent="-274320" algn="l" rtl="0">
              <a:lnSpc>
                <a:spcPct val="90000"/>
              </a:lnSpc>
              <a:spcBef>
                <a:spcPts val="200"/>
              </a:spcBef>
              <a:spcAft>
                <a:spcPts val="0"/>
              </a:spcAft>
              <a:buSzPts val="1620"/>
              <a:buFont typeface="Noto Sans Symbols"/>
              <a:buChar char="⚫"/>
            </a:pPr>
            <a:r>
              <a:rPr lang="en-US" i="1"/>
              <a:t>P</a:t>
            </a:r>
            <a:r>
              <a:rPr lang="en-US"/>
              <a:t> is a predicate.</a:t>
            </a:r>
            <a:endParaRPr/>
          </a:p>
          <a:p>
            <a:pPr marL="274320" lvl="0" indent="-274320" algn="l" rtl="0">
              <a:lnSpc>
                <a:spcPct val="90000"/>
              </a:lnSpc>
              <a:spcBef>
                <a:spcPts val="1200"/>
              </a:spcBef>
              <a:spcAft>
                <a:spcPts val="0"/>
              </a:spcAft>
              <a:buSzPts val="2000"/>
              <a:buNone/>
            </a:pPr>
            <a:r>
              <a:rPr lang="en-US"/>
              <a:t>	</a:t>
            </a:r>
            <a:br>
              <a:rPr lang="en-US"/>
            </a:br>
            <a:endParaRPr/>
          </a:p>
          <a:p>
            <a:pPr marL="274320" lvl="0" indent="-274320" algn="l" rtl="0">
              <a:lnSpc>
                <a:spcPct val="90000"/>
              </a:lnSpc>
              <a:spcBef>
                <a:spcPts val="1200"/>
              </a:spcBef>
              <a:spcAft>
                <a:spcPts val="0"/>
              </a:spcAft>
              <a:buSzPts val="2000"/>
              <a:buFont typeface="Noto Sans Symbols"/>
              <a:buChar char="🞆"/>
            </a:pPr>
            <a:r>
              <a:rPr lang="en-US"/>
              <a:t>The result of an SQL query is a relation.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1 Schema Used in Examples. 2 Basic Structure SQL is based on set and  relational operations with certain modifications and enhancements A typical  SQL query. - ppt download">
            <a:extLst>
              <a:ext uri="{FF2B5EF4-FFF2-40B4-BE49-F238E27FC236}">
                <a16:creationId xmlns:a16="http://schemas.microsoft.com/office/drawing/2014/main" id="{9B6F3E8E-72B3-433F-9E3B-2FB13C9408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5999" y="152400"/>
            <a:ext cx="8131629" cy="6098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79102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4"/>
          <p:cNvSpPr txBox="1">
            <a:spLocks noGrp="1"/>
          </p:cNvSpPr>
          <p:nvPr>
            <p:ph type="title"/>
          </p:nvPr>
        </p:nvSpPr>
        <p:spPr>
          <a:xfrm>
            <a:off x="1097280" y="286603"/>
            <a:ext cx="10058400" cy="1450757"/>
          </a:xfrm>
          <a:prstGeom prst="rect">
            <a:avLst/>
          </a:prstGeom>
          <a:noFill/>
          <a:ln>
            <a:noFill/>
          </a:ln>
        </p:spPr>
        <p:txBody>
          <a:bodyPr spcFirstLastPara="1" wrap="square" lIns="90475" tIns="44450" rIns="90475" bIns="44450" anchor="ctr" anchorCtr="0">
            <a:normAutofit/>
          </a:bodyPr>
          <a:lstStyle/>
          <a:p>
            <a:pPr marL="0" lvl="0" indent="0" algn="l" rtl="0">
              <a:lnSpc>
                <a:spcPct val="85000"/>
              </a:lnSpc>
              <a:spcBef>
                <a:spcPts val="0"/>
              </a:spcBef>
              <a:spcAft>
                <a:spcPts val="0"/>
              </a:spcAft>
              <a:buClr>
                <a:srgbClr val="3F3F3F"/>
              </a:buClr>
              <a:buSzPts val="4800"/>
              <a:buFont typeface="Calibri"/>
              <a:buNone/>
            </a:pPr>
            <a:r>
              <a:rPr lang="en-US"/>
              <a:t>The select Clause</a:t>
            </a:r>
            <a:endParaRPr/>
          </a:p>
        </p:txBody>
      </p:sp>
      <p:sp>
        <p:nvSpPr>
          <p:cNvPr id="286" name="Google Shape;286;p24"/>
          <p:cNvSpPr txBox="1">
            <a:spLocks noGrp="1"/>
          </p:cNvSpPr>
          <p:nvPr>
            <p:ph type="body" idx="1"/>
          </p:nvPr>
        </p:nvSpPr>
        <p:spPr>
          <a:xfrm>
            <a:off x="2263775" y="2153920"/>
            <a:ext cx="7317105" cy="4118294"/>
          </a:xfrm>
          <a:prstGeom prst="rect">
            <a:avLst/>
          </a:prstGeom>
          <a:noFill/>
          <a:ln>
            <a:noFill/>
          </a:ln>
        </p:spPr>
        <p:txBody>
          <a:bodyPr spcFirstLastPara="1" wrap="square" lIns="90475" tIns="44450" rIns="90475" bIns="44450" anchor="t" anchorCtr="0">
            <a:normAutofit/>
          </a:bodyPr>
          <a:lstStyle/>
          <a:p>
            <a:pPr marL="91440" lvl="0" indent="-127000" algn="l" rtl="0">
              <a:lnSpc>
                <a:spcPct val="90000"/>
              </a:lnSpc>
              <a:spcBef>
                <a:spcPts val="0"/>
              </a:spcBef>
              <a:spcAft>
                <a:spcPts val="0"/>
              </a:spcAft>
              <a:buSzPts val="2000"/>
              <a:buChar char=" "/>
            </a:pPr>
            <a:r>
              <a:rPr lang="en-US"/>
              <a:t>The </a:t>
            </a:r>
            <a:r>
              <a:rPr lang="en-US" b="1"/>
              <a:t>select</a:t>
            </a:r>
            <a:r>
              <a:rPr lang="en-US"/>
              <a:t> clause list the attributes desired in the result of a query</a:t>
            </a:r>
            <a:endParaRPr/>
          </a:p>
          <a:p>
            <a:pPr marL="384048" lvl="1" indent="-182880" algn="l" rtl="0">
              <a:lnSpc>
                <a:spcPct val="90000"/>
              </a:lnSpc>
              <a:spcBef>
                <a:spcPts val="400"/>
              </a:spcBef>
              <a:spcAft>
                <a:spcPts val="0"/>
              </a:spcAft>
              <a:buSzPts val="1800"/>
              <a:buChar char="◦"/>
            </a:pPr>
            <a:r>
              <a:rPr lang="en-US"/>
              <a:t>corresponds to the projection operation of the relational algebra</a:t>
            </a:r>
            <a:endParaRPr/>
          </a:p>
          <a:p>
            <a:pPr marL="91440" lvl="0" indent="-127000" algn="l" rtl="0">
              <a:lnSpc>
                <a:spcPct val="110000"/>
              </a:lnSpc>
              <a:spcBef>
                <a:spcPts val="1600"/>
              </a:spcBef>
              <a:spcAft>
                <a:spcPts val="0"/>
              </a:spcAft>
              <a:buSzPts val="2000"/>
              <a:buChar char=" "/>
            </a:pPr>
            <a:r>
              <a:rPr lang="en-US"/>
              <a:t>Example: find the names of all branches in the </a:t>
            </a:r>
            <a:r>
              <a:rPr lang="en-US" i="1"/>
              <a:t>loan</a:t>
            </a:r>
            <a:r>
              <a:rPr lang="en-US"/>
              <a:t> relation:</a:t>
            </a:r>
            <a:br>
              <a:rPr lang="en-US"/>
            </a:br>
            <a:r>
              <a:rPr lang="en-US"/>
              <a:t>		</a:t>
            </a:r>
            <a:r>
              <a:rPr lang="en-US" b="1"/>
              <a:t>select </a:t>
            </a:r>
            <a:r>
              <a:rPr lang="en-US" i="1"/>
              <a:t>branch_name</a:t>
            </a:r>
            <a:br>
              <a:rPr lang="en-US"/>
            </a:br>
            <a:r>
              <a:rPr lang="en-US"/>
              <a:t>		</a:t>
            </a:r>
            <a:r>
              <a:rPr lang="en-US" b="1"/>
              <a:t>from </a:t>
            </a:r>
            <a:r>
              <a:rPr lang="en-US" i="1"/>
              <a:t>loan</a:t>
            </a:r>
            <a:endParaRPr/>
          </a:p>
          <a:p>
            <a:pPr marL="91440" lvl="0" indent="-91440" algn="l" rtl="0">
              <a:lnSpc>
                <a:spcPct val="90000"/>
              </a:lnSpc>
              <a:spcBef>
                <a:spcPts val="1400"/>
              </a:spcBef>
              <a:spcAft>
                <a:spcPts val="0"/>
              </a:spcAft>
              <a:buSzPts val="2000"/>
              <a:buNone/>
            </a:pPr>
            <a:r>
              <a:rPr lang="en-US"/>
              <a:t>	NOTE:  SQL names are case insensitive (i.e., you may use upper- or lower-case letters.)  </a:t>
            </a:r>
            <a:endParaRPr/>
          </a:p>
          <a:p>
            <a:pPr marL="384048" lvl="1" indent="-182880" algn="l" rtl="0">
              <a:lnSpc>
                <a:spcPct val="90000"/>
              </a:lnSpc>
              <a:spcBef>
                <a:spcPts val="400"/>
              </a:spcBef>
              <a:spcAft>
                <a:spcPts val="0"/>
              </a:spcAft>
              <a:buSzPts val="1800"/>
              <a:buChar char="◦"/>
            </a:pPr>
            <a:r>
              <a:rPr lang="en-US"/>
              <a:t>E.g.   </a:t>
            </a:r>
            <a:r>
              <a:rPr lang="en-US" i="1"/>
              <a:t>Branch_Name</a:t>
            </a:r>
            <a:r>
              <a:rPr lang="en-US"/>
              <a:t> ≡ </a:t>
            </a:r>
            <a:r>
              <a:rPr lang="en-US" i="1"/>
              <a:t>BRANCH_NAME</a:t>
            </a:r>
            <a:r>
              <a:rPr lang="en-US"/>
              <a:t> ≡ </a:t>
            </a:r>
            <a:r>
              <a:rPr lang="en-US" i="1"/>
              <a:t>branch_name</a:t>
            </a:r>
            <a:endParaRPr i="1"/>
          </a:p>
          <a:p>
            <a:pPr marL="384048" lvl="1" indent="-182880" algn="l" rtl="0">
              <a:lnSpc>
                <a:spcPct val="90000"/>
              </a:lnSpc>
              <a:spcBef>
                <a:spcPts val="600"/>
              </a:spcBef>
              <a:spcAft>
                <a:spcPts val="0"/>
              </a:spcAft>
              <a:buSzPts val="1800"/>
              <a:buChar char="◦"/>
            </a:pPr>
            <a:r>
              <a:rPr lang="en-US"/>
              <a:t>Some people use upper case wherever we use bold font.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25"/>
          <p:cNvSpPr txBox="1">
            <a:spLocks noGrp="1"/>
          </p:cNvSpPr>
          <p:nvPr>
            <p:ph type="title"/>
          </p:nvPr>
        </p:nvSpPr>
        <p:spPr>
          <a:xfrm>
            <a:off x="1097280" y="286603"/>
            <a:ext cx="10058400" cy="1450757"/>
          </a:xfrm>
          <a:prstGeom prst="rect">
            <a:avLst/>
          </a:prstGeom>
          <a:noFill/>
          <a:ln>
            <a:noFill/>
          </a:ln>
        </p:spPr>
        <p:txBody>
          <a:bodyPr spcFirstLastPara="1" wrap="square" lIns="90475" tIns="44450" rIns="90475" bIns="44450" anchor="ctr" anchorCtr="0">
            <a:normAutofit/>
          </a:bodyPr>
          <a:lstStyle/>
          <a:p>
            <a:pPr marL="0" lvl="0" indent="0" algn="l" rtl="0">
              <a:lnSpc>
                <a:spcPct val="85000"/>
              </a:lnSpc>
              <a:spcBef>
                <a:spcPts val="0"/>
              </a:spcBef>
              <a:spcAft>
                <a:spcPts val="0"/>
              </a:spcAft>
              <a:buClr>
                <a:srgbClr val="3F3F3F"/>
              </a:buClr>
              <a:buSzPts val="4800"/>
              <a:buFont typeface="Calibri"/>
              <a:buNone/>
            </a:pPr>
            <a:r>
              <a:rPr lang="en-US"/>
              <a:t>The select Clause (Cont.)</a:t>
            </a:r>
            <a:endParaRPr/>
          </a:p>
        </p:txBody>
      </p:sp>
      <p:sp>
        <p:nvSpPr>
          <p:cNvPr id="296" name="Google Shape;296;p25"/>
          <p:cNvSpPr txBox="1">
            <a:spLocks noGrp="1"/>
          </p:cNvSpPr>
          <p:nvPr>
            <p:ph type="body" idx="1"/>
          </p:nvPr>
        </p:nvSpPr>
        <p:spPr>
          <a:xfrm>
            <a:off x="2263775" y="2021840"/>
            <a:ext cx="7144385" cy="3961448"/>
          </a:xfrm>
          <a:prstGeom prst="rect">
            <a:avLst/>
          </a:prstGeom>
          <a:noFill/>
          <a:ln>
            <a:noFill/>
          </a:ln>
        </p:spPr>
        <p:txBody>
          <a:bodyPr spcFirstLastPara="1" wrap="square" lIns="90475" tIns="44450" rIns="90475" bIns="44450" anchor="t" anchorCtr="0">
            <a:normAutofit lnSpcReduction="10000"/>
          </a:bodyPr>
          <a:lstStyle/>
          <a:p>
            <a:pPr marL="274320" lvl="0" indent="-274320" algn="l" rtl="0">
              <a:lnSpc>
                <a:spcPct val="90000"/>
              </a:lnSpc>
              <a:spcBef>
                <a:spcPts val="0"/>
              </a:spcBef>
              <a:spcAft>
                <a:spcPts val="0"/>
              </a:spcAft>
              <a:buSzPts val="2000"/>
              <a:buFont typeface="Noto Sans Symbols"/>
              <a:buChar char="🞆"/>
            </a:pPr>
            <a:r>
              <a:rPr lang="en-US"/>
              <a:t>SQL allows duplicates in relations as well as in query results.</a:t>
            </a:r>
            <a:endParaRPr/>
          </a:p>
          <a:p>
            <a:pPr marL="274320" lvl="0" indent="-274320" algn="l" rtl="0">
              <a:lnSpc>
                <a:spcPct val="90000"/>
              </a:lnSpc>
              <a:spcBef>
                <a:spcPts val="1200"/>
              </a:spcBef>
              <a:spcAft>
                <a:spcPts val="0"/>
              </a:spcAft>
              <a:buSzPts val="2000"/>
              <a:buFont typeface="Noto Sans Symbols"/>
              <a:buChar char="🞆"/>
            </a:pPr>
            <a:r>
              <a:rPr lang="en-US"/>
              <a:t>To force the elimination of duplicates, insert the keyword </a:t>
            </a:r>
            <a:r>
              <a:rPr lang="en-US" b="1">
                <a:solidFill>
                  <a:schemeClr val="dk2"/>
                </a:solidFill>
              </a:rPr>
              <a:t>distinct </a:t>
            </a:r>
            <a:r>
              <a:rPr lang="en-US"/>
              <a:t> after select</a:t>
            </a:r>
            <a:r>
              <a:rPr lang="en-US" b="1"/>
              <a:t>.</a:t>
            </a:r>
            <a:endParaRPr/>
          </a:p>
          <a:p>
            <a:pPr marL="274320" lvl="0" indent="-274320" algn="l" rtl="0">
              <a:lnSpc>
                <a:spcPct val="90000"/>
              </a:lnSpc>
              <a:spcBef>
                <a:spcPts val="1200"/>
              </a:spcBef>
              <a:spcAft>
                <a:spcPts val="0"/>
              </a:spcAft>
              <a:buSzPts val="2000"/>
              <a:buFont typeface="Noto Sans Symbols"/>
              <a:buChar char="🞆"/>
            </a:pPr>
            <a:r>
              <a:rPr lang="en-US"/>
              <a:t>Find the names of all branches in the </a:t>
            </a:r>
            <a:r>
              <a:rPr lang="en-US" i="1"/>
              <a:t>loan</a:t>
            </a:r>
            <a:r>
              <a:rPr lang="en-US"/>
              <a:t> relations, and remove duplicates</a:t>
            </a:r>
            <a:endParaRPr/>
          </a:p>
          <a:p>
            <a:pPr marL="274320" lvl="0" indent="-274320" algn="l" rtl="0">
              <a:lnSpc>
                <a:spcPct val="90000"/>
              </a:lnSpc>
              <a:spcBef>
                <a:spcPts val="1200"/>
              </a:spcBef>
              <a:spcAft>
                <a:spcPts val="0"/>
              </a:spcAft>
              <a:buSzPts val="2000"/>
              <a:buNone/>
            </a:pPr>
            <a:r>
              <a:rPr lang="en-US"/>
              <a:t>		</a:t>
            </a:r>
            <a:r>
              <a:rPr lang="en-US" b="1"/>
              <a:t>select distinct </a:t>
            </a:r>
            <a:r>
              <a:rPr lang="en-US" i="1"/>
              <a:t>branch_name</a:t>
            </a:r>
            <a:br>
              <a:rPr lang="en-US"/>
            </a:br>
            <a:r>
              <a:rPr lang="en-US"/>
              <a:t>	</a:t>
            </a:r>
            <a:r>
              <a:rPr lang="en-US" b="1"/>
              <a:t>from </a:t>
            </a:r>
            <a:r>
              <a:rPr lang="en-US" i="1"/>
              <a:t>loan</a:t>
            </a:r>
            <a:br>
              <a:rPr lang="en-US" i="1"/>
            </a:br>
            <a:endParaRPr i="1"/>
          </a:p>
          <a:p>
            <a:pPr marL="274320" lvl="0" indent="-274320" algn="l" rtl="0">
              <a:lnSpc>
                <a:spcPct val="90000"/>
              </a:lnSpc>
              <a:spcBef>
                <a:spcPts val="1200"/>
              </a:spcBef>
              <a:spcAft>
                <a:spcPts val="0"/>
              </a:spcAft>
              <a:buSzPts val="2000"/>
              <a:buFont typeface="Noto Sans Symbols"/>
              <a:buChar char="🞆"/>
            </a:pPr>
            <a:r>
              <a:rPr lang="en-US"/>
              <a:t>The keyword </a:t>
            </a:r>
            <a:r>
              <a:rPr lang="en-US" b="1"/>
              <a:t>all </a:t>
            </a:r>
            <a:r>
              <a:rPr lang="en-US"/>
              <a:t>specifies that duplicates not be removed.</a:t>
            </a:r>
            <a:br>
              <a:rPr lang="en-US"/>
            </a:br>
            <a:endParaRPr/>
          </a:p>
          <a:p>
            <a:pPr marL="274320" lvl="0" indent="-274320" algn="l" rtl="0">
              <a:lnSpc>
                <a:spcPct val="90000"/>
              </a:lnSpc>
              <a:spcBef>
                <a:spcPts val="1200"/>
              </a:spcBef>
              <a:spcAft>
                <a:spcPts val="0"/>
              </a:spcAft>
              <a:buSzPts val="2000"/>
              <a:buNone/>
            </a:pPr>
            <a:r>
              <a:rPr lang="en-US"/>
              <a:t>		</a:t>
            </a:r>
            <a:r>
              <a:rPr lang="en-US" b="1"/>
              <a:t>select all</a:t>
            </a:r>
            <a:r>
              <a:rPr lang="en-US"/>
              <a:t> </a:t>
            </a:r>
            <a:r>
              <a:rPr lang="en-US" i="1"/>
              <a:t>branch_name</a:t>
            </a:r>
            <a:br>
              <a:rPr lang="en-US" i="1"/>
            </a:br>
            <a:r>
              <a:rPr lang="en-US" i="1"/>
              <a:t>	</a:t>
            </a:r>
            <a:r>
              <a:rPr lang="en-US" b="1"/>
              <a:t>from </a:t>
            </a:r>
            <a:r>
              <a:rPr lang="en-US" i="1"/>
              <a:t>loan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26"/>
          <p:cNvSpPr txBox="1">
            <a:spLocks noGrp="1"/>
          </p:cNvSpPr>
          <p:nvPr>
            <p:ph type="title"/>
          </p:nvPr>
        </p:nvSpPr>
        <p:spPr>
          <a:xfrm>
            <a:off x="1097280" y="286603"/>
            <a:ext cx="10058400" cy="1450757"/>
          </a:xfrm>
          <a:prstGeom prst="rect">
            <a:avLst/>
          </a:prstGeom>
          <a:noFill/>
          <a:ln>
            <a:noFill/>
          </a:ln>
        </p:spPr>
        <p:txBody>
          <a:bodyPr spcFirstLastPara="1" wrap="square" lIns="90475" tIns="44450" rIns="90475" bIns="44450" anchor="ctr" anchorCtr="0">
            <a:normAutofit/>
          </a:bodyPr>
          <a:lstStyle/>
          <a:p>
            <a:pPr marL="0" lvl="0" indent="0" algn="l" rtl="0">
              <a:lnSpc>
                <a:spcPct val="85000"/>
              </a:lnSpc>
              <a:spcBef>
                <a:spcPts val="0"/>
              </a:spcBef>
              <a:spcAft>
                <a:spcPts val="0"/>
              </a:spcAft>
              <a:buClr>
                <a:srgbClr val="3F3F3F"/>
              </a:buClr>
              <a:buSzPts val="4800"/>
              <a:buFont typeface="Calibri"/>
              <a:buNone/>
            </a:pPr>
            <a:r>
              <a:rPr lang="en-US"/>
              <a:t>The select Clause (Cont.)</a:t>
            </a:r>
            <a:endParaRPr/>
          </a:p>
        </p:txBody>
      </p:sp>
      <p:sp>
        <p:nvSpPr>
          <p:cNvPr id="306" name="Google Shape;306;p26"/>
          <p:cNvSpPr txBox="1">
            <a:spLocks noGrp="1"/>
          </p:cNvSpPr>
          <p:nvPr>
            <p:ph type="body" idx="1"/>
          </p:nvPr>
        </p:nvSpPr>
        <p:spPr>
          <a:xfrm>
            <a:off x="2263775" y="1940560"/>
            <a:ext cx="7022465" cy="4052888"/>
          </a:xfrm>
          <a:prstGeom prst="rect">
            <a:avLst/>
          </a:prstGeom>
          <a:noFill/>
          <a:ln>
            <a:noFill/>
          </a:ln>
        </p:spPr>
        <p:txBody>
          <a:bodyPr spcFirstLastPara="1" wrap="square" lIns="90475" tIns="44450" rIns="90475" bIns="44450" anchor="t" anchorCtr="0">
            <a:normAutofit lnSpcReduction="10000"/>
          </a:bodyPr>
          <a:lstStyle/>
          <a:p>
            <a:pPr marL="274320" lvl="0" indent="-274320" algn="l" rtl="0">
              <a:lnSpc>
                <a:spcPct val="90000"/>
              </a:lnSpc>
              <a:spcBef>
                <a:spcPts val="0"/>
              </a:spcBef>
              <a:spcAft>
                <a:spcPts val="0"/>
              </a:spcAft>
              <a:buSzPts val="2000"/>
              <a:buFont typeface="Noto Sans Symbols"/>
              <a:buChar char="🞆"/>
            </a:pPr>
            <a:r>
              <a:rPr lang="en-US"/>
              <a:t>An asterisk in the select clause denotes “all attributes”</a:t>
            </a:r>
            <a:endParaRPr/>
          </a:p>
          <a:p>
            <a:pPr marL="274320" lvl="0" indent="-274320" algn="l" rtl="0">
              <a:lnSpc>
                <a:spcPct val="90000"/>
              </a:lnSpc>
              <a:spcBef>
                <a:spcPts val="1200"/>
              </a:spcBef>
              <a:spcAft>
                <a:spcPts val="0"/>
              </a:spcAft>
              <a:buSzPts val="2000"/>
              <a:buNone/>
            </a:pPr>
            <a:r>
              <a:rPr lang="en-US" b="1"/>
              <a:t>			select </a:t>
            </a:r>
            <a:r>
              <a:rPr lang="en-US"/>
              <a:t>*</a:t>
            </a:r>
            <a:br>
              <a:rPr lang="en-US"/>
            </a:br>
            <a:r>
              <a:rPr lang="en-US"/>
              <a:t>		</a:t>
            </a:r>
            <a:r>
              <a:rPr lang="en-US" b="1"/>
              <a:t>from </a:t>
            </a:r>
            <a:r>
              <a:rPr lang="en-US" i="1"/>
              <a:t>loan</a:t>
            </a:r>
            <a:endParaRPr/>
          </a:p>
          <a:p>
            <a:pPr marL="274320" lvl="0" indent="-274320" algn="l" rtl="0">
              <a:lnSpc>
                <a:spcPct val="90000"/>
              </a:lnSpc>
              <a:spcBef>
                <a:spcPts val="1200"/>
              </a:spcBef>
              <a:spcAft>
                <a:spcPts val="0"/>
              </a:spcAft>
              <a:buSzPts val="2000"/>
              <a:buFont typeface="Noto Sans Symbols"/>
              <a:buChar char="🞆"/>
            </a:pPr>
            <a:r>
              <a:rPr lang="en-US"/>
              <a:t>The </a:t>
            </a:r>
            <a:r>
              <a:rPr lang="en-US" b="1">
                <a:solidFill>
                  <a:schemeClr val="dk2"/>
                </a:solidFill>
              </a:rPr>
              <a:t>select</a:t>
            </a:r>
            <a:r>
              <a:rPr lang="en-US"/>
              <a:t> clause can contain arithmetic expressions involving the operation, +, –, </a:t>
            </a:r>
            <a:r>
              <a:rPr lang="en-US">
                <a:latin typeface="Noto Sans Symbols"/>
                <a:ea typeface="Noto Sans Symbols"/>
                <a:cs typeface="Noto Sans Symbols"/>
                <a:sym typeface="Noto Sans Symbols"/>
              </a:rPr>
              <a:t>*</a:t>
            </a:r>
            <a:r>
              <a:rPr lang="en-US"/>
              <a:t>, and /, and operating on constants or attributes of tuples.</a:t>
            </a:r>
            <a:endParaRPr/>
          </a:p>
          <a:p>
            <a:pPr marL="274320" lvl="0" indent="-274320" algn="l" rtl="0">
              <a:lnSpc>
                <a:spcPct val="90000"/>
              </a:lnSpc>
              <a:spcBef>
                <a:spcPts val="1200"/>
              </a:spcBef>
              <a:spcAft>
                <a:spcPts val="0"/>
              </a:spcAft>
              <a:buSzPts val="2000"/>
              <a:buFont typeface="Noto Sans Symbols"/>
              <a:buChar char="🞆"/>
            </a:pPr>
            <a:r>
              <a:rPr lang="en-US"/>
              <a:t>The query: </a:t>
            </a:r>
            <a:endParaRPr/>
          </a:p>
          <a:p>
            <a:pPr marL="274320" lvl="0" indent="-274320" algn="l" rtl="0">
              <a:lnSpc>
                <a:spcPct val="90000"/>
              </a:lnSpc>
              <a:spcBef>
                <a:spcPts val="1200"/>
              </a:spcBef>
              <a:spcAft>
                <a:spcPts val="0"/>
              </a:spcAft>
              <a:buSzPts val="2000"/>
              <a:buNone/>
            </a:pPr>
            <a:r>
              <a:rPr lang="en-US" b="1"/>
              <a:t>	                  select</a:t>
            </a:r>
            <a:r>
              <a:rPr lang="en-US"/>
              <a:t> </a:t>
            </a:r>
            <a:r>
              <a:rPr lang="en-US" i="1"/>
              <a:t>loan_number, branch_name, amount </a:t>
            </a:r>
            <a:r>
              <a:rPr lang="en-US">
                <a:latin typeface="Noto Sans Symbols"/>
                <a:ea typeface="Noto Sans Symbols"/>
                <a:cs typeface="Noto Sans Symbols"/>
                <a:sym typeface="Noto Sans Symbols"/>
              </a:rPr>
              <a:t>*</a:t>
            </a:r>
            <a:r>
              <a:rPr lang="en-US"/>
              <a:t> 100</a:t>
            </a:r>
            <a:br>
              <a:rPr lang="en-US"/>
            </a:br>
            <a:r>
              <a:rPr lang="en-US"/>
              <a:t>                  </a:t>
            </a:r>
            <a:r>
              <a:rPr lang="en-US" b="1"/>
              <a:t>from </a:t>
            </a:r>
            <a:r>
              <a:rPr lang="en-US" i="1"/>
              <a:t>loan</a:t>
            </a:r>
            <a:endParaRPr/>
          </a:p>
          <a:p>
            <a:pPr marL="274320" lvl="0" indent="-274320" algn="l" rtl="0">
              <a:lnSpc>
                <a:spcPct val="90000"/>
              </a:lnSpc>
              <a:spcBef>
                <a:spcPts val="1200"/>
              </a:spcBef>
              <a:spcAft>
                <a:spcPts val="0"/>
              </a:spcAft>
              <a:buSzPts val="2000"/>
              <a:buNone/>
            </a:pPr>
            <a:r>
              <a:rPr lang="en-US" i="1"/>
              <a:t>	</a:t>
            </a:r>
            <a:r>
              <a:rPr lang="en-US"/>
              <a:t>would return a relation that is the same as the </a:t>
            </a:r>
            <a:r>
              <a:rPr lang="en-US" i="1"/>
              <a:t>loan </a:t>
            </a:r>
            <a:r>
              <a:rPr lang="en-US"/>
              <a:t>relation, except that the value of the attribute </a:t>
            </a:r>
            <a:r>
              <a:rPr lang="en-US" i="1"/>
              <a:t>amount </a:t>
            </a:r>
            <a:r>
              <a:rPr lang="en-US"/>
              <a:t>is multiplied by 100.</a:t>
            </a:r>
            <a:endParaRPr/>
          </a:p>
          <a:p>
            <a:pPr marL="274320" lvl="0" indent="-274320" algn="l" rtl="0">
              <a:lnSpc>
                <a:spcPct val="90000"/>
              </a:lnSpc>
              <a:spcBef>
                <a:spcPts val="1200"/>
              </a:spcBef>
              <a:spcAft>
                <a:spcPts val="0"/>
              </a:spcAft>
              <a:buSzPts val="2000"/>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7"/>
          <p:cNvSpPr txBox="1">
            <a:spLocks noGrp="1"/>
          </p:cNvSpPr>
          <p:nvPr>
            <p:ph type="title"/>
          </p:nvPr>
        </p:nvSpPr>
        <p:spPr>
          <a:xfrm>
            <a:off x="1097280" y="286603"/>
            <a:ext cx="10058400" cy="1450757"/>
          </a:xfrm>
          <a:prstGeom prst="rect">
            <a:avLst/>
          </a:prstGeom>
          <a:noFill/>
          <a:ln>
            <a:noFill/>
          </a:ln>
        </p:spPr>
        <p:txBody>
          <a:bodyPr spcFirstLastPara="1" wrap="square" lIns="90475" tIns="44450" rIns="90475" bIns="44450" anchor="ctr" anchorCtr="0">
            <a:normAutofit/>
          </a:bodyPr>
          <a:lstStyle/>
          <a:p>
            <a:pPr marL="0" lvl="0" indent="0" algn="l" rtl="0">
              <a:lnSpc>
                <a:spcPct val="85000"/>
              </a:lnSpc>
              <a:spcBef>
                <a:spcPts val="0"/>
              </a:spcBef>
              <a:spcAft>
                <a:spcPts val="0"/>
              </a:spcAft>
              <a:buClr>
                <a:srgbClr val="3F3F3F"/>
              </a:buClr>
              <a:buSzPts val="4800"/>
              <a:buFont typeface="Calibri"/>
              <a:buNone/>
            </a:pPr>
            <a:r>
              <a:rPr lang="en-US"/>
              <a:t>The where Clause</a:t>
            </a:r>
            <a:endParaRPr/>
          </a:p>
        </p:txBody>
      </p:sp>
      <p:sp>
        <p:nvSpPr>
          <p:cNvPr id="316" name="Google Shape;316;p27"/>
          <p:cNvSpPr txBox="1">
            <a:spLocks noGrp="1"/>
          </p:cNvSpPr>
          <p:nvPr>
            <p:ph type="body" idx="1"/>
          </p:nvPr>
        </p:nvSpPr>
        <p:spPr>
          <a:xfrm>
            <a:off x="2263775" y="2001520"/>
            <a:ext cx="7378065" cy="3991928"/>
          </a:xfrm>
          <a:prstGeom prst="rect">
            <a:avLst/>
          </a:prstGeom>
          <a:noFill/>
          <a:ln>
            <a:noFill/>
          </a:ln>
        </p:spPr>
        <p:txBody>
          <a:bodyPr spcFirstLastPara="1" wrap="square" lIns="90475" tIns="44450" rIns="90475" bIns="44450" anchor="t" anchorCtr="0">
            <a:normAutofit/>
          </a:bodyPr>
          <a:lstStyle/>
          <a:p>
            <a:pPr marL="274320" lvl="0" indent="-274320" algn="l" rtl="0">
              <a:lnSpc>
                <a:spcPct val="90000"/>
              </a:lnSpc>
              <a:spcBef>
                <a:spcPts val="0"/>
              </a:spcBef>
              <a:spcAft>
                <a:spcPts val="0"/>
              </a:spcAft>
              <a:buSzPts val="2000"/>
              <a:buFont typeface="Noto Sans Symbols"/>
              <a:buChar char="🞆"/>
            </a:pPr>
            <a:r>
              <a:rPr lang="en-US"/>
              <a:t>The </a:t>
            </a:r>
            <a:r>
              <a:rPr lang="en-US" b="1">
                <a:solidFill>
                  <a:schemeClr val="dk2"/>
                </a:solidFill>
              </a:rPr>
              <a:t>where</a:t>
            </a:r>
            <a:r>
              <a:rPr lang="en-US" b="1"/>
              <a:t> </a:t>
            </a:r>
            <a:r>
              <a:rPr lang="en-US"/>
              <a:t>clause specifies conditions that the result must satisfy</a:t>
            </a:r>
            <a:endParaRPr/>
          </a:p>
          <a:p>
            <a:pPr marL="640080" lvl="1" indent="-274320" algn="l" rtl="0">
              <a:lnSpc>
                <a:spcPct val="90000"/>
              </a:lnSpc>
              <a:spcBef>
                <a:spcPts val="200"/>
              </a:spcBef>
              <a:spcAft>
                <a:spcPts val="0"/>
              </a:spcAft>
              <a:buSzPts val="1800"/>
              <a:buFont typeface="Noto Sans Symbols"/>
              <a:buChar char="⚫"/>
            </a:pPr>
            <a:r>
              <a:rPr lang="en-US"/>
              <a:t>Corresponds to the selection predicate of the relational algebra.  </a:t>
            </a:r>
            <a:endParaRPr/>
          </a:p>
          <a:p>
            <a:pPr marL="274320" lvl="0" indent="-274320" algn="l" rtl="0">
              <a:lnSpc>
                <a:spcPct val="90000"/>
              </a:lnSpc>
              <a:spcBef>
                <a:spcPts val="1200"/>
              </a:spcBef>
              <a:spcAft>
                <a:spcPts val="0"/>
              </a:spcAft>
              <a:buSzPts val="2000"/>
              <a:buFont typeface="Noto Sans Symbols"/>
              <a:buChar char="🞆"/>
            </a:pPr>
            <a:r>
              <a:rPr lang="en-US"/>
              <a:t>To find all loan number for loans made at the Perryridge branch with loan amounts greater than $1200.</a:t>
            </a:r>
            <a:endParaRPr/>
          </a:p>
          <a:p>
            <a:pPr marL="274320" lvl="0" indent="-274320" algn="l" rtl="0">
              <a:lnSpc>
                <a:spcPct val="90000"/>
              </a:lnSpc>
              <a:spcBef>
                <a:spcPts val="1200"/>
              </a:spcBef>
              <a:spcAft>
                <a:spcPts val="0"/>
              </a:spcAft>
              <a:buSzPts val="2000"/>
              <a:buNone/>
            </a:pPr>
            <a:r>
              <a:rPr lang="en-US" b="1"/>
              <a:t>		select </a:t>
            </a:r>
            <a:r>
              <a:rPr lang="en-US" i="1"/>
              <a:t>loan_number</a:t>
            </a:r>
            <a:br>
              <a:rPr lang="en-US" i="1"/>
            </a:br>
            <a:r>
              <a:rPr lang="en-US" i="1"/>
              <a:t>	</a:t>
            </a:r>
            <a:r>
              <a:rPr lang="en-US" b="1"/>
              <a:t>from </a:t>
            </a:r>
            <a:r>
              <a:rPr lang="en-US" i="1"/>
              <a:t>loan</a:t>
            </a:r>
            <a:br>
              <a:rPr lang="en-US" i="1"/>
            </a:br>
            <a:r>
              <a:rPr lang="en-US" i="1"/>
              <a:t>	</a:t>
            </a:r>
            <a:r>
              <a:rPr lang="en-US" b="1"/>
              <a:t>where </a:t>
            </a:r>
            <a:r>
              <a:rPr lang="en-US" i="1"/>
              <a:t>branch_name =</a:t>
            </a:r>
            <a:r>
              <a:rPr lang="en-US"/>
              <a:t> </a:t>
            </a:r>
            <a:r>
              <a:rPr lang="en-US" i="1"/>
              <a:t>'</a:t>
            </a:r>
            <a:r>
              <a:rPr lang="en-US"/>
              <a:t>Perryridge'</a:t>
            </a:r>
            <a:r>
              <a:rPr lang="en-US" i="1"/>
              <a:t>  </a:t>
            </a:r>
            <a:r>
              <a:rPr lang="en-US" b="1"/>
              <a:t>and </a:t>
            </a:r>
            <a:r>
              <a:rPr lang="en-US" i="1"/>
              <a:t>amount </a:t>
            </a:r>
            <a:r>
              <a:rPr lang="en-US"/>
              <a:t>&gt; 1200</a:t>
            </a:r>
            <a:endParaRPr/>
          </a:p>
          <a:p>
            <a:pPr marL="274320" lvl="0" indent="-274320" algn="l" rtl="0">
              <a:lnSpc>
                <a:spcPct val="90000"/>
              </a:lnSpc>
              <a:spcBef>
                <a:spcPts val="1200"/>
              </a:spcBef>
              <a:spcAft>
                <a:spcPts val="0"/>
              </a:spcAft>
              <a:buSzPts val="2000"/>
              <a:buFont typeface="Noto Sans Symbols"/>
              <a:buChar char="🞆"/>
            </a:pPr>
            <a:r>
              <a:rPr lang="en-US"/>
              <a:t>Comparison results can be combined using the logical connectives </a:t>
            </a:r>
            <a:r>
              <a:rPr lang="en-US" b="1"/>
              <a:t>and, or, </a:t>
            </a:r>
            <a:r>
              <a:rPr lang="en-US"/>
              <a:t>and </a:t>
            </a:r>
            <a:r>
              <a:rPr lang="en-US" b="1"/>
              <a:t>not.</a:t>
            </a:r>
            <a:r>
              <a:rPr lang="en-US"/>
              <a:t> </a:t>
            </a:r>
            <a:endParaRPr/>
          </a:p>
          <a:p>
            <a:pPr marL="274320" lvl="0" indent="-274320" algn="l" rtl="0">
              <a:lnSpc>
                <a:spcPct val="90000"/>
              </a:lnSpc>
              <a:spcBef>
                <a:spcPts val="1200"/>
              </a:spcBef>
              <a:spcAft>
                <a:spcPts val="0"/>
              </a:spcAft>
              <a:buSzPts val="2000"/>
              <a:buFont typeface="Noto Sans Symbols"/>
              <a:buChar char="🞆"/>
            </a:pPr>
            <a:r>
              <a:rPr lang="en-US"/>
              <a:t>Comparisons can be applied to results of arithmetic expressions.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28"/>
          <p:cNvSpPr txBox="1">
            <a:spLocks noGrp="1"/>
          </p:cNvSpPr>
          <p:nvPr>
            <p:ph type="title"/>
          </p:nvPr>
        </p:nvSpPr>
        <p:spPr>
          <a:xfrm>
            <a:off x="1097280" y="286603"/>
            <a:ext cx="10058400" cy="1450757"/>
          </a:xfrm>
          <a:prstGeom prst="rect">
            <a:avLst/>
          </a:prstGeom>
          <a:noFill/>
          <a:ln>
            <a:noFill/>
          </a:ln>
        </p:spPr>
        <p:txBody>
          <a:bodyPr spcFirstLastPara="1" wrap="square" lIns="90475" tIns="44450" rIns="90475" bIns="44450" anchor="ctr" anchorCtr="0">
            <a:normAutofit/>
          </a:bodyPr>
          <a:lstStyle/>
          <a:p>
            <a:pPr marL="0" lvl="0" indent="0" algn="l" rtl="0">
              <a:lnSpc>
                <a:spcPct val="85000"/>
              </a:lnSpc>
              <a:spcBef>
                <a:spcPts val="0"/>
              </a:spcBef>
              <a:spcAft>
                <a:spcPts val="0"/>
              </a:spcAft>
              <a:buClr>
                <a:srgbClr val="3F3F3F"/>
              </a:buClr>
              <a:buSzPts val="4800"/>
              <a:buFont typeface="Calibri"/>
              <a:buNone/>
            </a:pPr>
            <a:r>
              <a:rPr lang="en-US"/>
              <a:t>The where Clause (Cont.)</a:t>
            </a:r>
            <a:endParaRPr/>
          </a:p>
        </p:txBody>
      </p:sp>
      <p:sp>
        <p:nvSpPr>
          <p:cNvPr id="326" name="Google Shape;326;p28"/>
          <p:cNvSpPr txBox="1">
            <a:spLocks noGrp="1"/>
          </p:cNvSpPr>
          <p:nvPr>
            <p:ph type="body" idx="1"/>
          </p:nvPr>
        </p:nvSpPr>
        <p:spPr>
          <a:xfrm>
            <a:off x="1787525" y="2051369"/>
            <a:ext cx="8089900" cy="1914525"/>
          </a:xfrm>
          <a:prstGeom prst="rect">
            <a:avLst/>
          </a:prstGeom>
          <a:noFill/>
          <a:ln>
            <a:noFill/>
          </a:ln>
        </p:spPr>
        <p:txBody>
          <a:bodyPr spcFirstLastPara="1" wrap="square" lIns="90475" tIns="44450" rIns="90475" bIns="44450" anchor="t" anchorCtr="0">
            <a:normAutofit/>
          </a:bodyPr>
          <a:lstStyle/>
          <a:p>
            <a:pPr marL="91440" lvl="0" indent="-127000" algn="l" rtl="0">
              <a:lnSpc>
                <a:spcPct val="90000"/>
              </a:lnSpc>
              <a:spcBef>
                <a:spcPts val="0"/>
              </a:spcBef>
              <a:spcAft>
                <a:spcPts val="0"/>
              </a:spcAft>
              <a:buSzPts val="2000"/>
              <a:buChar char=" "/>
            </a:pPr>
            <a:r>
              <a:rPr lang="en-US"/>
              <a:t>SQL includes a </a:t>
            </a:r>
            <a:r>
              <a:rPr lang="en-US" b="1">
                <a:solidFill>
                  <a:schemeClr val="dk2"/>
                </a:solidFill>
              </a:rPr>
              <a:t>between</a:t>
            </a:r>
            <a:r>
              <a:rPr lang="en-US"/>
              <a:t> comparison operator</a:t>
            </a:r>
            <a:endParaRPr/>
          </a:p>
          <a:p>
            <a:pPr marL="91440" lvl="0" indent="-127000" algn="l" rtl="0">
              <a:lnSpc>
                <a:spcPct val="90000"/>
              </a:lnSpc>
              <a:spcBef>
                <a:spcPts val="1400"/>
              </a:spcBef>
              <a:spcAft>
                <a:spcPts val="0"/>
              </a:spcAft>
              <a:buSzPts val="2000"/>
              <a:buChar char=" "/>
            </a:pPr>
            <a:r>
              <a:rPr lang="en-US"/>
              <a:t>Example:  Find the loan number of those loans with loan amounts between $90,000 and $100,000 (that is, </a:t>
            </a:r>
            <a:r>
              <a:rPr lang="en-US">
                <a:latin typeface="Noto Sans Symbols"/>
                <a:ea typeface="Noto Sans Symbols"/>
                <a:cs typeface="Noto Sans Symbols"/>
                <a:sym typeface="Noto Sans Symbols"/>
              </a:rPr>
              <a:t>≥ </a:t>
            </a:r>
            <a:r>
              <a:rPr lang="en-US"/>
              <a:t>$90,000 and </a:t>
            </a:r>
            <a:r>
              <a:rPr lang="en-US">
                <a:latin typeface="Noto Sans Symbols"/>
                <a:ea typeface="Noto Sans Symbols"/>
                <a:cs typeface="Noto Sans Symbols"/>
                <a:sym typeface="Noto Sans Symbols"/>
              </a:rPr>
              <a:t>≤ </a:t>
            </a:r>
            <a:r>
              <a:rPr lang="en-US"/>
              <a:t>$100,000)</a:t>
            </a:r>
            <a:endParaRPr>
              <a:latin typeface="Times New Roman"/>
              <a:ea typeface="Times New Roman"/>
              <a:cs typeface="Times New Roman"/>
              <a:sym typeface="Times New Roman"/>
            </a:endParaRPr>
          </a:p>
          <a:p>
            <a:pPr marL="91440" lvl="0" indent="0" algn="l" rtl="0">
              <a:lnSpc>
                <a:spcPct val="90000"/>
              </a:lnSpc>
              <a:spcBef>
                <a:spcPts val="1400"/>
              </a:spcBef>
              <a:spcAft>
                <a:spcPts val="0"/>
              </a:spcAft>
              <a:buSzPts val="2000"/>
              <a:buNone/>
            </a:pPr>
            <a:endParaRPr/>
          </a:p>
        </p:txBody>
      </p:sp>
      <p:sp>
        <p:nvSpPr>
          <p:cNvPr id="327" name="Google Shape;327;p28"/>
          <p:cNvSpPr txBox="1"/>
          <p:nvPr/>
        </p:nvSpPr>
        <p:spPr>
          <a:xfrm>
            <a:off x="2557780" y="3803651"/>
            <a:ext cx="7137400" cy="14652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2"/>
              </a:buClr>
              <a:buSzPts val="1620"/>
              <a:buFont typeface="Arial"/>
              <a:buNone/>
            </a:pPr>
            <a:r>
              <a:rPr lang="en-US" sz="1800" b="1">
                <a:solidFill>
                  <a:schemeClr val="dk1"/>
                </a:solidFill>
                <a:latin typeface="Helvetica Neue"/>
                <a:ea typeface="Helvetica Neue"/>
                <a:cs typeface="Helvetica Neue"/>
                <a:sym typeface="Helvetica Neue"/>
              </a:rPr>
              <a:t>  select</a:t>
            </a:r>
            <a:r>
              <a:rPr lang="en-US" sz="1800" i="1">
                <a:solidFill>
                  <a:schemeClr val="dk1"/>
                </a:solidFill>
                <a:latin typeface="Helvetica Neue"/>
                <a:ea typeface="Helvetica Neue"/>
                <a:cs typeface="Helvetica Neue"/>
                <a:sym typeface="Helvetica Neue"/>
              </a:rPr>
              <a:t> loan_number</a:t>
            </a:r>
            <a:br>
              <a:rPr lang="en-US" sz="1800">
                <a:solidFill>
                  <a:schemeClr val="dk1"/>
                </a:solidFill>
                <a:latin typeface="Helvetica Neue"/>
                <a:ea typeface="Helvetica Neue"/>
                <a:cs typeface="Helvetica Neue"/>
                <a:sym typeface="Helvetica Neue"/>
              </a:rPr>
            </a:br>
            <a:r>
              <a:rPr lang="en-US" sz="1800">
                <a:solidFill>
                  <a:schemeClr val="dk1"/>
                </a:solidFill>
                <a:latin typeface="Helvetica Neue"/>
                <a:ea typeface="Helvetica Neue"/>
                <a:cs typeface="Helvetica Neue"/>
                <a:sym typeface="Helvetica Neue"/>
              </a:rPr>
              <a:t>	</a:t>
            </a:r>
            <a:r>
              <a:rPr lang="en-US" sz="1800" b="1">
                <a:solidFill>
                  <a:schemeClr val="dk1"/>
                </a:solidFill>
                <a:latin typeface="Helvetica Neue"/>
                <a:ea typeface="Helvetica Neue"/>
                <a:cs typeface="Helvetica Neue"/>
                <a:sym typeface="Helvetica Neue"/>
              </a:rPr>
              <a:t>from </a:t>
            </a:r>
            <a:r>
              <a:rPr lang="en-US" sz="1800" i="1">
                <a:solidFill>
                  <a:schemeClr val="dk1"/>
                </a:solidFill>
                <a:latin typeface="Helvetica Neue"/>
                <a:ea typeface="Helvetica Neue"/>
                <a:cs typeface="Helvetica Neue"/>
                <a:sym typeface="Helvetica Neue"/>
              </a:rPr>
              <a:t>loan</a:t>
            </a:r>
            <a:br>
              <a:rPr lang="en-US" sz="1800">
                <a:solidFill>
                  <a:schemeClr val="dk1"/>
                </a:solidFill>
                <a:latin typeface="Helvetica Neue"/>
                <a:ea typeface="Helvetica Neue"/>
                <a:cs typeface="Helvetica Neue"/>
                <a:sym typeface="Helvetica Neue"/>
              </a:rPr>
            </a:br>
            <a:r>
              <a:rPr lang="en-US" sz="1800">
                <a:solidFill>
                  <a:schemeClr val="dk1"/>
                </a:solidFill>
                <a:latin typeface="Helvetica Neue"/>
                <a:ea typeface="Helvetica Neue"/>
                <a:cs typeface="Helvetica Neue"/>
                <a:sym typeface="Helvetica Neue"/>
              </a:rPr>
              <a:t>	</a:t>
            </a:r>
            <a:r>
              <a:rPr lang="en-US" sz="1800" b="1">
                <a:solidFill>
                  <a:schemeClr val="dk1"/>
                </a:solidFill>
                <a:latin typeface="Helvetica Neue"/>
                <a:ea typeface="Helvetica Neue"/>
                <a:cs typeface="Helvetica Neue"/>
                <a:sym typeface="Helvetica Neue"/>
              </a:rPr>
              <a:t>where </a:t>
            </a:r>
            <a:r>
              <a:rPr lang="en-US" sz="1800" i="1">
                <a:solidFill>
                  <a:schemeClr val="dk1"/>
                </a:solidFill>
                <a:latin typeface="Helvetica Neue"/>
                <a:ea typeface="Helvetica Neue"/>
                <a:cs typeface="Helvetica Neue"/>
                <a:sym typeface="Helvetica Neue"/>
              </a:rPr>
              <a:t>amount</a:t>
            </a:r>
            <a:r>
              <a:rPr lang="en-US" sz="1800">
                <a:solidFill>
                  <a:schemeClr val="dk1"/>
                </a:solidFill>
                <a:latin typeface="Helvetica Neue"/>
                <a:ea typeface="Helvetica Neue"/>
                <a:cs typeface="Helvetica Neue"/>
                <a:sym typeface="Helvetica Neue"/>
              </a:rPr>
              <a:t> </a:t>
            </a:r>
            <a:r>
              <a:rPr lang="en-US" sz="1800" b="1">
                <a:solidFill>
                  <a:schemeClr val="dk1"/>
                </a:solidFill>
                <a:latin typeface="Helvetica Neue"/>
                <a:ea typeface="Helvetica Neue"/>
                <a:cs typeface="Helvetica Neue"/>
                <a:sym typeface="Helvetica Neue"/>
              </a:rPr>
              <a:t>between </a:t>
            </a:r>
            <a:r>
              <a:rPr lang="en-US" sz="1800">
                <a:solidFill>
                  <a:schemeClr val="dk1"/>
                </a:solidFill>
                <a:latin typeface="Helvetica Neue"/>
                <a:ea typeface="Helvetica Neue"/>
                <a:cs typeface="Helvetica Neue"/>
                <a:sym typeface="Helvetica Neue"/>
              </a:rPr>
              <a:t>90000 </a:t>
            </a:r>
            <a:r>
              <a:rPr lang="en-US" sz="1800" b="1">
                <a:solidFill>
                  <a:schemeClr val="dk1"/>
                </a:solidFill>
                <a:latin typeface="Helvetica Neue"/>
                <a:ea typeface="Helvetica Neue"/>
                <a:cs typeface="Helvetica Neue"/>
                <a:sym typeface="Helvetica Neue"/>
              </a:rPr>
              <a:t>and </a:t>
            </a:r>
            <a:r>
              <a:rPr lang="en-US" sz="1800">
                <a:solidFill>
                  <a:schemeClr val="dk1"/>
                </a:solidFill>
                <a:latin typeface="Helvetica Neue"/>
                <a:ea typeface="Helvetica Neue"/>
                <a:cs typeface="Helvetica Neue"/>
                <a:sym typeface="Helvetica Neue"/>
              </a:rPr>
              <a:t>100000</a:t>
            </a:r>
            <a:endParaRPr/>
          </a:p>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2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Ordering the Display of Tuples</a:t>
            </a:r>
            <a:endParaRPr/>
          </a:p>
        </p:txBody>
      </p:sp>
      <p:sp>
        <p:nvSpPr>
          <p:cNvPr id="333" name="Google Shape;333;p29"/>
          <p:cNvSpPr txBox="1">
            <a:spLocks noGrp="1"/>
          </p:cNvSpPr>
          <p:nvPr>
            <p:ph type="body" idx="1"/>
          </p:nvPr>
        </p:nvSpPr>
        <p:spPr>
          <a:xfrm>
            <a:off x="1421766" y="2208531"/>
            <a:ext cx="7661275" cy="4202113"/>
          </a:xfrm>
          <a:prstGeom prst="rect">
            <a:avLst/>
          </a:prstGeom>
          <a:noFill/>
          <a:ln>
            <a:noFill/>
          </a:ln>
        </p:spPr>
        <p:txBody>
          <a:bodyPr spcFirstLastPara="1" wrap="square" lIns="0" tIns="45700" rIns="0" bIns="45700" anchor="t" anchorCtr="0">
            <a:normAutofit/>
          </a:bodyPr>
          <a:lstStyle/>
          <a:p>
            <a:pPr marL="274320" lvl="0" indent="-274320" algn="l" rtl="0">
              <a:lnSpc>
                <a:spcPct val="90000"/>
              </a:lnSpc>
              <a:spcBef>
                <a:spcPts val="0"/>
              </a:spcBef>
              <a:spcAft>
                <a:spcPts val="0"/>
              </a:spcAft>
              <a:buSzPts val="2000"/>
              <a:buFont typeface="Noto Sans Symbols"/>
              <a:buChar char="🞆"/>
            </a:pPr>
            <a:r>
              <a:rPr lang="en-US"/>
              <a:t>List in alphabetic order the names of all customers having a loan in Perryridge branch</a:t>
            </a:r>
            <a:endParaRPr/>
          </a:p>
          <a:p>
            <a:pPr marL="274320" lvl="0" indent="-274320" algn="l" rtl="0">
              <a:lnSpc>
                <a:spcPct val="90000"/>
              </a:lnSpc>
              <a:spcBef>
                <a:spcPts val="1200"/>
              </a:spcBef>
              <a:spcAft>
                <a:spcPts val="0"/>
              </a:spcAft>
              <a:buSzPts val="2000"/>
              <a:buNone/>
            </a:pPr>
            <a:r>
              <a:rPr lang="en-US"/>
              <a:t>		</a:t>
            </a:r>
            <a:r>
              <a:rPr lang="en-US" b="1"/>
              <a:t>select distinct </a:t>
            </a:r>
            <a:r>
              <a:rPr lang="en-US" i="1"/>
              <a:t>customer_name</a:t>
            </a:r>
            <a:br>
              <a:rPr lang="en-US" i="1"/>
            </a:br>
            <a:r>
              <a:rPr lang="en-US" i="1"/>
              <a:t>	</a:t>
            </a:r>
            <a:r>
              <a:rPr lang="en-US" b="1"/>
              <a:t>from    </a:t>
            </a:r>
            <a:r>
              <a:rPr lang="en-US" i="1"/>
              <a:t>borrower</a:t>
            </a:r>
            <a:br>
              <a:rPr lang="en-US" i="1"/>
            </a:br>
            <a:r>
              <a:rPr lang="en-US" i="1"/>
              <a:t>	</a:t>
            </a:r>
            <a:r>
              <a:rPr lang="en-US" b="1"/>
              <a:t>where</a:t>
            </a:r>
            <a:r>
              <a:rPr lang="en-US" i="1"/>
              <a:t> branch_name = </a:t>
            </a:r>
            <a:r>
              <a:rPr lang="en-US">
                <a:latin typeface="Century Gothic"/>
                <a:ea typeface="Century Gothic"/>
                <a:cs typeface="Century Gothic"/>
                <a:sym typeface="Century Gothic"/>
              </a:rPr>
              <a:t>'</a:t>
            </a:r>
            <a:r>
              <a:rPr lang="en-US"/>
              <a:t>Perryridge</a:t>
            </a:r>
            <a:r>
              <a:rPr lang="en-US">
                <a:latin typeface="Century Gothic"/>
                <a:ea typeface="Century Gothic"/>
                <a:cs typeface="Century Gothic"/>
                <a:sym typeface="Century Gothic"/>
              </a:rPr>
              <a:t>' </a:t>
            </a:r>
            <a:br>
              <a:rPr lang="en-US"/>
            </a:br>
            <a:r>
              <a:rPr lang="en-US"/>
              <a:t>	</a:t>
            </a:r>
            <a:r>
              <a:rPr lang="en-US" b="1"/>
              <a:t>order by </a:t>
            </a:r>
            <a:r>
              <a:rPr lang="en-US" i="1"/>
              <a:t>customer_name</a:t>
            </a:r>
            <a:endParaRPr/>
          </a:p>
          <a:p>
            <a:pPr marL="274320" lvl="0" indent="-274320" algn="l" rtl="0">
              <a:lnSpc>
                <a:spcPct val="90000"/>
              </a:lnSpc>
              <a:spcBef>
                <a:spcPts val="1200"/>
              </a:spcBef>
              <a:spcAft>
                <a:spcPts val="0"/>
              </a:spcAft>
              <a:buSzPts val="2000"/>
              <a:buFont typeface="Noto Sans Symbols"/>
              <a:buChar char="🞆"/>
            </a:pPr>
            <a:r>
              <a:rPr lang="en-US"/>
              <a:t>We may specify </a:t>
            </a:r>
            <a:r>
              <a:rPr lang="en-US" b="1">
                <a:solidFill>
                  <a:schemeClr val="dk2"/>
                </a:solidFill>
              </a:rPr>
              <a:t>desc</a:t>
            </a:r>
            <a:r>
              <a:rPr lang="en-US"/>
              <a:t> for descending order or </a:t>
            </a:r>
            <a:r>
              <a:rPr lang="en-US" b="1">
                <a:solidFill>
                  <a:schemeClr val="dk2"/>
                </a:solidFill>
              </a:rPr>
              <a:t>asc</a:t>
            </a:r>
            <a:r>
              <a:rPr lang="en-US"/>
              <a:t> for ascending order, for each attribute; ascending order is the default.</a:t>
            </a:r>
            <a:endParaRPr/>
          </a:p>
          <a:p>
            <a:pPr marL="640080" lvl="1" indent="-274320" algn="l" rtl="0">
              <a:lnSpc>
                <a:spcPct val="90000"/>
              </a:lnSpc>
              <a:spcBef>
                <a:spcPts val="200"/>
              </a:spcBef>
              <a:spcAft>
                <a:spcPts val="0"/>
              </a:spcAft>
              <a:buSzPts val="1800"/>
              <a:buFont typeface="Noto Sans Symbols"/>
              <a:buChar char="⚫"/>
            </a:pPr>
            <a:r>
              <a:rPr lang="en-US"/>
              <a:t>Example:  </a:t>
            </a:r>
            <a:r>
              <a:rPr lang="en-US" b="1"/>
              <a:t>order by</a:t>
            </a:r>
            <a:r>
              <a:rPr lang="en-US"/>
              <a:t> </a:t>
            </a:r>
            <a:r>
              <a:rPr lang="en-US" i="1"/>
              <a:t>customer_name</a:t>
            </a:r>
            <a:r>
              <a:rPr lang="en-US"/>
              <a:t> </a:t>
            </a:r>
            <a:r>
              <a:rPr lang="en-US" b="1"/>
              <a:t>desc</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Set Operations</a:t>
            </a:r>
            <a:endParaRPr/>
          </a:p>
        </p:txBody>
      </p:sp>
      <p:sp>
        <p:nvSpPr>
          <p:cNvPr id="339" name="Google Shape;339;p30"/>
          <p:cNvSpPr txBox="1">
            <a:spLocks noGrp="1"/>
          </p:cNvSpPr>
          <p:nvPr>
            <p:ph type="body" idx="1"/>
          </p:nvPr>
        </p:nvSpPr>
        <p:spPr>
          <a:xfrm>
            <a:off x="2290765" y="1960880"/>
            <a:ext cx="7381556" cy="4341178"/>
          </a:xfrm>
          <a:prstGeom prst="rect">
            <a:avLst/>
          </a:prstGeom>
          <a:noFill/>
          <a:ln>
            <a:noFill/>
          </a:ln>
        </p:spPr>
        <p:txBody>
          <a:bodyPr spcFirstLastPara="1" wrap="square" lIns="0" tIns="45700" rIns="0" bIns="45700" anchor="t" anchorCtr="0">
            <a:normAutofit/>
          </a:bodyPr>
          <a:lstStyle/>
          <a:p>
            <a:pPr marL="274320" lvl="0" indent="-274320" algn="l" rtl="0">
              <a:lnSpc>
                <a:spcPct val="90000"/>
              </a:lnSpc>
              <a:spcBef>
                <a:spcPts val="0"/>
              </a:spcBef>
              <a:spcAft>
                <a:spcPts val="0"/>
              </a:spcAft>
              <a:buSzPts val="2000"/>
              <a:buFont typeface="Noto Sans Symbols"/>
              <a:buChar char="🞆"/>
            </a:pPr>
            <a:r>
              <a:rPr lang="en-US"/>
              <a:t>The set operations </a:t>
            </a:r>
            <a:r>
              <a:rPr lang="en-US" b="1">
                <a:solidFill>
                  <a:schemeClr val="dk2"/>
                </a:solidFill>
              </a:rPr>
              <a:t>union</a:t>
            </a:r>
            <a:r>
              <a:rPr lang="en-US" b="1"/>
              <a:t>, </a:t>
            </a:r>
            <a:r>
              <a:rPr lang="en-US" b="1">
                <a:solidFill>
                  <a:schemeClr val="dk2"/>
                </a:solidFill>
              </a:rPr>
              <a:t>intersect</a:t>
            </a:r>
            <a:r>
              <a:rPr lang="en-US" b="1"/>
              <a:t>, </a:t>
            </a:r>
            <a:r>
              <a:rPr lang="en-US"/>
              <a:t>and </a:t>
            </a:r>
            <a:r>
              <a:rPr lang="en-US" b="1">
                <a:solidFill>
                  <a:schemeClr val="dk2"/>
                </a:solidFill>
              </a:rPr>
              <a:t>except/minus</a:t>
            </a:r>
            <a:r>
              <a:rPr lang="en-US" b="1"/>
              <a:t> </a:t>
            </a:r>
            <a:r>
              <a:rPr lang="en-US"/>
              <a:t>operate on relations and correspond to the relational algebra operations ∪, ∩, −.</a:t>
            </a:r>
            <a:endParaRPr/>
          </a:p>
          <a:p>
            <a:pPr marL="274320" lvl="0" indent="-274320" algn="l" rtl="0">
              <a:lnSpc>
                <a:spcPct val="90000"/>
              </a:lnSpc>
              <a:spcBef>
                <a:spcPts val="1200"/>
              </a:spcBef>
              <a:spcAft>
                <a:spcPts val="0"/>
              </a:spcAft>
              <a:buSzPts val="2000"/>
              <a:buFont typeface="Noto Sans Symbols"/>
              <a:buChar char="🞆"/>
            </a:pPr>
            <a:r>
              <a:rPr lang="en-US"/>
              <a:t>Each of the above operations automatically eliminates duplicates; to retain all duplicates use the corresponding multiset versions </a:t>
            </a:r>
            <a:r>
              <a:rPr lang="en-US" b="1">
                <a:solidFill>
                  <a:schemeClr val="dk2"/>
                </a:solidFill>
              </a:rPr>
              <a:t>union all</a:t>
            </a:r>
            <a:r>
              <a:rPr lang="en-US" b="1"/>
              <a:t>, </a:t>
            </a:r>
            <a:r>
              <a:rPr lang="en-US" b="1">
                <a:solidFill>
                  <a:schemeClr val="dk2"/>
                </a:solidFill>
              </a:rPr>
              <a:t>intersect all</a:t>
            </a:r>
            <a:r>
              <a:rPr lang="en-US" b="1"/>
              <a:t> </a:t>
            </a:r>
            <a:r>
              <a:rPr lang="en-US"/>
              <a:t>and except all/</a:t>
            </a:r>
            <a:r>
              <a:rPr lang="en-US" b="1">
                <a:solidFill>
                  <a:schemeClr val="dk2"/>
                </a:solidFill>
              </a:rPr>
              <a:t>minus all</a:t>
            </a:r>
            <a:r>
              <a:rPr lang="en-US" b="1"/>
              <a:t>.</a:t>
            </a:r>
            <a:br>
              <a:rPr lang="en-US" b="1"/>
            </a:br>
            <a:br>
              <a:rPr lang="en-US"/>
            </a:br>
            <a:r>
              <a:rPr lang="en-US"/>
              <a:t>Suppose a tuple occurs </a:t>
            </a:r>
            <a:r>
              <a:rPr lang="en-US" i="1"/>
              <a:t>m</a:t>
            </a:r>
            <a:r>
              <a:rPr lang="en-US"/>
              <a:t> times in </a:t>
            </a:r>
            <a:r>
              <a:rPr lang="en-US" i="1"/>
              <a:t>r</a:t>
            </a:r>
            <a:r>
              <a:rPr lang="en-US"/>
              <a:t> and </a:t>
            </a:r>
            <a:r>
              <a:rPr lang="en-US" i="1"/>
              <a:t>n </a:t>
            </a:r>
            <a:r>
              <a:rPr lang="en-US"/>
              <a:t>times in </a:t>
            </a:r>
            <a:r>
              <a:rPr lang="en-US" i="1"/>
              <a:t>s, </a:t>
            </a:r>
            <a:r>
              <a:rPr lang="en-US"/>
              <a:t>then, it occurs:</a:t>
            </a:r>
            <a:endParaRPr/>
          </a:p>
          <a:p>
            <a:pPr marL="640080" lvl="1" indent="-274320" algn="l" rtl="0">
              <a:lnSpc>
                <a:spcPct val="90000"/>
              </a:lnSpc>
              <a:spcBef>
                <a:spcPts val="200"/>
              </a:spcBef>
              <a:spcAft>
                <a:spcPts val="0"/>
              </a:spcAft>
              <a:buSzPts val="1800"/>
              <a:buFont typeface="Noto Sans Symbols"/>
              <a:buChar char="⚫"/>
            </a:pPr>
            <a:r>
              <a:rPr lang="en-US" i="1"/>
              <a:t>m </a:t>
            </a:r>
            <a:r>
              <a:rPr lang="en-US" i="1" baseline="-25000"/>
              <a:t> </a:t>
            </a:r>
            <a:r>
              <a:rPr lang="en-US" i="1"/>
              <a:t>+ n </a:t>
            </a:r>
            <a:r>
              <a:rPr lang="en-US"/>
              <a:t>times in </a:t>
            </a:r>
            <a:r>
              <a:rPr lang="en-US" i="1"/>
              <a:t>r </a:t>
            </a:r>
            <a:r>
              <a:rPr lang="en-US" b="1"/>
              <a:t>union all </a:t>
            </a:r>
            <a:r>
              <a:rPr lang="en-US" i="1"/>
              <a:t>s</a:t>
            </a:r>
            <a:endParaRPr/>
          </a:p>
          <a:p>
            <a:pPr marL="640080" lvl="1" indent="-274320" algn="l" rtl="0">
              <a:lnSpc>
                <a:spcPct val="90000"/>
              </a:lnSpc>
              <a:spcBef>
                <a:spcPts val="200"/>
              </a:spcBef>
              <a:spcAft>
                <a:spcPts val="0"/>
              </a:spcAft>
              <a:buSzPts val="1800"/>
              <a:buFont typeface="Noto Sans Symbols"/>
              <a:buChar char="⚫"/>
            </a:pPr>
            <a:r>
              <a:rPr lang="en-US"/>
              <a:t>min(</a:t>
            </a:r>
            <a:r>
              <a:rPr lang="en-US" i="1"/>
              <a:t>m,n)</a:t>
            </a:r>
            <a:r>
              <a:rPr lang="en-US"/>
              <a:t> times in </a:t>
            </a:r>
            <a:r>
              <a:rPr lang="en-US" i="1"/>
              <a:t>r</a:t>
            </a:r>
            <a:r>
              <a:rPr lang="en-US"/>
              <a:t> </a:t>
            </a:r>
            <a:r>
              <a:rPr lang="en-US" b="1"/>
              <a:t>intersect all </a:t>
            </a:r>
            <a:r>
              <a:rPr lang="en-US" i="1"/>
              <a:t>s</a:t>
            </a:r>
            <a:endParaRPr/>
          </a:p>
          <a:p>
            <a:pPr marL="640080" lvl="1" indent="-274320" algn="l" rtl="0">
              <a:lnSpc>
                <a:spcPct val="90000"/>
              </a:lnSpc>
              <a:spcBef>
                <a:spcPts val="200"/>
              </a:spcBef>
              <a:spcAft>
                <a:spcPts val="0"/>
              </a:spcAft>
              <a:buSzPts val="1800"/>
              <a:buFont typeface="Noto Sans Symbols"/>
              <a:buChar char="⚫"/>
            </a:pPr>
            <a:r>
              <a:rPr lang="en-US"/>
              <a:t>max(0, </a:t>
            </a:r>
            <a:r>
              <a:rPr lang="en-US" i="1"/>
              <a:t>m – n)</a:t>
            </a:r>
            <a:r>
              <a:rPr lang="en-US"/>
              <a:t> times in </a:t>
            </a:r>
            <a:r>
              <a:rPr lang="en-US" i="1"/>
              <a:t>r</a:t>
            </a:r>
            <a:r>
              <a:rPr lang="en-US"/>
              <a:t> </a:t>
            </a:r>
            <a:r>
              <a:rPr lang="en-US" b="1"/>
              <a:t>minus all/except all </a:t>
            </a:r>
            <a:r>
              <a:rPr lang="en-US" i="1"/>
              <a:t>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1"/>
          <p:cNvSpPr txBox="1">
            <a:spLocks noGrp="1"/>
          </p:cNvSpPr>
          <p:nvPr>
            <p:ph type="title" idx="4294967295"/>
          </p:nvPr>
        </p:nvSpPr>
        <p:spPr>
          <a:xfrm>
            <a:off x="3251200" y="156530"/>
            <a:ext cx="8077200" cy="6096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85000"/>
              </a:lnSpc>
              <a:spcBef>
                <a:spcPts val="0"/>
              </a:spcBef>
              <a:spcAft>
                <a:spcPts val="0"/>
              </a:spcAft>
              <a:buClr>
                <a:srgbClr val="3F3F3F"/>
              </a:buClr>
              <a:buSzPct val="100000"/>
              <a:buFont typeface="Calibri"/>
              <a:buNone/>
            </a:pPr>
            <a:r>
              <a:rPr lang="en-US"/>
              <a:t>Set Operations</a:t>
            </a:r>
            <a:endParaRPr/>
          </a:p>
        </p:txBody>
      </p:sp>
      <p:sp>
        <p:nvSpPr>
          <p:cNvPr id="345" name="Google Shape;345;p31"/>
          <p:cNvSpPr txBox="1">
            <a:spLocks noGrp="1"/>
          </p:cNvSpPr>
          <p:nvPr>
            <p:ph type="body" idx="4294967295"/>
          </p:nvPr>
        </p:nvSpPr>
        <p:spPr>
          <a:xfrm>
            <a:off x="2265362" y="935992"/>
            <a:ext cx="7661275" cy="511175"/>
          </a:xfrm>
          <a:prstGeom prst="rect">
            <a:avLst/>
          </a:prstGeom>
          <a:noFill/>
          <a:ln>
            <a:noFill/>
          </a:ln>
        </p:spPr>
        <p:txBody>
          <a:bodyPr spcFirstLastPara="1" wrap="square" lIns="0" tIns="45700" rIns="0" bIns="45700" anchor="t" anchorCtr="0">
            <a:normAutofit/>
          </a:bodyPr>
          <a:lstStyle/>
          <a:p>
            <a:pPr marL="274320" lvl="0" indent="-274320" algn="l" rtl="0">
              <a:lnSpc>
                <a:spcPct val="90000"/>
              </a:lnSpc>
              <a:spcBef>
                <a:spcPts val="0"/>
              </a:spcBef>
              <a:spcAft>
                <a:spcPts val="0"/>
              </a:spcAft>
              <a:buSzPts val="2000"/>
              <a:buFont typeface="Noto Sans Symbols"/>
              <a:buChar char="🞆"/>
            </a:pPr>
            <a:r>
              <a:rPr lang="en-US"/>
              <a:t>Find all customers who have a loan, an account, or both:</a:t>
            </a:r>
            <a:endParaRPr/>
          </a:p>
        </p:txBody>
      </p:sp>
      <p:sp>
        <p:nvSpPr>
          <p:cNvPr id="346" name="Google Shape;346;p31"/>
          <p:cNvSpPr txBox="1"/>
          <p:nvPr/>
        </p:nvSpPr>
        <p:spPr>
          <a:xfrm>
            <a:off x="3098801" y="4706938"/>
            <a:ext cx="6227763" cy="1109662"/>
          </a:xfrm>
          <a:prstGeom prst="rect">
            <a:avLst/>
          </a:prstGeom>
          <a:noFill/>
          <a:ln>
            <a:noFill/>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Clr>
                <a:schemeClr val="dk2"/>
              </a:buClr>
              <a:buSzPts val="1620"/>
              <a:buFont typeface="Arial"/>
              <a:buNone/>
            </a:pPr>
            <a:r>
              <a:rPr lang="en-US" sz="1800">
                <a:solidFill>
                  <a:schemeClr val="dk1"/>
                </a:solidFill>
                <a:latin typeface="Helvetica Neue"/>
                <a:ea typeface="Helvetica Neue"/>
                <a:cs typeface="Helvetica Neue"/>
                <a:sym typeface="Helvetica Neue"/>
              </a:rPr>
              <a:t>(</a:t>
            </a:r>
            <a:r>
              <a:rPr lang="en-US" sz="1800" b="1">
                <a:solidFill>
                  <a:schemeClr val="dk1"/>
                </a:solidFill>
                <a:latin typeface="Helvetica Neue"/>
                <a:ea typeface="Helvetica Neue"/>
                <a:cs typeface="Helvetica Neue"/>
                <a:sym typeface="Helvetica Neue"/>
              </a:rPr>
              <a:t>select</a:t>
            </a:r>
            <a:r>
              <a:rPr lang="en-US" sz="1800">
                <a:solidFill>
                  <a:schemeClr val="dk1"/>
                </a:solidFill>
                <a:latin typeface="Helvetica Neue"/>
                <a:ea typeface="Helvetica Neue"/>
                <a:cs typeface="Helvetica Neue"/>
                <a:sym typeface="Helvetica Neue"/>
              </a:rPr>
              <a:t> </a:t>
            </a:r>
            <a:r>
              <a:rPr lang="en-US" sz="1800" i="1">
                <a:solidFill>
                  <a:schemeClr val="dk1"/>
                </a:solidFill>
                <a:latin typeface="Helvetica Neue"/>
                <a:ea typeface="Helvetica Neue"/>
                <a:cs typeface="Helvetica Neue"/>
                <a:sym typeface="Helvetica Neue"/>
              </a:rPr>
              <a:t>customer_name </a:t>
            </a:r>
            <a:r>
              <a:rPr lang="en-US" sz="1800" b="1">
                <a:solidFill>
                  <a:schemeClr val="dk1"/>
                </a:solidFill>
                <a:latin typeface="Helvetica Neue"/>
                <a:ea typeface="Helvetica Neue"/>
                <a:cs typeface="Helvetica Neue"/>
                <a:sym typeface="Helvetica Neue"/>
              </a:rPr>
              <a:t>from </a:t>
            </a:r>
            <a:r>
              <a:rPr lang="en-US" sz="1800" i="1">
                <a:solidFill>
                  <a:schemeClr val="dk1"/>
                </a:solidFill>
                <a:latin typeface="Helvetica Neue"/>
                <a:ea typeface="Helvetica Neue"/>
                <a:cs typeface="Helvetica Neue"/>
                <a:sym typeface="Helvetica Neue"/>
              </a:rPr>
              <a:t>depositor</a:t>
            </a:r>
            <a:r>
              <a:rPr lang="en-US" sz="1800">
                <a:solidFill>
                  <a:schemeClr val="dk1"/>
                </a:solidFill>
                <a:latin typeface="Helvetica Neue"/>
                <a:ea typeface="Helvetica Neue"/>
                <a:cs typeface="Helvetica Neue"/>
                <a:sym typeface="Helvetica Neue"/>
              </a:rPr>
              <a:t>)</a:t>
            </a:r>
            <a:br>
              <a:rPr lang="en-US" sz="1800">
                <a:solidFill>
                  <a:schemeClr val="dk1"/>
                </a:solidFill>
                <a:latin typeface="Helvetica Neue"/>
                <a:ea typeface="Helvetica Neue"/>
                <a:cs typeface="Helvetica Neue"/>
                <a:sym typeface="Helvetica Neue"/>
              </a:rPr>
            </a:br>
            <a:r>
              <a:rPr lang="en-US" sz="1800" b="1">
                <a:solidFill>
                  <a:schemeClr val="dk1"/>
                </a:solidFill>
                <a:latin typeface="Helvetica Neue"/>
                <a:ea typeface="Helvetica Neue"/>
                <a:cs typeface="Helvetica Neue"/>
                <a:sym typeface="Helvetica Neue"/>
              </a:rPr>
              <a:t>minus</a:t>
            </a:r>
            <a:br>
              <a:rPr lang="en-US" sz="1800" b="1">
                <a:solidFill>
                  <a:schemeClr val="dk1"/>
                </a:solidFill>
                <a:latin typeface="Helvetica Neue"/>
                <a:ea typeface="Helvetica Neue"/>
                <a:cs typeface="Helvetica Neue"/>
                <a:sym typeface="Helvetica Neue"/>
              </a:rPr>
            </a:br>
            <a:r>
              <a:rPr lang="en-US" sz="1800" b="1">
                <a:solidFill>
                  <a:schemeClr val="dk1"/>
                </a:solidFill>
                <a:latin typeface="Helvetica Neue"/>
                <a:ea typeface="Helvetica Neue"/>
                <a:cs typeface="Helvetica Neue"/>
                <a:sym typeface="Helvetica Neue"/>
              </a:rPr>
              <a:t>(select</a:t>
            </a:r>
            <a:r>
              <a:rPr lang="en-US" sz="1800">
                <a:solidFill>
                  <a:schemeClr val="dk1"/>
                </a:solidFill>
                <a:latin typeface="Helvetica Neue"/>
                <a:ea typeface="Helvetica Neue"/>
                <a:cs typeface="Helvetica Neue"/>
                <a:sym typeface="Helvetica Neue"/>
              </a:rPr>
              <a:t> </a:t>
            </a:r>
            <a:r>
              <a:rPr lang="en-US" sz="1800" i="1">
                <a:solidFill>
                  <a:schemeClr val="dk1"/>
                </a:solidFill>
                <a:latin typeface="Helvetica Neue"/>
                <a:ea typeface="Helvetica Neue"/>
                <a:cs typeface="Helvetica Neue"/>
                <a:sym typeface="Helvetica Neue"/>
              </a:rPr>
              <a:t>customer_name </a:t>
            </a:r>
            <a:r>
              <a:rPr lang="en-US" sz="1800" b="1">
                <a:solidFill>
                  <a:schemeClr val="dk1"/>
                </a:solidFill>
                <a:latin typeface="Helvetica Neue"/>
                <a:ea typeface="Helvetica Neue"/>
                <a:cs typeface="Helvetica Neue"/>
                <a:sym typeface="Helvetica Neue"/>
              </a:rPr>
              <a:t>from</a:t>
            </a:r>
            <a:r>
              <a:rPr lang="en-US" sz="1800" i="1">
                <a:solidFill>
                  <a:schemeClr val="dk1"/>
                </a:solidFill>
                <a:latin typeface="Helvetica Neue"/>
                <a:ea typeface="Helvetica Neue"/>
                <a:cs typeface="Helvetica Neue"/>
                <a:sym typeface="Helvetica Neue"/>
              </a:rPr>
              <a:t> borrower)</a:t>
            </a:r>
            <a:endParaRPr sz="1800">
              <a:solidFill>
                <a:schemeClr val="dk1"/>
              </a:solidFill>
              <a:latin typeface="Helvetica Neue"/>
              <a:ea typeface="Helvetica Neue"/>
              <a:cs typeface="Helvetica Neue"/>
              <a:sym typeface="Helvetica Neue"/>
            </a:endParaRPr>
          </a:p>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347" name="Google Shape;347;p31"/>
          <p:cNvSpPr txBox="1"/>
          <p:nvPr/>
        </p:nvSpPr>
        <p:spPr>
          <a:xfrm>
            <a:off x="3143250" y="3136900"/>
            <a:ext cx="4260850" cy="9159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2"/>
              </a:buClr>
              <a:buSzPts val="1620"/>
              <a:buFont typeface="Arial"/>
              <a:buNone/>
            </a:pPr>
            <a:r>
              <a:rPr lang="en-US" sz="1800">
                <a:solidFill>
                  <a:schemeClr val="dk1"/>
                </a:solidFill>
                <a:latin typeface="Helvetica Neue"/>
                <a:ea typeface="Helvetica Neue"/>
                <a:cs typeface="Helvetica Neue"/>
                <a:sym typeface="Helvetica Neue"/>
              </a:rPr>
              <a:t>(</a:t>
            </a:r>
            <a:r>
              <a:rPr lang="en-US" sz="1800" b="1">
                <a:solidFill>
                  <a:schemeClr val="dk1"/>
                </a:solidFill>
                <a:latin typeface="Helvetica Neue"/>
                <a:ea typeface="Helvetica Neue"/>
                <a:cs typeface="Helvetica Neue"/>
                <a:sym typeface="Helvetica Neue"/>
              </a:rPr>
              <a:t>select</a:t>
            </a:r>
            <a:r>
              <a:rPr lang="en-US" sz="1800">
                <a:solidFill>
                  <a:schemeClr val="dk1"/>
                </a:solidFill>
                <a:latin typeface="Helvetica Neue"/>
                <a:ea typeface="Helvetica Neue"/>
                <a:cs typeface="Helvetica Neue"/>
                <a:sym typeface="Helvetica Neue"/>
              </a:rPr>
              <a:t> </a:t>
            </a:r>
            <a:r>
              <a:rPr lang="en-US" sz="1800" i="1">
                <a:solidFill>
                  <a:schemeClr val="dk1"/>
                </a:solidFill>
                <a:latin typeface="Helvetica Neue"/>
                <a:ea typeface="Helvetica Neue"/>
                <a:cs typeface="Helvetica Neue"/>
                <a:sym typeface="Helvetica Neue"/>
              </a:rPr>
              <a:t>customer_name </a:t>
            </a:r>
            <a:r>
              <a:rPr lang="en-US" sz="1800" b="1">
                <a:solidFill>
                  <a:schemeClr val="dk1"/>
                </a:solidFill>
                <a:latin typeface="Helvetica Neue"/>
                <a:ea typeface="Helvetica Neue"/>
                <a:cs typeface="Helvetica Neue"/>
                <a:sym typeface="Helvetica Neue"/>
              </a:rPr>
              <a:t>from </a:t>
            </a:r>
            <a:r>
              <a:rPr lang="en-US" sz="1800" i="1">
                <a:solidFill>
                  <a:schemeClr val="dk1"/>
                </a:solidFill>
                <a:latin typeface="Helvetica Neue"/>
                <a:ea typeface="Helvetica Neue"/>
                <a:cs typeface="Helvetica Neue"/>
                <a:sym typeface="Helvetica Neue"/>
              </a:rPr>
              <a:t>depositor</a:t>
            </a:r>
            <a:r>
              <a:rPr lang="en-US" sz="1800">
                <a:solidFill>
                  <a:schemeClr val="dk1"/>
                </a:solidFill>
                <a:latin typeface="Helvetica Neue"/>
                <a:ea typeface="Helvetica Neue"/>
                <a:cs typeface="Helvetica Neue"/>
                <a:sym typeface="Helvetica Neue"/>
              </a:rPr>
              <a:t>)</a:t>
            </a:r>
            <a:br>
              <a:rPr lang="en-US" sz="1800">
                <a:solidFill>
                  <a:schemeClr val="dk1"/>
                </a:solidFill>
                <a:latin typeface="Helvetica Neue"/>
                <a:ea typeface="Helvetica Neue"/>
                <a:cs typeface="Helvetica Neue"/>
                <a:sym typeface="Helvetica Neue"/>
              </a:rPr>
            </a:br>
            <a:r>
              <a:rPr lang="en-US" sz="1800" b="1">
                <a:solidFill>
                  <a:schemeClr val="dk1"/>
                </a:solidFill>
                <a:latin typeface="Helvetica Neue"/>
                <a:ea typeface="Helvetica Neue"/>
                <a:cs typeface="Helvetica Neue"/>
                <a:sym typeface="Helvetica Neue"/>
              </a:rPr>
              <a:t>intersect</a:t>
            </a:r>
            <a:br>
              <a:rPr lang="en-US" sz="1800" b="1">
                <a:solidFill>
                  <a:schemeClr val="dk1"/>
                </a:solidFill>
                <a:latin typeface="Helvetica Neue"/>
                <a:ea typeface="Helvetica Neue"/>
                <a:cs typeface="Helvetica Neue"/>
                <a:sym typeface="Helvetica Neue"/>
              </a:rPr>
            </a:br>
            <a:r>
              <a:rPr lang="en-US" sz="1800" b="1">
                <a:solidFill>
                  <a:schemeClr val="dk1"/>
                </a:solidFill>
                <a:latin typeface="Helvetica Neue"/>
                <a:ea typeface="Helvetica Neue"/>
                <a:cs typeface="Helvetica Neue"/>
                <a:sym typeface="Helvetica Neue"/>
              </a:rPr>
              <a:t>(select</a:t>
            </a:r>
            <a:r>
              <a:rPr lang="en-US" sz="1800">
                <a:solidFill>
                  <a:schemeClr val="dk1"/>
                </a:solidFill>
                <a:latin typeface="Helvetica Neue"/>
                <a:ea typeface="Helvetica Neue"/>
                <a:cs typeface="Helvetica Neue"/>
                <a:sym typeface="Helvetica Neue"/>
              </a:rPr>
              <a:t> </a:t>
            </a:r>
            <a:r>
              <a:rPr lang="en-US" sz="1800" i="1">
                <a:solidFill>
                  <a:schemeClr val="dk1"/>
                </a:solidFill>
                <a:latin typeface="Helvetica Neue"/>
                <a:ea typeface="Helvetica Neue"/>
                <a:cs typeface="Helvetica Neue"/>
                <a:sym typeface="Helvetica Neue"/>
              </a:rPr>
              <a:t>customer_name </a:t>
            </a:r>
            <a:r>
              <a:rPr lang="en-US" sz="1800" b="1">
                <a:solidFill>
                  <a:schemeClr val="dk1"/>
                </a:solidFill>
                <a:latin typeface="Helvetica Neue"/>
                <a:ea typeface="Helvetica Neue"/>
                <a:cs typeface="Helvetica Neue"/>
                <a:sym typeface="Helvetica Neue"/>
              </a:rPr>
              <a:t>from</a:t>
            </a:r>
            <a:r>
              <a:rPr lang="en-US" sz="1800" i="1">
                <a:solidFill>
                  <a:schemeClr val="dk1"/>
                </a:solidFill>
                <a:latin typeface="Helvetica Neue"/>
                <a:ea typeface="Helvetica Neue"/>
                <a:cs typeface="Helvetica Neue"/>
                <a:sym typeface="Helvetica Neue"/>
              </a:rPr>
              <a:t> borrower)</a:t>
            </a:r>
            <a:endParaRPr sz="1800">
              <a:solidFill>
                <a:schemeClr val="dk1"/>
              </a:solidFill>
              <a:latin typeface="Times New Roman"/>
              <a:ea typeface="Times New Roman"/>
              <a:cs typeface="Times New Roman"/>
              <a:sym typeface="Times New Roman"/>
            </a:endParaRPr>
          </a:p>
        </p:txBody>
      </p:sp>
      <p:sp>
        <p:nvSpPr>
          <p:cNvPr id="348" name="Google Shape;348;p31"/>
          <p:cNvSpPr txBox="1"/>
          <p:nvPr/>
        </p:nvSpPr>
        <p:spPr>
          <a:xfrm>
            <a:off x="2266951" y="4222750"/>
            <a:ext cx="6186309" cy="369332"/>
          </a:xfrm>
          <a:prstGeom prst="rect">
            <a:avLst/>
          </a:prstGeom>
          <a:noFill/>
          <a:ln>
            <a:noFill/>
          </a:ln>
        </p:spPr>
        <p:txBody>
          <a:bodyPr spcFirstLastPara="1" wrap="square" lIns="91425" tIns="45700" rIns="91425" bIns="45700" anchor="t" anchorCtr="0">
            <a:spAutoFit/>
          </a:bodyPr>
          <a:lstStyle/>
          <a:p>
            <a:pPr marL="342900" marR="0" lvl="0" indent="-342900" algn="l" rtl="0">
              <a:lnSpc>
                <a:spcPct val="90000"/>
              </a:lnSpc>
              <a:spcBef>
                <a:spcPts val="0"/>
              </a:spcBef>
              <a:spcAft>
                <a:spcPts val="0"/>
              </a:spcAft>
              <a:buClr>
                <a:schemeClr val="dk2"/>
              </a:buClr>
              <a:buSzPts val="1800"/>
              <a:buFont typeface="Arial"/>
              <a:buChar char="•"/>
            </a:pPr>
            <a:r>
              <a:rPr lang="en-US" sz="2000">
                <a:solidFill>
                  <a:srgbClr val="3F3F3F"/>
                </a:solidFill>
                <a:latin typeface="Calibri"/>
                <a:ea typeface="Calibri"/>
                <a:cs typeface="Calibri"/>
                <a:sym typeface="Calibri"/>
              </a:rPr>
              <a:t>Find</a:t>
            </a:r>
            <a:r>
              <a:rPr lang="en-US" sz="1800">
                <a:solidFill>
                  <a:schemeClr val="dk1"/>
                </a:solidFill>
                <a:latin typeface="Helvetica Neue"/>
                <a:ea typeface="Helvetica Neue"/>
                <a:cs typeface="Helvetica Neue"/>
                <a:sym typeface="Helvetica Neue"/>
              </a:rPr>
              <a:t> all customers who have an account but no loan.	</a:t>
            </a:r>
            <a:endParaRPr sz="1800">
              <a:solidFill>
                <a:schemeClr val="dk1"/>
              </a:solidFill>
              <a:latin typeface="Times New Roman"/>
              <a:ea typeface="Times New Roman"/>
              <a:cs typeface="Times New Roman"/>
              <a:sym typeface="Times New Roman"/>
            </a:endParaRPr>
          </a:p>
        </p:txBody>
      </p:sp>
      <p:sp>
        <p:nvSpPr>
          <p:cNvPr id="349" name="Google Shape;349;p31"/>
          <p:cNvSpPr txBox="1"/>
          <p:nvPr/>
        </p:nvSpPr>
        <p:spPr>
          <a:xfrm>
            <a:off x="3109913" y="1560514"/>
            <a:ext cx="4260850" cy="9159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2"/>
              </a:buClr>
              <a:buSzPts val="1620"/>
              <a:buFont typeface="Arial"/>
              <a:buNone/>
            </a:pPr>
            <a:r>
              <a:rPr lang="en-US" sz="1800" b="1">
                <a:solidFill>
                  <a:schemeClr val="dk1"/>
                </a:solidFill>
                <a:latin typeface="Helvetica Neue"/>
                <a:ea typeface="Helvetica Neue"/>
                <a:cs typeface="Helvetica Neue"/>
                <a:sym typeface="Helvetica Neue"/>
              </a:rPr>
              <a:t>(select</a:t>
            </a:r>
            <a:r>
              <a:rPr lang="en-US" sz="1800">
                <a:solidFill>
                  <a:schemeClr val="dk1"/>
                </a:solidFill>
                <a:latin typeface="Helvetica Neue"/>
                <a:ea typeface="Helvetica Neue"/>
                <a:cs typeface="Helvetica Neue"/>
                <a:sym typeface="Helvetica Neue"/>
              </a:rPr>
              <a:t> </a:t>
            </a:r>
            <a:r>
              <a:rPr lang="en-US" sz="1800" i="1">
                <a:solidFill>
                  <a:schemeClr val="dk1"/>
                </a:solidFill>
                <a:latin typeface="Helvetica Neue"/>
                <a:ea typeface="Helvetica Neue"/>
                <a:cs typeface="Helvetica Neue"/>
                <a:sym typeface="Helvetica Neue"/>
              </a:rPr>
              <a:t>customer_name </a:t>
            </a:r>
            <a:r>
              <a:rPr lang="en-US" sz="1800" b="1">
                <a:solidFill>
                  <a:schemeClr val="dk1"/>
                </a:solidFill>
                <a:latin typeface="Helvetica Neue"/>
                <a:ea typeface="Helvetica Neue"/>
                <a:cs typeface="Helvetica Neue"/>
                <a:sym typeface="Helvetica Neue"/>
              </a:rPr>
              <a:t>from </a:t>
            </a:r>
            <a:r>
              <a:rPr lang="en-US" sz="1800" i="1">
                <a:solidFill>
                  <a:schemeClr val="dk1"/>
                </a:solidFill>
                <a:latin typeface="Helvetica Neue"/>
                <a:ea typeface="Helvetica Neue"/>
                <a:cs typeface="Helvetica Neue"/>
                <a:sym typeface="Helvetica Neue"/>
              </a:rPr>
              <a:t>depositor</a:t>
            </a:r>
            <a:r>
              <a:rPr lang="en-US" sz="1800">
                <a:solidFill>
                  <a:schemeClr val="dk1"/>
                </a:solidFill>
                <a:latin typeface="Helvetica Neue"/>
                <a:ea typeface="Helvetica Neue"/>
                <a:cs typeface="Helvetica Neue"/>
                <a:sym typeface="Helvetica Neue"/>
              </a:rPr>
              <a:t>)</a:t>
            </a:r>
            <a:br>
              <a:rPr lang="en-US" sz="1800">
                <a:solidFill>
                  <a:schemeClr val="dk1"/>
                </a:solidFill>
                <a:latin typeface="Helvetica Neue"/>
                <a:ea typeface="Helvetica Neue"/>
                <a:cs typeface="Helvetica Neue"/>
                <a:sym typeface="Helvetica Neue"/>
              </a:rPr>
            </a:br>
            <a:r>
              <a:rPr lang="en-US" sz="1800" b="1">
                <a:solidFill>
                  <a:schemeClr val="dk1"/>
                </a:solidFill>
                <a:latin typeface="Helvetica Neue"/>
                <a:ea typeface="Helvetica Neue"/>
                <a:cs typeface="Helvetica Neue"/>
                <a:sym typeface="Helvetica Neue"/>
              </a:rPr>
              <a:t>union</a:t>
            </a:r>
            <a:br>
              <a:rPr lang="en-US" sz="1800" b="1">
                <a:solidFill>
                  <a:schemeClr val="dk1"/>
                </a:solidFill>
                <a:latin typeface="Helvetica Neue"/>
                <a:ea typeface="Helvetica Neue"/>
                <a:cs typeface="Helvetica Neue"/>
                <a:sym typeface="Helvetica Neue"/>
              </a:rPr>
            </a:br>
            <a:r>
              <a:rPr lang="en-US" sz="1800" b="1">
                <a:solidFill>
                  <a:schemeClr val="dk1"/>
                </a:solidFill>
                <a:latin typeface="Helvetica Neue"/>
                <a:ea typeface="Helvetica Neue"/>
                <a:cs typeface="Helvetica Neue"/>
                <a:sym typeface="Helvetica Neue"/>
              </a:rPr>
              <a:t>(select</a:t>
            </a:r>
            <a:r>
              <a:rPr lang="en-US" sz="1800">
                <a:solidFill>
                  <a:schemeClr val="dk1"/>
                </a:solidFill>
                <a:latin typeface="Helvetica Neue"/>
                <a:ea typeface="Helvetica Neue"/>
                <a:cs typeface="Helvetica Neue"/>
                <a:sym typeface="Helvetica Neue"/>
              </a:rPr>
              <a:t> </a:t>
            </a:r>
            <a:r>
              <a:rPr lang="en-US" sz="1800" i="1">
                <a:solidFill>
                  <a:schemeClr val="dk1"/>
                </a:solidFill>
                <a:latin typeface="Helvetica Neue"/>
                <a:ea typeface="Helvetica Neue"/>
                <a:cs typeface="Helvetica Neue"/>
                <a:sym typeface="Helvetica Neue"/>
              </a:rPr>
              <a:t>customer_name </a:t>
            </a:r>
            <a:r>
              <a:rPr lang="en-US" sz="1800" b="1">
                <a:solidFill>
                  <a:schemeClr val="dk1"/>
                </a:solidFill>
                <a:latin typeface="Helvetica Neue"/>
                <a:ea typeface="Helvetica Neue"/>
                <a:cs typeface="Helvetica Neue"/>
                <a:sym typeface="Helvetica Neue"/>
              </a:rPr>
              <a:t>from</a:t>
            </a:r>
            <a:r>
              <a:rPr lang="en-US" sz="1800" i="1">
                <a:solidFill>
                  <a:schemeClr val="dk1"/>
                </a:solidFill>
                <a:latin typeface="Helvetica Neue"/>
                <a:ea typeface="Helvetica Neue"/>
                <a:cs typeface="Helvetica Neue"/>
                <a:sym typeface="Helvetica Neue"/>
              </a:rPr>
              <a:t> borrower)</a:t>
            </a:r>
            <a:endParaRPr sz="2000">
              <a:solidFill>
                <a:schemeClr val="dk1"/>
              </a:solidFill>
              <a:latin typeface="Times New Roman"/>
              <a:ea typeface="Times New Roman"/>
              <a:cs typeface="Times New Roman"/>
              <a:sym typeface="Times New Roman"/>
            </a:endParaRPr>
          </a:p>
        </p:txBody>
      </p:sp>
      <p:sp>
        <p:nvSpPr>
          <p:cNvPr id="350" name="Google Shape;350;p31"/>
          <p:cNvSpPr txBox="1"/>
          <p:nvPr/>
        </p:nvSpPr>
        <p:spPr>
          <a:xfrm>
            <a:off x="2266951" y="2678113"/>
            <a:ext cx="6246813" cy="366712"/>
          </a:xfrm>
          <a:prstGeom prst="rect">
            <a:avLst/>
          </a:prstGeom>
          <a:noFill/>
          <a:ln>
            <a:noFill/>
          </a:ln>
        </p:spPr>
        <p:txBody>
          <a:bodyPr spcFirstLastPara="1" wrap="square" lIns="0" tIns="45700" rIns="0" bIns="45700" anchor="t" anchorCtr="0">
            <a:normAutofit fontScale="92500"/>
          </a:bodyPr>
          <a:lstStyle/>
          <a:p>
            <a:pPr marL="274320" marR="0" lvl="0" indent="-274320" algn="l" rtl="0">
              <a:lnSpc>
                <a:spcPct val="90000"/>
              </a:lnSpc>
              <a:spcBef>
                <a:spcPts val="0"/>
              </a:spcBef>
              <a:spcAft>
                <a:spcPts val="0"/>
              </a:spcAft>
              <a:buClr>
                <a:schemeClr val="accent1"/>
              </a:buClr>
              <a:buSzPts val="2000"/>
              <a:buFont typeface="Noto Sans Symbols"/>
              <a:buChar char="🞆"/>
            </a:pPr>
            <a:r>
              <a:rPr lang="en-US" sz="2000">
                <a:solidFill>
                  <a:srgbClr val="3F3F3F"/>
                </a:solidFill>
                <a:latin typeface="Calibri"/>
                <a:ea typeface="Calibri"/>
                <a:cs typeface="Calibri"/>
                <a:sym typeface="Calibri"/>
              </a:rPr>
              <a:t>  Find all customers who have both a loan and an account.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972B746B-0890-4278-99C3-8414F087BF1E}"/>
              </a:ext>
            </a:extLst>
          </p:cNvPr>
          <p:cNvSpPr>
            <a:spLocks noGrp="1" noChangeArrowheads="1"/>
          </p:cNvSpPr>
          <p:nvPr>
            <p:ph type="title"/>
          </p:nvPr>
        </p:nvSpPr>
        <p:spPr>
          <a:xfrm>
            <a:off x="1785257" y="818357"/>
            <a:ext cx="7467600" cy="588962"/>
          </a:xfrm>
        </p:spPr>
        <p:txBody>
          <a:bodyPr>
            <a:normAutofit fontScale="90000"/>
          </a:bodyPr>
          <a:lstStyle/>
          <a:p>
            <a:pPr>
              <a:defRPr/>
            </a:pPr>
            <a:r>
              <a:rPr lang="en-US" dirty="0"/>
              <a:t> Group By Clause</a:t>
            </a:r>
          </a:p>
        </p:txBody>
      </p:sp>
      <p:sp>
        <p:nvSpPr>
          <p:cNvPr id="51203" name="Rectangle 3">
            <a:extLst>
              <a:ext uri="{FF2B5EF4-FFF2-40B4-BE49-F238E27FC236}">
                <a16:creationId xmlns:a16="http://schemas.microsoft.com/office/drawing/2014/main" id="{6A470C6A-AFF1-4B1C-AC66-0F81D94D9842}"/>
              </a:ext>
            </a:extLst>
          </p:cNvPr>
          <p:cNvSpPr>
            <a:spLocks noGrp="1" noChangeArrowheads="1"/>
          </p:cNvSpPr>
          <p:nvPr>
            <p:ph sz="quarter" idx="1"/>
          </p:nvPr>
        </p:nvSpPr>
        <p:spPr>
          <a:xfrm>
            <a:off x="1679575" y="1936750"/>
            <a:ext cx="8070850" cy="1733550"/>
          </a:xfrm>
        </p:spPr>
        <p:txBody>
          <a:bodyPr>
            <a:normAutofit/>
          </a:bodyPr>
          <a:lstStyle/>
          <a:p>
            <a:pPr>
              <a:tabLst>
                <a:tab pos="625475" algn="l"/>
              </a:tabLst>
            </a:pPr>
            <a:r>
              <a:rPr lang="en-IN" altLang="en-US" b="1" dirty="0"/>
              <a:t>GROUP BY</a:t>
            </a:r>
            <a:r>
              <a:rPr lang="en-IN" altLang="en-US" dirty="0"/>
              <a:t> takes one or more columns, and treats all rows with the same value in that column as a single group when you apply aggregate function.</a:t>
            </a:r>
            <a:endParaRPr lang="en-US" altLang="en-US" dirty="0"/>
          </a:p>
          <a:p>
            <a:pPr>
              <a:tabLst>
                <a:tab pos="625475" algn="l"/>
              </a:tabLst>
            </a:pPr>
            <a:r>
              <a:rPr lang="en-US" altLang="en-US" dirty="0"/>
              <a:t>Find the number of accounts for each branch.</a:t>
            </a:r>
          </a:p>
        </p:txBody>
      </p:sp>
      <p:sp>
        <p:nvSpPr>
          <p:cNvPr id="40964" name="Text Box 4">
            <a:extLst>
              <a:ext uri="{FF2B5EF4-FFF2-40B4-BE49-F238E27FC236}">
                <a16:creationId xmlns:a16="http://schemas.microsoft.com/office/drawing/2014/main" id="{90368CBB-63FD-49DA-A0E3-BECAC7CC9D16}"/>
              </a:ext>
            </a:extLst>
          </p:cNvPr>
          <p:cNvSpPr txBox="1">
            <a:spLocks noChangeArrowheads="1"/>
          </p:cNvSpPr>
          <p:nvPr/>
        </p:nvSpPr>
        <p:spPr bwMode="auto">
          <a:xfrm>
            <a:off x="2102644" y="3670300"/>
            <a:ext cx="798671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a:spcBef>
                <a:spcPct val="35000"/>
              </a:spcBef>
              <a:buClr>
                <a:schemeClr val="tx2"/>
              </a:buClr>
              <a:buSzPct val="90000"/>
              <a:buFont typeface="Monotype Sorts" pitchFamily="2" charset="2"/>
              <a:buNone/>
            </a:pPr>
            <a:r>
              <a:rPr kumimoji="1" lang="en-US" altLang="en-US" sz="1800" dirty="0"/>
              <a:t>Note:  Attributes in </a:t>
            </a:r>
            <a:r>
              <a:rPr kumimoji="1" lang="en-US" altLang="en-US" sz="1800" b="1" dirty="0"/>
              <a:t>select </a:t>
            </a:r>
            <a:r>
              <a:rPr kumimoji="1" lang="en-US" altLang="en-US" sz="1800" dirty="0"/>
              <a:t>clause outside of aggregate functions must         </a:t>
            </a:r>
            <a:br>
              <a:rPr kumimoji="1" lang="en-US" altLang="en-US" sz="1800" dirty="0"/>
            </a:br>
            <a:r>
              <a:rPr kumimoji="1" lang="en-US" altLang="en-US" sz="1800" dirty="0"/>
              <a:t>           appear in </a:t>
            </a:r>
            <a:r>
              <a:rPr kumimoji="1" lang="en-US" altLang="en-US" sz="1800" b="1" dirty="0"/>
              <a:t>group by</a:t>
            </a:r>
            <a:r>
              <a:rPr kumimoji="1" lang="en-US" altLang="en-US" sz="1800" dirty="0"/>
              <a:t> list</a:t>
            </a:r>
            <a:endParaRPr lang="en-US" altLang="en-US" sz="1800" dirty="0">
              <a:latin typeface="Times New Roman" panose="02020603050405020304" pitchFamily="18" charset="0"/>
            </a:endParaRPr>
          </a:p>
        </p:txBody>
      </p:sp>
      <p:sp>
        <p:nvSpPr>
          <p:cNvPr id="40965" name="Text Box 5">
            <a:extLst>
              <a:ext uri="{FF2B5EF4-FFF2-40B4-BE49-F238E27FC236}">
                <a16:creationId xmlns:a16="http://schemas.microsoft.com/office/drawing/2014/main" id="{ADDED9CE-DB0E-4E22-98C5-C442FFDD4258}"/>
              </a:ext>
            </a:extLst>
          </p:cNvPr>
          <p:cNvSpPr txBox="1">
            <a:spLocks noChangeArrowheads="1"/>
          </p:cNvSpPr>
          <p:nvPr/>
        </p:nvSpPr>
        <p:spPr bwMode="auto">
          <a:xfrm>
            <a:off x="2102644" y="4689023"/>
            <a:ext cx="784225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a:spcBef>
                <a:spcPct val="35000"/>
              </a:spcBef>
              <a:buClr>
                <a:schemeClr val="tx2"/>
              </a:buClr>
              <a:buSzPct val="90000"/>
              <a:buFont typeface="Monotype Sorts" pitchFamily="2" charset="2"/>
              <a:buNone/>
            </a:pPr>
            <a:r>
              <a:rPr kumimoji="1" lang="en-US" altLang="en-US" sz="1800" b="1" dirty="0"/>
              <a:t>select </a:t>
            </a:r>
            <a:r>
              <a:rPr kumimoji="1" lang="en-US" altLang="en-US" sz="1800" i="1" dirty="0" err="1"/>
              <a:t>branch_name</a:t>
            </a:r>
            <a:r>
              <a:rPr kumimoji="1" lang="en-US" altLang="en-US" sz="1800" i="1" dirty="0"/>
              <a:t>, </a:t>
            </a:r>
            <a:r>
              <a:rPr kumimoji="1" lang="en-US" altLang="en-US" sz="1800" b="1" dirty="0"/>
              <a:t>count (*</a:t>
            </a:r>
            <a:r>
              <a:rPr kumimoji="1" lang="en-US" altLang="en-US" sz="1800" i="1" dirty="0"/>
              <a:t>)</a:t>
            </a:r>
            <a:br>
              <a:rPr kumimoji="1" lang="en-US" altLang="en-US" sz="1800" i="1" dirty="0"/>
            </a:br>
            <a:r>
              <a:rPr kumimoji="1" lang="en-US" altLang="en-US" sz="1800" i="1" dirty="0"/>
              <a:t>           </a:t>
            </a:r>
            <a:r>
              <a:rPr kumimoji="1" lang="en-US" altLang="en-US" sz="1800" b="1" dirty="0"/>
              <a:t>from </a:t>
            </a:r>
            <a:r>
              <a:rPr kumimoji="1" lang="en-US" altLang="en-US" sz="1800" i="1" dirty="0"/>
              <a:t>account</a:t>
            </a:r>
            <a:br>
              <a:rPr kumimoji="1" lang="en-US" altLang="en-US" sz="1800" i="1" dirty="0"/>
            </a:br>
            <a:r>
              <a:rPr kumimoji="1" lang="en-US" altLang="en-US" sz="1800" i="1" dirty="0"/>
              <a:t>           </a:t>
            </a:r>
            <a:r>
              <a:rPr kumimoji="1" lang="en-US" altLang="en-US" sz="1800" b="1" dirty="0"/>
              <a:t>group by </a:t>
            </a:r>
            <a:r>
              <a:rPr kumimoji="1" lang="en-US" altLang="en-US" sz="1800" i="1" dirty="0" err="1"/>
              <a:t>branch_name</a:t>
            </a:r>
            <a:endParaRPr lang="en-US" altLang="en-US" sz="1800"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96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09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autoUpdateAnimBg="0"/>
      <p:bldP spid="40965"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D2C6A520-70FD-497C-AF0E-A829954A6DE9}"/>
              </a:ext>
            </a:extLst>
          </p:cNvPr>
          <p:cNvSpPr>
            <a:spLocks noGrp="1" noChangeArrowheads="1"/>
          </p:cNvSpPr>
          <p:nvPr>
            <p:ph type="title"/>
          </p:nvPr>
        </p:nvSpPr>
        <p:spPr>
          <a:xfrm>
            <a:off x="1420587" y="707232"/>
            <a:ext cx="9606642" cy="609600"/>
          </a:xfrm>
        </p:spPr>
        <p:txBody>
          <a:bodyPr>
            <a:normAutofit fontScale="90000"/>
          </a:bodyPr>
          <a:lstStyle/>
          <a:p>
            <a:pPr>
              <a:defRPr/>
            </a:pPr>
            <a:r>
              <a:rPr lang="en-US" dirty="0"/>
              <a:t>Aggregate Functions – Having Clause</a:t>
            </a:r>
          </a:p>
        </p:txBody>
      </p:sp>
      <p:sp>
        <p:nvSpPr>
          <p:cNvPr id="43011" name="Rectangle 3">
            <a:extLst>
              <a:ext uri="{FF2B5EF4-FFF2-40B4-BE49-F238E27FC236}">
                <a16:creationId xmlns:a16="http://schemas.microsoft.com/office/drawing/2014/main" id="{E758C133-869E-4F69-9E62-AA5757DDD21B}"/>
              </a:ext>
            </a:extLst>
          </p:cNvPr>
          <p:cNvSpPr>
            <a:spLocks noGrp="1" noChangeArrowheads="1"/>
          </p:cNvSpPr>
          <p:nvPr>
            <p:ph sz="quarter" idx="1"/>
          </p:nvPr>
        </p:nvSpPr>
        <p:spPr>
          <a:xfrm>
            <a:off x="2095501" y="2433638"/>
            <a:ext cx="7661275" cy="773112"/>
          </a:xfrm>
        </p:spPr>
        <p:txBody>
          <a:bodyPr>
            <a:normAutofit lnSpcReduction="10000"/>
          </a:bodyPr>
          <a:lstStyle/>
          <a:p>
            <a:pPr marL="274320" indent="-274320">
              <a:buFont typeface="Wingdings"/>
              <a:buChar char=""/>
              <a:tabLst>
                <a:tab pos="1489075" algn="l"/>
              </a:tabLst>
              <a:defRPr/>
            </a:pPr>
            <a:r>
              <a:rPr lang="en-US" dirty="0"/>
              <a:t>Find the names of all branches where the average account balance is more than $1,200.</a:t>
            </a:r>
          </a:p>
        </p:txBody>
      </p:sp>
      <p:sp>
        <p:nvSpPr>
          <p:cNvPr id="43012" name="Text Box 4">
            <a:extLst>
              <a:ext uri="{FF2B5EF4-FFF2-40B4-BE49-F238E27FC236}">
                <a16:creationId xmlns:a16="http://schemas.microsoft.com/office/drawing/2014/main" id="{171B6A9D-1F97-486A-9D09-3F741CCE2FE9}"/>
              </a:ext>
            </a:extLst>
          </p:cNvPr>
          <p:cNvSpPr txBox="1">
            <a:spLocks noChangeArrowheads="1"/>
          </p:cNvSpPr>
          <p:nvPr/>
        </p:nvSpPr>
        <p:spPr bwMode="auto">
          <a:xfrm>
            <a:off x="1916114" y="5037139"/>
            <a:ext cx="7659687"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a:spcBef>
                <a:spcPct val="35000"/>
              </a:spcBef>
              <a:buClr>
                <a:schemeClr val="tx2"/>
              </a:buClr>
              <a:buSzPct val="90000"/>
              <a:buFont typeface="Monotype Sorts" pitchFamily="2" charset="2"/>
              <a:buNone/>
            </a:pPr>
            <a:r>
              <a:rPr kumimoji="1" lang="en-US" altLang="en-US" sz="1800">
                <a:solidFill>
                  <a:schemeClr val="tx2"/>
                </a:solidFill>
              </a:rPr>
              <a:t>       </a:t>
            </a:r>
            <a:r>
              <a:rPr kumimoji="1" lang="en-US" altLang="en-US" sz="1800"/>
              <a:t>Note:  predicates in the </a:t>
            </a:r>
            <a:r>
              <a:rPr kumimoji="1" lang="en-US" altLang="en-US" sz="1800" b="1"/>
              <a:t>having</a:t>
            </a:r>
            <a:r>
              <a:rPr kumimoji="1" lang="en-US" altLang="en-US" sz="1800"/>
              <a:t> clause are applied after the </a:t>
            </a:r>
            <a:br>
              <a:rPr kumimoji="1" lang="en-US" altLang="en-US" sz="1800"/>
            </a:br>
            <a:r>
              <a:rPr kumimoji="1" lang="en-US" altLang="en-US" sz="1800"/>
              <a:t>                 formation of groups whereas predicates in the </a:t>
            </a:r>
            <a:r>
              <a:rPr kumimoji="1" lang="en-US" altLang="en-US" sz="1800" b="1"/>
              <a:t>where</a:t>
            </a:r>
            <a:r>
              <a:rPr kumimoji="1" lang="en-US" altLang="en-US" sz="1800"/>
              <a:t> </a:t>
            </a:r>
            <a:br>
              <a:rPr kumimoji="1" lang="en-US" altLang="en-US" sz="1800"/>
            </a:br>
            <a:r>
              <a:rPr kumimoji="1" lang="en-US" altLang="en-US" sz="1800"/>
              <a:t>                 clause are applied before forming groups</a:t>
            </a:r>
          </a:p>
          <a:p>
            <a:endParaRPr lang="en-US" altLang="en-US" sz="1800">
              <a:latin typeface="Times New Roman" panose="02020603050405020304" pitchFamily="18" charset="0"/>
            </a:endParaRPr>
          </a:p>
        </p:txBody>
      </p:sp>
      <p:sp>
        <p:nvSpPr>
          <p:cNvPr id="43013" name="Text Box 5">
            <a:extLst>
              <a:ext uri="{FF2B5EF4-FFF2-40B4-BE49-F238E27FC236}">
                <a16:creationId xmlns:a16="http://schemas.microsoft.com/office/drawing/2014/main" id="{80C8ED17-2F3C-4531-88C5-39E8546613BD}"/>
              </a:ext>
            </a:extLst>
          </p:cNvPr>
          <p:cNvSpPr txBox="1">
            <a:spLocks noChangeArrowheads="1"/>
          </p:cNvSpPr>
          <p:nvPr/>
        </p:nvSpPr>
        <p:spPr bwMode="auto">
          <a:xfrm>
            <a:off x="2751139" y="3527426"/>
            <a:ext cx="561657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a:spcBef>
                <a:spcPct val="35000"/>
              </a:spcBef>
              <a:buClr>
                <a:schemeClr val="tx2"/>
              </a:buClr>
              <a:buSzPct val="90000"/>
              <a:buFont typeface="Monotype Sorts" pitchFamily="2" charset="2"/>
              <a:buNone/>
            </a:pPr>
            <a:r>
              <a:rPr kumimoji="1" lang="en-US" altLang="en-US" sz="1800" b="1"/>
              <a:t>select</a:t>
            </a:r>
            <a:r>
              <a:rPr kumimoji="1" lang="en-US" altLang="en-US" sz="1800" i="1"/>
              <a:t> branch_name, </a:t>
            </a:r>
            <a:r>
              <a:rPr kumimoji="1" lang="en-US" altLang="en-US" sz="1800" b="1"/>
              <a:t>avg </a:t>
            </a:r>
            <a:r>
              <a:rPr kumimoji="1" lang="en-US" altLang="en-US" sz="1800"/>
              <a:t>(</a:t>
            </a:r>
            <a:r>
              <a:rPr kumimoji="1" lang="en-US" altLang="en-US" sz="1800" i="1"/>
              <a:t>balance</a:t>
            </a:r>
            <a:r>
              <a:rPr kumimoji="1" lang="en-US" altLang="en-US" sz="1800"/>
              <a:t>)</a:t>
            </a:r>
            <a:br>
              <a:rPr kumimoji="1" lang="en-US" altLang="en-US" sz="1800" i="1"/>
            </a:br>
            <a:r>
              <a:rPr kumimoji="1" lang="en-US" altLang="en-US" sz="1800" i="1"/>
              <a:t>           </a:t>
            </a:r>
            <a:r>
              <a:rPr kumimoji="1" lang="en-US" altLang="en-US" sz="1800" b="1"/>
              <a:t>from</a:t>
            </a:r>
            <a:r>
              <a:rPr kumimoji="1" lang="en-US" altLang="en-US" sz="1800" i="1"/>
              <a:t> account</a:t>
            </a:r>
            <a:br>
              <a:rPr kumimoji="1" lang="en-US" altLang="en-US" sz="1800" i="1"/>
            </a:br>
            <a:r>
              <a:rPr kumimoji="1" lang="en-US" altLang="en-US" sz="1800" i="1"/>
              <a:t>           </a:t>
            </a:r>
            <a:r>
              <a:rPr kumimoji="1" lang="en-US" altLang="en-US" sz="1800" b="1"/>
              <a:t>group by</a:t>
            </a:r>
            <a:r>
              <a:rPr kumimoji="1" lang="en-US" altLang="en-US" sz="1800" i="1"/>
              <a:t> branch_name</a:t>
            </a:r>
            <a:br>
              <a:rPr kumimoji="1" lang="en-US" altLang="en-US" sz="1800" i="1"/>
            </a:br>
            <a:r>
              <a:rPr kumimoji="1" lang="en-US" altLang="en-US" sz="1800" i="1"/>
              <a:t>           </a:t>
            </a:r>
            <a:r>
              <a:rPr kumimoji="1" lang="en-US" altLang="en-US" sz="1800" b="1"/>
              <a:t>having avg</a:t>
            </a:r>
            <a:r>
              <a:rPr kumimoji="1" lang="en-US" altLang="en-US" sz="1800" i="1"/>
              <a:t> </a:t>
            </a:r>
            <a:r>
              <a:rPr kumimoji="1" lang="en-US" altLang="en-US" sz="1800"/>
              <a:t>(</a:t>
            </a:r>
            <a:r>
              <a:rPr kumimoji="1" lang="en-US" altLang="en-US" sz="1800" i="1"/>
              <a:t>balance</a:t>
            </a:r>
            <a:r>
              <a:rPr kumimoji="1" lang="en-US" altLang="en-US" sz="1800"/>
              <a:t>)</a:t>
            </a:r>
            <a:r>
              <a:rPr kumimoji="1" lang="en-US" altLang="en-US" sz="1800" i="1"/>
              <a:t> &gt; </a:t>
            </a:r>
            <a:r>
              <a:rPr kumimoji="1" lang="en-US" altLang="en-US" sz="1800"/>
              <a:t>1200</a:t>
            </a:r>
            <a:endParaRPr lang="en-US" altLang="en-US" sz="1800">
              <a:latin typeface="Times New Roman" panose="02020603050405020304" pitchFamily="18" charset="0"/>
            </a:endParaRPr>
          </a:p>
        </p:txBody>
      </p:sp>
      <p:sp>
        <p:nvSpPr>
          <p:cNvPr id="2" name="Rectangle 1">
            <a:extLst>
              <a:ext uri="{FF2B5EF4-FFF2-40B4-BE49-F238E27FC236}">
                <a16:creationId xmlns:a16="http://schemas.microsoft.com/office/drawing/2014/main" id="{6CBCA3B5-AFFC-4CA0-9959-72257589C65E}"/>
              </a:ext>
            </a:extLst>
          </p:cNvPr>
          <p:cNvSpPr/>
          <p:nvPr/>
        </p:nvSpPr>
        <p:spPr>
          <a:xfrm>
            <a:off x="1817688" y="1781970"/>
            <a:ext cx="7856538" cy="830262"/>
          </a:xfrm>
          <a:prstGeom prst="rect">
            <a:avLst/>
          </a:prstGeom>
        </p:spPr>
        <p:txBody>
          <a:bodyPr>
            <a:spAutoFit/>
          </a:bodyPr>
          <a:lstStyle/>
          <a:p>
            <a:pPr>
              <a:defRPr/>
            </a:pPr>
            <a:r>
              <a:rPr lang="en-IN" sz="2400" dirty="0">
                <a:latin typeface="+mn-lt"/>
              </a:rPr>
              <a:t>HAVING is used in combination with GROUP BY to ignore groups that don't meet certain criteria.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30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30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autoUpdateAnimBg="0"/>
      <p:bldP spid="43013"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FAAF8-A4F6-40C6-9185-718A925F7753}"/>
              </a:ext>
            </a:extLst>
          </p:cNvPr>
          <p:cNvSpPr>
            <a:spLocks noGrp="1"/>
          </p:cNvSpPr>
          <p:nvPr>
            <p:ph type="title"/>
          </p:nvPr>
        </p:nvSpPr>
        <p:spPr/>
        <p:txBody>
          <a:bodyPr/>
          <a:lstStyle/>
          <a:p>
            <a:pPr>
              <a:defRPr/>
            </a:pPr>
            <a:endParaRPr lang="en-IN"/>
          </a:p>
        </p:txBody>
      </p:sp>
      <p:sp>
        <p:nvSpPr>
          <p:cNvPr id="55299" name="Content Placeholder 2">
            <a:extLst>
              <a:ext uri="{FF2B5EF4-FFF2-40B4-BE49-F238E27FC236}">
                <a16:creationId xmlns:a16="http://schemas.microsoft.com/office/drawing/2014/main" id="{670FCC72-187D-43D8-B99F-7C8646CB077E}"/>
              </a:ext>
            </a:extLst>
          </p:cNvPr>
          <p:cNvSpPr>
            <a:spLocks noGrp="1"/>
          </p:cNvSpPr>
          <p:nvPr>
            <p:ph sz="quarter" idx="1"/>
          </p:nvPr>
        </p:nvSpPr>
        <p:spPr>
          <a:xfrm>
            <a:off x="1981200" y="2405743"/>
            <a:ext cx="7467600" cy="4139521"/>
          </a:xfrm>
        </p:spPr>
        <p:txBody>
          <a:bodyPr/>
          <a:lstStyle/>
          <a:p>
            <a:r>
              <a:rPr lang="en-IN" altLang="en-US" dirty="0"/>
              <a:t>The GROUP BY Clause SQL is used to group rows with same values.</a:t>
            </a:r>
          </a:p>
          <a:p>
            <a:r>
              <a:rPr lang="en-IN" altLang="en-US" dirty="0"/>
              <a:t>The GROUP BY Clause is used together with the SQL SELECT statement.</a:t>
            </a:r>
          </a:p>
          <a:p>
            <a:r>
              <a:rPr lang="en-IN" altLang="en-US" dirty="0"/>
              <a:t>The SELECT statement used in the GROUP BY clause can only be used contain column names, aggregate functions, constants and expressions.</a:t>
            </a:r>
          </a:p>
          <a:p>
            <a:r>
              <a:rPr lang="en-IN" altLang="en-US" dirty="0"/>
              <a:t>SQL Having Clause is used to restrict the results returned by the GROUP BY clause.</a:t>
            </a:r>
          </a:p>
          <a:p>
            <a:endParaRPr lang="en-I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6ECB34C7-E5C1-4404-9594-2B21C616E36D}"/>
              </a:ext>
            </a:extLst>
          </p:cNvPr>
          <p:cNvSpPr>
            <a:spLocks noGrp="1" noChangeArrowheads="1"/>
          </p:cNvSpPr>
          <p:nvPr>
            <p:ph type="title"/>
          </p:nvPr>
        </p:nvSpPr>
        <p:spPr>
          <a:xfrm>
            <a:off x="1981200" y="739095"/>
            <a:ext cx="7467600" cy="850900"/>
          </a:xfrm>
        </p:spPr>
        <p:txBody>
          <a:bodyPr/>
          <a:lstStyle/>
          <a:p>
            <a:pPr>
              <a:defRPr/>
            </a:pPr>
            <a:r>
              <a:rPr lang="en-US" dirty="0"/>
              <a:t>String Operations</a:t>
            </a:r>
          </a:p>
        </p:txBody>
      </p:sp>
      <p:sp>
        <p:nvSpPr>
          <p:cNvPr id="24579" name="Rectangle 3">
            <a:extLst>
              <a:ext uri="{FF2B5EF4-FFF2-40B4-BE49-F238E27FC236}">
                <a16:creationId xmlns:a16="http://schemas.microsoft.com/office/drawing/2014/main" id="{01788289-A6F7-400B-9735-CCACD59D30FE}"/>
              </a:ext>
            </a:extLst>
          </p:cNvPr>
          <p:cNvSpPr>
            <a:spLocks noGrp="1" noChangeArrowheads="1"/>
          </p:cNvSpPr>
          <p:nvPr>
            <p:ph sz="quarter" idx="1"/>
          </p:nvPr>
        </p:nvSpPr>
        <p:spPr>
          <a:xfrm>
            <a:off x="2263775" y="2013856"/>
            <a:ext cx="7185025" cy="4274231"/>
          </a:xfrm>
        </p:spPr>
        <p:txBody>
          <a:bodyPr>
            <a:normAutofit fontScale="92500" lnSpcReduction="20000"/>
          </a:bodyPr>
          <a:lstStyle/>
          <a:p>
            <a:pPr marL="274320" indent="-274320">
              <a:buFont typeface="Wingdings"/>
              <a:buChar char=""/>
              <a:tabLst>
                <a:tab pos="1889125" algn="l"/>
                <a:tab pos="2403475" algn="l"/>
              </a:tabLst>
              <a:defRPr/>
            </a:pPr>
            <a:r>
              <a:rPr lang="en-US" dirty="0"/>
              <a:t>SQL includes a string-matching operator for comparisons on character strings.  The operator “like” uses patterns that are described using two special characters:</a:t>
            </a:r>
          </a:p>
          <a:p>
            <a:pPr marL="640080" lvl="1" indent="-274320">
              <a:buFont typeface="Wingdings 2"/>
              <a:buChar char=""/>
              <a:tabLst>
                <a:tab pos="1889125" algn="l"/>
                <a:tab pos="2403475" algn="l"/>
              </a:tabLst>
              <a:defRPr/>
            </a:pPr>
            <a:r>
              <a:rPr lang="en-US" sz="1600" dirty="0"/>
              <a:t>percent (%).  The % character matches any substring.</a:t>
            </a:r>
          </a:p>
          <a:p>
            <a:pPr marL="640080" lvl="1" indent="-274320">
              <a:buFont typeface="Wingdings 2"/>
              <a:buChar char=""/>
              <a:tabLst>
                <a:tab pos="1889125" algn="l"/>
                <a:tab pos="2403475" algn="l"/>
              </a:tabLst>
              <a:defRPr/>
            </a:pPr>
            <a:r>
              <a:rPr lang="en-US" sz="1600" dirty="0"/>
              <a:t>underscore (_).  The _ character matches any character.</a:t>
            </a:r>
          </a:p>
          <a:p>
            <a:pPr marL="274320" indent="-274320">
              <a:buFont typeface="Wingdings"/>
              <a:buChar char=""/>
              <a:tabLst>
                <a:tab pos="1889125" algn="l"/>
                <a:tab pos="2403475" algn="l"/>
              </a:tabLst>
              <a:defRPr/>
            </a:pPr>
            <a:r>
              <a:rPr lang="en-US" dirty="0"/>
              <a:t>Find the names of all customers whose street includes the substring “Main”.</a:t>
            </a:r>
          </a:p>
          <a:p>
            <a:pPr marL="274320" indent="-274320">
              <a:buNone/>
              <a:tabLst>
                <a:tab pos="1889125" algn="l"/>
                <a:tab pos="2403475" algn="l"/>
              </a:tabLst>
              <a:defRPr/>
            </a:pPr>
            <a:r>
              <a:rPr lang="en-US" sz="1600" b="1" dirty="0"/>
              <a:t>		select </a:t>
            </a:r>
            <a:r>
              <a:rPr lang="en-US" sz="1600" i="1" dirty="0" err="1"/>
              <a:t>customer_name</a:t>
            </a:r>
            <a:br>
              <a:rPr lang="en-US" sz="1600" i="1" dirty="0"/>
            </a:br>
            <a:r>
              <a:rPr lang="en-US" sz="1600" i="1" dirty="0"/>
              <a:t>	</a:t>
            </a:r>
            <a:r>
              <a:rPr lang="en-US" sz="1600" b="1" dirty="0"/>
              <a:t>from </a:t>
            </a:r>
            <a:r>
              <a:rPr lang="en-US" sz="1600" i="1" dirty="0"/>
              <a:t>customer</a:t>
            </a:r>
            <a:br>
              <a:rPr lang="en-US" sz="1600" i="1" dirty="0"/>
            </a:br>
            <a:r>
              <a:rPr lang="en-US" sz="1600" i="1" dirty="0"/>
              <a:t>	</a:t>
            </a:r>
            <a:r>
              <a:rPr lang="en-US" sz="1600" b="1" dirty="0"/>
              <a:t>where</a:t>
            </a:r>
            <a:r>
              <a:rPr lang="en-US" sz="1600" b="1" i="1" dirty="0"/>
              <a:t> </a:t>
            </a:r>
            <a:r>
              <a:rPr lang="en-US" sz="1600" i="1" dirty="0" err="1"/>
              <a:t>customer_street</a:t>
            </a:r>
            <a:r>
              <a:rPr lang="en-US" sz="1600" i="1" dirty="0"/>
              <a:t> </a:t>
            </a:r>
            <a:r>
              <a:rPr lang="en-US" sz="1600" b="1" dirty="0"/>
              <a:t>like </a:t>
            </a:r>
            <a:r>
              <a:rPr lang="en-US" sz="1600" b="1" dirty="0">
                <a:latin typeface="Century Gothic" pitchFamily="34" charset="0"/>
              </a:rPr>
              <a:t>'</a:t>
            </a:r>
            <a:r>
              <a:rPr lang="en-US" sz="1600" dirty="0"/>
              <a:t>% Main%</a:t>
            </a:r>
            <a:r>
              <a:rPr lang="en-US" sz="1600" dirty="0">
                <a:latin typeface="Century Gothic" pitchFamily="34" charset="0"/>
              </a:rPr>
              <a:t>' </a:t>
            </a:r>
          </a:p>
          <a:p>
            <a:pPr marL="274320" indent="-274320">
              <a:buFont typeface="Wingdings"/>
              <a:buChar char=""/>
              <a:tabLst>
                <a:tab pos="1889125" algn="l"/>
                <a:tab pos="2403475" algn="l"/>
              </a:tabLst>
              <a:defRPr/>
            </a:pPr>
            <a:r>
              <a:rPr lang="en-US" dirty="0"/>
              <a:t>Match the name “Main%”</a:t>
            </a:r>
          </a:p>
          <a:p>
            <a:pPr marL="274320" indent="-274320">
              <a:buNone/>
              <a:tabLst>
                <a:tab pos="1889125" algn="l"/>
                <a:tab pos="2403475" algn="l"/>
              </a:tabLst>
              <a:defRPr/>
            </a:pPr>
            <a:r>
              <a:rPr lang="en-US" sz="1600" dirty="0"/>
              <a:t>			</a:t>
            </a:r>
            <a:r>
              <a:rPr lang="en-US" sz="1600" b="1" dirty="0"/>
              <a:t>like </a:t>
            </a:r>
            <a:r>
              <a:rPr lang="en-US" sz="1600" b="1" dirty="0">
                <a:latin typeface="Century Gothic" pitchFamily="34" charset="0"/>
              </a:rPr>
              <a:t>'</a:t>
            </a:r>
            <a:r>
              <a:rPr lang="en-US" sz="1600" dirty="0"/>
              <a:t>Main\%</a:t>
            </a:r>
            <a:r>
              <a:rPr lang="en-US" sz="1600" dirty="0">
                <a:latin typeface="Century Gothic" pitchFamily="34" charset="0"/>
              </a:rPr>
              <a:t>' </a:t>
            </a:r>
            <a:r>
              <a:rPr lang="en-US" sz="1600" dirty="0"/>
              <a:t> </a:t>
            </a:r>
            <a:r>
              <a:rPr lang="en-US" sz="1600" b="1" dirty="0"/>
              <a:t>escape  </a:t>
            </a:r>
            <a:r>
              <a:rPr lang="en-US" sz="1600" b="1" dirty="0">
                <a:latin typeface="Century Gothic" pitchFamily="34" charset="0"/>
              </a:rPr>
              <a:t>'</a:t>
            </a:r>
            <a:r>
              <a:rPr lang="en-US" sz="1600" dirty="0"/>
              <a:t>\</a:t>
            </a:r>
            <a:r>
              <a:rPr lang="en-US" sz="1600" dirty="0">
                <a:latin typeface="Century Gothic" pitchFamily="34" charset="0"/>
              </a:rPr>
              <a:t>' </a:t>
            </a:r>
            <a:endParaRPr lang="en-US" sz="1600" dirty="0"/>
          </a:p>
          <a:p>
            <a:pPr marL="274320" indent="-274320">
              <a:buFont typeface="Wingdings"/>
              <a:buChar char=""/>
              <a:tabLst>
                <a:tab pos="1889125" algn="l"/>
                <a:tab pos="2403475" algn="l"/>
              </a:tabLst>
              <a:defRPr/>
            </a:pPr>
            <a:r>
              <a:rPr lang="en-US" dirty="0"/>
              <a:t>SQL supports a variety of string operations such as</a:t>
            </a:r>
          </a:p>
          <a:p>
            <a:pPr marL="640080" lvl="1" indent="-274320">
              <a:buFont typeface="Wingdings 2"/>
              <a:buChar char=""/>
              <a:tabLst>
                <a:tab pos="1889125" algn="l"/>
                <a:tab pos="2403475" algn="l"/>
              </a:tabLst>
              <a:defRPr/>
            </a:pPr>
            <a:r>
              <a:rPr lang="en-US" sz="1600" dirty="0"/>
              <a:t>concatenation (using “||”)</a:t>
            </a:r>
          </a:p>
          <a:p>
            <a:pPr marL="640080" lvl="1" indent="-274320">
              <a:buFont typeface="Wingdings 2"/>
              <a:buChar char=""/>
              <a:tabLst>
                <a:tab pos="1889125" algn="l"/>
                <a:tab pos="2403475" algn="l"/>
              </a:tabLst>
              <a:defRPr/>
            </a:pPr>
            <a:r>
              <a:rPr lang="en-US" sz="1600" dirty="0"/>
              <a:t> converting from upper to lower case (and vice versa)</a:t>
            </a:r>
          </a:p>
          <a:p>
            <a:pPr marL="640080" lvl="1" indent="-274320">
              <a:buFont typeface="Wingdings 2"/>
              <a:buChar char=""/>
              <a:tabLst>
                <a:tab pos="1889125" algn="l"/>
                <a:tab pos="2403475" algn="l"/>
              </a:tabLst>
              <a:defRPr/>
            </a:pPr>
            <a:r>
              <a:rPr lang="en-US" sz="1600" dirty="0"/>
              <a:t> finding string length, extracting substrings, etc.</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A469D602-2032-40A1-B3FE-5C61FF910494}"/>
              </a:ext>
            </a:extLst>
          </p:cNvPr>
          <p:cNvSpPr>
            <a:spLocks noGrp="1" noChangeArrowheads="1"/>
          </p:cNvSpPr>
          <p:nvPr>
            <p:ph type="title"/>
          </p:nvPr>
        </p:nvSpPr>
        <p:spPr>
          <a:xfrm>
            <a:off x="1981200" y="736827"/>
            <a:ext cx="7467600" cy="741362"/>
          </a:xfrm>
        </p:spPr>
        <p:txBody>
          <a:bodyPr/>
          <a:lstStyle/>
          <a:p>
            <a:pPr>
              <a:defRPr/>
            </a:pPr>
            <a:r>
              <a:rPr lang="en-US" dirty="0"/>
              <a:t>Null Values</a:t>
            </a:r>
          </a:p>
        </p:txBody>
      </p:sp>
      <p:sp>
        <p:nvSpPr>
          <p:cNvPr id="45059" name="Rectangle 3">
            <a:extLst>
              <a:ext uri="{FF2B5EF4-FFF2-40B4-BE49-F238E27FC236}">
                <a16:creationId xmlns:a16="http://schemas.microsoft.com/office/drawing/2014/main" id="{BAFE590C-5D03-4A87-857A-9FBB11F1384A}"/>
              </a:ext>
            </a:extLst>
          </p:cNvPr>
          <p:cNvSpPr>
            <a:spLocks noGrp="1" noChangeArrowheads="1"/>
          </p:cNvSpPr>
          <p:nvPr>
            <p:ph sz="quarter" idx="1"/>
          </p:nvPr>
        </p:nvSpPr>
        <p:spPr>
          <a:xfrm>
            <a:off x="2263775" y="1883228"/>
            <a:ext cx="7185025" cy="4227059"/>
          </a:xfrm>
        </p:spPr>
        <p:txBody>
          <a:bodyPr>
            <a:normAutofit lnSpcReduction="10000"/>
          </a:bodyPr>
          <a:lstStyle/>
          <a:p>
            <a:pPr marL="274320" indent="-274320">
              <a:buFont typeface="Wingdings"/>
              <a:buChar char=""/>
              <a:defRPr/>
            </a:pPr>
            <a:r>
              <a:rPr lang="en-US" dirty="0"/>
              <a:t>It is possible for </a:t>
            </a:r>
            <a:r>
              <a:rPr lang="en-US" dirty="0" err="1"/>
              <a:t>tuples</a:t>
            </a:r>
            <a:r>
              <a:rPr lang="en-US" dirty="0"/>
              <a:t> to have a null value, denoted by </a:t>
            </a:r>
            <a:r>
              <a:rPr lang="en-US" i="1" dirty="0"/>
              <a:t>null</a:t>
            </a:r>
            <a:r>
              <a:rPr lang="en-US" dirty="0"/>
              <a:t>, for some of their attributes</a:t>
            </a:r>
          </a:p>
          <a:p>
            <a:pPr marL="274320" indent="-274320">
              <a:buFont typeface="Wingdings"/>
              <a:buChar char=""/>
              <a:defRPr/>
            </a:pPr>
            <a:r>
              <a:rPr lang="en-US" i="1" dirty="0"/>
              <a:t>null</a:t>
            </a:r>
            <a:r>
              <a:rPr lang="en-US" dirty="0"/>
              <a:t> signifies an unknown value or that a value does not exist.</a:t>
            </a:r>
          </a:p>
          <a:p>
            <a:pPr marL="274320" indent="-274320">
              <a:buFont typeface="Wingdings"/>
              <a:buChar char=""/>
              <a:defRPr/>
            </a:pPr>
            <a:r>
              <a:rPr lang="en-US" dirty="0"/>
              <a:t>The predicate  </a:t>
            </a:r>
            <a:r>
              <a:rPr lang="en-US" b="1" dirty="0"/>
              <a:t>is null</a:t>
            </a:r>
            <a:r>
              <a:rPr lang="en-US" dirty="0"/>
              <a:t> can be used to check for null values.</a:t>
            </a:r>
          </a:p>
          <a:p>
            <a:pPr marL="640080" lvl="1" indent="-274320">
              <a:buFont typeface="Wingdings 2"/>
              <a:buChar char=""/>
              <a:defRPr/>
            </a:pPr>
            <a:r>
              <a:rPr lang="en-US" dirty="0"/>
              <a:t>Example: Find all loan number which appear in the </a:t>
            </a:r>
            <a:r>
              <a:rPr lang="en-US" i="1" dirty="0"/>
              <a:t>loan</a:t>
            </a:r>
            <a:r>
              <a:rPr lang="en-US" dirty="0"/>
              <a:t> relation with null values for </a:t>
            </a:r>
            <a:r>
              <a:rPr lang="en-US" i="1" dirty="0"/>
              <a:t>amount.</a:t>
            </a:r>
            <a:endParaRPr lang="en-US" dirty="0"/>
          </a:p>
          <a:p>
            <a:pPr marL="274320" indent="-274320">
              <a:buNone/>
              <a:defRPr/>
            </a:pPr>
            <a:r>
              <a:rPr lang="en-US" dirty="0"/>
              <a:t>		</a:t>
            </a:r>
            <a:r>
              <a:rPr lang="en-US" b="1" dirty="0"/>
              <a:t>select</a:t>
            </a:r>
            <a:r>
              <a:rPr lang="en-US" i="1" dirty="0"/>
              <a:t> </a:t>
            </a:r>
            <a:r>
              <a:rPr lang="en-US" i="1" dirty="0" err="1"/>
              <a:t>loan_number</a:t>
            </a:r>
            <a:br>
              <a:rPr lang="en-US" i="1" dirty="0"/>
            </a:br>
            <a:r>
              <a:rPr lang="en-US" i="1" dirty="0"/>
              <a:t>	</a:t>
            </a:r>
            <a:r>
              <a:rPr lang="en-US" b="1" dirty="0"/>
              <a:t>from</a:t>
            </a:r>
            <a:r>
              <a:rPr lang="en-US" i="1" dirty="0"/>
              <a:t> loan</a:t>
            </a:r>
            <a:br>
              <a:rPr lang="en-US" i="1" dirty="0"/>
            </a:br>
            <a:r>
              <a:rPr lang="en-US" i="1" dirty="0"/>
              <a:t>	</a:t>
            </a:r>
            <a:r>
              <a:rPr lang="en-US" b="1" dirty="0"/>
              <a:t>where </a:t>
            </a:r>
            <a:r>
              <a:rPr lang="en-US" i="1" dirty="0"/>
              <a:t>amount </a:t>
            </a:r>
            <a:r>
              <a:rPr lang="en-US" b="1" dirty="0"/>
              <a:t>is null</a:t>
            </a:r>
            <a:endParaRPr lang="en-US" dirty="0"/>
          </a:p>
          <a:p>
            <a:pPr marL="274320" indent="-274320">
              <a:buFont typeface="Wingdings"/>
              <a:buChar char=""/>
              <a:defRPr/>
            </a:pPr>
            <a:r>
              <a:rPr lang="en-US" dirty="0"/>
              <a:t>The result of any arithmetic expression involving </a:t>
            </a:r>
            <a:r>
              <a:rPr lang="en-US" i="1" dirty="0"/>
              <a:t>null</a:t>
            </a:r>
            <a:r>
              <a:rPr lang="en-US" dirty="0"/>
              <a:t> is </a:t>
            </a:r>
            <a:r>
              <a:rPr lang="en-US" i="1" dirty="0"/>
              <a:t>null</a:t>
            </a:r>
          </a:p>
          <a:p>
            <a:pPr marL="640080" lvl="1" indent="-274320">
              <a:buFont typeface="Wingdings 2"/>
              <a:buChar char=""/>
              <a:defRPr/>
            </a:pPr>
            <a:r>
              <a:rPr lang="en-US" dirty="0"/>
              <a:t>Example:  5 + </a:t>
            </a:r>
            <a:r>
              <a:rPr lang="en-US" i="1" dirty="0"/>
              <a:t>null</a:t>
            </a:r>
            <a:r>
              <a:rPr lang="en-US" dirty="0"/>
              <a:t>  returns null</a:t>
            </a:r>
          </a:p>
          <a:p>
            <a:pPr marL="274320" indent="-274320">
              <a:buFont typeface="Wingdings"/>
              <a:buChar char=""/>
              <a:defRPr/>
            </a:pPr>
            <a:r>
              <a:rPr lang="en-US" dirty="0"/>
              <a:t>However, aggregate functions simply ignore nulls</a:t>
            </a:r>
          </a:p>
          <a:p>
            <a:pPr marL="640080" lvl="1" indent="-274320">
              <a:buFont typeface="Wingdings 2"/>
              <a:buChar char=""/>
              <a:defRPr/>
            </a:pPr>
            <a:r>
              <a:rPr lang="en-US" dirty="0"/>
              <a:t>More on next slide</a:t>
            </a: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TotalTime>
  <Words>2771</Words>
  <Application>Microsoft Office PowerPoint</Application>
  <PresentationFormat>Widescreen</PresentationFormat>
  <Paragraphs>314</Paragraphs>
  <Slides>34</Slides>
  <Notes>32</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34</vt:i4>
      </vt:variant>
    </vt:vector>
  </HeadingPairs>
  <TitlesOfParts>
    <vt:vector size="48" baseType="lpstr">
      <vt:lpstr>Arial</vt:lpstr>
      <vt:lpstr>Century Gothic</vt:lpstr>
      <vt:lpstr>Garamond</vt:lpstr>
      <vt:lpstr>Arimo</vt:lpstr>
      <vt:lpstr>Wingdings</vt:lpstr>
      <vt:lpstr>Monotype Sorts</vt:lpstr>
      <vt:lpstr>Calibri</vt:lpstr>
      <vt:lpstr>Wingdings 2</vt:lpstr>
      <vt:lpstr>Helvetica Neue</vt:lpstr>
      <vt:lpstr>Helvetica</vt:lpstr>
      <vt:lpstr>Consolas</vt:lpstr>
      <vt:lpstr>Noto Sans Symbols</vt:lpstr>
      <vt:lpstr>Times New Roman</vt:lpstr>
      <vt:lpstr>Retrospect</vt:lpstr>
      <vt:lpstr>SQL -Structured Query Language</vt:lpstr>
      <vt:lpstr>History</vt:lpstr>
      <vt:lpstr>SQL - A language for Relational DBs</vt:lpstr>
      <vt:lpstr>Data Definition Language (DDL)</vt:lpstr>
      <vt:lpstr>Data Definition Language</vt:lpstr>
      <vt:lpstr>Domain Types in SQL</vt:lpstr>
      <vt:lpstr>PowerPoint Presentation</vt:lpstr>
      <vt:lpstr>PowerPoint Presentation</vt:lpstr>
      <vt:lpstr>Constraints on table</vt:lpstr>
      <vt:lpstr>PowerPoint Presentation</vt:lpstr>
      <vt:lpstr>PowerPoint Presentation</vt:lpstr>
      <vt:lpstr>Alter Statements</vt:lpstr>
      <vt:lpstr>DROP a Table </vt:lpstr>
      <vt:lpstr>Data Manipulation Language (DML)</vt:lpstr>
      <vt:lpstr>PowerPoint Presentation</vt:lpstr>
      <vt:lpstr>PowerPoint Presentation</vt:lpstr>
      <vt:lpstr>PowerPoint Presentation</vt:lpstr>
      <vt:lpstr>PowerPoint Presentation</vt:lpstr>
      <vt:lpstr>PowerPoint Presentation</vt:lpstr>
      <vt:lpstr>Basic Query Structure </vt:lpstr>
      <vt:lpstr>PowerPoint Presentation</vt:lpstr>
      <vt:lpstr>The select Clause</vt:lpstr>
      <vt:lpstr>The select Clause (Cont.)</vt:lpstr>
      <vt:lpstr>The select Clause (Cont.)</vt:lpstr>
      <vt:lpstr>The where Clause</vt:lpstr>
      <vt:lpstr>The where Clause (Cont.)</vt:lpstr>
      <vt:lpstr>Ordering the Display of Tuples</vt:lpstr>
      <vt:lpstr>Set Operations</vt:lpstr>
      <vt:lpstr>Set Operations</vt:lpstr>
      <vt:lpstr> Group By Clause</vt:lpstr>
      <vt:lpstr>Aggregate Functions – Having Clause</vt:lpstr>
      <vt:lpstr>PowerPoint Presentation</vt:lpstr>
      <vt:lpstr>String Operations</vt:lpstr>
      <vt:lpstr>Null Values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Relational Model &amp; SQL</dc:title>
  <dc:creator>User</dc:creator>
  <cp:lastModifiedBy>sunu abraham</cp:lastModifiedBy>
  <cp:revision>5</cp:revision>
  <dcterms:created xsi:type="dcterms:W3CDTF">2025-02-03T09:28:30Z</dcterms:created>
  <dcterms:modified xsi:type="dcterms:W3CDTF">2026-07-13T04:40:44Z</dcterms:modified>
</cp:coreProperties>
</file>