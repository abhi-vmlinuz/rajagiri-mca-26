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43"/>
  </p:notesMasterIdLst>
  <p:sldIdLst>
    <p:sldId id="256" r:id="rId2"/>
    <p:sldId id="257" r:id="rId3"/>
    <p:sldId id="326" r:id="rId4"/>
    <p:sldId id="258" r:id="rId5"/>
    <p:sldId id="259" r:id="rId6"/>
    <p:sldId id="261" r:id="rId7"/>
    <p:sldId id="260" r:id="rId8"/>
    <p:sldId id="331" r:id="rId9"/>
    <p:sldId id="263" r:id="rId10"/>
    <p:sldId id="262" r:id="rId11"/>
    <p:sldId id="345" r:id="rId12"/>
    <p:sldId id="269" r:id="rId13"/>
    <p:sldId id="327" r:id="rId14"/>
    <p:sldId id="266" r:id="rId15"/>
    <p:sldId id="328" r:id="rId16"/>
    <p:sldId id="270" r:id="rId17"/>
    <p:sldId id="281" r:id="rId18"/>
    <p:sldId id="329" r:id="rId19"/>
    <p:sldId id="273" r:id="rId20"/>
    <p:sldId id="274" r:id="rId21"/>
    <p:sldId id="276" r:id="rId22"/>
    <p:sldId id="330" r:id="rId23"/>
    <p:sldId id="342" r:id="rId24"/>
    <p:sldId id="279" r:id="rId25"/>
    <p:sldId id="278" r:id="rId26"/>
    <p:sldId id="282" r:id="rId27"/>
    <p:sldId id="284" r:id="rId28"/>
    <p:sldId id="343" r:id="rId29"/>
    <p:sldId id="344" r:id="rId30"/>
    <p:sldId id="346" r:id="rId31"/>
    <p:sldId id="347" r:id="rId32"/>
    <p:sldId id="332" r:id="rId33"/>
    <p:sldId id="334" r:id="rId34"/>
    <p:sldId id="333" r:id="rId35"/>
    <p:sldId id="335" r:id="rId36"/>
    <p:sldId id="337" r:id="rId37"/>
    <p:sldId id="338" r:id="rId38"/>
    <p:sldId id="340" r:id="rId39"/>
    <p:sldId id="341" r:id="rId40"/>
    <p:sldId id="348" r:id="rId41"/>
    <p:sldId id="349"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1AF2"/>
    <a:srgbClr val="4D2E9A"/>
    <a:srgbClr val="6600FF"/>
    <a:srgbClr val="6E0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sorterViewPr>
    <p:cViewPr>
      <p:scale>
        <a:sx n="100" d="100"/>
        <a:sy n="100" d="100"/>
      </p:scale>
      <p:origin x="0" y="-18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B769A-6A7F-4155-9C14-57EB6880876D}" type="datetimeFigureOut">
              <a:rPr lang="en-IN" smtClean="0"/>
              <a:t>17-07-2026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E04E65-CF2D-4633-931A-38222C581E58}" type="slidenum">
              <a:rPr lang="en-IN" smtClean="0"/>
              <a:t>‹#›</a:t>
            </a:fld>
            <a:endParaRPr lang="en-IN"/>
          </a:p>
        </p:txBody>
      </p:sp>
    </p:spTree>
    <p:extLst>
      <p:ext uri="{BB962C8B-B14F-4D97-AF65-F5344CB8AC3E}">
        <p14:creationId xmlns:p14="http://schemas.microsoft.com/office/powerpoint/2010/main" val="7888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85DA72-3F7E-4B2D-A6DA-534692CE8E1A}" type="slidenum">
              <a:rPr lang="en-US" smtClean="0"/>
              <a:t>13</a:t>
            </a:fld>
            <a:endParaRPr lang="en-US"/>
          </a:p>
        </p:txBody>
      </p:sp>
    </p:spTree>
    <p:extLst>
      <p:ext uri="{BB962C8B-B14F-4D97-AF65-F5344CB8AC3E}">
        <p14:creationId xmlns:p14="http://schemas.microsoft.com/office/powerpoint/2010/main" val="1967278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31FE80B-6435-43B8-AE07-2F885D59ECB3}" type="slidenum">
              <a:rPr lang="en-IN" smtClean="0"/>
              <a:t>36</a:t>
            </a:fld>
            <a:endParaRPr lang="en-IN"/>
          </a:p>
        </p:txBody>
      </p:sp>
    </p:spTree>
    <p:extLst>
      <p:ext uri="{BB962C8B-B14F-4D97-AF65-F5344CB8AC3E}">
        <p14:creationId xmlns:p14="http://schemas.microsoft.com/office/powerpoint/2010/main" val="3189036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87582CD-AD08-4005-BDF5-0758B1D94915}" type="datetimeFigureOut">
              <a:rPr lang="en-IN" smtClean="0"/>
              <a:t>17-07-2026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27BC55FA-084D-4B9A-ADDD-3B66B568FDF2}" type="slidenum">
              <a:rPr lang="en-IN" smtClean="0"/>
              <a:t>‹#›</a:t>
            </a:fld>
            <a:endParaRPr lang="en-IN"/>
          </a:p>
        </p:txBody>
      </p:sp>
    </p:spTree>
    <p:extLst>
      <p:ext uri="{BB962C8B-B14F-4D97-AF65-F5344CB8AC3E}">
        <p14:creationId xmlns:p14="http://schemas.microsoft.com/office/powerpoint/2010/main" val="177609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582CD-AD08-4005-BDF5-0758B1D94915}"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27BC55FA-084D-4B9A-ADDD-3B66B568FDF2}" type="slidenum">
              <a:rPr lang="en-IN" smtClean="0"/>
              <a:t>‹#›</a:t>
            </a:fld>
            <a:endParaRPr lang="en-IN"/>
          </a:p>
        </p:txBody>
      </p:sp>
    </p:spTree>
    <p:extLst>
      <p:ext uri="{BB962C8B-B14F-4D97-AF65-F5344CB8AC3E}">
        <p14:creationId xmlns:p14="http://schemas.microsoft.com/office/powerpoint/2010/main" val="786198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87582CD-AD08-4005-BDF5-0758B1D94915}" type="datetimeFigureOut">
              <a:rPr lang="en-IN" smtClean="0"/>
              <a:t>17-07-2026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7BC55FA-084D-4B9A-ADDD-3B66B568FDF2}" type="slidenum">
              <a:rPr lang="en-IN" smtClean="0"/>
              <a:t>‹#›</a:t>
            </a:fld>
            <a:endParaRPr lang="en-IN"/>
          </a:p>
        </p:txBody>
      </p:sp>
    </p:spTree>
    <p:extLst>
      <p:ext uri="{BB962C8B-B14F-4D97-AF65-F5344CB8AC3E}">
        <p14:creationId xmlns:p14="http://schemas.microsoft.com/office/powerpoint/2010/main" val="1211204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7582CD-AD08-4005-BDF5-0758B1D94915}"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BC55FA-084D-4B9A-ADDD-3B66B568FDF2}" type="slidenum">
              <a:rPr lang="en-IN" smtClean="0"/>
              <a:t>‹#›</a:t>
            </a:fld>
            <a:endParaRPr lang="en-IN"/>
          </a:p>
        </p:txBody>
      </p:sp>
    </p:spTree>
    <p:extLst>
      <p:ext uri="{BB962C8B-B14F-4D97-AF65-F5344CB8AC3E}">
        <p14:creationId xmlns:p14="http://schemas.microsoft.com/office/powerpoint/2010/main" val="134468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582CD-AD08-4005-BDF5-0758B1D94915}"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7BC55FA-084D-4B9A-ADDD-3B66B568FDF2}" type="slidenum">
              <a:rPr lang="en-IN" smtClean="0"/>
              <a:t>‹#›</a:t>
            </a:fld>
            <a:endParaRPr lang="en-IN"/>
          </a:p>
        </p:txBody>
      </p:sp>
    </p:spTree>
    <p:extLst>
      <p:ext uri="{BB962C8B-B14F-4D97-AF65-F5344CB8AC3E}">
        <p14:creationId xmlns:p14="http://schemas.microsoft.com/office/powerpoint/2010/main" val="2893356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87582CD-AD08-4005-BDF5-0758B1D94915}"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7BC55FA-084D-4B9A-ADDD-3B66B568FDF2}" type="slidenum">
              <a:rPr lang="en-IN" smtClean="0"/>
              <a:t>‹#›</a:t>
            </a:fld>
            <a:endParaRPr lang="en-IN"/>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083652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582CD-AD08-4005-BDF5-0758B1D94915}"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7BC55FA-084D-4B9A-ADDD-3B66B568FDF2}" type="slidenum">
              <a:rPr lang="en-IN" smtClean="0"/>
              <a:t>‹#›</a:t>
            </a:fld>
            <a:endParaRPr lang="en-IN"/>
          </a:p>
        </p:txBody>
      </p:sp>
    </p:spTree>
    <p:extLst>
      <p:ext uri="{BB962C8B-B14F-4D97-AF65-F5344CB8AC3E}">
        <p14:creationId xmlns:p14="http://schemas.microsoft.com/office/powerpoint/2010/main" val="3128862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87582CD-AD08-4005-BDF5-0758B1D94915}" type="datetimeFigureOut">
              <a:rPr lang="en-IN" smtClean="0"/>
              <a:t>17-07-2026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7BC55FA-084D-4B9A-ADDD-3B66B568FDF2}" type="slidenum">
              <a:rPr lang="en-IN" smtClean="0"/>
              <a:t>‹#›</a:t>
            </a:fld>
            <a:endParaRPr lang="en-IN"/>
          </a:p>
        </p:txBody>
      </p:sp>
    </p:spTree>
    <p:extLst>
      <p:ext uri="{BB962C8B-B14F-4D97-AF65-F5344CB8AC3E}">
        <p14:creationId xmlns:p14="http://schemas.microsoft.com/office/powerpoint/2010/main" val="3665869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87582CD-AD08-4005-BDF5-0758B1D94915}"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BC55FA-084D-4B9A-ADDD-3B66B568FDF2}" type="slidenum">
              <a:rPr lang="en-IN" smtClean="0"/>
              <a:t>‹#›</a:t>
            </a:fld>
            <a:endParaRPr lang="en-IN"/>
          </a:p>
        </p:txBody>
      </p:sp>
    </p:spTree>
    <p:extLst>
      <p:ext uri="{BB962C8B-B14F-4D97-AF65-F5344CB8AC3E}">
        <p14:creationId xmlns:p14="http://schemas.microsoft.com/office/powerpoint/2010/main" val="212480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7582CD-AD08-4005-BDF5-0758B1D94915}"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BC55FA-084D-4B9A-ADDD-3B66B568FDF2}" type="slidenum">
              <a:rPr lang="en-IN" smtClean="0"/>
              <a:t>‹#›</a:t>
            </a:fld>
            <a:endParaRPr lang="en-IN"/>
          </a:p>
        </p:txBody>
      </p:sp>
    </p:spTree>
    <p:extLst>
      <p:ext uri="{BB962C8B-B14F-4D97-AF65-F5344CB8AC3E}">
        <p14:creationId xmlns:p14="http://schemas.microsoft.com/office/powerpoint/2010/main" val="3123031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87582CD-AD08-4005-BDF5-0758B1D94915}" type="datetimeFigureOut">
              <a:rPr lang="en-IN" smtClean="0"/>
              <a:t>17-07-2026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27BC55FA-084D-4B9A-ADDD-3B66B568FDF2}" type="slidenum">
              <a:rPr lang="en-IN" smtClean="0"/>
              <a:t>‹#›</a:t>
            </a:fld>
            <a:endParaRPr lang="en-IN"/>
          </a:p>
        </p:txBody>
      </p:sp>
    </p:spTree>
    <p:extLst>
      <p:ext uri="{BB962C8B-B14F-4D97-AF65-F5344CB8AC3E}">
        <p14:creationId xmlns:p14="http://schemas.microsoft.com/office/powerpoint/2010/main" val="3708785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87582CD-AD08-4005-BDF5-0758B1D94915}" type="datetimeFigureOut">
              <a:rPr lang="en-IN" smtClean="0"/>
              <a:t>17-07-2026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27BC55FA-084D-4B9A-ADDD-3B66B568FDF2}"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7291389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9CD3B-3936-4B8A-A22D-096109326CFF}"/>
              </a:ext>
            </a:extLst>
          </p:cNvPr>
          <p:cNvSpPr>
            <a:spLocks noGrp="1"/>
          </p:cNvSpPr>
          <p:nvPr>
            <p:ph type="ctrTitle"/>
          </p:nvPr>
        </p:nvSpPr>
        <p:spPr/>
        <p:txBody>
          <a:bodyPr/>
          <a:lstStyle/>
          <a:p>
            <a:r>
              <a:rPr lang="en-IN" dirty="0">
                <a:solidFill>
                  <a:srgbClr val="002060"/>
                </a:solidFill>
              </a:rPr>
              <a:t>MODULE</a:t>
            </a:r>
            <a:r>
              <a:rPr lang="en-IN" dirty="0"/>
              <a:t> </a:t>
            </a:r>
            <a:r>
              <a:rPr lang="en-IN" dirty="0">
                <a:solidFill>
                  <a:srgbClr val="002060"/>
                </a:solidFill>
              </a:rPr>
              <a:t>1</a:t>
            </a:r>
          </a:p>
        </p:txBody>
      </p:sp>
      <p:sp>
        <p:nvSpPr>
          <p:cNvPr id="3" name="Subtitle 2">
            <a:extLst>
              <a:ext uri="{FF2B5EF4-FFF2-40B4-BE49-F238E27FC236}">
                <a16:creationId xmlns:a16="http://schemas.microsoft.com/office/drawing/2014/main" id="{14DA7B61-3C0F-3956-10B3-C8BB0B4215FB}"/>
              </a:ext>
            </a:extLst>
          </p:cNvPr>
          <p:cNvSpPr>
            <a:spLocks noGrp="1"/>
          </p:cNvSpPr>
          <p:nvPr>
            <p:ph type="subTitle" idx="1"/>
          </p:nvPr>
        </p:nvSpPr>
        <p:spPr>
          <a:xfrm>
            <a:off x="599227" y="3296724"/>
            <a:ext cx="10993546" cy="590321"/>
          </a:xfrm>
        </p:spPr>
        <p:txBody>
          <a:bodyPr>
            <a:noAutofit/>
          </a:bodyPr>
          <a:lstStyle/>
          <a:p>
            <a:r>
              <a:rPr lang="en-IN" sz="2000" dirty="0">
                <a:solidFill>
                  <a:schemeClr val="tx1"/>
                </a:solidFill>
              </a:rPr>
              <a:t>Course outcome: </a:t>
            </a:r>
          </a:p>
          <a:p>
            <a:r>
              <a:rPr lang="en-IN" dirty="0">
                <a:solidFill>
                  <a:schemeClr val="tx1"/>
                </a:solidFill>
              </a:rPr>
              <a:t>To gain fundamental understanding of Probability, conditional probability and Bayes theorem.</a:t>
            </a:r>
            <a:endParaRPr lang="en-IN" sz="2000" dirty="0">
              <a:solidFill>
                <a:schemeClr val="tx1"/>
              </a:solidFill>
            </a:endParaRPr>
          </a:p>
        </p:txBody>
      </p:sp>
    </p:spTree>
    <p:extLst>
      <p:ext uri="{BB962C8B-B14F-4D97-AF65-F5344CB8AC3E}">
        <p14:creationId xmlns:p14="http://schemas.microsoft.com/office/powerpoint/2010/main" val="2867277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7AE17-9A9C-DCBE-D00C-C3302521CC10}"/>
              </a:ext>
            </a:extLst>
          </p:cNvPr>
          <p:cNvSpPr>
            <a:spLocks noGrp="1"/>
          </p:cNvSpPr>
          <p:nvPr>
            <p:ph type="title"/>
          </p:nvPr>
        </p:nvSpPr>
        <p:spPr/>
        <p:txBody>
          <a:bodyPr/>
          <a:lstStyle/>
          <a:p>
            <a:r>
              <a:rPr lang="en-IN" dirty="0">
                <a:solidFill>
                  <a:srgbClr val="002060"/>
                </a:solidFill>
              </a:rPr>
              <a:t>Module Contents: </a:t>
            </a:r>
          </a:p>
        </p:txBody>
      </p:sp>
      <p:graphicFrame>
        <p:nvGraphicFramePr>
          <p:cNvPr id="4" name="Content Placeholder 3">
            <a:extLst>
              <a:ext uri="{FF2B5EF4-FFF2-40B4-BE49-F238E27FC236}">
                <a16:creationId xmlns:a16="http://schemas.microsoft.com/office/drawing/2014/main" id="{BDA69BFE-089F-6074-3F03-CD94F9A2366B}"/>
              </a:ext>
            </a:extLst>
          </p:cNvPr>
          <p:cNvGraphicFramePr>
            <a:graphicFrameLocks noGrp="1"/>
          </p:cNvGraphicFramePr>
          <p:nvPr>
            <p:ph idx="1"/>
            <p:extLst>
              <p:ext uri="{D42A27DB-BD31-4B8C-83A1-F6EECF244321}">
                <p14:modId xmlns:p14="http://schemas.microsoft.com/office/powerpoint/2010/main" val="414584076"/>
              </p:ext>
            </p:extLst>
          </p:nvPr>
        </p:nvGraphicFramePr>
        <p:xfrm>
          <a:off x="434084" y="2129399"/>
          <a:ext cx="11323831" cy="2419741"/>
        </p:xfrm>
        <a:graphic>
          <a:graphicData uri="http://schemas.openxmlformats.org/drawingml/2006/table">
            <a:tbl>
              <a:tblPr bandRow="1">
                <a:tableStyleId>{5C22544A-7EE6-4342-B048-85BDC9FD1C3A}</a:tableStyleId>
              </a:tblPr>
              <a:tblGrid>
                <a:gridCol w="11323831">
                  <a:extLst>
                    <a:ext uri="{9D8B030D-6E8A-4147-A177-3AD203B41FA5}">
                      <a16:colId xmlns:a16="http://schemas.microsoft.com/office/drawing/2014/main" val="2647645896"/>
                    </a:ext>
                  </a:extLst>
                </a:gridCol>
              </a:tblGrid>
              <a:tr h="632715">
                <a:tc>
                  <a:txBody>
                    <a:bodyPr/>
                    <a:lstStyle/>
                    <a:p>
                      <a:pPr marL="342900" indent="-342900">
                        <a:spcAft>
                          <a:spcPts val="0"/>
                        </a:spcAft>
                        <a:buFont typeface="Wingdings" panose="05000000000000000000" pitchFamily="2" charset="2"/>
                        <a:buChar char="v"/>
                      </a:pPr>
                      <a:r>
                        <a:rPr lang="en-IN" sz="2400" dirty="0">
                          <a:effectLst/>
                          <a:latin typeface="Cambria" panose="02040503050406030204" pitchFamily="18" charset="0"/>
                          <a:ea typeface="Cambria" panose="02040503050406030204" pitchFamily="18" charset="0"/>
                          <a:cs typeface="Trebuchet MS" panose="020B0603020202020204" pitchFamily="34" charset="0"/>
                        </a:rPr>
                        <a:t>Probability Theory: Sample space, Events, Different approaches to probability</a:t>
                      </a:r>
                    </a:p>
                  </a:txBody>
                  <a:tcPr marL="68580" marR="68580" marT="0" marB="0"/>
                </a:tc>
                <a:extLst>
                  <a:ext uri="{0D108BD9-81ED-4DB2-BD59-A6C34878D82A}">
                    <a16:rowId xmlns:a16="http://schemas.microsoft.com/office/drawing/2014/main" val="691095365"/>
                  </a:ext>
                </a:extLst>
              </a:tr>
              <a:tr h="503522">
                <a:tc>
                  <a:txBody>
                    <a:bodyPr/>
                    <a:lstStyle/>
                    <a:p>
                      <a:pPr marL="342900" indent="-342900">
                        <a:spcAft>
                          <a:spcPts val="0"/>
                        </a:spcAft>
                        <a:buFont typeface="Wingdings" panose="05000000000000000000" pitchFamily="2" charset="2"/>
                        <a:buChar char="v"/>
                      </a:pPr>
                      <a:r>
                        <a:rPr lang="en-IN" sz="2400" dirty="0">
                          <a:effectLst/>
                          <a:latin typeface="Cambria" panose="02040503050406030204" pitchFamily="18" charset="0"/>
                          <a:ea typeface="Cambria" panose="02040503050406030204" pitchFamily="18" charset="0"/>
                          <a:cs typeface="Trebuchet MS" panose="020B0603020202020204" pitchFamily="34" charset="0"/>
                        </a:rPr>
                        <a:t>Addition and multiplication theorems on probability</a:t>
                      </a:r>
                    </a:p>
                  </a:txBody>
                  <a:tcPr marL="68580" marR="68580" marT="0" marB="0"/>
                </a:tc>
                <a:extLst>
                  <a:ext uri="{0D108BD9-81ED-4DB2-BD59-A6C34878D82A}">
                    <a16:rowId xmlns:a16="http://schemas.microsoft.com/office/drawing/2014/main" val="1816985992"/>
                  </a:ext>
                </a:extLst>
              </a:tr>
              <a:tr h="755569">
                <a:tc>
                  <a:txBody>
                    <a:bodyPr/>
                    <a:lstStyle/>
                    <a:p>
                      <a:pPr marL="342900" indent="-342900">
                        <a:spcAft>
                          <a:spcPts val="0"/>
                        </a:spcAft>
                        <a:buFont typeface="Wingdings" panose="05000000000000000000" pitchFamily="2" charset="2"/>
                        <a:buChar char="v"/>
                      </a:pPr>
                      <a:r>
                        <a:rPr lang="en-IN" sz="2400" dirty="0">
                          <a:effectLst/>
                          <a:latin typeface="Cambria" panose="02040503050406030204" pitchFamily="18" charset="0"/>
                          <a:ea typeface="Cambria" panose="02040503050406030204" pitchFamily="18" charset="0"/>
                          <a:cs typeface="Trebuchet MS" panose="020B0603020202020204" pitchFamily="34" charset="0"/>
                        </a:rPr>
                        <a:t>Independent events, Conditional probability, Bayes Theorem</a:t>
                      </a:r>
                    </a:p>
                  </a:txBody>
                  <a:tcPr marL="68580" marR="68580" marT="0" marB="0"/>
                </a:tc>
                <a:extLst>
                  <a:ext uri="{0D108BD9-81ED-4DB2-BD59-A6C34878D82A}">
                    <a16:rowId xmlns:a16="http://schemas.microsoft.com/office/drawing/2014/main" val="1202569299"/>
                  </a:ext>
                </a:extLst>
              </a:tr>
              <a:tr h="527935">
                <a:tc>
                  <a:txBody>
                    <a:bodyPr/>
                    <a:lstStyle/>
                    <a:p>
                      <a:pPr marL="0" indent="0">
                        <a:spcAft>
                          <a:spcPts val="0"/>
                        </a:spcAft>
                        <a:buFont typeface="Wingdings" panose="05000000000000000000" pitchFamily="2" charset="2"/>
                        <a:buNone/>
                      </a:pPr>
                      <a:endParaRPr lang="en-IN" sz="2400" dirty="0">
                        <a:effectLst/>
                        <a:latin typeface="Cambria" panose="02040503050406030204" pitchFamily="18" charset="0"/>
                        <a:ea typeface="Cambria" panose="02040503050406030204" pitchFamily="18" charset="0"/>
                        <a:cs typeface="Trebuchet MS" panose="020B0603020202020204" pitchFamily="34" charset="0"/>
                      </a:endParaRPr>
                    </a:p>
                  </a:txBody>
                  <a:tcPr marL="68580" marR="68580" marT="0" marB="0"/>
                </a:tc>
                <a:extLst>
                  <a:ext uri="{0D108BD9-81ED-4DB2-BD59-A6C34878D82A}">
                    <a16:rowId xmlns:a16="http://schemas.microsoft.com/office/drawing/2014/main" val="1853575705"/>
                  </a:ext>
                </a:extLst>
              </a:tr>
            </a:tbl>
          </a:graphicData>
        </a:graphic>
      </p:graphicFrame>
    </p:spTree>
    <p:extLst>
      <p:ext uri="{BB962C8B-B14F-4D97-AF65-F5344CB8AC3E}">
        <p14:creationId xmlns:p14="http://schemas.microsoft.com/office/powerpoint/2010/main" val="2101475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Probability</a:t>
            </a:r>
            <a:endParaRPr lang="en-IN" dirty="0">
              <a:solidFill>
                <a:srgbClr val="002060"/>
              </a:solidFill>
            </a:endParaRPr>
          </a:p>
        </p:txBody>
      </p:sp>
      <p:sp>
        <p:nvSpPr>
          <p:cNvPr id="3" name="Content Placeholder 2"/>
          <p:cNvSpPr>
            <a:spLocks noGrp="1"/>
          </p:cNvSpPr>
          <p:nvPr>
            <p:ph idx="1"/>
          </p:nvPr>
        </p:nvSpPr>
        <p:spPr>
          <a:xfrm>
            <a:off x="677333" y="2064470"/>
            <a:ext cx="10747953" cy="1904216"/>
          </a:xfrm>
        </p:spPr>
        <p:txBody>
          <a:bodyPr/>
          <a:lstStyle/>
          <a:p>
            <a:r>
              <a:rPr lang="en-US" b="1" dirty="0">
                <a:latin typeface="Times New Roman" panose="02020603050405020304" pitchFamily="18" charset="0"/>
                <a:cs typeface="Times New Roman" panose="02020603050405020304" pitchFamily="18" charset="0"/>
              </a:rPr>
              <a:t>Probability</a:t>
            </a:r>
            <a:r>
              <a:rPr lang="en-US" dirty="0">
                <a:latin typeface="Times New Roman" panose="02020603050405020304" pitchFamily="18" charset="0"/>
                <a:cs typeface="Times New Roman" panose="02020603050405020304" pitchFamily="18" charset="0"/>
              </a:rPr>
              <a:t> is the branch of mathematics concerning numerical descriptions of how likely an event is to occur, or how likely it is that a proposition is true. </a:t>
            </a:r>
          </a:p>
          <a:p>
            <a:r>
              <a:rPr lang="en-US" dirty="0">
                <a:latin typeface="Times New Roman" panose="02020603050405020304" pitchFamily="18" charset="0"/>
                <a:cs typeface="Times New Roman" panose="02020603050405020304" pitchFamily="18" charset="0"/>
              </a:rPr>
              <a:t>The probability of an event is a number between 0 and 1, </a:t>
            </a:r>
          </a:p>
          <a:p>
            <a:pPr lvl="1"/>
            <a:r>
              <a:rPr lang="en-US" dirty="0">
                <a:latin typeface="Times New Roman" panose="02020603050405020304" pitchFamily="18" charset="0"/>
                <a:cs typeface="Times New Roman" panose="02020603050405020304" pitchFamily="18" charset="0"/>
              </a:rPr>
              <a:t>0 indicates impossibility of the event </a:t>
            </a:r>
          </a:p>
          <a:p>
            <a:pPr lvl="1"/>
            <a:r>
              <a:rPr lang="en-US" dirty="0">
                <a:latin typeface="Times New Roman" panose="02020603050405020304" pitchFamily="18" charset="0"/>
                <a:cs typeface="Times New Roman" panose="02020603050405020304" pitchFamily="18" charset="0"/>
              </a:rPr>
              <a:t>1 indicates certainty (sure)</a:t>
            </a:r>
          </a:p>
          <a:p>
            <a:endParaRPr lang="en-IN" dirty="0">
              <a:latin typeface="Times New Roman" panose="02020603050405020304" pitchFamily="18" charset="0"/>
              <a:cs typeface="Times New Roman" panose="02020603050405020304" pitchFamily="18" charset="0"/>
            </a:endParaRPr>
          </a:p>
        </p:txBody>
      </p:sp>
      <p:sp>
        <p:nvSpPr>
          <p:cNvPr id="4" name="AutoShape 2" descr="Probabil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stretch>
            <a:fillRect/>
          </a:stretch>
        </p:blipFill>
        <p:spPr>
          <a:xfrm>
            <a:off x="2382116" y="3700376"/>
            <a:ext cx="5943780" cy="2340986"/>
          </a:xfrm>
          <a:prstGeom prst="rect">
            <a:avLst/>
          </a:prstGeom>
        </p:spPr>
      </p:pic>
    </p:spTree>
    <p:extLst>
      <p:ext uri="{BB962C8B-B14F-4D97-AF65-F5344CB8AC3E}">
        <p14:creationId xmlns:p14="http://schemas.microsoft.com/office/powerpoint/2010/main" val="2412830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9626163" cy="851555"/>
          </a:xfrm>
        </p:spPr>
        <p:txBody>
          <a:bodyPr>
            <a:normAutofit/>
          </a:bodyPr>
          <a:lstStyle/>
          <a:p>
            <a:r>
              <a:rPr lang="en-US" dirty="0">
                <a:solidFill>
                  <a:srgbClr val="002060"/>
                </a:solidFill>
              </a:rPr>
              <a:t>Random Experiment, Sample space &amp; Events</a:t>
            </a:r>
            <a:endParaRPr lang="en-IN" dirty="0">
              <a:solidFill>
                <a:srgbClr val="002060"/>
              </a:solidFill>
            </a:endParaRPr>
          </a:p>
        </p:txBody>
      </p:sp>
      <p:sp>
        <p:nvSpPr>
          <p:cNvPr id="3" name="Content Placeholder 2"/>
          <p:cNvSpPr>
            <a:spLocks noGrp="1"/>
          </p:cNvSpPr>
          <p:nvPr>
            <p:ph idx="1"/>
          </p:nvPr>
        </p:nvSpPr>
        <p:spPr>
          <a:xfrm>
            <a:off x="677333" y="2004549"/>
            <a:ext cx="9937247" cy="4110962"/>
          </a:xfrm>
        </p:spPr>
        <p:txBody>
          <a:bodyPr>
            <a:noAutofit/>
          </a:bodyPr>
          <a:lstStyle/>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random experiment</a:t>
            </a:r>
            <a:r>
              <a:rPr lang="en-US" sz="2000" dirty="0">
                <a:latin typeface="Times New Roman" panose="02020603050405020304" pitchFamily="18" charset="0"/>
                <a:cs typeface="Times New Roman" panose="02020603050405020304" pitchFamily="18" charset="0"/>
              </a:rPr>
              <a:t> is an </a:t>
            </a:r>
            <a:r>
              <a:rPr lang="en-US" sz="2000" b="1" dirty="0">
                <a:latin typeface="Times New Roman" panose="02020603050405020304" pitchFamily="18" charset="0"/>
                <a:cs typeface="Times New Roman" panose="02020603050405020304" pitchFamily="18" charset="0"/>
              </a:rPr>
              <a:t>experiment</a:t>
            </a:r>
            <a:r>
              <a:rPr lang="en-US" sz="2000" dirty="0">
                <a:latin typeface="Times New Roman" panose="02020603050405020304" pitchFamily="18" charset="0"/>
                <a:cs typeface="Times New Roman" panose="02020603050405020304" pitchFamily="18" charset="0"/>
              </a:rPr>
              <a:t> or a process (which can be repeated under same conditions any number of times) for which the outcome cannot be predicted with certainty. </a:t>
            </a:r>
          </a:p>
          <a:p>
            <a:pPr lvl="1"/>
            <a:r>
              <a:rPr lang="en-US" sz="2000" dirty="0">
                <a:latin typeface="Times New Roman" panose="02020603050405020304" pitchFamily="18" charset="0"/>
                <a:cs typeface="Times New Roman" panose="02020603050405020304" pitchFamily="18" charset="0"/>
              </a:rPr>
              <a:t>Tossing a coin</a:t>
            </a:r>
          </a:p>
          <a:p>
            <a:pPr lvl="1"/>
            <a:r>
              <a:rPr lang="en-US" sz="2000" dirty="0">
                <a:latin typeface="Times New Roman" panose="02020603050405020304" pitchFamily="18" charset="0"/>
                <a:cs typeface="Times New Roman" panose="02020603050405020304" pitchFamily="18" charset="0"/>
              </a:rPr>
              <a:t>Picking a card</a:t>
            </a:r>
          </a:p>
          <a:p>
            <a:r>
              <a:rPr lang="en-US" sz="2000" dirty="0">
                <a:solidFill>
                  <a:srgbClr val="FF0000"/>
                </a:solidFill>
                <a:latin typeface="Times New Roman" panose="02020603050405020304" pitchFamily="18" charset="0"/>
                <a:cs typeface="Times New Roman" panose="02020603050405020304" pitchFamily="18" charset="0"/>
              </a:rPr>
              <a:t>Event</a:t>
            </a:r>
            <a:r>
              <a:rPr lang="en-US" sz="2000" dirty="0">
                <a:latin typeface="Times New Roman" panose="02020603050405020304" pitchFamily="18" charset="0"/>
                <a:cs typeface="Times New Roman" panose="02020603050405020304" pitchFamily="18" charset="0"/>
              </a:rPr>
              <a:t> is one (or more) outcomes of a random experiment.</a:t>
            </a:r>
          </a:p>
          <a:p>
            <a:pPr lvl="1"/>
            <a:r>
              <a:rPr lang="en-US" sz="2000" dirty="0">
                <a:latin typeface="Times New Roman" panose="02020603050405020304" pitchFamily="18" charset="0"/>
                <a:cs typeface="Times New Roman" panose="02020603050405020304" pitchFamily="18" charset="0"/>
              </a:rPr>
              <a:t>"The 5 of Hearts" (1 element)</a:t>
            </a:r>
          </a:p>
          <a:p>
            <a:pPr lvl="1"/>
            <a:r>
              <a:rPr lang="en-US" sz="2000" dirty="0">
                <a:latin typeface="Times New Roman" panose="02020603050405020304" pitchFamily="18" charset="0"/>
                <a:cs typeface="Times New Roman" panose="02020603050405020304" pitchFamily="18" charset="0"/>
              </a:rPr>
              <a:t>"A King" (4 elements)</a:t>
            </a:r>
          </a:p>
          <a:p>
            <a:pPr lvl="1"/>
            <a:r>
              <a:rPr lang="en-US" sz="2000" dirty="0">
                <a:latin typeface="Times New Roman" panose="02020603050405020304" pitchFamily="18" charset="0"/>
                <a:cs typeface="Times New Roman" panose="02020603050405020304" pitchFamily="18" charset="0"/>
              </a:rPr>
              <a:t>"A Face card" (12 elements)</a:t>
            </a:r>
          </a:p>
          <a:p>
            <a:pPr lvl="1"/>
            <a:r>
              <a:rPr lang="en-US" sz="2000" dirty="0">
                <a:latin typeface="Times New Roman" panose="02020603050405020304" pitchFamily="18" charset="0"/>
                <a:cs typeface="Times New Roman" panose="02020603050405020304" pitchFamily="18" charset="0"/>
              </a:rPr>
              <a:t>"A Spade" (13 elements)</a:t>
            </a:r>
          </a:p>
          <a:p>
            <a:r>
              <a:rPr lang="en-US" sz="2000" dirty="0">
                <a:latin typeface="Times New Roman" panose="02020603050405020304" pitchFamily="18" charset="0"/>
                <a:cs typeface="Times New Roman" panose="02020603050405020304" pitchFamily="18" charset="0"/>
              </a:rPr>
              <a:t>A</a:t>
            </a:r>
            <a:r>
              <a:rPr lang="en-US" sz="2000" dirty="0">
                <a:solidFill>
                  <a:srgbClr val="FF0000"/>
                </a:solidFill>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sample space </a:t>
            </a:r>
            <a:r>
              <a:rPr lang="en-US" sz="2000" b="1" dirty="0">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is a collection or a set of possible outcomes of a random experiment. </a:t>
            </a:r>
            <a:endParaRPr lang="en-IN"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720320" y="3032289"/>
            <a:ext cx="2065568" cy="2055482"/>
          </a:xfrm>
          <a:prstGeom prst="rect">
            <a:avLst/>
          </a:prstGeom>
        </p:spPr>
      </p:pic>
    </p:spTree>
    <p:extLst>
      <p:ext uri="{BB962C8B-B14F-4D97-AF65-F5344CB8AC3E}">
        <p14:creationId xmlns:p14="http://schemas.microsoft.com/office/powerpoint/2010/main" val="283731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187" y="694441"/>
            <a:ext cx="8826884" cy="870408"/>
          </a:xfrm>
        </p:spPr>
        <p:txBody>
          <a:bodyPr/>
          <a:lstStyle/>
          <a:p>
            <a:r>
              <a:rPr lang="en-US" dirty="0">
                <a:solidFill>
                  <a:srgbClr val="002060"/>
                </a:solidFill>
              </a:rPr>
              <a:t>Sample space</a:t>
            </a:r>
            <a:endParaRPr lang="en-IN" dirty="0">
              <a:solidFill>
                <a:srgbClr val="002060"/>
              </a:solidFill>
            </a:endParaRPr>
          </a:p>
        </p:txBody>
      </p:sp>
      <p:pic>
        <p:nvPicPr>
          <p:cNvPr id="5" name="Picture 4"/>
          <p:cNvPicPr>
            <a:picLocks noChangeAspect="1"/>
          </p:cNvPicPr>
          <p:nvPr/>
        </p:nvPicPr>
        <p:blipFill>
          <a:blip r:embed="rId2"/>
          <a:stretch>
            <a:fillRect/>
          </a:stretch>
        </p:blipFill>
        <p:spPr>
          <a:xfrm>
            <a:off x="907396" y="1874473"/>
            <a:ext cx="9836568" cy="4673585"/>
          </a:xfrm>
          <a:prstGeom prst="rect">
            <a:avLst/>
          </a:prstGeom>
        </p:spPr>
      </p:pic>
    </p:spTree>
    <p:extLst>
      <p:ext uri="{BB962C8B-B14F-4D97-AF65-F5344CB8AC3E}">
        <p14:creationId xmlns:p14="http://schemas.microsoft.com/office/powerpoint/2010/main" val="1064222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Different  Types of Sample Space</a:t>
            </a:r>
          </a:p>
        </p:txBody>
      </p:sp>
      <p:sp>
        <p:nvSpPr>
          <p:cNvPr id="3" name="Content Placeholder 2"/>
          <p:cNvSpPr>
            <a:spLocks noGrp="1"/>
          </p:cNvSpPr>
          <p:nvPr>
            <p:ph idx="1"/>
          </p:nvPr>
        </p:nvSpPr>
        <p:spPr>
          <a:xfrm>
            <a:off x="1045588" y="1677139"/>
            <a:ext cx="8596668" cy="4459667"/>
          </a:xfrm>
        </p:spPr>
        <p:txBody>
          <a:bodyPr>
            <a:normAutofit/>
          </a:bodyPr>
          <a:lstStyle/>
          <a:p>
            <a:r>
              <a:rPr lang="en-US" dirty="0"/>
              <a:t>A sample space S can be  finite, countably infinite, uncountable infinite. </a:t>
            </a:r>
          </a:p>
          <a:p>
            <a:r>
              <a:rPr lang="en-US" dirty="0"/>
              <a:t>A sample space S is either discrete or continuous. </a:t>
            </a:r>
          </a:p>
          <a:p>
            <a:r>
              <a:rPr lang="en-US" dirty="0"/>
              <a:t>A discrete sample space S is either finite or countably infinite.</a:t>
            </a:r>
          </a:p>
          <a:p>
            <a:r>
              <a:rPr lang="en-US" dirty="0">
                <a:solidFill>
                  <a:srgbClr val="FF0000"/>
                </a:solidFill>
              </a:rPr>
              <a:t>Finite </a:t>
            </a:r>
            <a:r>
              <a:rPr lang="en-US" dirty="0"/>
              <a:t>S, e.g., </a:t>
            </a:r>
          </a:p>
          <a:p>
            <a:pPr lvl="1"/>
            <a:r>
              <a:rPr lang="en-US" dirty="0"/>
              <a:t>S = {1, 2, 3, 4, cos(</a:t>
            </a:r>
            <a:r>
              <a:rPr lang="el-GR" dirty="0"/>
              <a:t>π/6), </a:t>
            </a:r>
            <a:r>
              <a:rPr lang="en-US" dirty="0"/>
              <a:t>sin(</a:t>
            </a:r>
            <a:r>
              <a:rPr lang="el-GR" dirty="0"/>
              <a:t>π/3)}</a:t>
            </a:r>
            <a:r>
              <a:rPr lang="en-US" dirty="0"/>
              <a:t> </a:t>
            </a:r>
          </a:p>
          <a:p>
            <a:pPr lvl="1"/>
            <a:r>
              <a:rPr lang="en-US" dirty="0"/>
              <a:t>S = {T </a:t>
            </a:r>
            <a:r>
              <a:rPr lang="en-US" dirty="0" err="1"/>
              <a:t>T</a:t>
            </a:r>
            <a:r>
              <a:rPr lang="en-US" dirty="0"/>
              <a:t>, T H, HT, HH}</a:t>
            </a:r>
          </a:p>
          <a:p>
            <a:r>
              <a:rPr lang="en-US" dirty="0">
                <a:solidFill>
                  <a:srgbClr val="FF0000"/>
                </a:solidFill>
              </a:rPr>
              <a:t>Countably infinite </a:t>
            </a:r>
            <a:r>
              <a:rPr lang="en-US" dirty="0"/>
              <a:t>S, e.g., </a:t>
            </a:r>
          </a:p>
          <a:p>
            <a:pPr lvl="1"/>
            <a:r>
              <a:rPr lang="en-US" dirty="0"/>
              <a:t>S = {0, 1, 2, 3, ...}</a:t>
            </a:r>
          </a:p>
          <a:p>
            <a:pPr lvl="1"/>
            <a:r>
              <a:rPr lang="en-US" dirty="0"/>
              <a:t>S = {T, HT, HHT, HHHT, ...}.</a:t>
            </a:r>
          </a:p>
          <a:p>
            <a:r>
              <a:rPr lang="en-US" dirty="0"/>
              <a:t>A continuous sample space S is </a:t>
            </a:r>
            <a:r>
              <a:rPr lang="en-US" dirty="0">
                <a:solidFill>
                  <a:srgbClr val="FF0000"/>
                </a:solidFill>
              </a:rPr>
              <a:t>Uncountable infinite</a:t>
            </a:r>
          </a:p>
          <a:p>
            <a:pPr lvl="1"/>
            <a:r>
              <a:rPr lang="en-US" dirty="0"/>
              <a:t>e.g., S = {θ : 0 </a:t>
            </a:r>
            <a:r>
              <a:rPr lang="en-US" u="sng" dirty="0"/>
              <a:t>&lt;</a:t>
            </a:r>
            <a:r>
              <a:rPr lang="en-US" dirty="0"/>
              <a:t> θ </a:t>
            </a:r>
            <a:r>
              <a:rPr lang="en-US" u="sng" dirty="0"/>
              <a:t>&lt;</a:t>
            </a:r>
            <a:r>
              <a:rPr lang="en-US" dirty="0"/>
              <a:t> 2π}</a:t>
            </a:r>
          </a:p>
        </p:txBody>
      </p:sp>
    </p:spTree>
    <p:extLst>
      <p:ext uri="{BB962C8B-B14F-4D97-AF65-F5344CB8AC3E}">
        <p14:creationId xmlns:p14="http://schemas.microsoft.com/office/powerpoint/2010/main" val="2516486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5944" y="526272"/>
            <a:ext cx="3357456" cy="1320800"/>
          </a:xfrm>
        </p:spPr>
        <p:txBody>
          <a:bodyPr/>
          <a:lstStyle/>
          <a:p>
            <a:pPr algn="ctr"/>
            <a:r>
              <a:rPr lang="en-US" dirty="0">
                <a:solidFill>
                  <a:srgbClr val="002060"/>
                </a:solidFill>
              </a:rPr>
              <a:t>Types of Events</a:t>
            </a:r>
            <a:endParaRPr lang="en-IN" dirty="0">
              <a:solidFill>
                <a:srgbClr val="002060"/>
              </a:solidFill>
            </a:endParaRPr>
          </a:p>
        </p:txBody>
      </p:sp>
      <p:sp>
        <p:nvSpPr>
          <p:cNvPr id="3" name="Content Placeholder 2"/>
          <p:cNvSpPr>
            <a:spLocks noGrp="1"/>
          </p:cNvSpPr>
          <p:nvPr>
            <p:ph idx="1"/>
          </p:nvPr>
        </p:nvSpPr>
        <p:spPr>
          <a:xfrm>
            <a:off x="820521" y="1847072"/>
            <a:ext cx="9155770" cy="3441365"/>
          </a:xfrm>
        </p:spPr>
        <p:txBody>
          <a:bodyPr>
            <a:normAutofit/>
          </a:bodyPr>
          <a:lstStyle/>
          <a:p>
            <a:r>
              <a:rPr lang="en-IN" dirty="0">
                <a:solidFill>
                  <a:srgbClr val="FF0000"/>
                </a:solidFill>
              </a:rPr>
              <a:t>Null Event</a:t>
            </a:r>
            <a:r>
              <a:rPr lang="en-IN" dirty="0"/>
              <a:t>:</a:t>
            </a:r>
          </a:p>
          <a:p>
            <a:endParaRPr lang="en-IN" dirty="0"/>
          </a:p>
          <a:p>
            <a:r>
              <a:rPr lang="en-IN" dirty="0">
                <a:solidFill>
                  <a:srgbClr val="FF0000"/>
                </a:solidFill>
              </a:rPr>
              <a:t>Simple event </a:t>
            </a:r>
            <a:r>
              <a:rPr lang="en-IN" dirty="0"/>
              <a:t>: </a:t>
            </a:r>
            <a:r>
              <a:rPr lang="en-US" dirty="0"/>
              <a:t>Any event consisting of a single point of the sample space. </a:t>
            </a:r>
          </a:p>
          <a:p>
            <a:pPr lvl="1"/>
            <a:r>
              <a:rPr lang="en-US" dirty="0"/>
              <a:t>Ex: S={1,2,3,4,5,6} E={5}</a:t>
            </a:r>
          </a:p>
          <a:p>
            <a:r>
              <a:rPr lang="en-US" dirty="0">
                <a:solidFill>
                  <a:srgbClr val="FF0000"/>
                </a:solidFill>
              </a:rPr>
              <a:t>Compound Events</a:t>
            </a:r>
            <a:r>
              <a:rPr lang="en-US" dirty="0"/>
              <a:t>: If any event consists of more than one single point of the sample space</a:t>
            </a:r>
          </a:p>
          <a:p>
            <a:pPr lvl="1"/>
            <a:r>
              <a:rPr lang="en-US" dirty="0"/>
              <a:t>Ex: S={1,2,3,4,5,6} E={2,3,5}</a:t>
            </a:r>
          </a:p>
          <a:p>
            <a:pPr marL="324000" lvl="1" indent="0">
              <a:buNone/>
            </a:pPr>
            <a:endParaRPr lang="en-US" dirty="0"/>
          </a:p>
          <a:p>
            <a:endParaRPr lang="en-IN" dirty="0"/>
          </a:p>
        </p:txBody>
      </p:sp>
      <p:sp>
        <p:nvSpPr>
          <p:cNvPr id="4" name="Rectangle 1"/>
          <p:cNvSpPr>
            <a:spLocks noChangeArrowheads="1"/>
          </p:cNvSpPr>
          <p:nvPr/>
        </p:nvSpPr>
        <p:spPr bwMode="auto">
          <a:xfrm>
            <a:off x="1885928" y="2301809"/>
            <a:ext cx="107831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Verdana" panose="020B0604030504040204" pitchFamily="34" charset="0"/>
              </a:rPr>
              <a:t> (  </a:t>
            </a:r>
            <a:r>
              <a:rPr kumimoji="0" lang="en-US" altLang="en-US" sz="700" b="1" i="0" u="none" strike="noStrike" cap="none" normalizeH="0" baseline="0" dirty="0">
                <a:ln>
                  <a:noFill/>
                </a:ln>
                <a:solidFill>
                  <a:srgbClr val="000000"/>
                </a:solidFill>
                <a:effectLst/>
                <a:latin typeface="Verdana" panose="020B0604030504040204" pitchFamily="34" charset="0"/>
              </a:rPr>
              <a:t> </a:t>
            </a:r>
            <a:r>
              <a:rPr kumimoji="0" lang="en-US" altLang="en-US" sz="1800" b="1" i="0" u="none" strike="noStrike" cap="none" normalizeH="0" baseline="0" dirty="0">
                <a:ln>
                  <a:noFill/>
                </a:ln>
                <a:solidFill>
                  <a:srgbClr val="000000"/>
                </a:solidFill>
                <a:effectLst/>
                <a:latin typeface="Verdana" panose="020B0604030504040204" pitchFamily="34" charset="0"/>
              </a:rPr>
              <a:t>)</a:t>
            </a:r>
            <a:r>
              <a:rPr kumimoji="0" lang="en-US" altLang="en-US" sz="1800" b="0" i="0" u="none" strike="noStrike" cap="none" normalizeH="0" baseline="0" dirty="0">
                <a:ln>
                  <a:noFill/>
                </a:ln>
                <a:solidFill>
                  <a:srgbClr val="000000"/>
                </a:solidFill>
                <a:effectLst/>
                <a:latin typeface="Verdana" panose="020B0604030504040204" pitchFamily="34" charset="0"/>
              </a:rPr>
              <a:t>: A null event is an empty set, and has no outcomes.</a:t>
            </a:r>
            <a:r>
              <a:rPr kumimoji="0" lang="en-US" altLang="en-US" sz="1800" b="0" i="0" u="none" strike="noStrike" cap="none" normalizeH="0" baseline="0" dirty="0">
                <a:ln>
                  <a:noFill/>
                </a:ln>
                <a:solidFill>
                  <a:schemeClr val="tx1"/>
                </a:solidFill>
                <a:effectLst/>
              </a:rPr>
              <a:t> </a:t>
            </a:r>
            <a:endParaRPr kumimoji="0" lang="en-US" altLang="en-US" sz="1800" b="1" i="0" u="none" strike="noStrike" cap="none" normalizeH="0" baseline="0" dirty="0">
              <a:ln>
                <a:noFill/>
              </a:ln>
              <a:solidFill>
                <a:srgbClr val="000000"/>
              </a:solidFill>
              <a:effectLst/>
              <a:latin typeface="Verdana" panose="020B0604030504040204" pitchFamily="34" charset="0"/>
            </a:endParaRPr>
          </a:p>
        </p:txBody>
      </p:sp>
      <p:pic>
        <p:nvPicPr>
          <p:cNvPr id="1026" name="Picture 2" descr="https://www.weibull.com/hotwire/issue25/null.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7679" y="2362278"/>
            <a:ext cx="156060" cy="156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63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additive="base">
                                        <p:cTn id="19" dur="500" fill="hold"/>
                                        <p:tgtEl>
                                          <p:spTgt spid="1026"/>
                                        </p:tgtEl>
                                        <p:attrNameLst>
                                          <p:attrName>ppt_x</p:attrName>
                                        </p:attrNameLst>
                                      </p:cBhvr>
                                      <p:tavLst>
                                        <p:tav tm="0">
                                          <p:val>
                                            <p:strVal val="#ppt_x"/>
                                          </p:val>
                                        </p:tav>
                                        <p:tav tm="100000">
                                          <p:val>
                                            <p:strVal val="#ppt_x"/>
                                          </p:val>
                                        </p:tav>
                                      </p:tavLst>
                                    </p:anim>
                                    <p:anim calcmode="lin" valueType="num">
                                      <p:cBhvr additive="base">
                                        <p:cTn id="20"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C23A9-7E02-D540-9C45-96502992D6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F79DCB-5D2B-2638-E7AC-85C90DD5CD35}"/>
              </a:ext>
            </a:extLst>
          </p:cNvPr>
          <p:cNvSpPr>
            <a:spLocks noGrp="1"/>
          </p:cNvSpPr>
          <p:nvPr>
            <p:ph idx="1"/>
          </p:nvPr>
        </p:nvSpPr>
        <p:spPr>
          <a:xfrm>
            <a:off x="864318" y="2505774"/>
            <a:ext cx="10463364" cy="3857319"/>
          </a:xfrm>
        </p:spPr>
        <p:txBody>
          <a:bodyPr>
            <a:normAutofit/>
          </a:bodyPr>
          <a:lstStyle/>
          <a:p>
            <a:r>
              <a:rPr lang="en-US" sz="2000" dirty="0">
                <a:solidFill>
                  <a:srgbClr val="FF0000"/>
                </a:solidFill>
              </a:rPr>
              <a:t>Independent Events and Dependent Events</a:t>
            </a:r>
            <a:r>
              <a:rPr lang="en-US" sz="2000" dirty="0"/>
              <a:t>: 	</a:t>
            </a:r>
          </a:p>
          <a:p>
            <a:pPr lvl="1"/>
            <a:r>
              <a:rPr lang="en-US" sz="2000" dirty="0"/>
              <a:t>If the occurrence of any event is completely unaffected by the occurrence of any other event, such events are known as an </a:t>
            </a:r>
            <a:r>
              <a:rPr lang="en-US" sz="2000" b="1" dirty="0"/>
              <a:t>independent event</a:t>
            </a:r>
            <a:r>
              <a:rPr lang="en-US" sz="2000" dirty="0"/>
              <a:t> </a:t>
            </a:r>
          </a:p>
          <a:p>
            <a:pPr lvl="2"/>
            <a:r>
              <a:rPr lang="en-US" sz="2000" dirty="0"/>
              <a:t>Ex: Tossing a coin 3 times to get a head in all three tosses</a:t>
            </a:r>
          </a:p>
          <a:p>
            <a:pPr lvl="1"/>
            <a:r>
              <a:rPr lang="en-US" sz="2000" dirty="0"/>
              <a:t>The events which are affected by other events are known as </a:t>
            </a:r>
            <a:r>
              <a:rPr lang="en-US" sz="2000" b="1" dirty="0"/>
              <a:t>dependent events</a:t>
            </a:r>
            <a:r>
              <a:rPr lang="en-US" sz="2000" dirty="0"/>
              <a:t>.</a:t>
            </a:r>
          </a:p>
          <a:p>
            <a:pPr lvl="2"/>
            <a:r>
              <a:rPr lang="en-US" sz="2000" dirty="0"/>
              <a:t>Ex: Drawing a King from a pack of cards 3 times</a:t>
            </a:r>
          </a:p>
          <a:p>
            <a:r>
              <a:rPr lang="en-US" sz="2000" dirty="0"/>
              <a:t>Replacement: When we put each card </a:t>
            </a:r>
            <a:r>
              <a:rPr lang="en-US" sz="2000" b="1" dirty="0"/>
              <a:t>back</a:t>
            </a:r>
            <a:r>
              <a:rPr lang="en-US" sz="2000" dirty="0"/>
              <a:t> after drawing it the chances don't change, as the events are </a:t>
            </a:r>
            <a:r>
              <a:rPr lang="en-US" sz="2000" b="1" dirty="0"/>
              <a:t>independent</a:t>
            </a:r>
            <a:r>
              <a:rPr lang="en-US" sz="2000" dirty="0"/>
              <a:t>.</a:t>
            </a:r>
          </a:p>
          <a:p>
            <a:r>
              <a:rPr lang="en-US" sz="2000" dirty="0"/>
              <a:t>Without Replacement: The chances will change, and the events are </a:t>
            </a:r>
            <a:r>
              <a:rPr lang="en-US" sz="2000" b="1" dirty="0"/>
              <a:t>dependent</a:t>
            </a:r>
            <a:r>
              <a:rPr lang="en-US" sz="2000" dirty="0"/>
              <a:t>.</a:t>
            </a:r>
          </a:p>
          <a:p>
            <a:pPr lvl="1"/>
            <a:endParaRPr lang="en-US" sz="2000" dirty="0"/>
          </a:p>
          <a:p>
            <a:endParaRPr lang="en-IN" sz="2000" dirty="0"/>
          </a:p>
        </p:txBody>
      </p:sp>
      <p:sp>
        <p:nvSpPr>
          <p:cNvPr id="4" name="Title 1">
            <a:extLst>
              <a:ext uri="{FF2B5EF4-FFF2-40B4-BE49-F238E27FC236}">
                <a16:creationId xmlns:a16="http://schemas.microsoft.com/office/drawing/2014/main" id="{8ED5C7C7-5431-4159-98AE-9992BC72CC76}"/>
              </a:ext>
            </a:extLst>
          </p:cNvPr>
          <p:cNvSpPr txBox="1">
            <a:spLocks/>
          </p:cNvSpPr>
          <p:nvPr/>
        </p:nvSpPr>
        <p:spPr>
          <a:xfrm>
            <a:off x="985944" y="526272"/>
            <a:ext cx="3357456" cy="1320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a:solidFill>
                  <a:srgbClr val="002060"/>
                </a:solidFill>
              </a:rPr>
              <a:t>Types of Events</a:t>
            </a:r>
            <a:endParaRPr lang="en-IN" dirty="0">
              <a:solidFill>
                <a:srgbClr val="002060"/>
              </a:solidFill>
            </a:endParaRPr>
          </a:p>
        </p:txBody>
      </p:sp>
    </p:spTree>
    <p:extLst>
      <p:ext uri="{BB962C8B-B14F-4D97-AF65-F5344CB8AC3E}">
        <p14:creationId xmlns:p14="http://schemas.microsoft.com/office/powerpoint/2010/main" val="287686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175" y="2872896"/>
            <a:ext cx="9972407" cy="3186260"/>
          </a:xfrm>
        </p:spPr>
        <p:txBody>
          <a:bodyPr>
            <a:noAutofit/>
          </a:bodyPr>
          <a:lstStyle/>
          <a:p>
            <a:r>
              <a:rPr lang="en-US" sz="2000" dirty="0">
                <a:solidFill>
                  <a:srgbClr val="FF0000"/>
                </a:solidFill>
              </a:rPr>
              <a:t>Complementary Events</a:t>
            </a:r>
          </a:p>
          <a:p>
            <a:pPr lvl="1"/>
            <a:r>
              <a:rPr lang="en-US" sz="2000" dirty="0"/>
              <a:t>For any event E</a:t>
            </a:r>
            <a:r>
              <a:rPr lang="en-US" sz="2000" baseline="-25000" dirty="0"/>
              <a:t>1</a:t>
            </a:r>
            <a:r>
              <a:rPr lang="en-US" sz="2000" dirty="0"/>
              <a:t> there exists another event E</a:t>
            </a:r>
            <a:r>
              <a:rPr lang="en-US" sz="2000" baseline="-25000" dirty="0"/>
              <a:t>1</a:t>
            </a:r>
            <a:r>
              <a:rPr lang="en-US" sz="2000" dirty="0"/>
              <a:t>’ or E</a:t>
            </a:r>
            <a:r>
              <a:rPr lang="en-US" sz="2000" baseline="-25000" dirty="0"/>
              <a:t>1</a:t>
            </a:r>
            <a:r>
              <a:rPr lang="en-US" sz="2000" baseline="30000" dirty="0"/>
              <a:t>c</a:t>
            </a:r>
            <a:r>
              <a:rPr lang="en-US" sz="2000" dirty="0"/>
              <a:t> which represents the remaining elements of the sample space S.</a:t>
            </a:r>
          </a:p>
          <a:p>
            <a:pPr lvl="2"/>
            <a:r>
              <a:rPr lang="en-US" sz="2000" dirty="0"/>
              <a:t>Ex: S={1,2,3,4,5,6}    E</a:t>
            </a:r>
            <a:r>
              <a:rPr lang="en-US" sz="2000" baseline="-25000" dirty="0"/>
              <a:t>1</a:t>
            </a:r>
            <a:r>
              <a:rPr lang="en-US" sz="2000" dirty="0"/>
              <a:t>={1,2,3}        E</a:t>
            </a:r>
            <a:r>
              <a:rPr lang="en-US" sz="2000" baseline="-25000" dirty="0"/>
              <a:t>1</a:t>
            </a:r>
            <a:r>
              <a:rPr lang="en-US" sz="2000" baseline="30000" dirty="0"/>
              <a:t>c</a:t>
            </a:r>
            <a:r>
              <a:rPr lang="en-US" sz="2000" dirty="0"/>
              <a:t> ={4,5,6}</a:t>
            </a:r>
          </a:p>
          <a:p>
            <a:r>
              <a:rPr lang="en-US" sz="2000" dirty="0">
                <a:solidFill>
                  <a:srgbClr val="FF0000"/>
                </a:solidFill>
              </a:rPr>
              <a:t>Equally likely Events</a:t>
            </a:r>
            <a:r>
              <a:rPr lang="en-US" sz="2000" dirty="0"/>
              <a:t>: The events which are random and have an equal likelihood of occurrence. </a:t>
            </a:r>
          </a:p>
          <a:p>
            <a:pPr lvl="1"/>
            <a:r>
              <a:rPr lang="en-US" sz="2000" dirty="0"/>
              <a:t>Ex: During a coin toss you are equally likely to get heads or tails.</a:t>
            </a:r>
          </a:p>
          <a:p>
            <a:r>
              <a:rPr lang="en-US" sz="2000" dirty="0" err="1"/>
              <a:t>Favourable</a:t>
            </a:r>
            <a:r>
              <a:rPr lang="en-US" sz="2000" dirty="0"/>
              <a:t> cases: The cases that ensure the occurrence of an event. </a:t>
            </a:r>
          </a:p>
          <a:p>
            <a:r>
              <a:rPr lang="en-US" sz="2000" dirty="0"/>
              <a:t>Ex: When a dice is thrown the </a:t>
            </a:r>
            <a:r>
              <a:rPr lang="en-US" sz="2000" dirty="0" err="1"/>
              <a:t>favourable</a:t>
            </a:r>
            <a:r>
              <a:rPr lang="en-US" sz="2000" dirty="0"/>
              <a:t> cases of getting an even number are{2,4,6}</a:t>
            </a:r>
          </a:p>
          <a:p>
            <a:endParaRPr lang="en-US" sz="2000" dirty="0"/>
          </a:p>
          <a:p>
            <a:endParaRPr lang="en-US" sz="2000" dirty="0"/>
          </a:p>
        </p:txBody>
      </p:sp>
      <p:sp>
        <p:nvSpPr>
          <p:cNvPr id="4" name="Title 1">
            <a:extLst>
              <a:ext uri="{FF2B5EF4-FFF2-40B4-BE49-F238E27FC236}">
                <a16:creationId xmlns:a16="http://schemas.microsoft.com/office/drawing/2014/main" id="{4D4872B9-55C1-4A39-B058-A5FD28AD3CAB}"/>
              </a:ext>
            </a:extLst>
          </p:cNvPr>
          <p:cNvSpPr txBox="1">
            <a:spLocks noGrp="1"/>
          </p:cNvSpPr>
          <p:nvPr>
            <p:ph type="title"/>
          </p:nvPr>
        </p:nvSpPr>
        <p:spPr>
          <a:xfrm>
            <a:off x="762001" y="666750"/>
            <a:ext cx="4095750" cy="1001713"/>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a:solidFill>
                  <a:srgbClr val="002060"/>
                </a:solidFill>
              </a:rPr>
              <a:t>Types of Events</a:t>
            </a:r>
            <a:endParaRPr lang="en-IN" dirty="0">
              <a:solidFill>
                <a:srgbClr val="002060"/>
              </a:solidFill>
            </a:endParaRPr>
          </a:p>
        </p:txBody>
      </p:sp>
    </p:spTree>
    <p:extLst>
      <p:ext uri="{BB962C8B-B14F-4D97-AF65-F5344CB8AC3E}">
        <p14:creationId xmlns:p14="http://schemas.microsoft.com/office/powerpoint/2010/main" val="4005893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232" y="540836"/>
            <a:ext cx="8596668" cy="1320800"/>
          </a:xfrm>
        </p:spPr>
        <p:txBody>
          <a:bodyPr>
            <a:normAutofit fontScale="90000"/>
          </a:bodyPr>
          <a:lstStyle/>
          <a:p>
            <a:r>
              <a:rPr lang="en-US" b="1" dirty="0">
                <a:solidFill>
                  <a:srgbClr val="002060"/>
                </a:solidFill>
              </a:rPr>
              <a:t>Mutually Exclusive &amp; Exhaustive Events</a:t>
            </a:r>
            <a:br>
              <a:rPr lang="en-US" b="1" dirty="0">
                <a:solidFill>
                  <a:srgbClr val="002060"/>
                </a:solidFill>
              </a:rPr>
            </a:br>
            <a:endParaRPr lang="en-US" dirty="0">
              <a:solidFill>
                <a:srgbClr val="002060"/>
              </a:solidFill>
            </a:endParaRPr>
          </a:p>
        </p:txBody>
      </p:sp>
      <p:sp>
        <p:nvSpPr>
          <p:cNvPr id="3" name="Content Placeholder 2"/>
          <p:cNvSpPr>
            <a:spLocks noGrp="1"/>
          </p:cNvSpPr>
          <p:nvPr>
            <p:ph idx="1"/>
          </p:nvPr>
        </p:nvSpPr>
        <p:spPr>
          <a:xfrm>
            <a:off x="74815" y="1991672"/>
            <a:ext cx="8077150" cy="4609575"/>
          </a:xfrm>
        </p:spPr>
        <p:txBody>
          <a:bodyPr>
            <a:normAutofit/>
          </a:bodyPr>
          <a:lstStyle/>
          <a:p>
            <a:r>
              <a:rPr lang="en-US" b="1" dirty="0">
                <a:solidFill>
                  <a:srgbClr val="FF0000"/>
                </a:solidFill>
              </a:rPr>
              <a:t>Mutually Exclusive</a:t>
            </a:r>
            <a:r>
              <a:rPr lang="en-US" dirty="0">
                <a:solidFill>
                  <a:srgbClr val="FF0000"/>
                </a:solidFill>
              </a:rPr>
              <a:t> </a:t>
            </a:r>
            <a:r>
              <a:rPr lang="en-US" dirty="0"/>
              <a:t>means we can't get both events at the same time.</a:t>
            </a:r>
          </a:p>
          <a:p>
            <a:r>
              <a:rPr lang="en-US" dirty="0">
                <a:solidFill>
                  <a:srgbClr val="FF0000"/>
                </a:solidFill>
              </a:rPr>
              <a:t>Exhaustive events</a:t>
            </a:r>
            <a:r>
              <a:rPr lang="en-US" dirty="0"/>
              <a:t>: When a sample space is distributed down into some mutually exclusive events such that their union forms the sample space itself, then such events are called exhaustive events.</a:t>
            </a:r>
          </a:p>
          <a:p>
            <a:r>
              <a:rPr lang="en-US" dirty="0"/>
              <a:t>When two or more events form the sample space collectively than it is known as collectively exhaustive events. </a:t>
            </a:r>
          </a:p>
          <a:p>
            <a:pPr lvl="1"/>
            <a:r>
              <a:rPr lang="en-US" dirty="0"/>
              <a:t>E1={H} E2={T}</a:t>
            </a:r>
          </a:p>
          <a:p>
            <a:r>
              <a:rPr lang="en-US" dirty="0"/>
              <a:t>Example:</a:t>
            </a:r>
          </a:p>
          <a:p>
            <a:pPr lvl="1"/>
            <a:r>
              <a:rPr lang="en-US" dirty="0"/>
              <a:t>Ex: S={1,2,3,4,5,6,7,8,9,10} </a:t>
            </a:r>
          </a:p>
          <a:p>
            <a:pPr lvl="1"/>
            <a:r>
              <a:rPr lang="en-US" dirty="0"/>
              <a:t>E1={1,3,5,7,9}</a:t>
            </a:r>
          </a:p>
          <a:p>
            <a:pPr lvl="1"/>
            <a:r>
              <a:rPr lang="en-US" dirty="0"/>
              <a:t>E2={2,4,6,8}</a:t>
            </a:r>
          </a:p>
          <a:p>
            <a:endParaRPr lang="en-US" dirty="0"/>
          </a:p>
        </p:txBody>
      </p:sp>
      <p:pic>
        <p:nvPicPr>
          <p:cNvPr id="5" name="Picture 4"/>
          <p:cNvPicPr>
            <a:picLocks noChangeAspect="1"/>
          </p:cNvPicPr>
          <p:nvPr/>
        </p:nvPicPr>
        <p:blipFill>
          <a:blip r:embed="rId2"/>
          <a:stretch>
            <a:fillRect/>
          </a:stretch>
        </p:blipFill>
        <p:spPr>
          <a:xfrm>
            <a:off x="8078611" y="1928383"/>
            <a:ext cx="3720276" cy="1995773"/>
          </a:xfrm>
          <a:prstGeom prst="rect">
            <a:avLst/>
          </a:prstGeom>
        </p:spPr>
      </p:pic>
      <p:pic>
        <p:nvPicPr>
          <p:cNvPr id="6" name="Picture 5"/>
          <p:cNvPicPr>
            <a:picLocks noChangeAspect="1"/>
          </p:cNvPicPr>
          <p:nvPr/>
        </p:nvPicPr>
        <p:blipFill>
          <a:blip r:embed="rId3"/>
          <a:stretch>
            <a:fillRect/>
          </a:stretch>
        </p:blipFill>
        <p:spPr>
          <a:xfrm>
            <a:off x="6019800" y="4057650"/>
            <a:ext cx="6172200" cy="2800350"/>
          </a:xfrm>
          <a:prstGeom prst="rect">
            <a:avLst/>
          </a:prstGeom>
        </p:spPr>
      </p:pic>
    </p:spTree>
    <p:extLst>
      <p:ext uri="{BB962C8B-B14F-4D97-AF65-F5344CB8AC3E}">
        <p14:creationId xmlns:p14="http://schemas.microsoft.com/office/powerpoint/2010/main" val="212838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additive="base">
                                        <p:cTn id="3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 calcmode="lin" valueType="num">
                                      <p:cBhvr additive="base">
                                        <p:cTn id="5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9DE92-D9AF-4FC0-A052-1383F534F23E}"/>
              </a:ext>
            </a:extLst>
          </p:cNvPr>
          <p:cNvSpPr>
            <a:spLocks noGrp="1"/>
          </p:cNvSpPr>
          <p:nvPr>
            <p:ph type="title"/>
          </p:nvPr>
        </p:nvSpPr>
        <p:spPr>
          <a:xfrm>
            <a:off x="581191" y="713586"/>
            <a:ext cx="11029616" cy="1013800"/>
          </a:xfrm>
        </p:spPr>
        <p:txBody>
          <a:bodyPr/>
          <a:lstStyle/>
          <a:p>
            <a:r>
              <a:rPr lang="en-US" dirty="0">
                <a:solidFill>
                  <a:srgbClr val="002060"/>
                </a:solidFill>
              </a:rPr>
              <a:t>SAMPLE SPACE EXERCISE</a:t>
            </a:r>
            <a:endParaRPr lang="en-IN" dirty="0">
              <a:solidFill>
                <a:srgbClr val="002060"/>
              </a:solidFill>
            </a:endParaRPr>
          </a:p>
        </p:txBody>
      </p:sp>
      <p:sp>
        <p:nvSpPr>
          <p:cNvPr id="3" name="Content Placeholder 2">
            <a:extLst>
              <a:ext uri="{FF2B5EF4-FFF2-40B4-BE49-F238E27FC236}">
                <a16:creationId xmlns:a16="http://schemas.microsoft.com/office/drawing/2014/main" id="{99A5DBF2-DC94-4754-A6B5-A6D2AD386520}"/>
              </a:ext>
            </a:extLst>
          </p:cNvPr>
          <p:cNvSpPr>
            <a:spLocks noGrp="1"/>
          </p:cNvSpPr>
          <p:nvPr>
            <p:ph idx="1"/>
          </p:nvPr>
        </p:nvSpPr>
        <p:spPr>
          <a:xfrm>
            <a:off x="581192" y="2180496"/>
            <a:ext cx="11029615" cy="4460334"/>
          </a:xfrm>
        </p:spPr>
        <p:txBody>
          <a:bodyPr>
            <a:normAutofit/>
          </a:bodyPr>
          <a:lstStyle/>
          <a:p>
            <a:pPr marL="342900" lvl="0" indent="-342900">
              <a:buFont typeface="+mj-lt"/>
              <a:buAutoNum type="arabicPeriod"/>
            </a:pPr>
            <a:r>
              <a:rPr lang="en-IN" dirty="0"/>
              <a:t>We toss a coin until we see two consecutive tails. We record the total number of coin tosses.</a:t>
            </a:r>
          </a:p>
          <a:p>
            <a:pPr marL="342900" indent="-342900">
              <a:buFont typeface="+mj-lt"/>
              <a:buAutoNum type="arabicPeriod"/>
            </a:pPr>
            <a:r>
              <a:rPr lang="en-IN" dirty="0"/>
              <a:t>A bag contains 44 balls: one is red, one is blue, one is white, and one is green. We choose two distinct balls and record their </a:t>
            </a:r>
            <a:r>
              <a:rPr lang="en-IN" dirty="0" err="1"/>
              <a:t>color</a:t>
            </a:r>
            <a:r>
              <a:rPr lang="en-IN" dirty="0"/>
              <a:t> in order.</a:t>
            </a:r>
          </a:p>
          <a:p>
            <a:pPr marL="342900" indent="-342900">
              <a:buFont typeface="+mj-lt"/>
              <a:buAutoNum type="arabicPeriod"/>
            </a:pPr>
            <a:r>
              <a:rPr lang="en-IN" dirty="0"/>
              <a:t> A customer arrives at a bank and waits in the line. We observe TT, which is the total time (in hours) that the customer waits in the line. The bank has a strict policy that no customer waits more than 20 minutes under any circumstances.</a:t>
            </a:r>
          </a:p>
          <a:p>
            <a:pPr marL="342900" indent="-342900">
              <a:buFont typeface="+mj-lt"/>
              <a:buAutoNum type="arabicPeriod"/>
            </a:pPr>
            <a:r>
              <a:rPr lang="en-IN" dirty="0"/>
              <a:t>Construct a sample space for the experiment that consists of rolling a single die. Find the events that correspond to the phrases “an even number is rolled” and “a number greater than two is rolled.”</a:t>
            </a:r>
          </a:p>
          <a:p>
            <a:pPr marL="342900" indent="-342900">
              <a:buFont typeface="+mj-lt"/>
              <a:buAutoNum type="arabicPeriod"/>
            </a:pPr>
            <a:r>
              <a:rPr lang="en-IN" dirty="0"/>
              <a:t>Construct a sample space that describes all three-child families according to the genders of the children with respect to birth order.</a:t>
            </a:r>
          </a:p>
          <a:p>
            <a:endParaRPr lang="en-IN" dirty="0"/>
          </a:p>
        </p:txBody>
      </p:sp>
    </p:spTree>
    <p:extLst>
      <p:ext uri="{BB962C8B-B14F-4D97-AF65-F5344CB8AC3E}">
        <p14:creationId xmlns:p14="http://schemas.microsoft.com/office/powerpoint/2010/main" val="336666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0984" y="5882326"/>
            <a:ext cx="8596668" cy="810705"/>
          </a:xfrm>
        </p:spPr>
        <p:txBody>
          <a:bodyPr>
            <a:normAutofit fontScale="90000"/>
          </a:bodyPr>
          <a:lstStyle/>
          <a:p>
            <a:pPr>
              <a:lnSpc>
                <a:spcPct val="150000"/>
              </a:lnSpc>
            </a:pPr>
            <a:r>
              <a:rPr lang="en-US" sz="3100" dirty="0">
                <a:solidFill>
                  <a:srgbClr val="4D2E9A"/>
                </a:solidFill>
              </a:rPr>
              <a:t>Classical Approach </a:t>
            </a:r>
            <a:br>
              <a:rPr lang="en-US" sz="3100" dirty="0">
                <a:solidFill>
                  <a:srgbClr val="4D2E9A"/>
                </a:solidFill>
              </a:rPr>
            </a:br>
            <a:r>
              <a:rPr lang="en-US" sz="3100" dirty="0">
                <a:solidFill>
                  <a:srgbClr val="4D2E9A"/>
                </a:solidFill>
              </a:rPr>
              <a:t>Relative Frequency Theory of Probability</a:t>
            </a:r>
            <a:br>
              <a:rPr lang="en-US" sz="3100" dirty="0">
                <a:solidFill>
                  <a:srgbClr val="4D2E9A"/>
                </a:solidFill>
              </a:rPr>
            </a:br>
            <a:r>
              <a:rPr lang="en-US" sz="3100" dirty="0">
                <a:solidFill>
                  <a:srgbClr val="4D2E9A"/>
                </a:solidFill>
              </a:rPr>
              <a:t>Subjective Probability</a:t>
            </a:r>
            <a:br>
              <a:rPr lang="en-US" sz="3100" dirty="0">
                <a:solidFill>
                  <a:srgbClr val="4D2E9A"/>
                </a:solidFill>
              </a:rPr>
            </a:br>
            <a:r>
              <a:rPr lang="en-US" sz="3100" dirty="0">
                <a:solidFill>
                  <a:srgbClr val="4D2E9A"/>
                </a:solidFill>
              </a:rPr>
              <a:t>Axiomatic Approach of Probability</a:t>
            </a:r>
            <a:br>
              <a:rPr lang="en-US" sz="4400" dirty="0">
                <a:solidFill>
                  <a:srgbClr val="4D2E9A"/>
                </a:solidFill>
              </a:rPr>
            </a:br>
            <a:br>
              <a:rPr lang="en-US" sz="4400" dirty="0">
                <a:solidFill>
                  <a:srgbClr val="4D2E9A"/>
                </a:solidFill>
              </a:rPr>
            </a:br>
            <a:endParaRPr lang="en-US" sz="4400" dirty="0">
              <a:solidFill>
                <a:srgbClr val="4D2E9A"/>
              </a:solidFill>
            </a:endParaRPr>
          </a:p>
        </p:txBody>
      </p:sp>
      <p:sp>
        <p:nvSpPr>
          <p:cNvPr id="4" name="TextBox 3">
            <a:extLst>
              <a:ext uri="{FF2B5EF4-FFF2-40B4-BE49-F238E27FC236}">
                <a16:creationId xmlns:a16="http://schemas.microsoft.com/office/drawing/2014/main" id="{A01EA88D-8F8F-1605-E530-FDD146DBC1B1}"/>
              </a:ext>
            </a:extLst>
          </p:cNvPr>
          <p:cNvSpPr txBox="1"/>
          <p:nvPr/>
        </p:nvSpPr>
        <p:spPr>
          <a:xfrm>
            <a:off x="2491034" y="852281"/>
            <a:ext cx="6094428" cy="646331"/>
          </a:xfrm>
          <a:prstGeom prst="rect">
            <a:avLst/>
          </a:prstGeom>
          <a:noFill/>
        </p:spPr>
        <p:txBody>
          <a:bodyPr wrap="square">
            <a:spAutoFit/>
          </a:bodyPr>
          <a:lstStyle/>
          <a:p>
            <a:r>
              <a:rPr lang="en-US" sz="3600" dirty="0">
                <a:solidFill>
                  <a:srgbClr val="002060"/>
                </a:solidFill>
              </a:rPr>
              <a:t>MEASURES OF PROBABILITY</a:t>
            </a:r>
            <a:endParaRPr lang="en-IN" sz="3600" dirty="0">
              <a:solidFill>
                <a:srgbClr val="002060"/>
              </a:solidFill>
            </a:endParaRPr>
          </a:p>
        </p:txBody>
      </p:sp>
    </p:spTree>
    <p:extLst>
      <p:ext uri="{BB962C8B-B14F-4D97-AF65-F5344CB8AC3E}">
        <p14:creationId xmlns:p14="http://schemas.microsoft.com/office/powerpoint/2010/main" val="2953762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007" y="157018"/>
            <a:ext cx="8596668" cy="1320800"/>
          </a:xfrm>
        </p:spPr>
        <p:txBody>
          <a:bodyPr/>
          <a:lstStyle/>
          <a:p>
            <a:r>
              <a:rPr lang="en-US" dirty="0">
                <a:solidFill>
                  <a:srgbClr val="002060"/>
                </a:solidFill>
              </a:rPr>
              <a:t>Classical Approach (Prior Probability)</a:t>
            </a:r>
          </a:p>
        </p:txBody>
      </p:sp>
      <p:sp>
        <p:nvSpPr>
          <p:cNvPr id="3" name="Content Placeholder 2"/>
          <p:cNvSpPr>
            <a:spLocks noGrp="1"/>
          </p:cNvSpPr>
          <p:nvPr>
            <p:ph idx="1"/>
          </p:nvPr>
        </p:nvSpPr>
        <p:spPr>
          <a:xfrm>
            <a:off x="899007" y="1876155"/>
            <a:ext cx="8596668" cy="4527647"/>
          </a:xfrm>
        </p:spPr>
        <p:txBody>
          <a:bodyPr/>
          <a:lstStyle/>
          <a:p>
            <a:r>
              <a:rPr lang="en-US" dirty="0"/>
              <a:t>Classical Approach (Prior Probability): When all the outcomes are equally likely, </a:t>
            </a:r>
          </a:p>
          <a:p>
            <a:endParaRPr lang="en-US" dirty="0"/>
          </a:p>
          <a:p>
            <a:endParaRPr lang="en-US" dirty="0"/>
          </a:p>
          <a:p>
            <a:r>
              <a:rPr lang="en-US" dirty="0"/>
              <a:t>What is the chance of getting a king in a draw from a pack of 52 cards?</a:t>
            </a:r>
          </a:p>
          <a:p>
            <a:pPr lvl="1"/>
            <a:r>
              <a:rPr lang="en-US" dirty="0"/>
              <a:t>P(getting a king ) =4/52 = 1/13</a:t>
            </a:r>
          </a:p>
          <a:p>
            <a:r>
              <a:rPr lang="en-US" dirty="0"/>
              <a:t>Two coins are tossed simultaneously. What is the probability of getting a head and a tail?</a:t>
            </a:r>
          </a:p>
          <a:p>
            <a:r>
              <a:rPr lang="en-US" dirty="0"/>
              <a:t>S={HH, HT, TH, TT} </a:t>
            </a:r>
          </a:p>
          <a:p>
            <a:r>
              <a:rPr lang="en-US" dirty="0"/>
              <a:t>Fav outcomes ={HT, TH}</a:t>
            </a:r>
          </a:p>
          <a:p>
            <a:r>
              <a:rPr lang="en-US" dirty="0"/>
              <a:t>P(head and tail) = 2/4 = 1/2</a:t>
            </a:r>
          </a:p>
          <a:p>
            <a:endParaRPr lang="en-US" dirty="0"/>
          </a:p>
        </p:txBody>
      </p:sp>
      <p:pic>
        <p:nvPicPr>
          <p:cNvPr id="5" name="Picture 4"/>
          <p:cNvPicPr>
            <a:picLocks noChangeAspect="1"/>
          </p:cNvPicPr>
          <p:nvPr/>
        </p:nvPicPr>
        <p:blipFill>
          <a:blip r:embed="rId3"/>
          <a:stretch>
            <a:fillRect/>
          </a:stretch>
        </p:blipFill>
        <p:spPr>
          <a:xfrm>
            <a:off x="2066140" y="2619375"/>
            <a:ext cx="5124450" cy="809625"/>
          </a:xfrm>
          <a:prstGeom prst="rect">
            <a:avLst/>
          </a:prstGeom>
        </p:spPr>
      </p:pic>
    </p:spTree>
    <p:extLst>
      <p:ext uri="{BB962C8B-B14F-4D97-AF65-F5344CB8AC3E}">
        <p14:creationId xmlns:p14="http://schemas.microsoft.com/office/powerpoint/2010/main" val="2273698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Relative Frequency Theory of Probability</a:t>
            </a:r>
          </a:p>
        </p:txBody>
      </p:sp>
      <p:pic>
        <p:nvPicPr>
          <p:cNvPr id="4" name="Picture 3"/>
          <p:cNvPicPr>
            <a:picLocks noChangeAspect="1"/>
          </p:cNvPicPr>
          <p:nvPr/>
        </p:nvPicPr>
        <p:blipFill>
          <a:blip r:embed="rId2"/>
          <a:stretch>
            <a:fillRect/>
          </a:stretch>
        </p:blipFill>
        <p:spPr>
          <a:xfrm>
            <a:off x="2533953" y="2310927"/>
            <a:ext cx="6712527" cy="4290063"/>
          </a:xfrm>
          <a:prstGeom prst="rect">
            <a:avLst/>
          </a:prstGeom>
        </p:spPr>
      </p:pic>
    </p:spTree>
    <p:extLst>
      <p:ext uri="{BB962C8B-B14F-4D97-AF65-F5344CB8AC3E}">
        <p14:creationId xmlns:p14="http://schemas.microsoft.com/office/powerpoint/2010/main" val="3657083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Subjective Probability</a:t>
            </a:r>
          </a:p>
        </p:txBody>
      </p:sp>
      <p:sp>
        <p:nvSpPr>
          <p:cNvPr id="3" name="Content Placeholder 2"/>
          <p:cNvSpPr>
            <a:spLocks noGrp="1"/>
          </p:cNvSpPr>
          <p:nvPr>
            <p:ph idx="1"/>
          </p:nvPr>
        </p:nvSpPr>
        <p:spPr>
          <a:xfrm>
            <a:off x="581192" y="2180496"/>
            <a:ext cx="11029615" cy="2212395"/>
          </a:xfrm>
        </p:spPr>
        <p:txBody>
          <a:bodyPr/>
          <a:lstStyle/>
          <a:p>
            <a:r>
              <a:rPr lang="en-US" dirty="0"/>
              <a:t>Subjective probability is a type of probability derived from an individual's personal judgment or own experience about whether a specific outcome is likely to occur. </a:t>
            </a:r>
          </a:p>
          <a:p>
            <a:r>
              <a:rPr lang="en-US" dirty="0"/>
              <a:t>It contains no formal calculations and only reflects the subject's opinions and past experience.</a:t>
            </a:r>
          </a:p>
          <a:p>
            <a:r>
              <a:rPr lang="en-US" dirty="0"/>
              <a:t>Ex: Prediction of a sport event</a:t>
            </a:r>
          </a:p>
          <a:p>
            <a:r>
              <a:rPr lang="en-US" dirty="0"/>
              <a:t>A doctor predicting 50% chance of need of a heart transplant based on his past experience</a:t>
            </a:r>
          </a:p>
          <a:p>
            <a:pPr marL="0" indent="0">
              <a:buNone/>
            </a:pPr>
            <a:endParaRPr lang="en-US" dirty="0"/>
          </a:p>
        </p:txBody>
      </p:sp>
    </p:spTree>
    <p:extLst>
      <p:ext uri="{BB962C8B-B14F-4D97-AF65-F5344CB8AC3E}">
        <p14:creationId xmlns:p14="http://schemas.microsoft.com/office/powerpoint/2010/main" val="316762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8116"/>
            <a:ext cx="8596668" cy="1320800"/>
          </a:xfrm>
        </p:spPr>
        <p:txBody>
          <a:bodyPr/>
          <a:lstStyle/>
          <a:p>
            <a:r>
              <a:rPr lang="en-US" dirty="0">
                <a:solidFill>
                  <a:srgbClr val="002060"/>
                </a:solidFill>
              </a:rPr>
              <a:t>Axiomatic Approach of Probability</a:t>
            </a:r>
          </a:p>
        </p:txBody>
      </p:sp>
      <p:pic>
        <p:nvPicPr>
          <p:cNvPr id="4" name="Picture 3"/>
          <p:cNvPicPr>
            <a:picLocks noChangeAspect="1"/>
          </p:cNvPicPr>
          <p:nvPr/>
        </p:nvPicPr>
        <p:blipFill>
          <a:blip r:embed="rId2"/>
          <a:stretch>
            <a:fillRect/>
          </a:stretch>
        </p:blipFill>
        <p:spPr>
          <a:xfrm>
            <a:off x="884724" y="3056116"/>
            <a:ext cx="8291513" cy="1409741"/>
          </a:xfrm>
          <a:prstGeom prst="rect">
            <a:avLst/>
          </a:prstGeom>
        </p:spPr>
      </p:pic>
      <p:sp>
        <p:nvSpPr>
          <p:cNvPr id="7" name="Rectangle 6"/>
          <p:cNvSpPr/>
          <p:nvPr/>
        </p:nvSpPr>
        <p:spPr>
          <a:xfrm>
            <a:off x="884724" y="2032713"/>
            <a:ext cx="8812245" cy="646331"/>
          </a:xfrm>
          <a:prstGeom prst="rect">
            <a:avLst/>
          </a:prstGeom>
        </p:spPr>
        <p:txBody>
          <a:bodyPr wrap="square">
            <a:spAutoFit/>
          </a:bodyPr>
          <a:lstStyle/>
          <a:p>
            <a:pPr lvl="0" eaLnBrk="0" fontAlgn="base" hangingPunct="0">
              <a:spcBef>
                <a:spcPct val="0"/>
              </a:spcBef>
              <a:spcAft>
                <a:spcPct val="0"/>
              </a:spcAft>
            </a:pPr>
            <a:r>
              <a:rPr lang="en-US" altLang="en-US" dirty="0">
                <a:solidFill>
                  <a:srgbClr val="333333"/>
                </a:solidFill>
                <a:latin typeface="Roboto"/>
              </a:rPr>
              <a:t>Let, S be the sample space of any random experiment and let P be the probability of occurrence of any event.</a:t>
            </a:r>
            <a:r>
              <a:rPr lang="en-US" altLang="en-US" sz="1400" dirty="0"/>
              <a:t> </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2849005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0435" y="279922"/>
            <a:ext cx="10377055" cy="6001643"/>
          </a:xfrm>
          <a:prstGeom prst="rect">
            <a:avLst/>
          </a:prstGeom>
        </p:spPr>
        <p:txBody>
          <a:bodyPr wrap="square">
            <a:spAutoFit/>
          </a:bodyPr>
          <a:lstStyle/>
          <a:p>
            <a:pPr>
              <a:lnSpc>
                <a:spcPct val="200000"/>
              </a:lnSpc>
            </a:pPr>
            <a:r>
              <a:rPr lang="en-US" sz="2400" dirty="0"/>
              <a:t>Two dice are thrown. Find the probability that :</a:t>
            </a:r>
          </a:p>
          <a:p>
            <a:pPr lvl="1">
              <a:lnSpc>
                <a:spcPct val="200000"/>
              </a:lnSpc>
            </a:pPr>
            <a:r>
              <a:rPr lang="en-US" sz="2400" dirty="0"/>
              <a:t>(a) the total of the numbers on the dice is 8,</a:t>
            </a:r>
          </a:p>
          <a:p>
            <a:pPr lvl="1">
              <a:lnSpc>
                <a:spcPct val="200000"/>
              </a:lnSpc>
            </a:pPr>
            <a:r>
              <a:rPr lang="en-US" sz="2400" dirty="0"/>
              <a:t>(b) the first die shows 6,</a:t>
            </a:r>
          </a:p>
          <a:p>
            <a:pPr lvl="1">
              <a:lnSpc>
                <a:spcPct val="200000"/>
              </a:lnSpc>
            </a:pPr>
            <a:r>
              <a:rPr lang="en-US" sz="2400" dirty="0"/>
              <a:t>(c) the total of the numbers on the dice is greater than 8,</a:t>
            </a:r>
          </a:p>
          <a:p>
            <a:pPr lvl="1">
              <a:lnSpc>
                <a:spcPct val="200000"/>
              </a:lnSpc>
            </a:pPr>
            <a:r>
              <a:rPr lang="en-US" sz="2400" dirty="0"/>
              <a:t>(d) the total of the numbers on the dice is 13,</a:t>
            </a:r>
          </a:p>
          <a:p>
            <a:pPr lvl="1">
              <a:lnSpc>
                <a:spcPct val="200000"/>
              </a:lnSpc>
            </a:pPr>
            <a:r>
              <a:rPr lang="en-US" sz="2400" dirty="0"/>
              <a:t>(e) both the dice show the same number,</a:t>
            </a:r>
          </a:p>
          <a:p>
            <a:pPr lvl="1">
              <a:lnSpc>
                <a:spcPct val="200000"/>
              </a:lnSpc>
            </a:pPr>
            <a:r>
              <a:rPr lang="en-US" sz="2400" dirty="0"/>
              <a:t>(f) the sum of the numbers shown by the dice is less than 5,</a:t>
            </a:r>
          </a:p>
          <a:p>
            <a:pPr lvl="1">
              <a:lnSpc>
                <a:spcPct val="200000"/>
              </a:lnSpc>
            </a:pPr>
            <a:r>
              <a:rPr lang="en-US" sz="2400" dirty="0"/>
              <a:t>(g) the sum of the numbers shown by the dice is exactly 6.</a:t>
            </a:r>
          </a:p>
        </p:txBody>
      </p:sp>
    </p:spTree>
    <p:extLst>
      <p:ext uri="{BB962C8B-B14F-4D97-AF65-F5344CB8AC3E}">
        <p14:creationId xmlns:p14="http://schemas.microsoft.com/office/powerpoint/2010/main" val="266316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1012" y="729620"/>
            <a:ext cx="8845403" cy="2304811"/>
          </a:xfrm>
          <a:prstGeom prst="rect">
            <a:avLst/>
          </a:prstGeom>
        </p:spPr>
      </p:pic>
      <p:pic>
        <p:nvPicPr>
          <p:cNvPr id="3" name="Picture 2"/>
          <p:cNvPicPr>
            <a:picLocks noChangeAspect="1"/>
          </p:cNvPicPr>
          <p:nvPr/>
        </p:nvPicPr>
        <p:blipFill>
          <a:blip r:embed="rId3"/>
          <a:stretch>
            <a:fillRect/>
          </a:stretch>
        </p:blipFill>
        <p:spPr>
          <a:xfrm>
            <a:off x="821012" y="3746767"/>
            <a:ext cx="8402139" cy="2309813"/>
          </a:xfrm>
          <a:prstGeom prst="rect">
            <a:avLst/>
          </a:prstGeom>
        </p:spPr>
      </p:pic>
    </p:spTree>
    <p:extLst>
      <p:ext uri="{BB962C8B-B14F-4D97-AF65-F5344CB8AC3E}">
        <p14:creationId xmlns:p14="http://schemas.microsoft.com/office/powerpoint/2010/main" val="4151850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272" y="887524"/>
            <a:ext cx="8596668" cy="589279"/>
          </a:xfrm>
        </p:spPr>
        <p:txBody>
          <a:bodyPr>
            <a:normAutofit/>
          </a:bodyPr>
          <a:lstStyle/>
          <a:p>
            <a:r>
              <a:rPr lang="en-US" dirty="0">
                <a:solidFill>
                  <a:srgbClr val="002060"/>
                </a:solidFill>
              </a:rPr>
              <a:t>Addition Theorem</a:t>
            </a:r>
          </a:p>
        </p:txBody>
      </p:sp>
      <p:sp>
        <p:nvSpPr>
          <p:cNvPr id="3" name="Content Placeholder 2"/>
          <p:cNvSpPr>
            <a:spLocks noGrp="1"/>
          </p:cNvSpPr>
          <p:nvPr>
            <p:ph idx="1"/>
          </p:nvPr>
        </p:nvSpPr>
        <p:spPr>
          <a:xfrm>
            <a:off x="831272" y="2064469"/>
            <a:ext cx="8596668" cy="2026763"/>
          </a:xfrm>
        </p:spPr>
        <p:txBody>
          <a:bodyPr/>
          <a:lstStyle/>
          <a:p>
            <a:pPr marL="0" indent="0">
              <a:buNone/>
            </a:pPr>
            <a:r>
              <a:rPr lang="en-US" sz="2400" dirty="0">
                <a:solidFill>
                  <a:srgbClr val="FF0000"/>
                </a:solidFill>
              </a:rPr>
              <a:t>Not Mutually Exclusive Events:</a:t>
            </a:r>
          </a:p>
          <a:p>
            <a:r>
              <a:rPr lang="en-US" dirty="0"/>
              <a:t>if </a:t>
            </a:r>
            <a:r>
              <a:rPr lang="en-US" b="1" i="1" dirty="0"/>
              <a:t>A</a:t>
            </a:r>
            <a:r>
              <a:rPr lang="en-US" dirty="0"/>
              <a:t> and </a:t>
            </a:r>
            <a:r>
              <a:rPr lang="en-US" b="1" i="1" dirty="0"/>
              <a:t>B</a:t>
            </a:r>
            <a:r>
              <a:rPr lang="en-US" dirty="0"/>
              <a:t> are any two events then the probability of happening of at least one of the events is defined as P(AUB) = P(A) + P(B)- P(A∩B).</a:t>
            </a:r>
          </a:p>
          <a:p>
            <a:pPr marL="0" indent="0" fontAlgn="base">
              <a:buNone/>
            </a:pPr>
            <a:endParaRPr lang="en-US" dirty="0"/>
          </a:p>
          <a:p>
            <a:pPr marL="0" indent="0">
              <a:buNone/>
            </a:pPr>
            <a:endParaRPr lang="en-US" dirty="0"/>
          </a:p>
        </p:txBody>
      </p:sp>
      <p:sp>
        <p:nvSpPr>
          <p:cNvPr id="4" name="Rectangle 3"/>
          <p:cNvSpPr/>
          <p:nvPr/>
        </p:nvSpPr>
        <p:spPr>
          <a:xfrm>
            <a:off x="831272" y="3629567"/>
            <a:ext cx="10030692" cy="1290033"/>
          </a:xfrm>
          <a:prstGeom prst="rect">
            <a:avLst/>
          </a:prstGeom>
        </p:spPr>
        <p:txBody>
          <a:bodyPr wrap="square">
            <a:spAutoFit/>
          </a:bodyPr>
          <a:lstStyle/>
          <a:p>
            <a:pPr>
              <a:lnSpc>
                <a:spcPct val="150000"/>
              </a:lnSpc>
            </a:pPr>
            <a:r>
              <a:rPr lang="en-US" dirty="0"/>
              <a:t>The probability that a student passes a Physics test is (2/3) and the probability that he passes both Physics and English test is (14/45). The probability that he passes at least one test is (4/5). What is the probability that the student passes the English test?</a:t>
            </a:r>
            <a:endParaRPr lang="en-IN" dirty="0"/>
          </a:p>
        </p:txBody>
      </p:sp>
    </p:spTree>
    <p:extLst>
      <p:ext uri="{BB962C8B-B14F-4D97-AF65-F5344CB8AC3E}">
        <p14:creationId xmlns:p14="http://schemas.microsoft.com/office/powerpoint/2010/main" val="36862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322" y="962938"/>
            <a:ext cx="8596668" cy="589279"/>
          </a:xfrm>
        </p:spPr>
        <p:txBody>
          <a:bodyPr>
            <a:normAutofit/>
          </a:bodyPr>
          <a:lstStyle/>
          <a:p>
            <a:r>
              <a:rPr lang="en-US" dirty="0">
                <a:solidFill>
                  <a:srgbClr val="002060"/>
                </a:solidFill>
              </a:rPr>
              <a:t>Addition Theorem</a:t>
            </a:r>
          </a:p>
        </p:txBody>
      </p:sp>
      <p:sp>
        <p:nvSpPr>
          <p:cNvPr id="3" name="Content Placeholder 2"/>
          <p:cNvSpPr>
            <a:spLocks noGrp="1"/>
          </p:cNvSpPr>
          <p:nvPr>
            <p:ph idx="1"/>
          </p:nvPr>
        </p:nvSpPr>
        <p:spPr>
          <a:xfrm>
            <a:off x="677333" y="795528"/>
            <a:ext cx="10663111" cy="6062472"/>
          </a:xfrm>
        </p:spPr>
        <p:txBody>
          <a:bodyPr>
            <a:normAutofit/>
          </a:bodyPr>
          <a:lstStyle/>
          <a:p>
            <a:pPr fontAlgn="base"/>
            <a:r>
              <a:rPr lang="en-US" sz="2400" dirty="0">
                <a:solidFill>
                  <a:srgbClr val="FF0000"/>
                </a:solidFill>
              </a:rPr>
              <a:t>Mutually Exclusive Events: </a:t>
            </a:r>
          </a:p>
          <a:p>
            <a:pPr fontAlgn="base"/>
            <a:r>
              <a:rPr lang="en-US" sz="2000" dirty="0"/>
              <a:t>If </a:t>
            </a:r>
            <a:r>
              <a:rPr lang="en-US" sz="2000" b="1" i="1" dirty="0"/>
              <a:t>A</a:t>
            </a:r>
            <a:r>
              <a:rPr lang="en-US" sz="2000" dirty="0"/>
              <a:t> and </a:t>
            </a:r>
            <a:r>
              <a:rPr lang="en-US" sz="2000" b="1" i="1" dirty="0"/>
              <a:t>B</a:t>
            </a:r>
            <a:r>
              <a:rPr lang="en-US" sz="2000" dirty="0"/>
              <a:t> are any two mutually exclusive events then P(A∩B)=0</a:t>
            </a:r>
          </a:p>
          <a:p>
            <a:pPr lvl="1" fontAlgn="base"/>
            <a:r>
              <a:rPr lang="en-US" sz="2000" dirty="0"/>
              <a:t>P(AUB) = P(A)+P(B).</a:t>
            </a:r>
          </a:p>
          <a:p>
            <a:pPr fontAlgn="base"/>
            <a:r>
              <a:rPr lang="en-US" sz="2000" dirty="0"/>
              <a:t>A bag contains 4 white, 3 black and 5 red balls. What is the probability of getting a white or a red ball at random in a single draw ?</a:t>
            </a:r>
          </a:p>
          <a:p>
            <a:pPr fontAlgn="base"/>
            <a:endParaRPr lang="en-US" sz="2000" dirty="0"/>
          </a:p>
          <a:p>
            <a:pPr marL="0" indent="0">
              <a:buNone/>
            </a:pPr>
            <a:endParaRPr lang="en-US" sz="2000" dirty="0"/>
          </a:p>
        </p:txBody>
      </p:sp>
    </p:spTree>
    <p:extLst>
      <p:ext uri="{BB962C8B-B14F-4D97-AF65-F5344CB8AC3E}">
        <p14:creationId xmlns:p14="http://schemas.microsoft.com/office/powerpoint/2010/main" val="400935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Conditional Probability</a:t>
            </a:r>
          </a:p>
        </p:txBody>
      </p:sp>
      <p:sp>
        <p:nvSpPr>
          <p:cNvPr id="3" name="Content Placeholder 2"/>
          <p:cNvSpPr>
            <a:spLocks noGrp="1"/>
          </p:cNvSpPr>
          <p:nvPr>
            <p:ph idx="1"/>
          </p:nvPr>
        </p:nvSpPr>
        <p:spPr>
          <a:xfrm>
            <a:off x="997844" y="1898088"/>
            <a:ext cx="9837795" cy="2457096"/>
          </a:xfrm>
        </p:spPr>
        <p:txBody>
          <a:bodyPr>
            <a:normAutofit/>
          </a:bodyPr>
          <a:lstStyle/>
          <a:p>
            <a:r>
              <a:rPr lang="en-US" sz="2000" dirty="0"/>
              <a:t>If A and B are two independent events the conditional probability of A given B is defined as </a:t>
            </a:r>
          </a:p>
          <a:p>
            <a:pPr lvl="1"/>
            <a:r>
              <a:rPr lang="en-US" sz="2000" dirty="0"/>
              <a:t>P(A/B) = P(A</a:t>
            </a:r>
            <a:r>
              <a:rPr lang="hy-AM" sz="2000" dirty="0"/>
              <a:t>Ո</a:t>
            </a:r>
            <a:r>
              <a:rPr lang="en-US" sz="2000" dirty="0"/>
              <a:t>B)/P(B)</a:t>
            </a:r>
          </a:p>
          <a:p>
            <a:r>
              <a:rPr lang="en-US" sz="2000" dirty="0"/>
              <a:t>Similarly, conditional probability of B given A is defined as </a:t>
            </a:r>
          </a:p>
          <a:p>
            <a:pPr lvl="1"/>
            <a:r>
              <a:rPr lang="en-US" sz="2000" dirty="0"/>
              <a:t>P(B/A) = P(A</a:t>
            </a:r>
            <a:r>
              <a:rPr lang="hy-AM" sz="2000" dirty="0"/>
              <a:t>Ո</a:t>
            </a:r>
            <a:r>
              <a:rPr lang="en-US" sz="2000" dirty="0"/>
              <a:t>B)/P(A)</a:t>
            </a:r>
          </a:p>
        </p:txBody>
      </p:sp>
    </p:spTree>
    <p:extLst>
      <p:ext uri="{BB962C8B-B14F-4D97-AF65-F5344CB8AC3E}">
        <p14:creationId xmlns:p14="http://schemas.microsoft.com/office/powerpoint/2010/main" val="2110064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9560"/>
            <a:ext cx="8596668" cy="1320800"/>
          </a:xfrm>
        </p:spPr>
        <p:txBody>
          <a:bodyPr/>
          <a:lstStyle/>
          <a:p>
            <a:r>
              <a:rPr lang="en-US" dirty="0">
                <a:solidFill>
                  <a:srgbClr val="002060"/>
                </a:solidFill>
              </a:rPr>
              <a:t>Multiplication Theorem</a:t>
            </a:r>
          </a:p>
        </p:txBody>
      </p:sp>
      <p:sp>
        <p:nvSpPr>
          <p:cNvPr id="3" name="Content Placeholder 2"/>
          <p:cNvSpPr>
            <a:spLocks noGrp="1"/>
          </p:cNvSpPr>
          <p:nvPr>
            <p:ph idx="1"/>
          </p:nvPr>
        </p:nvSpPr>
        <p:spPr>
          <a:xfrm>
            <a:off x="608901" y="2412328"/>
            <a:ext cx="10974197" cy="4156112"/>
          </a:xfrm>
        </p:spPr>
        <p:txBody>
          <a:bodyPr>
            <a:normAutofit/>
          </a:bodyPr>
          <a:lstStyle/>
          <a:p>
            <a:r>
              <a:rPr lang="en-US" sz="2800" dirty="0"/>
              <a:t>Multiplication Theorem states that if A and B are two </a:t>
            </a:r>
            <a:r>
              <a:rPr lang="en-US" sz="2800" dirty="0">
                <a:solidFill>
                  <a:srgbClr val="FF0000"/>
                </a:solidFill>
              </a:rPr>
              <a:t>dependent events</a:t>
            </a:r>
            <a:r>
              <a:rPr lang="en-US" sz="2800" dirty="0"/>
              <a:t>, then the probability of their simultaneous occurrence is equal to the probability of one event multiplied by the conditional probability of the other. </a:t>
            </a:r>
          </a:p>
          <a:p>
            <a:pPr marL="0" lvl="1" indent="0">
              <a:buNone/>
            </a:pPr>
            <a:r>
              <a:rPr lang="en-US" sz="2800" dirty="0"/>
              <a:t>					P(A/B) = P(A</a:t>
            </a:r>
            <a:r>
              <a:rPr lang="hy-AM" sz="2800" dirty="0"/>
              <a:t>Ո</a:t>
            </a:r>
            <a:r>
              <a:rPr lang="en-US" sz="2800" dirty="0"/>
              <a:t>B)/P(B)=&gt;	P(A</a:t>
            </a:r>
            <a:r>
              <a:rPr lang="hy-AM" sz="2800" dirty="0"/>
              <a:t>Ո</a:t>
            </a:r>
            <a:r>
              <a:rPr lang="en-US" sz="2800" dirty="0"/>
              <a:t>B) = P(B)*P(A/B)</a:t>
            </a:r>
          </a:p>
          <a:p>
            <a:pPr marL="0" lvl="1" indent="0">
              <a:buNone/>
            </a:pPr>
            <a:r>
              <a:rPr lang="en-US" sz="2800" dirty="0"/>
              <a:t>					</a:t>
            </a:r>
          </a:p>
          <a:p>
            <a:pPr marL="0" lvl="1" indent="0">
              <a:buNone/>
            </a:pPr>
            <a:r>
              <a:rPr lang="en-US" sz="2800" dirty="0"/>
              <a:t>					P(B/A) = P(A</a:t>
            </a:r>
            <a:r>
              <a:rPr lang="hy-AM" sz="2800" dirty="0"/>
              <a:t>Ո</a:t>
            </a:r>
            <a:r>
              <a:rPr lang="en-US" sz="2800" dirty="0"/>
              <a:t>B)/P(A) =&gt;P(A</a:t>
            </a:r>
            <a:r>
              <a:rPr lang="hy-AM" sz="2800" dirty="0"/>
              <a:t>Ո</a:t>
            </a:r>
            <a:r>
              <a:rPr lang="en-US" sz="2800" dirty="0"/>
              <a:t>B) = P(A)*P(B/A)</a:t>
            </a:r>
          </a:p>
          <a:p>
            <a:pPr marL="0" indent="0">
              <a:buNone/>
            </a:pPr>
            <a:endParaRPr lang="en-US" sz="2800" dirty="0"/>
          </a:p>
          <a:p>
            <a:endParaRPr lang="en-US" sz="1600" dirty="0"/>
          </a:p>
          <a:p>
            <a:endParaRPr lang="en-US" sz="1600" dirty="0"/>
          </a:p>
        </p:txBody>
      </p:sp>
    </p:spTree>
    <p:extLst>
      <p:ext uri="{BB962C8B-B14F-4D97-AF65-F5344CB8AC3E}">
        <p14:creationId xmlns:p14="http://schemas.microsoft.com/office/powerpoint/2010/main" val="157378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9560"/>
            <a:ext cx="8596668" cy="1320800"/>
          </a:xfrm>
        </p:spPr>
        <p:txBody>
          <a:bodyPr/>
          <a:lstStyle/>
          <a:p>
            <a:r>
              <a:rPr lang="en-US" dirty="0">
                <a:solidFill>
                  <a:srgbClr val="002060"/>
                </a:solidFill>
              </a:rPr>
              <a:t>Multiplication Theorem</a:t>
            </a:r>
          </a:p>
        </p:txBody>
      </p:sp>
      <p:sp>
        <p:nvSpPr>
          <p:cNvPr id="3" name="Content Placeholder 2"/>
          <p:cNvSpPr>
            <a:spLocks noGrp="1"/>
          </p:cNvSpPr>
          <p:nvPr>
            <p:ph idx="1"/>
          </p:nvPr>
        </p:nvSpPr>
        <p:spPr>
          <a:xfrm>
            <a:off x="608901" y="1858245"/>
            <a:ext cx="10974197" cy="3651015"/>
          </a:xfrm>
        </p:spPr>
        <p:txBody>
          <a:bodyPr>
            <a:normAutofit fontScale="92500" lnSpcReduction="20000"/>
          </a:bodyPr>
          <a:lstStyle/>
          <a:p>
            <a:r>
              <a:rPr lang="en-US" sz="2800" dirty="0"/>
              <a:t>If two events A and B are </a:t>
            </a:r>
            <a:r>
              <a:rPr lang="en-US" sz="2800" dirty="0">
                <a:solidFill>
                  <a:srgbClr val="FF0000"/>
                </a:solidFill>
              </a:rPr>
              <a:t>independent</a:t>
            </a:r>
            <a:r>
              <a:rPr lang="en-US" sz="2800" dirty="0"/>
              <a:t>, then the probability that both will occur is equal to the product of the respective probabilities.</a:t>
            </a:r>
          </a:p>
          <a:p>
            <a:pPr marL="0" indent="0">
              <a:buNone/>
            </a:pPr>
            <a:r>
              <a:rPr lang="en-US" sz="2800" dirty="0"/>
              <a:t>					P(A</a:t>
            </a:r>
            <a:r>
              <a:rPr lang="hy-AM" sz="2800" dirty="0"/>
              <a:t>Ո</a:t>
            </a:r>
            <a:r>
              <a:rPr lang="en-US" sz="2800" dirty="0"/>
              <a:t>B) = P(A)*P(B)</a:t>
            </a:r>
          </a:p>
          <a:p>
            <a:pPr marL="0" indent="0">
              <a:buNone/>
            </a:pPr>
            <a:endParaRPr lang="en-US" sz="1600" dirty="0"/>
          </a:p>
          <a:p>
            <a:pPr marL="0" indent="0">
              <a:buNone/>
            </a:pPr>
            <a:endParaRPr lang="en-US" sz="1600" dirty="0"/>
          </a:p>
          <a:p>
            <a:r>
              <a:rPr lang="en-US" sz="2000" dirty="0"/>
              <a:t>The probability that X and Y will be alive ten years hence is 0.5 and 0.8 respectively. What is the probability that both of them </a:t>
            </a:r>
          </a:p>
          <a:p>
            <a:r>
              <a:rPr lang="en-US" sz="2000" dirty="0" err="1"/>
              <a:t>i</a:t>
            </a:r>
            <a:r>
              <a:rPr lang="en-US" sz="2000" dirty="0"/>
              <a:t>)will be alive ten years hence ?</a:t>
            </a:r>
            <a:endParaRPr lang="en-IN" sz="2000" dirty="0"/>
          </a:p>
          <a:p>
            <a:r>
              <a:rPr lang="en-US" sz="1600" dirty="0"/>
              <a:t>ii)will not be alive ten years hence ?</a:t>
            </a:r>
            <a:endParaRPr lang="en-IN" sz="1600" dirty="0"/>
          </a:p>
          <a:p>
            <a:r>
              <a:rPr lang="en-US" sz="1600" dirty="0"/>
              <a:t>Also find the probability that either of them will be alive after 10 years. </a:t>
            </a:r>
          </a:p>
          <a:p>
            <a:endParaRPr lang="en-US" sz="1600" dirty="0"/>
          </a:p>
        </p:txBody>
      </p:sp>
    </p:spTree>
    <p:extLst>
      <p:ext uri="{BB962C8B-B14F-4D97-AF65-F5344CB8AC3E}">
        <p14:creationId xmlns:p14="http://schemas.microsoft.com/office/powerpoint/2010/main" val="312392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Multiplication Theorem</a:t>
            </a:r>
          </a:p>
        </p:txBody>
      </p:sp>
      <p:sp>
        <p:nvSpPr>
          <p:cNvPr id="3" name="Content Placeholder 2"/>
          <p:cNvSpPr>
            <a:spLocks noGrp="1"/>
          </p:cNvSpPr>
          <p:nvPr>
            <p:ph idx="1"/>
          </p:nvPr>
        </p:nvSpPr>
        <p:spPr>
          <a:xfrm>
            <a:off x="630748" y="1071329"/>
            <a:ext cx="10980059" cy="4605754"/>
          </a:xfrm>
        </p:spPr>
        <p:txBody>
          <a:bodyPr/>
          <a:lstStyle/>
          <a:p>
            <a:r>
              <a:rPr lang="en-US" dirty="0"/>
              <a:t>Consider drawing two cards, without replacement, from a standard deck of 52 cards. That means we are drawing the first card, leaving it out, and then drawing the second card. What is the probability that both cards selected are black?</a:t>
            </a:r>
          </a:p>
          <a:p>
            <a:r>
              <a:rPr lang="en-US" dirty="0"/>
              <a:t>P(both black card) = P(</a:t>
            </a:r>
            <a:r>
              <a:rPr lang="en-US" dirty="0" err="1"/>
              <a:t>firstblackcard</a:t>
            </a:r>
            <a:r>
              <a:rPr lang="en-US" dirty="0"/>
              <a:t>)*P(</a:t>
            </a:r>
            <a:r>
              <a:rPr lang="en-US" dirty="0" err="1"/>
              <a:t>secondblackcard</a:t>
            </a:r>
            <a:r>
              <a:rPr lang="en-US" dirty="0"/>
              <a:t>/first card is black)</a:t>
            </a:r>
          </a:p>
          <a:p>
            <a:pPr marL="0" indent="0">
              <a:buNone/>
            </a:pPr>
            <a:r>
              <a:rPr lang="en-US" dirty="0"/>
              <a:t>					=26/52 * 25/51 = ½ * 25/51 = 25/102 =0.245</a:t>
            </a:r>
          </a:p>
          <a:p>
            <a:pPr marL="0" indent="0">
              <a:buNone/>
            </a:pPr>
            <a:endParaRPr lang="en-US" dirty="0"/>
          </a:p>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3518214" y="3673094"/>
            <a:ext cx="3693291" cy="2968089"/>
          </a:xfrm>
          <a:prstGeom prst="rect">
            <a:avLst/>
          </a:prstGeom>
        </p:spPr>
      </p:pic>
    </p:spTree>
    <p:extLst>
      <p:ext uri="{BB962C8B-B14F-4D97-AF65-F5344CB8AC3E}">
        <p14:creationId xmlns:p14="http://schemas.microsoft.com/office/powerpoint/2010/main" val="51958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Multiplication Theorem</a:t>
            </a:r>
          </a:p>
        </p:txBody>
      </p:sp>
      <p:sp>
        <p:nvSpPr>
          <p:cNvPr id="3" name="Content Placeholder 2"/>
          <p:cNvSpPr>
            <a:spLocks noGrp="1"/>
          </p:cNvSpPr>
          <p:nvPr>
            <p:ph idx="1"/>
          </p:nvPr>
        </p:nvSpPr>
        <p:spPr>
          <a:xfrm>
            <a:off x="677334" y="1592553"/>
            <a:ext cx="8596668" cy="3880773"/>
          </a:xfrm>
        </p:spPr>
        <p:txBody>
          <a:bodyPr/>
          <a:lstStyle/>
          <a:p>
            <a:r>
              <a:rPr lang="en-US" dirty="0"/>
              <a:t>A university has to select an examiner from a list of 50 persons, 20 of them women and 30 men, 10 of them knowing Hindi and 40 not. 15 of them being teachers and the remaining 35 not. What is the probability of the University selecting a Hindi-knowing women teacher ?</a:t>
            </a:r>
          </a:p>
          <a:p>
            <a:r>
              <a:rPr lang="en-US" dirty="0"/>
              <a:t>Probability of selecting a women =20/ 50 =2/5 </a:t>
            </a:r>
          </a:p>
          <a:p>
            <a:r>
              <a:rPr lang="en-US" dirty="0"/>
              <a:t>Probability of selecting a teacher =15/50 =3/10 </a:t>
            </a:r>
          </a:p>
          <a:p>
            <a:r>
              <a:rPr lang="en-US" dirty="0"/>
              <a:t>Probability of selecting a Hindi-knowing candidate =10/50 =1/5</a:t>
            </a:r>
          </a:p>
          <a:p>
            <a:r>
              <a:rPr lang="en-US" dirty="0"/>
              <a:t>Probability (selecting a </a:t>
            </a:r>
            <a:r>
              <a:rPr lang="en-US" dirty="0" err="1"/>
              <a:t>hindi</a:t>
            </a:r>
            <a:r>
              <a:rPr lang="en-US" dirty="0"/>
              <a:t> knowing women teacher) = 2/5*3/10*1/5 =3/125</a:t>
            </a:r>
          </a:p>
        </p:txBody>
      </p:sp>
    </p:spTree>
    <p:extLst>
      <p:ext uri="{BB962C8B-B14F-4D97-AF65-F5344CB8AC3E}">
        <p14:creationId xmlns:p14="http://schemas.microsoft.com/office/powerpoint/2010/main" val="280023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cap="none" dirty="0">
                <a:solidFill>
                  <a:srgbClr val="002060"/>
                </a:solidFill>
              </a:rPr>
              <a:t>A problem in statistics is given to three students A, B, C whose chances of solving it are 1/2, 1/3, 1/4 respectively. What is the probability that the problem will be solved ?</a:t>
            </a:r>
            <a:endParaRPr lang="en-IN" sz="2400" cap="none" dirty="0">
              <a:solidFill>
                <a:srgbClr val="002060"/>
              </a:solidFill>
            </a:endParaRPr>
          </a:p>
        </p:txBody>
      </p:sp>
    </p:spTree>
    <p:extLst>
      <p:ext uri="{BB962C8B-B14F-4D97-AF65-F5344CB8AC3E}">
        <p14:creationId xmlns:p14="http://schemas.microsoft.com/office/powerpoint/2010/main" val="333885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92729"/>
            <a:ext cx="11029616" cy="1013800"/>
          </a:xfrm>
        </p:spPr>
        <p:txBody>
          <a:bodyPr>
            <a:normAutofit fontScale="90000"/>
          </a:bodyPr>
          <a:lstStyle/>
          <a:p>
            <a:r>
              <a:rPr lang="en-US" cap="none" dirty="0">
                <a:solidFill>
                  <a:srgbClr val="002060"/>
                </a:solidFill>
              </a:rPr>
              <a:t>The probability that A speaks truth is 4/5, while its probability for B is 3⁄4, the probability that they contradict each other when asked to speak on a fact is:</a:t>
            </a:r>
            <a:endParaRPr lang="en-IN" cap="none" dirty="0">
              <a:solidFill>
                <a:srgbClr val="002060"/>
              </a:solidFill>
            </a:endParaRPr>
          </a:p>
        </p:txBody>
      </p:sp>
    </p:spTree>
    <p:extLst>
      <p:ext uri="{BB962C8B-B14F-4D97-AF65-F5344CB8AC3E}">
        <p14:creationId xmlns:p14="http://schemas.microsoft.com/office/powerpoint/2010/main" val="3064370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AA35-09F4-44E4-A0F3-05483ED56370}"/>
              </a:ext>
            </a:extLst>
          </p:cNvPr>
          <p:cNvSpPr>
            <a:spLocks noGrp="1"/>
          </p:cNvSpPr>
          <p:nvPr>
            <p:ph type="title"/>
          </p:nvPr>
        </p:nvSpPr>
        <p:spPr/>
        <p:txBody>
          <a:bodyPr/>
          <a:lstStyle/>
          <a:p>
            <a:r>
              <a:rPr lang="en-IN" dirty="0">
                <a:solidFill>
                  <a:srgbClr val="002060"/>
                </a:solidFill>
              </a:rPr>
              <a:t>Odds</a:t>
            </a:r>
          </a:p>
        </p:txBody>
      </p:sp>
      <p:sp>
        <p:nvSpPr>
          <p:cNvPr id="3" name="Content Placeholder 2">
            <a:extLst>
              <a:ext uri="{FF2B5EF4-FFF2-40B4-BE49-F238E27FC236}">
                <a16:creationId xmlns:a16="http://schemas.microsoft.com/office/drawing/2014/main" id="{91E6906B-ABE7-422D-88EF-807F49BA5543}"/>
              </a:ext>
            </a:extLst>
          </p:cNvPr>
          <p:cNvSpPr>
            <a:spLocks noGrp="1"/>
          </p:cNvSpPr>
          <p:nvPr>
            <p:ph idx="1"/>
          </p:nvPr>
        </p:nvSpPr>
        <p:spPr>
          <a:xfrm>
            <a:off x="909229" y="1978196"/>
            <a:ext cx="9181724" cy="1245064"/>
          </a:xfrm>
        </p:spPr>
        <p:txBody>
          <a:bodyPr>
            <a:noAutofit/>
          </a:bodyPr>
          <a:lstStyle/>
          <a:p>
            <a:pPr fontAlgn="base"/>
            <a:r>
              <a:rPr lang="en-US" sz="2000" dirty="0"/>
              <a:t>Odds relate the chances in </a:t>
            </a:r>
            <a:r>
              <a:rPr lang="en-US" sz="2000" dirty="0" err="1"/>
              <a:t>favour</a:t>
            </a:r>
            <a:r>
              <a:rPr lang="en-US" sz="2000" dirty="0"/>
              <a:t> of an event to the chances against it.</a:t>
            </a:r>
          </a:p>
          <a:p>
            <a:r>
              <a:rPr lang="en-US" sz="2000" b="1" dirty="0"/>
              <a:t>If the odds that an event A occurs is a:b, then</a:t>
            </a:r>
            <a:br>
              <a:rPr lang="en-US" sz="2000" dirty="0"/>
            </a:br>
            <a:endParaRPr lang="en-IN" sz="2000" dirty="0"/>
          </a:p>
        </p:txBody>
      </p:sp>
      <p:pic>
        <p:nvPicPr>
          <p:cNvPr id="1026" name="Picture 2">
            <a:extLst>
              <a:ext uri="{FF2B5EF4-FFF2-40B4-BE49-F238E27FC236}">
                <a16:creationId xmlns:a16="http://schemas.microsoft.com/office/drawing/2014/main" id="{8F51182C-A8C7-44E8-8EEB-7E46F5AA9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7303" y="2956893"/>
            <a:ext cx="2704976" cy="124506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F204273-8B79-4721-8AB2-86CC9614252C}"/>
              </a:ext>
            </a:extLst>
          </p:cNvPr>
          <p:cNvSpPr/>
          <p:nvPr/>
        </p:nvSpPr>
        <p:spPr>
          <a:xfrm>
            <a:off x="1059180" y="4493877"/>
            <a:ext cx="9605010" cy="1200329"/>
          </a:xfrm>
          <a:prstGeom prst="rect">
            <a:avLst/>
          </a:prstGeom>
        </p:spPr>
        <p:txBody>
          <a:bodyPr wrap="square">
            <a:spAutoFit/>
          </a:bodyPr>
          <a:lstStyle/>
          <a:p>
            <a:r>
              <a:rPr lang="en-US" b="1" dirty="0"/>
              <a:t>Example:</a:t>
            </a:r>
            <a:r>
              <a:rPr lang="en-US" dirty="0"/>
              <a:t>  If the odds of James winning or losing  the Game are 9:2, what is the subjective probability that he will win?</a:t>
            </a:r>
          </a:p>
          <a:p>
            <a:endParaRPr lang="en-US" b="1" dirty="0"/>
          </a:p>
          <a:p>
            <a:pPr algn="ctr" fontAlgn="base"/>
            <a:r>
              <a:rPr lang="en-US" dirty="0"/>
              <a:t>P(James winning) = 9/11</a:t>
            </a:r>
          </a:p>
        </p:txBody>
      </p:sp>
    </p:spTree>
    <p:extLst>
      <p:ext uri="{BB962C8B-B14F-4D97-AF65-F5344CB8AC3E}">
        <p14:creationId xmlns:p14="http://schemas.microsoft.com/office/powerpoint/2010/main" val="3231586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6EF1F-FD79-4BF3-9B06-78FA030A8C3B}"/>
              </a:ext>
            </a:extLst>
          </p:cNvPr>
          <p:cNvSpPr>
            <a:spLocks noGrp="1"/>
          </p:cNvSpPr>
          <p:nvPr>
            <p:ph type="title"/>
          </p:nvPr>
        </p:nvSpPr>
        <p:spPr>
          <a:xfrm>
            <a:off x="581192" y="702156"/>
            <a:ext cx="11029616" cy="1149504"/>
          </a:xfrm>
        </p:spPr>
        <p:txBody>
          <a:bodyPr>
            <a:normAutofit fontScale="90000"/>
          </a:bodyPr>
          <a:lstStyle/>
          <a:p>
            <a:r>
              <a:rPr lang="en-US" cap="none" dirty="0">
                <a:solidFill>
                  <a:srgbClr val="002060"/>
                </a:solidFill>
              </a:rPr>
              <a:t>If two dice are thrown, what is the probability that the sum is </a:t>
            </a:r>
            <a:br>
              <a:rPr lang="en-US" cap="none" dirty="0">
                <a:solidFill>
                  <a:srgbClr val="002060"/>
                </a:solidFill>
              </a:rPr>
            </a:br>
            <a:r>
              <a:rPr lang="en-US" cap="none" dirty="0">
                <a:solidFill>
                  <a:srgbClr val="002060"/>
                </a:solidFill>
              </a:rPr>
              <a:t>(a) greater than 9, and </a:t>
            </a:r>
            <a:br>
              <a:rPr lang="en-US" cap="none" dirty="0">
                <a:solidFill>
                  <a:srgbClr val="002060"/>
                </a:solidFill>
              </a:rPr>
            </a:br>
            <a:r>
              <a:rPr lang="en-US" cap="none" dirty="0">
                <a:solidFill>
                  <a:srgbClr val="002060"/>
                </a:solidFill>
              </a:rPr>
              <a:t>(b) neither 7 nor II? </a:t>
            </a:r>
            <a:endParaRPr lang="en-IN" cap="none" dirty="0">
              <a:solidFill>
                <a:srgbClr val="002060"/>
              </a:solidFill>
            </a:endParaRPr>
          </a:p>
        </p:txBody>
      </p:sp>
    </p:spTree>
    <p:extLst>
      <p:ext uri="{BB962C8B-B14F-4D97-AF65-F5344CB8AC3E}">
        <p14:creationId xmlns:p14="http://schemas.microsoft.com/office/powerpoint/2010/main" val="3242128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A471E-21B2-4324-A095-67074EE90183}"/>
              </a:ext>
            </a:extLst>
          </p:cNvPr>
          <p:cNvSpPr>
            <a:spLocks noGrp="1"/>
          </p:cNvSpPr>
          <p:nvPr>
            <p:ph type="title"/>
          </p:nvPr>
        </p:nvSpPr>
        <p:spPr/>
        <p:txBody>
          <a:bodyPr>
            <a:normAutofit/>
          </a:bodyPr>
          <a:lstStyle/>
          <a:p>
            <a:r>
              <a:rPr lang="en-US" cap="none" dirty="0">
                <a:solidFill>
                  <a:srgbClr val="002060"/>
                </a:solidFill>
              </a:rPr>
              <a:t>A card is drawn from a well-shuffled pack of playing cards. What is the probability that it is either a spade or an ace? </a:t>
            </a:r>
            <a:endParaRPr lang="en-IN" cap="none" dirty="0">
              <a:solidFill>
                <a:srgbClr val="002060"/>
              </a:solidFill>
            </a:endParaRPr>
          </a:p>
        </p:txBody>
      </p:sp>
    </p:spTree>
    <p:extLst>
      <p:ext uri="{BB962C8B-B14F-4D97-AF65-F5344CB8AC3E}">
        <p14:creationId xmlns:p14="http://schemas.microsoft.com/office/powerpoint/2010/main" val="3548793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74C8-D741-4012-A686-5E0D993BB53C}"/>
              </a:ext>
            </a:extLst>
          </p:cNvPr>
          <p:cNvSpPr>
            <a:spLocks noGrp="1"/>
          </p:cNvSpPr>
          <p:nvPr>
            <p:ph type="title"/>
          </p:nvPr>
        </p:nvSpPr>
        <p:spPr>
          <a:xfrm>
            <a:off x="581192" y="1429586"/>
            <a:ext cx="11248858" cy="1013800"/>
          </a:xfrm>
        </p:spPr>
        <p:txBody>
          <a:bodyPr>
            <a:normAutofit fontScale="90000"/>
          </a:bodyPr>
          <a:lstStyle/>
          <a:p>
            <a:r>
              <a:rPr lang="en-US" cap="none" dirty="0">
                <a:solidFill>
                  <a:srgbClr val="002060"/>
                </a:solidFill>
              </a:rPr>
              <a:t>The Odds against manager X settling the wage dispute with the workers are 8:6 and odds in favor of manager Y settling the same dispute are 14:16. </a:t>
            </a:r>
            <a:br>
              <a:rPr lang="en-US" cap="none" dirty="0">
                <a:solidFill>
                  <a:srgbClr val="002060"/>
                </a:solidFill>
              </a:rPr>
            </a:br>
            <a:r>
              <a:rPr lang="en-US" cap="none" dirty="0">
                <a:solidFill>
                  <a:srgbClr val="002060"/>
                </a:solidFill>
              </a:rPr>
              <a:t>(a) what is the chance that neither settles the dispute, if they both try, independently of each other? </a:t>
            </a:r>
            <a:br>
              <a:rPr lang="en-US" cap="none" dirty="0">
                <a:solidFill>
                  <a:srgbClr val="002060"/>
                </a:solidFill>
              </a:rPr>
            </a:br>
            <a:r>
              <a:rPr lang="en-US" cap="none" dirty="0">
                <a:solidFill>
                  <a:srgbClr val="002060"/>
                </a:solidFill>
              </a:rPr>
              <a:t>(b) what is the probability that the dispute will be settled? </a:t>
            </a:r>
            <a:endParaRPr lang="en-IN" cap="none" dirty="0">
              <a:solidFill>
                <a:srgbClr val="002060"/>
              </a:solidFill>
            </a:endParaRPr>
          </a:p>
        </p:txBody>
      </p:sp>
    </p:spTree>
    <p:extLst>
      <p:ext uri="{BB962C8B-B14F-4D97-AF65-F5344CB8AC3E}">
        <p14:creationId xmlns:p14="http://schemas.microsoft.com/office/powerpoint/2010/main" val="2005691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1191" y="1020432"/>
            <a:ext cx="10993549" cy="798942"/>
          </a:xfrm>
        </p:spPr>
        <p:txBody>
          <a:bodyPr/>
          <a:lstStyle/>
          <a:p>
            <a:r>
              <a:rPr lang="en-US" dirty="0">
                <a:solidFill>
                  <a:srgbClr val="002060"/>
                </a:solidFill>
              </a:rPr>
              <a:t>Bayes' Theorem</a:t>
            </a:r>
            <a:endParaRPr lang="en-IN" dirty="0">
              <a:solidFill>
                <a:srgbClr val="002060"/>
              </a:solidFill>
            </a:endParaRPr>
          </a:p>
        </p:txBody>
      </p:sp>
      <p:sp>
        <p:nvSpPr>
          <p:cNvPr id="3" name="Subtitle 2"/>
          <p:cNvSpPr>
            <a:spLocks noGrp="1"/>
          </p:cNvSpPr>
          <p:nvPr>
            <p:ph type="subTitle" idx="1"/>
          </p:nvPr>
        </p:nvSpPr>
        <p:spPr>
          <a:xfrm>
            <a:off x="1954573" y="1333927"/>
            <a:ext cx="5123661" cy="590321"/>
          </a:xfrm>
        </p:spPr>
        <p:txBody>
          <a:bodyPr>
            <a:normAutofit/>
          </a:bodyPr>
          <a:lstStyle/>
          <a:p>
            <a:pPr algn="r"/>
            <a:r>
              <a:rPr lang="en-US" sz="1800" dirty="0">
                <a:solidFill>
                  <a:srgbClr val="002060"/>
                </a:solidFill>
              </a:rPr>
              <a:t>Inverse Probability</a:t>
            </a:r>
            <a:endParaRPr lang="en-IN" sz="1800" dirty="0">
              <a:solidFill>
                <a:srgbClr val="002060"/>
              </a:solidFill>
            </a:endParaRPr>
          </a:p>
        </p:txBody>
      </p:sp>
      <p:sp>
        <p:nvSpPr>
          <p:cNvPr id="5" name="TextBox 4">
            <a:extLst>
              <a:ext uri="{FF2B5EF4-FFF2-40B4-BE49-F238E27FC236}">
                <a16:creationId xmlns:a16="http://schemas.microsoft.com/office/drawing/2014/main" id="{D8C3508F-2777-4292-BA57-E868DE1A71C5}"/>
              </a:ext>
            </a:extLst>
          </p:cNvPr>
          <p:cNvSpPr txBox="1"/>
          <p:nvPr/>
        </p:nvSpPr>
        <p:spPr>
          <a:xfrm>
            <a:off x="716436" y="3524976"/>
            <a:ext cx="10680569" cy="1384995"/>
          </a:xfrm>
          <a:prstGeom prst="rect">
            <a:avLst/>
          </a:prstGeom>
          <a:noFill/>
        </p:spPr>
        <p:txBody>
          <a:bodyPr wrap="square">
            <a:spAutoFit/>
          </a:bodyPr>
          <a:lstStyle/>
          <a:p>
            <a:r>
              <a:rPr lang="en-US" sz="2800" dirty="0">
                <a:solidFill>
                  <a:srgbClr val="002060"/>
                </a:solidFill>
              </a:rPr>
              <a:t>Bayes’ Theorem is a fundamental result in probability theory that describes the probability of an event based on prior knowledge of conditions that might be related to the event.</a:t>
            </a:r>
            <a:endParaRPr lang="en-IN" sz="2800" dirty="0">
              <a:solidFill>
                <a:srgbClr val="002060"/>
              </a:solidFill>
            </a:endParaRPr>
          </a:p>
        </p:txBody>
      </p:sp>
    </p:spTree>
    <p:extLst>
      <p:ext uri="{BB962C8B-B14F-4D97-AF65-F5344CB8AC3E}">
        <p14:creationId xmlns:p14="http://schemas.microsoft.com/office/powerpoint/2010/main" val="4171285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Bayes Theorem</a:t>
            </a:r>
            <a:endParaRPr lang="en-IN" dirty="0">
              <a:solidFill>
                <a:srgbClr val="002060"/>
              </a:solidFill>
            </a:endParaRPr>
          </a:p>
        </p:txBody>
      </p:sp>
      <p:sp>
        <p:nvSpPr>
          <p:cNvPr id="3" name="Content Placeholder 2"/>
          <p:cNvSpPr>
            <a:spLocks noGrp="1"/>
          </p:cNvSpPr>
          <p:nvPr>
            <p:ph idx="1"/>
          </p:nvPr>
        </p:nvSpPr>
        <p:spPr>
          <a:xfrm>
            <a:off x="917451" y="3858843"/>
            <a:ext cx="9252098" cy="3880773"/>
          </a:xfrm>
        </p:spPr>
        <p:txBody>
          <a:bodyPr/>
          <a:lstStyle/>
          <a:p>
            <a:r>
              <a:rPr lang="en-US" dirty="0"/>
              <a:t>Bayes' theorem allows you to update predicted probabilities of an event by incorporating new information.</a:t>
            </a:r>
          </a:p>
          <a:p>
            <a:endParaRPr lang="en-IN" dirty="0"/>
          </a:p>
        </p:txBody>
      </p:sp>
      <p:pic>
        <p:nvPicPr>
          <p:cNvPr id="4" name="Picture 3"/>
          <p:cNvPicPr>
            <a:picLocks noChangeAspect="1"/>
          </p:cNvPicPr>
          <p:nvPr/>
        </p:nvPicPr>
        <p:blipFill>
          <a:blip r:embed="rId2"/>
          <a:stretch>
            <a:fillRect/>
          </a:stretch>
        </p:blipFill>
        <p:spPr>
          <a:xfrm>
            <a:off x="917451" y="1795907"/>
            <a:ext cx="6490837" cy="3346138"/>
          </a:xfrm>
          <a:prstGeom prst="rect">
            <a:avLst/>
          </a:prstGeom>
        </p:spPr>
      </p:pic>
      <p:pic>
        <p:nvPicPr>
          <p:cNvPr id="6" name="Picture 5"/>
          <p:cNvPicPr>
            <a:picLocks noChangeAspect="1"/>
          </p:cNvPicPr>
          <p:nvPr/>
        </p:nvPicPr>
        <p:blipFill>
          <a:blip r:embed="rId3"/>
          <a:stretch>
            <a:fillRect/>
          </a:stretch>
        </p:blipFill>
        <p:spPr>
          <a:xfrm>
            <a:off x="6868339" y="3158062"/>
            <a:ext cx="3230776" cy="700781"/>
          </a:xfrm>
          <a:prstGeom prst="rect">
            <a:avLst/>
          </a:prstGeom>
        </p:spPr>
      </p:pic>
      <p:pic>
        <p:nvPicPr>
          <p:cNvPr id="7" name="Picture 6"/>
          <p:cNvPicPr>
            <a:picLocks noChangeAspect="1"/>
          </p:cNvPicPr>
          <p:nvPr/>
        </p:nvPicPr>
        <p:blipFill>
          <a:blip r:embed="rId4"/>
          <a:stretch>
            <a:fillRect/>
          </a:stretch>
        </p:blipFill>
        <p:spPr>
          <a:xfrm>
            <a:off x="3144403" y="5639189"/>
            <a:ext cx="5580157" cy="1218811"/>
          </a:xfrm>
          <a:prstGeom prst="rect">
            <a:avLst/>
          </a:prstGeom>
        </p:spPr>
      </p:pic>
    </p:spTree>
    <p:extLst>
      <p:ext uri="{BB962C8B-B14F-4D97-AF65-F5344CB8AC3E}">
        <p14:creationId xmlns:p14="http://schemas.microsoft.com/office/powerpoint/2010/main" val="237563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BAYE’S THEOREM</a:t>
            </a:r>
          </a:p>
        </p:txBody>
      </p:sp>
      <p:pic>
        <p:nvPicPr>
          <p:cNvPr id="6" name="Picture 5">
            <a:extLst>
              <a:ext uri="{FF2B5EF4-FFF2-40B4-BE49-F238E27FC236}">
                <a16:creationId xmlns:a16="http://schemas.microsoft.com/office/drawing/2014/main" id="{311E70A3-E2DB-6AB3-9E3A-49B969C96BF0}"/>
              </a:ext>
            </a:extLst>
          </p:cNvPr>
          <p:cNvPicPr>
            <a:picLocks noChangeAspect="1"/>
          </p:cNvPicPr>
          <p:nvPr/>
        </p:nvPicPr>
        <p:blipFill>
          <a:blip r:embed="rId2"/>
          <a:stretch>
            <a:fillRect/>
          </a:stretch>
        </p:blipFill>
        <p:spPr>
          <a:xfrm>
            <a:off x="422544" y="1789309"/>
            <a:ext cx="6713547" cy="4970607"/>
          </a:xfrm>
          <a:prstGeom prst="rect">
            <a:avLst/>
          </a:prstGeom>
        </p:spPr>
      </p:pic>
    </p:spTree>
    <p:extLst>
      <p:ext uri="{BB962C8B-B14F-4D97-AF65-F5344CB8AC3E}">
        <p14:creationId xmlns:p14="http://schemas.microsoft.com/office/powerpoint/2010/main" val="590514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034" y="466627"/>
            <a:ext cx="10229478" cy="1329179"/>
          </a:xfrm>
        </p:spPr>
        <p:txBody>
          <a:bodyPr>
            <a:normAutofit/>
          </a:bodyPr>
          <a:lstStyle/>
          <a:p>
            <a:r>
              <a:rPr lang="en-US" sz="2000" cap="none" dirty="0">
                <a:solidFill>
                  <a:srgbClr val="002060"/>
                </a:solidFill>
              </a:rPr>
              <a:t>There are two identical urns containing respectively 6 black and 4 red balls, 2 black and 2 red balls. An urn is chosen at random and a ball is drawn from it.</a:t>
            </a:r>
            <a:br>
              <a:rPr lang="en-US" sz="2000" cap="none" dirty="0">
                <a:solidFill>
                  <a:srgbClr val="002060"/>
                </a:solidFill>
              </a:rPr>
            </a:br>
            <a:r>
              <a:rPr lang="en-US" sz="2000" cap="none" dirty="0">
                <a:solidFill>
                  <a:srgbClr val="002060"/>
                </a:solidFill>
              </a:rPr>
              <a:t> (I) find the probability that the ball is black </a:t>
            </a:r>
            <a:br>
              <a:rPr lang="en-US" sz="2000" cap="none" dirty="0">
                <a:solidFill>
                  <a:srgbClr val="002060"/>
                </a:solidFill>
              </a:rPr>
            </a:br>
            <a:r>
              <a:rPr lang="en-US" sz="2000" cap="none" dirty="0">
                <a:solidFill>
                  <a:srgbClr val="002060"/>
                </a:solidFill>
              </a:rPr>
              <a:t>(ii) if the ball is black, what is the probability that it is from the first urn?</a:t>
            </a:r>
            <a:endParaRPr lang="en-IN" sz="2000" cap="none" dirty="0">
              <a:solidFill>
                <a:srgbClr val="002060"/>
              </a:solidFill>
            </a:endParaRPr>
          </a:p>
        </p:txBody>
      </p:sp>
      <p:sp>
        <p:nvSpPr>
          <p:cNvPr id="3" name="Content Placeholder 2"/>
          <p:cNvSpPr>
            <a:spLocks noGrp="1"/>
          </p:cNvSpPr>
          <p:nvPr>
            <p:ph idx="1"/>
          </p:nvPr>
        </p:nvSpPr>
        <p:spPr>
          <a:xfrm>
            <a:off x="691721" y="2275866"/>
            <a:ext cx="11029615" cy="3678303"/>
          </a:xfrm>
        </p:spPr>
        <p:txBody>
          <a:bodyPr/>
          <a:lstStyle/>
          <a:p>
            <a:r>
              <a:rPr lang="en-IN" dirty="0"/>
              <a:t>P(Black) = ?   P(U1/B) = ?</a:t>
            </a:r>
          </a:p>
          <a:p>
            <a:r>
              <a:rPr lang="en-IN" dirty="0"/>
              <a:t>P(B/U1) = 6/10</a:t>
            </a:r>
          </a:p>
          <a:p>
            <a:r>
              <a:rPr lang="en-IN" dirty="0"/>
              <a:t> P(B/U2) = 2/4 =1/2</a:t>
            </a:r>
          </a:p>
          <a:p>
            <a:r>
              <a:rPr lang="en-IN" dirty="0"/>
              <a:t>P(Black) = P(U1).P(B/U1)+P(U2)P(B/U2) </a:t>
            </a:r>
          </a:p>
          <a:p>
            <a:pPr marL="0" indent="0">
              <a:buNone/>
            </a:pPr>
            <a:r>
              <a:rPr lang="en-IN" dirty="0"/>
              <a:t>			= ½ *6/10 + ½*2/4 </a:t>
            </a:r>
          </a:p>
          <a:p>
            <a:pPr marL="0" indent="0">
              <a:buNone/>
            </a:pPr>
            <a:r>
              <a:rPr lang="en-IN" dirty="0"/>
              <a:t>			= 3/10 +1/4 = 11/20</a:t>
            </a:r>
          </a:p>
          <a:p>
            <a:pPr marL="0" indent="0">
              <a:buNone/>
            </a:pPr>
            <a:r>
              <a:rPr lang="en-IN" dirty="0"/>
              <a:t>P(U1/B) = </a:t>
            </a:r>
            <a:r>
              <a:rPr lang="en-IN" u="sng" dirty="0"/>
              <a:t>P(B/U1)*P(U1) </a:t>
            </a:r>
            <a:r>
              <a:rPr lang="en-IN" dirty="0"/>
              <a:t> = </a:t>
            </a:r>
            <a:r>
              <a:rPr lang="en-IN" u="sng" dirty="0"/>
              <a:t>6/10*1/2</a:t>
            </a:r>
            <a:r>
              <a:rPr lang="en-IN" dirty="0"/>
              <a:t> = </a:t>
            </a:r>
            <a:r>
              <a:rPr lang="en-IN" u="sng" dirty="0"/>
              <a:t>6/20 </a:t>
            </a:r>
            <a:r>
              <a:rPr lang="en-IN" dirty="0"/>
              <a:t> = 6/11</a:t>
            </a:r>
            <a:endParaRPr lang="en-IN" u="sng" dirty="0"/>
          </a:p>
          <a:p>
            <a:pPr marL="0" indent="0">
              <a:buNone/>
            </a:pPr>
            <a:r>
              <a:rPr lang="en-IN" dirty="0"/>
              <a:t>			P(B)			11/20       11/20</a:t>
            </a:r>
          </a:p>
        </p:txBody>
      </p:sp>
    </p:spTree>
    <p:extLst>
      <p:ext uri="{BB962C8B-B14F-4D97-AF65-F5344CB8AC3E}">
        <p14:creationId xmlns:p14="http://schemas.microsoft.com/office/powerpoint/2010/main" val="384830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480" y="728982"/>
            <a:ext cx="9782848" cy="854722"/>
          </a:xfrm>
        </p:spPr>
        <p:txBody>
          <a:bodyPr>
            <a:normAutofit/>
          </a:bodyPr>
          <a:lstStyle/>
          <a:p>
            <a:r>
              <a:rPr lang="en-US" sz="2000" cap="none" dirty="0">
                <a:solidFill>
                  <a:srgbClr val="002060"/>
                </a:solidFill>
              </a:rPr>
              <a:t>You randomly choose a treasure chest to open, and then randomly choose a coin from the treasure chest. If the coin you choose is gold, what is the probability you chose chest A? </a:t>
            </a:r>
            <a:endParaRPr lang="en-IN" sz="2000" cap="none" dirty="0">
              <a:solidFill>
                <a:srgbClr val="002060"/>
              </a:solidFill>
            </a:endParaRPr>
          </a:p>
        </p:txBody>
      </p:sp>
      <p:pic>
        <p:nvPicPr>
          <p:cNvPr id="4" name="Picture 3"/>
          <p:cNvPicPr>
            <a:picLocks noChangeAspect="1"/>
          </p:cNvPicPr>
          <p:nvPr/>
        </p:nvPicPr>
        <p:blipFill>
          <a:blip r:embed="rId3"/>
          <a:stretch>
            <a:fillRect/>
          </a:stretch>
        </p:blipFill>
        <p:spPr>
          <a:xfrm>
            <a:off x="2740181" y="1926546"/>
            <a:ext cx="5020696" cy="2266807"/>
          </a:xfrm>
          <a:prstGeom prst="rect">
            <a:avLst/>
          </a:prstGeom>
        </p:spPr>
      </p:pic>
    </p:spTree>
    <p:extLst>
      <p:ext uri="{BB962C8B-B14F-4D97-AF65-F5344CB8AC3E}">
        <p14:creationId xmlns:p14="http://schemas.microsoft.com/office/powerpoint/2010/main" val="1907100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322" y="430098"/>
            <a:ext cx="11029616" cy="1442578"/>
          </a:xfrm>
        </p:spPr>
        <p:txBody>
          <a:bodyPr>
            <a:noAutofit/>
          </a:bodyPr>
          <a:lstStyle/>
          <a:p>
            <a:r>
              <a:rPr lang="en-US" sz="2000" cap="none" dirty="0">
                <a:solidFill>
                  <a:srgbClr val="002060"/>
                </a:solidFill>
              </a:rPr>
              <a:t>A company has two plants to manufacture scooters. Plant I manufactures 80% of the scooters and plant II manufactures 20%. At plant I, 85 out of 100 scooters are rated as of standard quality and at plant II, 65 out  of 100 scooters are rated as of standard quality. A scooter is chosen at random and is found to be of standard quality. What is the probability that it has come from plant II?</a:t>
            </a:r>
            <a:endParaRPr lang="en-IN" sz="2000" cap="none" dirty="0">
              <a:solidFill>
                <a:srgbClr val="002060"/>
              </a:solidFill>
            </a:endParaRPr>
          </a:p>
        </p:txBody>
      </p:sp>
    </p:spTree>
    <p:extLst>
      <p:ext uri="{BB962C8B-B14F-4D97-AF65-F5344CB8AC3E}">
        <p14:creationId xmlns:p14="http://schemas.microsoft.com/office/powerpoint/2010/main" val="2687981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99882" y="2058233"/>
            <a:ext cx="10059795" cy="4550098"/>
          </a:xfrm>
          <a:prstGeom prst="rect">
            <a:avLst/>
          </a:prstGeom>
        </p:spPr>
      </p:pic>
      <p:sp>
        <p:nvSpPr>
          <p:cNvPr id="3" name="Rectangle 2">
            <a:extLst>
              <a:ext uri="{FF2B5EF4-FFF2-40B4-BE49-F238E27FC236}">
                <a16:creationId xmlns:a16="http://schemas.microsoft.com/office/drawing/2014/main" id="{6F58F8F2-5395-4BCA-A409-93A5B89D8925}"/>
              </a:ext>
            </a:extLst>
          </p:cNvPr>
          <p:cNvSpPr/>
          <p:nvPr/>
        </p:nvSpPr>
        <p:spPr>
          <a:xfrm>
            <a:off x="678118" y="946904"/>
            <a:ext cx="4145342" cy="707886"/>
          </a:xfrm>
          <a:prstGeom prst="rect">
            <a:avLst/>
          </a:prstGeom>
        </p:spPr>
        <p:txBody>
          <a:bodyPr wrap="square">
            <a:spAutoFit/>
          </a:bodyPr>
          <a:lstStyle/>
          <a:p>
            <a:r>
              <a:rPr lang="en-IN" sz="4000" dirty="0">
                <a:solidFill>
                  <a:srgbClr val="002060"/>
                </a:solidFill>
              </a:rPr>
              <a:t>BAYE’S THEOREM</a:t>
            </a:r>
            <a:endParaRPr lang="en-IN" sz="4000" dirty="0"/>
          </a:p>
        </p:txBody>
      </p:sp>
    </p:spTree>
    <p:extLst>
      <p:ext uri="{BB962C8B-B14F-4D97-AF65-F5344CB8AC3E}">
        <p14:creationId xmlns:p14="http://schemas.microsoft.com/office/powerpoint/2010/main" val="2037257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175" y="2234151"/>
            <a:ext cx="10342600" cy="895547"/>
          </a:xfrm>
        </p:spPr>
        <p:txBody>
          <a:bodyPr>
            <a:noAutofit/>
          </a:bodyPr>
          <a:lstStyle/>
          <a:p>
            <a:pPr marL="0" indent="0">
              <a:buNone/>
            </a:pPr>
            <a:r>
              <a:rPr lang="en-US" sz="2000" i="1" dirty="0">
                <a:solidFill>
                  <a:srgbClr val="002060"/>
                </a:solidFill>
              </a:rPr>
              <a:t>A</a:t>
            </a:r>
            <a:r>
              <a:rPr lang="en-US" sz="2000" dirty="0">
                <a:solidFill>
                  <a:srgbClr val="002060"/>
                </a:solidFill>
              </a:rPr>
              <a:t> speaks truth 3 times out of 4 while </a:t>
            </a:r>
            <a:r>
              <a:rPr lang="en-US" sz="2000" i="1" dirty="0">
                <a:solidFill>
                  <a:srgbClr val="002060"/>
                </a:solidFill>
              </a:rPr>
              <a:t>B</a:t>
            </a:r>
            <a:r>
              <a:rPr lang="en-US" sz="2000" dirty="0">
                <a:solidFill>
                  <a:srgbClr val="002060"/>
                </a:solidFill>
              </a:rPr>
              <a:t> does so 7 times out of 10. A ball is drawn at random from a bag containing one black ball and five other balls of different colors. Both </a:t>
            </a:r>
            <a:r>
              <a:rPr lang="en-US" sz="2000" i="1" dirty="0">
                <a:solidFill>
                  <a:srgbClr val="002060"/>
                </a:solidFill>
              </a:rPr>
              <a:t>A</a:t>
            </a:r>
            <a:r>
              <a:rPr lang="en-US" sz="2000" dirty="0">
                <a:solidFill>
                  <a:srgbClr val="002060"/>
                </a:solidFill>
              </a:rPr>
              <a:t> and </a:t>
            </a:r>
            <a:r>
              <a:rPr lang="en-US" sz="2000" i="1" dirty="0">
                <a:solidFill>
                  <a:srgbClr val="002060"/>
                </a:solidFill>
              </a:rPr>
              <a:t>B</a:t>
            </a:r>
            <a:r>
              <a:rPr lang="en-US" sz="2000" dirty="0">
                <a:solidFill>
                  <a:srgbClr val="002060"/>
                </a:solidFill>
              </a:rPr>
              <a:t> report that a black ball has been drawn from the bag. What is the probability of their assertion being true?</a:t>
            </a:r>
          </a:p>
          <a:p>
            <a:endParaRPr lang="en-US" sz="2000" dirty="0">
              <a:solidFill>
                <a:srgbClr val="002060"/>
              </a:solidFill>
            </a:endParaRPr>
          </a:p>
          <a:p>
            <a:endParaRPr lang="en-US" sz="2000" dirty="0">
              <a:solidFill>
                <a:srgbClr val="002060"/>
              </a:solidFill>
            </a:endParaRPr>
          </a:p>
          <a:p>
            <a:endParaRPr lang="en-US" sz="2000" dirty="0">
              <a:solidFill>
                <a:srgbClr val="002060"/>
              </a:solidFill>
            </a:endParaRPr>
          </a:p>
          <a:p>
            <a:endParaRPr lang="en-US" sz="2000" dirty="0">
              <a:solidFill>
                <a:srgbClr val="002060"/>
              </a:solidFill>
            </a:endParaRPr>
          </a:p>
          <a:p>
            <a:pPr marL="0" indent="0">
              <a:buNone/>
            </a:pPr>
            <a:endParaRPr lang="en-US" sz="2000" dirty="0">
              <a:solidFill>
                <a:srgbClr val="002060"/>
              </a:solidFill>
            </a:endParaRPr>
          </a:p>
          <a:p>
            <a:endParaRPr lang="en-US" sz="2000" dirty="0">
              <a:solidFill>
                <a:srgbClr val="002060"/>
              </a:solidFill>
            </a:endParaRPr>
          </a:p>
          <a:p>
            <a:endParaRPr lang="en-US" sz="2000" dirty="0">
              <a:solidFill>
                <a:srgbClr val="002060"/>
              </a:solidFill>
            </a:endParaRPr>
          </a:p>
        </p:txBody>
      </p:sp>
    </p:spTree>
    <p:extLst>
      <p:ext uri="{BB962C8B-B14F-4D97-AF65-F5344CB8AC3E}">
        <p14:creationId xmlns:p14="http://schemas.microsoft.com/office/powerpoint/2010/main" val="1549836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3C384-057A-46DF-96D7-D7F1A0D8511B}"/>
              </a:ext>
            </a:extLst>
          </p:cNvPr>
          <p:cNvSpPr>
            <a:spLocks noGrp="1"/>
          </p:cNvSpPr>
          <p:nvPr>
            <p:ph type="title"/>
          </p:nvPr>
        </p:nvSpPr>
        <p:spPr>
          <a:xfrm>
            <a:off x="581192" y="1936596"/>
            <a:ext cx="11029616" cy="1013800"/>
          </a:xfrm>
        </p:spPr>
        <p:txBody>
          <a:bodyPr>
            <a:normAutofit fontScale="90000"/>
          </a:bodyPr>
          <a:lstStyle/>
          <a:p>
            <a:r>
              <a:rPr lang="en-US" cap="none" dirty="0">
                <a:solidFill>
                  <a:schemeClr val="tx1"/>
                </a:solidFill>
              </a:rPr>
              <a:t>In an objective type examination, each question has four options of which only one is correct. A student taking the examination either guesses or copies or knows the answer to any question. The probability that he guesses is 1/3 and that the he copies is 1/6 . the probability that he answers correctly if he copies is  1/8. If an answer is given to be correct, find the probability that the student knew the answer.</a:t>
            </a:r>
            <a:br>
              <a:rPr lang="en-US" cap="none" dirty="0">
                <a:solidFill>
                  <a:schemeClr val="tx1"/>
                </a:solidFill>
              </a:rPr>
            </a:br>
            <a:endParaRPr lang="en-IN" cap="none" dirty="0">
              <a:solidFill>
                <a:schemeClr val="tx1"/>
              </a:solidFill>
            </a:endParaRPr>
          </a:p>
        </p:txBody>
      </p:sp>
    </p:spTree>
    <p:extLst>
      <p:ext uri="{BB962C8B-B14F-4D97-AF65-F5344CB8AC3E}">
        <p14:creationId xmlns:p14="http://schemas.microsoft.com/office/powerpoint/2010/main" val="4292172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6D6D-393E-4CF4-A448-5B6859143D66}"/>
              </a:ext>
            </a:extLst>
          </p:cNvPr>
          <p:cNvSpPr>
            <a:spLocks noGrp="1"/>
          </p:cNvSpPr>
          <p:nvPr>
            <p:ph type="title"/>
          </p:nvPr>
        </p:nvSpPr>
        <p:spPr/>
        <p:txBody>
          <a:bodyPr/>
          <a:lstStyle/>
          <a:p>
            <a:r>
              <a:rPr lang="en-US" dirty="0">
                <a:solidFill>
                  <a:srgbClr val="002060"/>
                </a:solidFill>
              </a:rPr>
              <a:t>Summary</a:t>
            </a:r>
            <a:endParaRPr lang="en-IN" dirty="0">
              <a:solidFill>
                <a:srgbClr val="002060"/>
              </a:solidFill>
            </a:endParaRPr>
          </a:p>
        </p:txBody>
      </p:sp>
      <p:pic>
        <p:nvPicPr>
          <p:cNvPr id="4" name="Picture 3">
            <a:extLst>
              <a:ext uri="{FF2B5EF4-FFF2-40B4-BE49-F238E27FC236}">
                <a16:creationId xmlns:a16="http://schemas.microsoft.com/office/drawing/2014/main" id="{ACAD43BD-52C4-4DD8-ADA1-82689B9E8B73}"/>
              </a:ext>
            </a:extLst>
          </p:cNvPr>
          <p:cNvPicPr>
            <a:picLocks noChangeAspect="1"/>
          </p:cNvPicPr>
          <p:nvPr/>
        </p:nvPicPr>
        <p:blipFill>
          <a:blip r:embed="rId2"/>
          <a:stretch>
            <a:fillRect/>
          </a:stretch>
        </p:blipFill>
        <p:spPr>
          <a:xfrm>
            <a:off x="2858999" y="1898128"/>
            <a:ext cx="6845071" cy="4959872"/>
          </a:xfrm>
          <a:prstGeom prst="rect">
            <a:avLst/>
          </a:prstGeom>
        </p:spPr>
      </p:pic>
    </p:spTree>
    <p:extLst>
      <p:ext uri="{BB962C8B-B14F-4D97-AF65-F5344CB8AC3E}">
        <p14:creationId xmlns:p14="http://schemas.microsoft.com/office/powerpoint/2010/main" val="1594163752"/>
      </p:ext>
    </p:extLst>
  </p:cSld>
  <p:clrMapOvr>
    <a:masterClrMapping/>
  </p:clrMapOvr>
</p:sld>
</file>

<file path=ppt/theme/theme1.xml><?xml version="1.0" encoding="utf-8"?>
<a:theme xmlns:a="http://schemas.openxmlformats.org/drawingml/2006/main" name="Dividend">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393</TotalTime>
  <Words>2714</Words>
  <Application>Microsoft Office PowerPoint</Application>
  <PresentationFormat>Widescreen</PresentationFormat>
  <Paragraphs>181</Paragraphs>
  <Slides>41</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Arial</vt:lpstr>
      <vt:lpstr>Calibri</vt:lpstr>
      <vt:lpstr>Cambria</vt:lpstr>
      <vt:lpstr>Corbel</vt:lpstr>
      <vt:lpstr>Gill Sans MT</vt:lpstr>
      <vt:lpstr>Roboto</vt:lpstr>
      <vt:lpstr>Times New Roman</vt:lpstr>
      <vt:lpstr>Trebuchet MS</vt:lpstr>
      <vt:lpstr>Verdana</vt:lpstr>
      <vt:lpstr>Wingdings</vt:lpstr>
      <vt:lpstr>Wingdings 2</vt:lpstr>
      <vt:lpstr>Dividend</vt:lpstr>
      <vt:lpstr>MODULE 1</vt:lpstr>
      <vt:lpstr>Module Contents: </vt:lpstr>
      <vt:lpstr>Probability</vt:lpstr>
      <vt:lpstr>Random Experiment, Sample space &amp; Events</vt:lpstr>
      <vt:lpstr>Sample space</vt:lpstr>
      <vt:lpstr>Different  Types of Sample Space</vt:lpstr>
      <vt:lpstr>Types of Events</vt:lpstr>
      <vt:lpstr>PowerPoint Presentation</vt:lpstr>
      <vt:lpstr>Types of Events</vt:lpstr>
      <vt:lpstr>Mutually Exclusive &amp; Exhaustive Events </vt:lpstr>
      <vt:lpstr>SAMPLE SPACE EXERCISE</vt:lpstr>
      <vt:lpstr>Classical Approach  Relative Frequency Theory of Probability Subjective Probability Axiomatic Approach of Probability  </vt:lpstr>
      <vt:lpstr>Classical Approach (Prior Probability)</vt:lpstr>
      <vt:lpstr>Relative Frequency Theory of Probability</vt:lpstr>
      <vt:lpstr>Subjective Probability</vt:lpstr>
      <vt:lpstr>Axiomatic Approach of Probability</vt:lpstr>
      <vt:lpstr>PowerPoint Presentation</vt:lpstr>
      <vt:lpstr>PowerPoint Presentation</vt:lpstr>
      <vt:lpstr>Addition Theorem</vt:lpstr>
      <vt:lpstr>Addition Theorem</vt:lpstr>
      <vt:lpstr>Conditional Probability</vt:lpstr>
      <vt:lpstr>Multiplication Theorem</vt:lpstr>
      <vt:lpstr>Multiplication Theorem</vt:lpstr>
      <vt:lpstr>Multiplication Theorem</vt:lpstr>
      <vt:lpstr>Multiplication Theorem</vt:lpstr>
      <vt:lpstr>A problem in statistics is given to three students A, B, C whose chances of solving it are 1/2, 1/3, 1/4 respectively. What is the probability that the problem will be solved ?</vt:lpstr>
      <vt:lpstr>The probability that A speaks truth is 4/5, while its probability for B is 3⁄4, the probability that they contradict each other when asked to speak on a fact is:</vt:lpstr>
      <vt:lpstr>Odds</vt:lpstr>
      <vt:lpstr>If two dice are thrown, what is the probability that the sum is  (a) greater than 9, and  (b) neither 7 nor II? </vt:lpstr>
      <vt:lpstr>A card is drawn from a well-shuffled pack of playing cards. What is the probability that it is either a spade or an ace? </vt:lpstr>
      <vt:lpstr>The Odds against manager X settling the wage dispute with the workers are 8:6 and odds in favor of manager Y settling the same dispute are 14:16.  (a) what is the chance that neither settles the dispute, if they both try, independently of each other?  (b) what is the probability that the dispute will be settled? </vt:lpstr>
      <vt:lpstr>Bayes' Theorem</vt:lpstr>
      <vt:lpstr>Bayes Theorem</vt:lpstr>
      <vt:lpstr>BAYE’S THEOREM</vt:lpstr>
      <vt:lpstr>There are two identical urns containing respectively 6 black and 4 red balls, 2 black and 2 red balls. An urn is chosen at random and a ball is drawn from it.  (I) find the probability that the ball is black  (ii) if the ball is black, what is the probability that it is from the first urn?</vt:lpstr>
      <vt:lpstr>You randomly choose a treasure chest to open, and then randomly choose a coin from the treasure chest. If the coin you choose is gold, what is the probability you chose chest A? </vt:lpstr>
      <vt:lpstr>A company has two plants to manufacture scooters. Plant I manufactures 80% of the scooters and plant II manufactures 20%. At plant I, 85 out of 100 scooters are rated as of standard quality and at plant II, 65 out  of 100 scooters are rated as of standard quality. A scooter is chosen at random and is found to be of standard quality. What is the probability that it has come from plant II?</vt:lpstr>
      <vt:lpstr>PowerPoint Presentation</vt:lpstr>
      <vt:lpstr>PowerPoint Presentation</vt:lpstr>
      <vt:lpstr>In an objective type examination, each question has four options of which only one is correct. A student taking the examination either guesses or copies or knows the answer to any question. The probability that he guesses is 1/3 and that the he copies is 1/6 . the probability that he answers correctly if he copies is  1/8. If an answer is given to be correct, find the probability that the student knew the answer.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keerthy santhosh</dc:creator>
  <cp:lastModifiedBy>admin</cp:lastModifiedBy>
  <cp:revision>31</cp:revision>
  <dcterms:created xsi:type="dcterms:W3CDTF">2025-07-12T14:00:58Z</dcterms:created>
  <dcterms:modified xsi:type="dcterms:W3CDTF">2026-07-17T08:46:39Z</dcterms:modified>
</cp:coreProperties>
</file>