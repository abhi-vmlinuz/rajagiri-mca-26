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1400" b="1">
                <a:solidFill>
                  <a:srgbClr val="E0562E"/>
                </a:solidFill>
                <a:latin typeface="Arial"/>
              </a:rPr>
              <a:t>SMART INDIA HACKATHON 2026 • IDEA PROPOSAL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2800" b="1">
                <a:solidFill>
                  <a:srgbClr val="1A365D"/>
                </a:solidFill>
                <a:latin typeface="Arial"/>
              </a:rPr>
              <a:t>CareerGPS: AI Adaptive Career &amp; Skill Navigator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Problem Statement ID:</a:t>
            </a:r>
            <a:r>
              <a:rPr b="1" sz="1500">
                <a:solidFill>
                  <a:srgbClr val="0C8599"/>
                </a:solidFill>
                <a:latin typeface="Arial"/>
              </a:rPr>
              <a:t> SIH25094</a:t>
            </a:r>
            <a:endParaRPr lang="en-US" dirty="0"/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Problem Statement Title:</a:t>
            </a:r>
            <a:r>
              <a:rPr b="0" sz="1500">
                <a:solidFill>
                  <a:srgbClr val="2D3748"/>
                </a:solidFill>
                <a:latin typeface="Arial"/>
              </a:rPr>
              <a:t> One-Stop Personalized Career &amp; Education Advisor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Theme:</a:t>
            </a:r>
            <a:r>
              <a:rPr b="0" sz="1500">
                <a:solidFill>
                  <a:srgbClr val="2D3748"/>
                </a:solidFill>
                <a:latin typeface="Arial"/>
              </a:rPr>
              <a:t> Smart Education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PS Category:</a:t>
            </a:r>
            <a:r>
              <a:rPr b="0" sz="1500">
                <a:solidFill>
                  <a:srgbClr val="2D3748"/>
                </a:solidFill>
                <a:latin typeface="Arial"/>
              </a:rPr>
              <a:t> Software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Team ID:</a:t>
            </a:r>
            <a:r>
              <a:rPr b="0" sz="1500">
                <a:solidFill>
                  <a:srgbClr val="4A5568"/>
                </a:solidFill>
                <a:latin typeface="Arial"/>
              </a:rPr>
              <a:t> [To be assigned]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1A365D"/>
                </a:solidFill>
                <a:latin typeface="Arial"/>
              </a:rPr>
              <a:t>Team Name:</a:t>
            </a:r>
            <a:r>
              <a:rPr b="1" sz="1500">
                <a:solidFill>
                  <a:srgbClr val="E0562E"/>
                </a:solidFill>
                <a:latin typeface="Arial"/>
              </a:rPr>
              <a:t> Binary Brigade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200" b="1">
                <a:solidFill>
                  <a:srgbClr val="1A365D"/>
                </a:solidFill>
                <a:latin typeface="Arial"/>
              </a:rPr>
              <a:t>PROPOSED SOLUTION: CareerGPS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107899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b="1" sz="1350">
                <a:solidFill>
                  <a:srgbClr val="E0562E"/>
                </a:solidFill>
                <a:latin typeface="Arial"/>
              </a:rPr>
              <a:t>Core Concept &amp; Overview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CareerGPS Platform: </a:t>
            </a:r>
            <a:r>
              <a:rPr b="0" sz="1150">
                <a:solidFill>
                  <a:srgbClr val="2D3748"/>
                </a:solidFill>
                <a:latin typeface="Arial"/>
              </a:rPr>
              <a:t>An AI-powered, hyper-personalized career navigation and diagnostic intelligence engine that bridges the critical disconnect between static university curricula and dynamic industry engineering standards.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Adaptive Diagnostic Stress-Testing: </a:t>
            </a:r>
            <a:r>
              <a:rPr b="0" sz="1150">
                <a:solidFill>
                  <a:srgbClr val="2D3748"/>
                </a:solidFill>
                <a:latin typeface="Arial"/>
              </a:rPr>
              <a:t>Generates 5 progressive scenario questions per topic (Fundamentals, Architecture, Edge Cases, Performance, Production Debugging) to accurately measure authentic technical capability.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Key Capabilities &amp; Architecture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90+ Interactive Flowchart Tracks: </a:t>
            </a:r>
            <a:r>
              <a:rPr b="0" sz="1150">
                <a:solidFill>
                  <a:srgbClr val="2D3748"/>
                </a:solidFill>
                <a:latin typeface="Arial"/>
              </a:rPr>
              <a:t>Visual roadmap milestones mapped directly to student diagnostic strengths and gaps, complete with in-situ 'Quiz Me' verification.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Skill Pentagon Competency Radar: </a:t>
            </a:r>
            <a:r>
              <a:rPr b="0" sz="1150">
                <a:solidFill>
                  <a:srgbClr val="2D3748"/>
                </a:solidFill>
                <a:latin typeface="Arial"/>
              </a:rPr>
              <a:t>Real-time 5-pillar visualization evaluating Architecture, Core Syntax, Tooling/DevOps, Performance, and Security/Accessibility.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AI Resume ATS Scanner &amp; Career Mentor: </a:t>
            </a:r>
            <a:r>
              <a:rPr b="0" sz="1150">
                <a:solidFill>
                  <a:srgbClr val="2D3748"/>
                </a:solidFill>
                <a:latin typeface="Arial"/>
              </a:rPr>
              <a:t>Sub-second parsing of student resumes, evaluating keyword density, formatting compliance, and delivering instant tailored career guidance.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Innovation &amp; Uniqueness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Eliminating 'Spray &amp; Pray': </a:t>
            </a:r>
            <a:r>
              <a:rPr b="0" sz="1150">
                <a:solidFill>
                  <a:srgbClr val="2D3748"/>
                </a:solidFill>
                <a:latin typeface="Arial"/>
              </a:rPr>
              <a:t>Replaces passive video playlists with evidence-based milestone mastery and live readiness score progression (10% to 100%).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Ultra-Low Latency Inference: </a:t>
            </a:r>
            <a:r>
              <a:rPr b="0" sz="1150">
                <a:solidFill>
                  <a:srgbClr val="2D3748"/>
                </a:solidFill>
                <a:latin typeface="Arial"/>
              </a:rPr>
              <a:t>Sub-500ms response time powered by Groq LPU technology with multi-tier automatic failovers for zero downtime.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1D75"/>
                </a:solidFill>
                <a:latin typeface="Arial"/>
              </a:rPr>
              <a:t>Binary Brigade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200" b="1">
                <a:solidFill>
                  <a:srgbClr val="1A365D"/>
                </a:solidFill>
                <a:latin typeface="Arial"/>
              </a:rP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107899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indent="-342900" algn="just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b="1" sz="1350">
                <a:solidFill>
                  <a:srgbClr val="E0562E"/>
                </a:solidFill>
                <a:latin typeface="Arial"/>
              </a:rPr>
              <a:t>Technology Stack &amp; Tooling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Frontend &amp; Interface: </a:t>
            </a:r>
            <a:r>
              <a:rPr b="0" sz="1150">
                <a:solidFill>
                  <a:srgbClr val="2D3748"/>
                </a:solidFill>
                <a:latin typeface="Arial"/>
              </a:rPr>
              <a:t>Next.js 16 (App Router / Turbopack), React 19, Tailwind CSS v4, Framer Motion, Lucide Icons, SVG Competency Radar.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Ultra-Fast AI Inference: </a:t>
            </a:r>
            <a:r>
              <a:rPr b="0" sz="1150">
                <a:solidFill>
                  <a:srgbClr val="2D3748"/>
                </a:solidFill>
                <a:latin typeface="Arial"/>
              </a:rPr>
              <a:t>Groq LPU (openai/gpt-oss-120b &amp; gpt-oss-20b for ~400ms quiz generation and mentor chat), with Xiaomi MiMo v2.5 and Gemini 2.0 Flash failover.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Data &amp; Parsing Pipeline: </a:t>
            </a:r>
            <a:r>
              <a:rPr b="0" sz="1150">
                <a:solidFill>
                  <a:srgbClr val="2D3748"/>
                </a:solidFill>
                <a:latin typeface="Arial"/>
              </a:rPr>
              <a:t>PostgreSQL database, NextAuth.js session security, Fisher-Yates randomized option distribution, and pdf-parse for instant ATS resume extraction.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System Workflow &amp; Implementation Methodology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Step 1 (Candidate Ingestion): </a:t>
            </a:r>
            <a:r>
              <a:rPr b="0" sz="1150">
                <a:solidFill>
                  <a:srgbClr val="2D3748"/>
                </a:solidFill>
                <a:latin typeface="Arial"/>
              </a:rPr>
              <a:t>User enters via structured Career Discovery questions or one-click PDF resume upload.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Step 2 (5-Aspect Diagnostic Evaluation): </a:t>
            </a:r>
            <a:r>
              <a:rPr b="0" sz="1150">
                <a:solidFill>
                  <a:srgbClr val="2D3748"/>
                </a:solidFill>
                <a:latin typeface="Arial"/>
              </a:rPr>
              <a:t>AI generates 25-30 scenario-based questions probing deep technical depth across chosen domains.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Step 3 (Gap Calibration &amp; Radar): </a:t>
            </a:r>
            <a:r>
              <a:rPr b="0" sz="1150">
                <a:solidFill>
                  <a:srgbClr val="2D3748"/>
                </a:solidFill>
                <a:latin typeface="Arial"/>
              </a:rPr>
              <a:t>System computes verified readiness score and plots candidate strengths on the 5-Pillar Skill Pentagon.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Step 4 (Adaptive Roadmap &amp; Verification): </a:t>
            </a:r>
            <a:r>
              <a:rPr b="0" sz="1150">
                <a:solidFill>
                  <a:srgbClr val="2D3748"/>
                </a:solidFill>
                <a:latin typeface="Arial"/>
              </a:rPr>
              <a:t>Student navigates interactive flowchart blocks; passing in-situ quizzes immediately updates nodes to 'Mastered' with live score gains.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1D75"/>
                </a:solidFill>
                <a:latin typeface="Arial"/>
              </a:rPr>
              <a:t>Binary Brigade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200" b="1">
                <a:solidFill>
                  <a:srgbClr val="1A365D"/>
                </a:solidFill>
                <a:latin typeface="Arial"/>
              </a:rPr>
              <a:t>FEASIBILITY &amp;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107899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50">
                <a:solidFill>
                  <a:srgbClr val="E0562E"/>
                </a:solidFill>
                <a:latin typeface="Arial"/>
              </a:rPr>
              <a:t>Technical Feasibility &amp; Prototype Maturity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Production-Ready Prototype: </a:t>
            </a:r>
            <a:r>
              <a:rPr b="0" sz="1150">
                <a:solidFill>
                  <a:srgbClr val="2D3748"/>
                </a:solidFill>
                <a:latin typeface="Arial"/>
              </a:rPr>
              <a:t>Working full-stack implementation with 17 Next.js routes, live Groq LPU inference, sub-500ms AI generation, and 90+ comprehensive roadmaps.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Low Operational Overhead: </a:t>
            </a:r>
            <a:r>
              <a:rPr b="0" sz="1150">
                <a:solidFill>
                  <a:srgbClr val="2D3748"/>
                </a:solidFill>
                <a:latin typeface="Arial"/>
              </a:rPr>
              <a:t>Serverless web architecture and high-throughput LPU token economics allow scaling to 50,000+ concurrent students without dedicated GPU server clusters.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Potential Challenges &amp; Strategic Mitigations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Challenge 1: LLM Latency &amp; Availability: </a:t>
            </a:r>
            <a:r>
              <a:rPr b="0" sz="1150">
                <a:solidFill>
                  <a:srgbClr val="2D3748"/>
                </a:solidFill>
                <a:latin typeface="Arial"/>
              </a:rPr>
              <a:t>Mitigation: Groq LPU ultra-fast engine paired with a 4-tier resilient failover pipeline (Groq → MiMo → Gemini → Dynamic Synthesizer).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Challenge 2: Assessment Rigor &amp; Answer Guessing: </a:t>
            </a:r>
            <a:r>
              <a:rPr b="0" sz="1150">
                <a:solidFill>
                  <a:srgbClr val="2D3748"/>
                </a:solidFill>
                <a:latin typeface="Arial"/>
              </a:rPr>
              <a:t>Mitigation: 5-aspect progressive difficulty (Fundamentals to Incident Triage) combined with Fisher-Yates dynamic option shuffling.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Challenge 3: Rapid Evolution of Tech Roles: </a:t>
            </a:r>
            <a:r>
              <a:rPr b="0" sz="1150">
                <a:solidFill>
                  <a:srgbClr val="2D3748"/>
                </a:solidFill>
                <a:latin typeface="Arial"/>
              </a:rPr>
              <a:t>Mitigation: Modular schema-driven JSON roadmaps catalog enabling new tech specializations (e.g. AI Agents, Rust) to be added in hours.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1D75"/>
                </a:solidFill>
                <a:latin typeface="Arial"/>
              </a:rPr>
              <a:t>Binary Brigade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200" b="1">
                <a:solidFill>
                  <a:srgbClr val="1A365D"/>
                </a:solidFill>
                <a:latin typeface="Arial"/>
              </a:rPr>
              <a:t>IMPACT &amp;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107899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50">
                <a:solidFill>
                  <a:srgbClr val="E0562E"/>
                </a:solidFill>
                <a:latin typeface="Arial"/>
              </a:rPr>
              <a:t>Target Audience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Primary Users: </a:t>
            </a:r>
            <a:r>
              <a:rPr b="0" sz="1150">
                <a:solidFill>
                  <a:srgbClr val="2D3748"/>
                </a:solidFill>
                <a:latin typeface="Arial"/>
              </a:rPr>
              <a:t>Engineering &amp; Computer Science undergraduates, polytechnic students, self-taught developers, and career transitioners.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Institutional Stakeholders: </a:t>
            </a:r>
            <a:r>
              <a:rPr b="0" sz="1150">
                <a:solidFill>
                  <a:srgbClr val="2D3748"/>
                </a:solidFill>
                <a:latin typeface="Arial"/>
              </a:rPr>
              <a:t>University placement cells, academic departments, edtech incubators, and technical hiring recruiters.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Key Benefits &amp; Societal Value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Democratizing Elite Mentorship: </a:t>
            </a:r>
            <a:r>
              <a:rPr b="0" sz="1150">
                <a:solidFill>
                  <a:srgbClr val="2D3748"/>
                </a:solidFill>
                <a:latin typeface="Arial"/>
              </a:rPr>
              <a:t>Provides Tier-2 and Tier-3 college students with senior-level architectural guidance and ATS resume audits, leveling the playing field for top tech careers.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10x Learning Efficiency: </a:t>
            </a:r>
            <a:r>
              <a:rPr b="0" sz="1150">
                <a:solidFill>
                  <a:srgbClr val="2D3748"/>
                </a:solidFill>
                <a:latin typeface="Arial"/>
              </a:rPr>
              <a:t>Eliminates hundreds of wasted hours on repetitive generic tutorials by pinpointing exact missing prerequisites and providing structured weekly action plans.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Objective Placement Readiness: </a:t>
            </a:r>
            <a:r>
              <a:rPr b="0" sz="1150">
                <a:solidFill>
                  <a:srgbClr val="2D3748"/>
                </a:solidFill>
                <a:latin typeface="Arial"/>
              </a:rPr>
              <a:t>Empowers placement cells with verified competency metrics rather than subjective self-assessments, boosting institutional campus placement rates.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Economic Impact: </a:t>
            </a:r>
            <a:r>
              <a:rPr b="0" sz="1150">
                <a:solidFill>
                  <a:srgbClr val="2D3748"/>
                </a:solidFill>
                <a:latin typeface="Arial"/>
              </a:rPr>
              <a:t>Reduces industry hiring mismatch and onboarding training costs by producing job-ready candidates with verified production competency.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1D75"/>
                </a:solidFill>
                <a:latin typeface="Arial"/>
              </a:rPr>
              <a:t>Binary Brigade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200" b="1">
                <a:solidFill>
                  <a:srgbClr val="1A365D"/>
                </a:solidFill>
                <a:latin typeface="Arial"/>
              </a:rP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107899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50">
                <a:solidFill>
                  <a:srgbClr val="E0562E"/>
                </a:solidFill>
                <a:latin typeface="Arial"/>
              </a:rPr>
              <a:t>Curriculum &amp; Developer Skill Tree Benchmarks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Roadmap.sh Standards (https://roadmap.sh): </a:t>
            </a:r>
            <a:r>
              <a:rPr b="0" sz="1150">
                <a:solidFill>
                  <a:srgbClr val="2D3748"/>
                </a:solidFill>
                <a:latin typeface="Arial"/>
              </a:rPr>
              <a:t>Open-source developer competency trees and prerequisite dependency graphs used to benchmark our 90+ career tracks.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MDN Web Docs &amp; W3C Standards (https://developer.mozilla.org): </a:t>
            </a:r>
            <a:r>
              <a:rPr b="0" sz="1150">
                <a:solidFill>
                  <a:srgbClr val="2D3748"/>
                </a:solidFill>
                <a:latin typeface="Arial"/>
              </a:rPr>
              <a:t>Official web development documentation and industry best practices utilized for in-situ learning links and curriculum design.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AI Inference &amp; Model Architecture References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Groq LPU Inference Cloud (https://groq.com / https://console.groq.com): </a:t>
            </a:r>
            <a:r>
              <a:rPr b="0" sz="1150">
                <a:solidFill>
                  <a:srgbClr val="2D3748"/>
                </a:solidFill>
                <a:latin typeface="Arial"/>
              </a:rPr>
              <a:t>Sub-500ms deterministic Language Processing Unit inference used for high-speed diagnostic quiz generation and mentor responses.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Xiaomi MiMo Open Platform (https://api.xiaomimimo.com): </a:t>
            </a:r>
            <a:r>
              <a:rPr b="0" sz="1150">
                <a:solidFill>
                  <a:srgbClr val="2D3748"/>
                </a:solidFill>
                <a:latin typeface="Arial"/>
              </a:rPr>
              <a:t>High-speed conversational LLM API integrated as primary conversational mentor fallback.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Google Gemini 2.0 API (https://ai.google.dev): </a:t>
            </a:r>
            <a:r>
              <a:rPr b="0" sz="1150">
                <a:solidFill>
                  <a:srgbClr val="2D3748"/>
                </a:solidFill>
                <a:latin typeface="Arial"/>
              </a:rPr>
              <a:t>Multimodal large language model infrastructure for deep conceptual explanation synthesis.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350">
                <a:solidFill>
                  <a:srgbClr val="E0562E"/>
                </a:solidFill>
                <a:latin typeface="Arial"/>
              </a:rPr>
              <a:t>Full-Stack Engineering &amp; UI Frameworks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Next.js &amp; React Documentation (https://nextjs.org/docs): </a:t>
            </a:r>
            <a:r>
              <a:rPr b="0" sz="1150">
                <a:solidFill>
                  <a:srgbClr val="2D3748"/>
                </a:solidFill>
                <a:latin typeface="Arial"/>
              </a:rPr>
              <a:t>App Router architecture, React 19 server components, and Turbopack compiler patterns.</a:t>
            </a:r>
          </a:p>
          <a:p>
            <a:pPr lvl="1">
              <a:spcAft>
                <a:spcPts val="250"/>
              </a:spcAft>
            </a:pPr>
            <a:r>
              <a:rPr b="1" sz="1150">
                <a:solidFill>
                  <a:srgbClr val="1A365D"/>
                </a:solidFill>
                <a:latin typeface="Arial"/>
              </a:rPr>
              <a:t>Tailwind CSS Design System (https://tailwindcss.com): </a:t>
            </a:r>
            <a:r>
              <a:rPr b="0" sz="1150">
                <a:solidFill>
                  <a:srgbClr val="2D3748"/>
                </a:solidFill>
                <a:latin typeface="Arial"/>
              </a:rPr>
              <a:t>Utility-first design token framework for responsive, accessible user interfaces.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1D75"/>
                </a:solidFill>
                <a:latin typeface="Arial"/>
              </a:rPr>
              <a:t>Binary Brigade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148</cp:revision>
  <dcterms:created xsi:type="dcterms:W3CDTF">2013-12-12T18:46:50Z</dcterms:created>
  <dcterms:modified xsi:type="dcterms:W3CDTF">2026-07-29T07:05:45Z</dcterms:modified>
  <cp:category/>
</cp:coreProperties>
</file>