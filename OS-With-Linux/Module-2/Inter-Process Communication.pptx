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83" r:id="rId9"/>
    <p:sldId id="263" r:id="rId10"/>
    <p:sldId id="264" r:id="rId11"/>
    <p:sldId id="267" r:id="rId12"/>
    <p:sldId id="268" r:id="rId13"/>
    <p:sldId id="269" r:id="rId14"/>
    <p:sldId id="270" r:id="rId15"/>
    <p:sldId id="284" r:id="rId16"/>
    <p:sldId id="271" r:id="rId17"/>
    <p:sldId id="285" r:id="rId18"/>
    <p:sldId id="275" r:id="rId19"/>
    <p:sldId id="272" r:id="rId20"/>
    <p:sldId id="286" r:id="rId21"/>
    <p:sldId id="273" r:id="rId22"/>
    <p:sldId id="274" r:id="rId23"/>
    <p:sldId id="276" r:id="rId24"/>
    <p:sldId id="287" r:id="rId25"/>
    <p:sldId id="277" r:id="rId26"/>
    <p:sldId id="278" r:id="rId27"/>
    <p:sldId id="288" r:id="rId28"/>
    <p:sldId id="282" r:id="rId29"/>
    <p:sldId id="280" r:id="rId30"/>
    <p:sldId id="292" r:id="rId31"/>
    <p:sldId id="289" r:id="rId32"/>
    <p:sldId id="281" r:id="rId33"/>
    <p:sldId id="291"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324" autoAdjust="0"/>
  </p:normalViewPr>
  <p:slideViewPr>
    <p:cSldViewPr snapToGrid="0" snapToObjects="1">
      <p:cViewPr varScale="1">
        <p:scale>
          <a:sx n="112" d="100"/>
          <a:sy n="112" d="100"/>
        </p:scale>
        <p:origin x="77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0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shared memory, multiple processes access the </a:t>
            </a:r>
            <a:r>
              <a:rPr lang="en-US" b="1" dirty="0"/>
              <a:t>same memory location</a:t>
            </a:r>
            <a:r>
              <a:rPr lang="en-US" dirty="0"/>
              <a:t>. </a:t>
            </a:r>
          </a:p>
          <a:p>
            <a:r>
              <a:rPr lang="en-US" dirty="0"/>
              <a:t>If two or more processes try to modify the same data at the same time, the data can become incorrect or inconsistent. </a:t>
            </a:r>
          </a:p>
          <a:p>
            <a:r>
              <a:rPr lang="en-US" dirty="0"/>
              <a:t>This problem is known as a </a:t>
            </a:r>
            <a:r>
              <a:rPr lang="en-US" b="1" dirty="0"/>
              <a:t>race condition</a:t>
            </a:r>
            <a:r>
              <a:rPr lang="en-US" dirty="0"/>
              <a:t>.</a:t>
            </a:r>
          </a:p>
          <a:p>
            <a:endParaRPr lang="en-US" dirty="0"/>
          </a:p>
          <a:p>
            <a:r>
              <a:rPr lang="en-US" dirty="0"/>
              <a:t>To prevent two processes from modifying shared memory simultaneously, the operating system provides </a:t>
            </a:r>
            <a:r>
              <a:rPr lang="en-US" b="1" dirty="0"/>
              <a:t>mutual exclusion (mutex)</a:t>
            </a:r>
            <a:r>
              <a:rPr lang="en-US" dirty="0"/>
              <a:t>.</a:t>
            </a:r>
          </a:p>
          <a:p>
            <a:r>
              <a:rPr lang="en-US" dirty="0"/>
              <a:t>A mutex acts like a </a:t>
            </a:r>
            <a:r>
              <a:rPr lang="en-US" b="1" dirty="0"/>
              <a:t>lock</a:t>
            </a:r>
            <a:r>
              <a:rPr lang="en-US" dirty="0"/>
              <a:t>.</a:t>
            </a:r>
          </a:p>
          <a:p>
            <a:pPr>
              <a:buFont typeface="Arial" panose="020B0604020202020204" pitchFamily="34" charset="0"/>
              <a:buChar char="•"/>
            </a:pPr>
            <a:r>
              <a:rPr lang="en-US" dirty="0"/>
              <a:t>Before accessing shared memory, a process acquires the lock. </a:t>
            </a:r>
          </a:p>
          <a:p>
            <a:pPr>
              <a:buFont typeface="Arial" panose="020B0604020202020204" pitchFamily="34" charset="0"/>
              <a:buChar char="•"/>
            </a:pPr>
            <a:r>
              <a:rPr lang="en-US" dirty="0"/>
              <a:t>While the lock is held, no other process can enter the critical section. </a:t>
            </a:r>
          </a:p>
          <a:p>
            <a:pPr>
              <a:buFont typeface="Arial" panose="020B0604020202020204" pitchFamily="34" charset="0"/>
              <a:buChar char="•"/>
            </a:pPr>
            <a:r>
              <a:rPr lang="en-US" dirty="0"/>
              <a:t>After completing its work, the process releases the lock.</a:t>
            </a:r>
          </a:p>
          <a:p>
            <a:pPr>
              <a:buFont typeface="Arial" panose="020B0604020202020204" pitchFamily="34" charset="0"/>
              <a:buChar char="•"/>
            </a:pPr>
            <a:endParaRPr lang="en-US" dirty="0"/>
          </a:p>
          <a:p>
            <a:r>
              <a:rPr lang="en-US" dirty="0"/>
              <a:t>The operating system provides several synchronization mechanisms:</a:t>
            </a:r>
          </a:p>
          <a:p>
            <a:r>
              <a:rPr lang="en-US" b="1" dirty="0"/>
              <a:t>a) Mutex</a:t>
            </a:r>
          </a:p>
          <a:p>
            <a:pPr>
              <a:buFont typeface="Arial" panose="020B0604020202020204" pitchFamily="34" charset="0"/>
              <a:buChar char="•"/>
            </a:pPr>
            <a:r>
              <a:rPr lang="en-US" dirty="0"/>
              <a:t>A simple lock. </a:t>
            </a:r>
          </a:p>
          <a:p>
            <a:pPr>
              <a:buFont typeface="Arial" panose="020B0604020202020204" pitchFamily="34" charset="0"/>
              <a:buChar char="•"/>
            </a:pPr>
            <a:r>
              <a:rPr lang="en-US" dirty="0"/>
              <a:t>Only one process can own it at a time. </a:t>
            </a:r>
          </a:p>
          <a:p>
            <a:r>
              <a:rPr lang="en-US" dirty="0"/>
              <a:t>Best for:</a:t>
            </a:r>
          </a:p>
          <a:p>
            <a:pPr>
              <a:buFont typeface="Arial" panose="020B0604020202020204" pitchFamily="34" charset="0"/>
              <a:buChar char="•"/>
            </a:pPr>
            <a:r>
              <a:rPr lang="en-US" dirty="0"/>
              <a:t>Protecting one shared resource. </a:t>
            </a:r>
          </a:p>
          <a:p>
            <a:r>
              <a:rPr lang="en-US" b="1" dirty="0"/>
              <a:t>b) Semaphore</a:t>
            </a:r>
          </a:p>
          <a:p>
            <a:r>
              <a:rPr lang="en-US" dirty="0"/>
              <a:t>A semaphore is a synchronization variable controlled by two operations:</a:t>
            </a:r>
          </a:p>
          <a:p>
            <a:pPr>
              <a:buFont typeface="Arial" panose="020B0604020202020204" pitchFamily="34" charset="0"/>
              <a:buChar char="•"/>
            </a:pPr>
            <a:r>
              <a:rPr lang="en-US" b="1" dirty="0"/>
              <a:t>Wait (P)</a:t>
            </a:r>
            <a:r>
              <a:rPr lang="en-US" dirty="0"/>
              <a:t> → Decreases the semaphore value and checks if access is allowed. </a:t>
            </a:r>
          </a:p>
          <a:p>
            <a:pPr>
              <a:buFont typeface="Arial" panose="020B0604020202020204" pitchFamily="34" charset="0"/>
              <a:buChar char="•"/>
            </a:pPr>
            <a:r>
              <a:rPr lang="en-US" b="1" dirty="0"/>
              <a:t>Signal (V)</a:t>
            </a:r>
            <a:r>
              <a:rPr lang="en-US" dirty="0"/>
              <a:t> → Increases the semaphore value and releases the resource. </a:t>
            </a:r>
          </a:p>
          <a:p>
            <a:r>
              <a:rPr lang="en-US" dirty="0"/>
              <a:t>Types:</a:t>
            </a:r>
          </a:p>
          <a:p>
            <a:pPr>
              <a:buFont typeface="Arial" panose="020B0604020202020204" pitchFamily="34" charset="0"/>
              <a:buChar char="•"/>
            </a:pPr>
            <a:r>
              <a:rPr lang="en-US" b="1" dirty="0"/>
              <a:t>Binary Semaphore</a:t>
            </a:r>
            <a:r>
              <a:rPr lang="en-US" dirty="0"/>
              <a:t> </a:t>
            </a:r>
          </a:p>
          <a:p>
            <a:pPr marL="742950" lvl="1" indent="-285750">
              <a:buFont typeface="Arial" panose="020B0604020202020204" pitchFamily="34" charset="0"/>
              <a:buChar char="•"/>
            </a:pPr>
            <a:r>
              <a:rPr lang="en-US" dirty="0"/>
              <a:t>Values: 0 or 1 </a:t>
            </a:r>
          </a:p>
          <a:p>
            <a:pPr marL="742950" lvl="1" indent="-285750">
              <a:buFont typeface="Arial" panose="020B0604020202020204" pitchFamily="34" charset="0"/>
              <a:buChar char="•"/>
            </a:pPr>
            <a:r>
              <a:rPr lang="en-US" dirty="0"/>
              <a:t>Works like a mutex. </a:t>
            </a:r>
          </a:p>
          <a:p>
            <a:pPr>
              <a:buFont typeface="Arial" panose="020B0604020202020204" pitchFamily="34" charset="0"/>
              <a:buChar char="•"/>
            </a:pPr>
            <a:r>
              <a:rPr lang="en-US" b="1" dirty="0"/>
              <a:t>Counting Semaphore</a:t>
            </a:r>
            <a:r>
              <a:rPr lang="en-US" dirty="0"/>
              <a:t> </a:t>
            </a:r>
          </a:p>
          <a:p>
            <a:pPr marL="742950" lvl="1" indent="-285750">
              <a:buFont typeface="Arial" panose="020B0604020202020204" pitchFamily="34" charset="0"/>
              <a:buChar char="•"/>
            </a:pPr>
            <a:r>
              <a:rPr lang="en-US" dirty="0"/>
              <a:t>Values: 0,1,2,... </a:t>
            </a:r>
          </a:p>
          <a:p>
            <a:pPr marL="742950" lvl="1" indent="-285750">
              <a:buFont typeface="Arial" panose="020B0604020202020204" pitchFamily="34" charset="0"/>
              <a:buChar char="•"/>
            </a:pPr>
            <a:r>
              <a:rPr lang="en-US" dirty="0"/>
              <a:t>Allows multiple processes to access multiple identical resources. </a:t>
            </a:r>
          </a:p>
          <a:p>
            <a:r>
              <a:rPr lang="en-US" dirty="0"/>
              <a:t>Example:</a:t>
            </a:r>
            <a:br>
              <a:rPr lang="en-US" dirty="0"/>
            </a:br>
            <a:r>
              <a:rPr lang="en-US" dirty="0"/>
              <a:t>Suppose there are 3 printers.</a:t>
            </a:r>
          </a:p>
          <a:p>
            <a:r>
              <a:rPr lang="en-US" dirty="0"/>
              <a:t>Semaphore = 3</a:t>
            </a:r>
          </a:p>
          <a:p>
            <a:r>
              <a:rPr lang="en-US" dirty="0"/>
              <a:t>Three users can print simultaneously.</a:t>
            </a:r>
          </a:p>
          <a:p>
            <a:r>
              <a:rPr lang="en-US" dirty="0"/>
              <a:t>The fourth user waits until one printer becomes free.</a:t>
            </a:r>
          </a:p>
          <a:p>
            <a:r>
              <a:rPr lang="en-US" b="1" dirty="0"/>
              <a:t>c) Other Locking Mechanisms</a:t>
            </a:r>
          </a:p>
          <a:p>
            <a:r>
              <a:rPr lang="en-US" dirty="0"/>
              <a:t>Examples include:</a:t>
            </a:r>
          </a:p>
          <a:p>
            <a:pPr>
              <a:buFont typeface="Arial" panose="020B0604020202020204" pitchFamily="34" charset="0"/>
              <a:buChar char="•"/>
            </a:pPr>
            <a:r>
              <a:rPr lang="en-US" dirty="0"/>
              <a:t>Spinlocks </a:t>
            </a:r>
          </a:p>
          <a:p>
            <a:pPr>
              <a:buFont typeface="Arial" panose="020B0604020202020204" pitchFamily="34" charset="0"/>
              <a:buChar char="•"/>
            </a:pPr>
            <a:r>
              <a:rPr lang="en-US" dirty="0"/>
              <a:t>Read-Write Locks </a:t>
            </a:r>
          </a:p>
          <a:p>
            <a:pPr>
              <a:buFont typeface="Arial" panose="020B0604020202020204" pitchFamily="34" charset="0"/>
              <a:buChar char="•"/>
            </a:pPr>
            <a:r>
              <a:rPr lang="en-US" dirty="0"/>
              <a:t>Monitors </a:t>
            </a:r>
          </a:p>
          <a:p>
            <a:pPr>
              <a:buFont typeface="Arial" panose="020B0604020202020204" pitchFamily="34" charset="0"/>
              <a:buChar char="•"/>
            </a:pPr>
            <a:r>
              <a:rPr lang="en-US" dirty="0"/>
              <a:t>Condition Variables </a:t>
            </a:r>
          </a:p>
          <a:p>
            <a:r>
              <a:rPr lang="en-US" dirty="0"/>
              <a:t>These are commonly used in operating systems and multithreaded programming.</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Synchronization ensures that the </a:t>
            </a:r>
            <a:r>
              <a:rPr lang="en-US" b="1" dirty="0"/>
              <a:t>critical section</a:t>
            </a:r>
            <a:r>
              <a:rPr lang="en-US" dirty="0"/>
              <a:t> is executed by only one process at a time.</a:t>
            </a:r>
          </a:p>
          <a:p>
            <a:pPr>
              <a:buFont typeface="Arial" panose="020B0604020202020204" pitchFamily="34" charset="0"/>
              <a:buChar char="•"/>
            </a:pPr>
            <a:endParaRPr lang="en-US" dirty="0"/>
          </a:p>
          <a:p>
            <a:r>
              <a:rPr lang="en-US" b="1" dirty="0"/>
              <a:t>What is a Race Condition?</a:t>
            </a:r>
          </a:p>
          <a:p>
            <a:r>
              <a:rPr lang="en-US" dirty="0"/>
              <a:t>A race condition occurs when the </a:t>
            </a:r>
            <a:r>
              <a:rPr lang="en-US" b="1" dirty="0"/>
              <a:t>final result depends on which process executes first</a:t>
            </a:r>
            <a:r>
              <a:rPr lang="en-US"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dirty="0"/>
              <a:t>Synchronization ensures:</a:t>
            </a:r>
            <a:r>
              <a:rPr lang="en-US" dirty="0"/>
              <a:t> </a:t>
            </a:r>
            <a:r>
              <a:rPr lang="en-IN" dirty="0"/>
              <a:t>The data remains consistent.</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Using locks improves correctness but introduces some waiting time.</a:t>
            </a:r>
          </a:p>
          <a:p>
            <a:r>
              <a:rPr lang="en-US" dirty="0"/>
              <a:t>Without locks:</a:t>
            </a:r>
          </a:p>
          <a:p>
            <a:r>
              <a:rPr lang="en-US" dirty="0"/>
              <a:t>✔ Faster execution</a:t>
            </a:r>
          </a:p>
          <a:p>
            <a:r>
              <a:rPr lang="en-US" dirty="0"/>
              <a:t>✘ Incorrect results</a:t>
            </a:r>
          </a:p>
          <a:p>
            <a:r>
              <a:rPr lang="en-US" dirty="0"/>
              <a:t>✘ Data corruption</a:t>
            </a:r>
          </a:p>
          <a:p>
            <a:r>
              <a:rPr lang="en-US" dirty="0"/>
              <a:t>With locks:</a:t>
            </a:r>
          </a:p>
          <a:p>
            <a:r>
              <a:rPr lang="en-US" dirty="0"/>
              <a:t>✔ Correct results</a:t>
            </a:r>
          </a:p>
          <a:p>
            <a:r>
              <a:rPr lang="en-US" dirty="0"/>
              <a:t>✔ Safe communication</a:t>
            </a:r>
          </a:p>
          <a:p>
            <a:r>
              <a:rPr lang="en-US" dirty="0"/>
              <a:t>✘ Slightly slower because processes may wait for the lock.</a:t>
            </a:r>
          </a:p>
          <a:p>
            <a:r>
              <a:rPr lang="en-US" dirty="0"/>
              <a:t>This is the trade-off between </a:t>
            </a:r>
            <a:r>
              <a:rPr lang="en-US" b="1" dirty="0"/>
              <a:t>performance</a:t>
            </a:r>
            <a:r>
              <a:rPr lang="en-US" dirty="0"/>
              <a:t> and </a:t>
            </a:r>
            <a:r>
              <a:rPr lang="en-US" b="1" dirty="0"/>
              <a:t>data integrity</a:t>
            </a:r>
            <a:r>
              <a:rPr lang="en-US" dirty="0"/>
              <a:t>.</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61595" lvl="0" indent="-342900" algn="just">
              <a:lnSpc>
                <a:spcPct val="116000"/>
              </a:lnSpc>
              <a:spcBef>
                <a:spcPts val="725"/>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Blocking</a:t>
            </a:r>
            <a:r>
              <a:rPr lang="en-US" sz="1800" b="1" spc="140" dirty="0">
                <a:effectLst/>
                <a:latin typeface="Arial" panose="020B0604020202020204" pitchFamily="34" charset="0"/>
                <a:ea typeface="Arial MT"/>
                <a:cs typeface="Arial MT"/>
              </a:rPr>
              <a:t> </a:t>
            </a:r>
            <a:r>
              <a:rPr lang="en-US" sz="1800" b="1" spc="0" dirty="0">
                <a:effectLst/>
                <a:latin typeface="Arial" panose="020B0604020202020204" pitchFamily="34" charset="0"/>
                <a:ea typeface="Arial MT"/>
                <a:cs typeface="Arial MT"/>
              </a:rPr>
              <a:t>send:</a:t>
            </a:r>
            <a:r>
              <a:rPr lang="en-US" sz="1800" b="1" spc="175" dirty="0">
                <a:effectLst/>
                <a:latin typeface="Arial" panose="020B0604020202020204" pitchFamily="34" charset="0"/>
                <a:ea typeface="Arial MT"/>
                <a:cs typeface="Arial MT"/>
              </a:rPr>
              <a:t> </a:t>
            </a:r>
            <a:r>
              <a:rPr lang="en-US" sz="1800" spc="0" dirty="0">
                <a:effectLst/>
                <a:latin typeface="Arial MT"/>
                <a:ea typeface="Arial MT"/>
                <a:cs typeface="Arial MT"/>
              </a:rPr>
              <a:t>If</a:t>
            </a:r>
            <a:r>
              <a:rPr lang="en-US" sz="1800" spc="175" dirty="0">
                <a:effectLst/>
                <a:latin typeface="Arial MT"/>
                <a:ea typeface="Arial MT"/>
                <a:cs typeface="Arial MT"/>
              </a:rPr>
              <a:t> </a:t>
            </a:r>
            <a:r>
              <a:rPr lang="en-US" sz="1800" spc="0" dirty="0">
                <a:effectLst/>
                <a:latin typeface="Arial MT"/>
                <a:ea typeface="Arial MT"/>
                <a:cs typeface="Arial MT"/>
              </a:rPr>
              <a:t>a</a:t>
            </a:r>
            <a:r>
              <a:rPr lang="en-US" sz="1800" spc="175" dirty="0">
                <a:effectLst/>
                <a:latin typeface="Arial MT"/>
                <a:ea typeface="Arial MT"/>
                <a:cs typeface="Arial MT"/>
              </a:rPr>
              <a:t> </a:t>
            </a:r>
            <a:r>
              <a:rPr lang="en-US" sz="1800" spc="0" dirty="0">
                <a:effectLst/>
                <a:latin typeface="Arial MT"/>
                <a:ea typeface="Arial MT"/>
                <a:cs typeface="Arial MT"/>
              </a:rPr>
              <a:t>process</a:t>
            </a:r>
            <a:r>
              <a:rPr lang="en-US" sz="1800" spc="175" dirty="0">
                <a:effectLst/>
                <a:latin typeface="Arial MT"/>
                <a:ea typeface="Arial MT"/>
                <a:cs typeface="Arial MT"/>
              </a:rPr>
              <a:t> </a:t>
            </a:r>
            <a:r>
              <a:rPr lang="en-US" sz="1800" spc="0" dirty="0">
                <a:effectLst/>
                <a:latin typeface="Arial MT"/>
                <a:ea typeface="Arial MT"/>
                <a:cs typeface="Arial MT"/>
              </a:rPr>
              <a:t>(say,</a:t>
            </a:r>
            <a:r>
              <a:rPr lang="en-US" sz="1800" spc="175" dirty="0">
                <a:effectLst/>
                <a:latin typeface="Arial MT"/>
                <a:ea typeface="Arial MT"/>
                <a:cs typeface="Arial MT"/>
              </a:rPr>
              <a:t>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1</a:t>
            </a:r>
            <a:r>
              <a:rPr lang="en-US" sz="1800" spc="0" dirty="0">
                <a:effectLst/>
                <a:latin typeface="Arial MT"/>
                <a:ea typeface="Arial MT"/>
                <a:cs typeface="Arial MT"/>
              </a:rPr>
              <a:t>)</a:t>
            </a:r>
            <a:r>
              <a:rPr lang="en-US" sz="1800" spc="185" dirty="0">
                <a:effectLst/>
                <a:latin typeface="Arial MT"/>
                <a:ea typeface="Arial MT"/>
                <a:cs typeface="Arial MT"/>
              </a:rPr>
              <a:t> </a:t>
            </a:r>
            <a:r>
              <a:rPr lang="en-US" sz="1800" spc="0" dirty="0">
                <a:effectLst/>
                <a:latin typeface="Arial MT"/>
                <a:ea typeface="Arial MT"/>
                <a:cs typeface="Arial MT"/>
              </a:rPr>
              <a:t>invokes</a:t>
            </a:r>
            <a:r>
              <a:rPr lang="en-US" sz="1800" spc="180" dirty="0">
                <a:effectLst/>
                <a:latin typeface="Arial MT"/>
                <a:ea typeface="Arial MT"/>
                <a:cs typeface="Arial MT"/>
              </a:rPr>
              <a:t> </a:t>
            </a:r>
            <a:r>
              <a:rPr lang="en-US" sz="1800" spc="0" dirty="0">
                <a:effectLst/>
                <a:latin typeface="Courier New" panose="02070309020205020404" pitchFamily="49" charset="0"/>
                <a:ea typeface="Arial MT"/>
                <a:cs typeface="Arial MT"/>
              </a:rPr>
              <a:t>send()</a:t>
            </a:r>
            <a:r>
              <a:rPr lang="en-US" sz="1800" spc="-90" dirty="0">
                <a:effectLst/>
                <a:latin typeface="Courier New" panose="02070309020205020404" pitchFamily="49" charset="0"/>
                <a:ea typeface="Arial MT"/>
                <a:cs typeface="Arial MT"/>
              </a:rPr>
              <a:t> </a:t>
            </a:r>
            <a:r>
              <a:rPr lang="en-US" sz="1800" spc="0" dirty="0">
                <a:effectLst/>
                <a:latin typeface="Arial MT"/>
                <a:ea typeface="Arial MT"/>
                <a:cs typeface="Arial MT"/>
              </a:rPr>
              <a:t>call</a:t>
            </a:r>
            <a:r>
              <a:rPr lang="en-US" sz="1800" spc="195" dirty="0">
                <a:effectLst/>
                <a:latin typeface="Arial MT"/>
                <a:ea typeface="Arial MT"/>
                <a:cs typeface="Arial MT"/>
              </a:rPr>
              <a:t> </a:t>
            </a:r>
            <a:r>
              <a:rPr lang="en-US" sz="1800" spc="0" dirty="0">
                <a:effectLst/>
                <a:latin typeface="Arial MT"/>
                <a:ea typeface="Arial MT"/>
                <a:cs typeface="Arial MT"/>
              </a:rPr>
              <a:t>to</a:t>
            </a:r>
            <a:r>
              <a:rPr lang="en-US" sz="1800" spc="195" dirty="0">
                <a:effectLst/>
                <a:latin typeface="Arial MT"/>
                <a:ea typeface="Arial MT"/>
                <a:cs typeface="Arial MT"/>
              </a:rPr>
              <a:t> </a:t>
            </a:r>
            <a:r>
              <a:rPr lang="en-US" sz="1800" spc="0" dirty="0">
                <a:effectLst/>
                <a:latin typeface="Arial MT"/>
                <a:ea typeface="Arial MT"/>
                <a:cs typeface="Arial MT"/>
              </a:rPr>
              <a:t>send a message to another process (say,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2</a:t>
            </a:r>
            <a:r>
              <a:rPr lang="en-US" sz="1800" spc="0" dirty="0">
                <a:effectLst/>
                <a:latin typeface="Arial MT"/>
                <a:ea typeface="Arial MT"/>
                <a:cs typeface="Arial MT"/>
              </a:rPr>
              <a:t>) or to a mailbox, the operating system blocks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1</a:t>
            </a:r>
            <a:r>
              <a:rPr lang="en-US" sz="1800" spc="-130" dirty="0">
                <a:effectLst/>
                <a:latin typeface="Courier New" panose="02070309020205020404" pitchFamily="49" charset="0"/>
                <a:ea typeface="Arial MT"/>
                <a:cs typeface="Arial MT"/>
              </a:rPr>
              <a:t> </a:t>
            </a:r>
            <a:r>
              <a:rPr lang="en-US" sz="1800" spc="0" dirty="0">
                <a:effectLst/>
                <a:latin typeface="Arial MT"/>
                <a:ea typeface="Arial MT"/>
                <a:cs typeface="Arial MT"/>
              </a:rPr>
              <a:t>until the message is received by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2</a:t>
            </a:r>
            <a:r>
              <a:rPr lang="en-US" sz="1800" spc="-130" dirty="0">
                <a:effectLst/>
                <a:latin typeface="Courier New" panose="02070309020205020404" pitchFamily="49" charset="0"/>
                <a:ea typeface="Arial MT"/>
                <a:cs typeface="Arial MT"/>
              </a:rPr>
              <a:t> </a:t>
            </a:r>
            <a:r>
              <a:rPr lang="en-US" sz="1800" spc="0" dirty="0">
                <a:effectLst/>
                <a:latin typeface="Arial MT"/>
                <a:ea typeface="Arial MT"/>
                <a:cs typeface="Arial MT"/>
              </a:rPr>
              <a:t>or by the mailbox.</a:t>
            </a:r>
            <a:endParaRPr lang="en-IN" sz="1800" spc="0" dirty="0">
              <a:effectLst/>
              <a:latin typeface="Arial MT"/>
              <a:ea typeface="Arial MT"/>
              <a:cs typeface="Arial MT"/>
            </a:endParaRPr>
          </a:p>
          <a:p>
            <a:pPr marL="342900" marR="66675" lvl="0" indent="-342900" algn="just">
              <a:lnSpc>
                <a:spcPct val="112000"/>
              </a:lnSpc>
              <a:spcBef>
                <a:spcPts val="535"/>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Blocking receive: </a:t>
            </a:r>
            <a:r>
              <a:rPr lang="en-US" sz="1800" spc="0" dirty="0">
                <a:effectLst/>
                <a:latin typeface="Arial MT"/>
                <a:ea typeface="Arial MT"/>
                <a:cs typeface="Arial MT"/>
              </a:rPr>
              <a:t>If there is no message available for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2</a:t>
            </a:r>
            <a:r>
              <a:rPr lang="en-US" sz="1800" spc="-100" dirty="0">
                <a:effectLst/>
                <a:latin typeface="Courier New" panose="02070309020205020404" pitchFamily="49" charset="0"/>
                <a:ea typeface="Arial MT"/>
                <a:cs typeface="Arial MT"/>
              </a:rPr>
              <a:t> </a:t>
            </a:r>
            <a:r>
              <a:rPr lang="en-US" sz="1800" spc="0" dirty="0">
                <a:effectLst/>
                <a:latin typeface="Arial MT"/>
                <a:ea typeface="Arial MT"/>
                <a:cs typeface="Arial MT"/>
              </a:rPr>
              <a:t>when it invokes the </a:t>
            </a:r>
            <a:r>
              <a:rPr lang="en-US" sz="1800" spc="0" dirty="0">
                <a:effectLst/>
                <a:latin typeface="Courier New" panose="02070309020205020404" pitchFamily="49" charset="0"/>
                <a:ea typeface="Arial MT"/>
                <a:cs typeface="Arial MT"/>
              </a:rPr>
              <a:t>receive()</a:t>
            </a:r>
            <a:r>
              <a:rPr lang="en-US" sz="1800" spc="-100" dirty="0">
                <a:effectLst/>
                <a:latin typeface="Courier New" panose="02070309020205020404" pitchFamily="49" charset="0"/>
                <a:ea typeface="Arial MT"/>
                <a:cs typeface="Arial MT"/>
              </a:rPr>
              <a:t> </a:t>
            </a:r>
            <a:r>
              <a:rPr lang="en-US" sz="1800" spc="0" dirty="0">
                <a:effectLst/>
                <a:latin typeface="Arial MT"/>
                <a:ea typeface="Arial MT"/>
                <a:cs typeface="Arial MT"/>
              </a:rPr>
              <a:t>system call, the operating system blocks it until some message arrives for it.</a:t>
            </a:r>
            <a:endParaRPr lang="en-IN" sz="1800" spc="0" dirty="0">
              <a:effectLst/>
              <a:latin typeface="Arial MT"/>
              <a:ea typeface="Arial MT"/>
              <a:cs typeface="Arial MT"/>
            </a:endParaRPr>
          </a:p>
          <a:p>
            <a:pPr marL="342900" marR="61595" lvl="0" indent="-342900" algn="just">
              <a:lnSpc>
                <a:spcPct val="111000"/>
              </a:lnSpc>
              <a:spcBef>
                <a:spcPts val="650"/>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Non-blocking send: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1</a:t>
            </a:r>
            <a:r>
              <a:rPr lang="en-US" sz="1800" spc="0" dirty="0">
                <a:effectLst/>
                <a:latin typeface="Courier New" panose="02070309020205020404" pitchFamily="49" charset="0"/>
                <a:ea typeface="Arial MT"/>
                <a:cs typeface="Arial MT"/>
              </a:rPr>
              <a:t> </a:t>
            </a:r>
            <a:r>
              <a:rPr lang="en-US" sz="1800" spc="0" dirty="0">
                <a:effectLst/>
                <a:latin typeface="Arial MT"/>
                <a:ea typeface="Arial MT"/>
                <a:cs typeface="Arial MT"/>
              </a:rPr>
              <a:t>sends the message and continues to perform</a:t>
            </a:r>
            <a:r>
              <a:rPr lang="en-US" sz="1800" spc="195" dirty="0">
                <a:effectLst/>
                <a:latin typeface="Arial MT"/>
                <a:ea typeface="Arial MT"/>
                <a:cs typeface="Arial MT"/>
              </a:rPr>
              <a:t> </a:t>
            </a:r>
            <a:r>
              <a:rPr lang="en-US" sz="1800" spc="0" dirty="0">
                <a:effectLst/>
                <a:latin typeface="Arial MT"/>
                <a:ea typeface="Arial MT"/>
                <a:cs typeface="Arial MT"/>
              </a:rPr>
              <a:t>its</a:t>
            </a:r>
            <a:r>
              <a:rPr lang="en-US" sz="1800" spc="195" dirty="0">
                <a:effectLst/>
                <a:latin typeface="Arial MT"/>
                <a:ea typeface="Arial MT"/>
                <a:cs typeface="Arial MT"/>
              </a:rPr>
              <a:t> </a:t>
            </a:r>
            <a:r>
              <a:rPr lang="en-US" sz="1800" spc="0" dirty="0">
                <a:effectLst/>
                <a:latin typeface="Arial MT"/>
                <a:ea typeface="Arial MT"/>
                <a:cs typeface="Arial MT"/>
              </a:rPr>
              <a:t>operation</a:t>
            </a:r>
            <a:r>
              <a:rPr lang="en-US" sz="1800" spc="195" dirty="0">
                <a:effectLst/>
                <a:latin typeface="Arial MT"/>
                <a:ea typeface="Arial MT"/>
                <a:cs typeface="Arial MT"/>
              </a:rPr>
              <a:t> </a:t>
            </a:r>
            <a:r>
              <a:rPr lang="en-US" sz="1800" spc="0" dirty="0">
                <a:effectLst/>
                <a:latin typeface="Arial MT"/>
                <a:ea typeface="Arial MT"/>
                <a:cs typeface="Arial MT"/>
              </a:rPr>
              <a:t>without</a:t>
            </a:r>
            <a:r>
              <a:rPr lang="en-US" sz="1800" spc="195" dirty="0">
                <a:effectLst/>
                <a:latin typeface="Arial MT"/>
                <a:ea typeface="Arial MT"/>
                <a:cs typeface="Arial MT"/>
              </a:rPr>
              <a:t> </a:t>
            </a:r>
            <a:r>
              <a:rPr lang="en-US" sz="1800" spc="0" dirty="0">
                <a:effectLst/>
                <a:latin typeface="Arial MT"/>
                <a:ea typeface="Arial MT"/>
                <a:cs typeface="Arial MT"/>
              </a:rPr>
              <a:t>waiting</a:t>
            </a:r>
            <a:r>
              <a:rPr lang="en-US" sz="1800" spc="195" dirty="0">
                <a:effectLst/>
                <a:latin typeface="Arial MT"/>
                <a:ea typeface="Arial MT"/>
                <a:cs typeface="Arial MT"/>
              </a:rPr>
              <a:t> </a:t>
            </a:r>
            <a:r>
              <a:rPr lang="en-US" sz="1800" spc="0" dirty="0">
                <a:effectLst/>
                <a:latin typeface="Arial MT"/>
                <a:ea typeface="Arial MT"/>
                <a:cs typeface="Arial MT"/>
              </a:rPr>
              <a:t>for</a:t>
            </a:r>
            <a:r>
              <a:rPr lang="en-US" sz="1800" spc="195" dirty="0">
                <a:effectLst/>
                <a:latin typeface="Arial MT"/>
                <a:ea typeface="Arial MT"/>
                <a:cs typeface="Arial MT"/>
              </a:rPr>
              <a:t> </a:t>
            </a:r>
            <a:r>
              <a:rPr lang="en-US" sz="1800" spc="0" dirty="0">
                <a:effectLst/>
                <a:latin typeface="Arial MT"/>
                <a:ea typeface="Arial MT"/>
                <a:cs typeface="Arial MT"/>
              </a:rPr>
              <a:t>the</a:t>
            </a:r>
            <a:r>
              <a:rPr lang="en-US" sz="1800" spc="195" dirty="0">
                <a:effectLst/>
                <a:latin typeface="Arial MT"/>
                <a:ea typeface="Arial MT"/>
                <a:cs typeface="Arial MT"/>
              </a:rPr>
              <a:t> </a:t>
            </a:r>
            <a:r>
              <a:rPr lang="en-US" sz="1800" spc="0" dirty="0">
                <a:effectLst/>
                <a:latin typeface="Arial MT"/>
                <a:ea typeface="Arial MT"/>
                <a:cs typeface="Arial MT"/>
              </a:rPr>
              <a:t>message</a:t>
            </a:r>
            <a:r>
              <a:rPr lang="en-US" sz="1800" spc="195" dirty="0">
                <a:effectLst/>
                <a:latin typeface="Arial MT"/>
                <a:ea typeface="Arial MT"/>
                <a:cs typeface="Arial MT"/>
              </a:rPr>
              <a:t> </a:t>
            </a:r>
            <a:r>
              <a:rPr lang="en-US" sz="1800" spc="0" dirty="0">
                <a:effectLst/>
                <a:latin typeface="Arial MT"/>
                <a:ea typeface="Arial MT"/>
                <a:cs typeface="Arial MT"/>
              </a:rPr>
              <a:t>delivery</a:t>
            </a:r>
            <a:r>
              <a:rPr lang="en-US" sz="1800" spc="195" dirty="0">
                <a:effectLst/>
                <a:latin typeface="Arial MT"/>
                <a:ea typeface="Arial MT"/>
                <a:cs typeface="Arial MT"/>
              </a:rPr>
              <a:t> </a:t>
            </a:r>
            <a:r>
              <a:rPr lang="en-US" sz="1800" spc="0" dirty="0">
                <a:effectLst/>
                <a:latin typeface="Arial MT"/>
                <a:ea typeface="Arial MT"/>
                <a:cs typeface="Arial MT"/>
              </a:rPr>
              <a:t>by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2</a:t>
            </a:r>
            <a:r>
              <a:rPr lang="en-US" sz="1800" spc="0" dirty="0">
                <a:effectLst/>
                <a:latin typeface="Courier New" panose="02070309020205020404" pitchFamily="49" charset="0"/>
                <a:ea typeface="Arial MT"/>
                <a:cs typeface="Arial MT"/>
              </a:rPr>
              <a:t> </a:t>
            </a:r>
            <a:r>
              <a:rPr lang="en-US" sz="1800" spc="0" dirty="0">
                <a:effectLst/>
                <a:latin typeface="Arial MT"/>
                <a:ea typeface="Arial MT"/>
                <a:cs typeface="Arial MT"/>
              </a:rPr>
              <a:t>or by mailbox.</a:t>
            </a:r>
            <a:endParaRPr lang="en-IN" sz="1800" spc="0" dirty="0">
              <a:effectLst/>
              <a:latin typeface="Arial MT"/>
              <a:ea typeface="Arial MT"/>
              <a:cs typeface="Arial MT"/>
            </a:endParaRPr>
          </a:p>
          <a:p>
            <a:pPr marL="342900" marR="61595" lvl="0" indent="-342900" algn="just">
              <a:lnSpc>
                <a:spcPct val="112000"/>
              </a:lnSpc>
              <a:spcBef>
                <a:spcPts val="775"/>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Non-blocking receive: </a:t>
            </a:r>
            <a:r>
              <a:rPr lang="en-US" sz="1800" spc="0" dirty="0">
                <a:effectLst/>
                <a:latin typeface="Arial MT"/>
                <a:ea typeface="Arial MT"/>
                <a:cs typeface="Arial MT"/>
              </a:rPr>
              <a:t>When </a:t>
            </a:r>
            <a:r>
              <a:rPr lang="en-US" sz="1800" spc="0" dirty="0">
                <a:effectLst/>
                <a:latin typeface="Courier New" panose="02070309020205020404" pitchFamily="49" charset="0"/>
                <a:ea typeface="Arial MT"/>
                <a:cs typeface="Arial MT"/>
              </a:rPr>
              <a:t>P</a:t>
            </a:r>
            <a:r>
              <a:rPr lang="en-US" sz="1800" spc="0" baseline="-25000" dirty="0">
                <a:effectLst/>
                <a:latin typeface="Courier New" panose="02070309020205020404" pitchFamily="49" charset="0"/>
                <a:ea typeface="Arial MT"/>
                <a:cs typeface="Arial MT"/>
              </a:rPr>
              <a:t>2</a:t>
            </a:r>
            <a:r>
              <a:rPr lang="en-US" sz="1800" spc="-135" dirty="0">
                <a:effectLst/>
                <a:latin typeface="Courier New" panose="02070309020205020404" pitchFamily="49" charset="0"/>
                <a:ea typeface="Arial MT"/>
                <a:cs typeface="Arial MT"/>
              </a:rPr>
              <a:t> </a:t>
            </a:r>
            <a:r>
              <a:rPr lang="en-US" sz="1800" spc="0" dirty="0">
                <a:effectLst/>
                <a:latin typeface="Arial MT"/>
                <a:ea typeface="Arial MT"/>
                <a:cs typeface="Arial MT"/>
              </a:rPr>
              <a:t>invokes a </a:t>
            </a:r>
            <a:r>
              <a:rPr lang="en-US" sz="1800" spc="0" dirty="0">
                <a:effectLst/>
                <a:latin typeface="Courier New" panose="02070309020205020404" pitchFamily="49" charset="0"/>
                <a:ea typeface="Arial MT"/>
                <a:cs typeface="Arial MT"/>
              </a:rPr>
              <a:t>receive()</a:t>
            </a:r>
            <a:r>
              <a:rPr lang="en-US" sz="1800" spc="-135" dirty="0">
                <a:effectLst/>
                <a:latin typeface="Courier New" panose="02070309020205020404" pitchFamily="49" charset="0"/>
                <a:ea typeface="Arial MT"/>
                <a:cs typeface="Arial MT"/>
              </a:rPr>
              <a:t> </a:t>
            </a:r>
            <a:r>
              <a:rPr lang="en-US" sz="1800" spc="0" dirty="0">
                <a:effectLst/>
                <a:latin typeface="Arial MT"/>
                <a:ea typeface="Arial MT"/>
                <a:cs typeface="Arial MT"/>
              </a:rPr>
              <a:t>call, it either gets</a:t>
            </a:r>
            <a:r>
              <a:rPr lang="en-US" sz="1800" spc="-110" dirty="0">
                <a:effectLst/>
                <a:latin typeface="Arial MT"/>
                <a:ea typeface="Arial MT"/>
                <a:cs typeface="Arial MT"/>
              </a:rPr>
              <a:t> </a:t>
            </a:r>
            <a:r>
              <a:rPr lang="en-US" sz="1800" spc="0" dirty="0">
                <a:effectLst/>
                <a:latin typeface="Arial MT"/>
                <a:ea typeface="Arial MT"/>
                <a:cs typeface="Arial MT"/>
              </a:rPr>
              <a:t>a</a:t>
            </a:r>
            <a:r>
              <a:rPr lang="en-US" sz="1800" spc="-105" dirty="0">
                <a:effectLst/>
                <a:latin typeface="Arial MT"/>
                <a:ea typeface="Arial MT"/>
                <a:cs typeface="Arial MT"/>
              </a:rPr>
              <a:t> </a:t>
            </a:r>
            <a:r>
              <a:rPr lang="en-US" sz="1800" spc="0" dirty="0">
                <a:effectLst/>
                <a:latin typeface="Arial MT"/>
                <a:ea typeface="Arial MT"/>
                <a:cs typeface="Arial MT"/>
              </a:rPr>
              <a:t>valid</a:t>
            </a:r>
            <a:r>
              <a:rPr lang="en-US" sz="1800" spc="-105" dirty="0">
                <a:effectLst/>
                <a:latin typeface="Arial MT"/>
                <a:ea typeface="Arial MT"/>
                <a:cs typeface="Arial MT"/>
              </a:rPr>
              <a:t> </a:t>
            </a:r>
            <a:r>
              <a:rPr lang="en-US" sz="1800" spc="0" dirty="0">
                <a:effectLst/>
                <a:latin typeface="Arial MT"/>
                <a:ea typeface="Arial MT"/>
                <a:cs typeface="Arial MT"/>
              </a:rPr>
              <a:t>message</a:t>
            </a:r>
            <a:r>
              <a:rPr lang="en-US" sz="1800" spc="-75" dirty="0">
                <a:effectLst/>
                <a:latin typeface="Arial MT"/>
                <a:ea typeface="Arial MT"/>
                <a:cs typeface="Arial MT"/>
              </a:rPr>
              <a:t> </a:t>
            </a:r>
            <a:r>
              <a:rPr lang="en-US" sz="1800" spc="0" dirty="0">
                <a:effectLst/>
                <a:latin typeface="Arial MT"/>
                <a:ea typeface="Arial MT"/>
                <a:cs typeface="Arial MT"/>
              </a:rPr>
              <a:t>if</a:t>
            </a:r>
            <a:r>
              <a:rPr lang="en-US" sz="1800" spc="-65" dirty="0">
                <a:effectLst/>
                <a:latin typeface="Arial MT"/>
                <a:ea typeface="Arial MT"/>
                <a:cs typeface="Arial MT"/>
              </a:rPr>
              <a:t> </a:t>
            </a:r>
            <a:r>
              <a:rPr lang="en-US" sz="1800" spc="0" dirty="0">
                <a:effectLst/>
                <a:latin typeface="Arial MT"/>
                <a:ea typeface="Arial MT"/>
                <a:cs typeface="Arial MT"/>
              </a:rPr>
              <a:t>some</a:t>
            </a:r>
            <a:r>
              <a:rPr lang="en-US" sz="1800" spc="-65" dirty="0">
                <a:effectLst/>
                <a:latin typeface="Arial MT"/>
                <a:ea typeface="Arial MT"/>
                <a:cs typeface="Arial MT"/>
              </a:rPr>
              <a:t> </a:t>
            </a:r>
            <a:r>
              <a:rPr lang="en-US" sz="1800" spc="0" dirty="0">
                <a:effectLst/>
                <a:latin typeface="Arial MT"/>
                <a:ea typeface="Arial MT"/>
                <a:cs typeface="Arial MT"/>
              </a:rPr>
              <a:t>message</a:t>
            </a:r>
            <a:r>
              <a:rPr lang="en-US" sz="1800" spc="-65" dirty="0">
                <a:effectLst/>
                <a:latin typeface="Arial MT"/>
                <a:ea typeface="Arial MT"/>
                <a:cs typeface="Arial MT"/>
              </a:rPr>
              <a:t> </a:t>
            </a:r>
            <a:r>
              <a:rPr lang="en-US" sz="1800" spc="0" dirty="0">
                <a:effectLst/>
                <a:latin typeface="Arial MT"/>
                <a:ea typeface="Arial MT"/>
                <a:cs typeface="Arial MT"/>
              </a:rPr>
              <a:t>is</a:t>
            </a:r>
            <a:r>
              <a:rPr lang="en-US" sz="1800" spc="-65" dirty="0">
                <a:effectLst/>
                <a:latin typeface="Arial MT"/>
                <a:ea typeface="Arial MT"/>
                <a:cs typeface="Arial MT"/>
              </a:rPr>
              <a:t> </a:t>
            </a:r>
            <a:r>
              <a:rPr lang="en-US" sz="1800" spc="0" dirty="0">
                <a:effectLst/>
                <a:latin typeface="Arial MT"/>
                <a:ea typeface="Arial MT"/>
                <a:cs typeface="Arial MT"/>
              </a:rPr>
              <a:t>available</a:t>
            </a:r>
            <a:r>
              <a:rPr lang="en-US" sz="1800" spc="-65" dirty="0">
                <a:effectLst/>
                <a:latin typeface="Arial MT"/>
                <a:ea typeface="Arial MT"/>
                <a:cs typeface="Arial MT"/>
              </a:rPr>
              <a:t> </a:t>
            </a:r>
            <a:r>
              <a:rPr lang="en-US" sz="1800" spc="0" dirty="0">
                <a:effectLst/>
                <a:latin typeface="Arial MT"/>
                <a:ea typeface="Arial MT"/>
                <a:cs typeface="Arial MT"/>
              </a:rPr>
              <a:t>for</a:t>
            </a:r>
            <a:r>
              <a:rPr lang="en-US" sz="1800" spc="-65" dirty="0">
                <a:effectLst/>
                <a:latin typeface="Arial MT"/>
                <a:ea typeface="Arial MT"/>
                <a:cs typeface="Arial MT"/>
              </a:rPr>
              <a:t> </a:t>
            </a:r>
            <a:r>
              <a:rPr lang="en-US" sz="1800" spc="0" dirty="0">
                <a:effectLst/>
                <a:latin typeface="Arial MT"/>
                <a:ea typeface="Arial MT"/>
                <a:cs typeface="Arial MT"/>
              </a:rPr>
              <a:t>it</a:t>
            </a:r>
            <a:r>
              <a:rPr lang="en-US" sz="1800" spc="-65" dirty="0">
                <a:effectLst/>
                <a:latin typeface="Arial MT"/>
                <a:ea typeface="Arial MT"/>
                <a:cs typeface="Arial MT"/>
              </a:rPr>
              <a:t> </a:t>
            </a:r>
            <a:r>
              <a:rPr lang="en-US" sz="1800" spc="0" dirty="0">
                <a:effectLst/>
                <a:latin typeface="Arial MT"/>
                <a:ea typeface="Arial MT"/>
                <a:cs typeface="Arial MT"/>
              </a:rPr>
              <a:t>or</a:t>
            </a:r>
            <a:r>
              <a:rPr lang="en-US" sz="1800" spc="-65" dirty="0">
                <a:effectLst/>
                <a:latin typeface="Arial MT"/>
                <a:ea typeface="Arial MT"/>
                <a:cs typeface="Arial MT"/>
              </a:rPr>
              <a:t> </a:t>
            </a:r>
            <a:r>
              <a:rPr lang="en-US" sz="1800" spc="0" dirty="0">
                <a:effectLst/>
                <a:latin typeface="Courier New" panose="02070309020205020404" pitchFamily="49" charset="0"/>
                <a:ea typeface="Arial MT"/>
                <a:cs typeface="Arial MT"/>
              </a:rPr>
              <a:t>NULL</a:t>
            </a:r>
            <a:r>
              <a:rPr lang="en-US" sz="1800" spc="-185" dirty="0">
                <a:effectLst/>
                <a:latin typeface="Courier New" panose="02070309020205020404" pitchFamily="49" charset="0"/>
                <a:ea typeface="Arial MT"/>
                <a:cs typeface="Arial MT"/>
              </a:rPr>
              <a:t> </a:t>
            </a:r>
            <a:r>
              <a:rPr lang="en-US" sz="1800" spc="0" dirty="0">
                <a:effectLst/>
                <a:latin typeface="Arial MT"/>
                <a:ea typeface="Arial MT"/>
                <a:cs typeface="Arial MT"/>
              </a:rPr>
              <a:t>if there is no message available for it.</a:t>
            </a:r>
            <a:endParaRPr lang="en-IN" sz="1800" spc="0" dirty="0">
              <a:effectLst/>
              <a:latin typeface="Arial MT"/>
              <a:ea typeface="Arial MT"/>
              <a:cs typeface="Arial MT"/>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230" marR="64135" algn="just">
              <a:lnSpc>
                <a:spcPct val="106000"/>
              </a:lnSpc>
              <a:spcBef>
                <a:spcPts val="1110"/>
              </a:spcBef>
              <a:spcAft>
                <a:spcPts val="0"/>
              </a:spcAft>
            </a:pPr>
            <a:r>
              <a:rPr lang="en-US" sz="1800" dirty="0">
                <a:effectLst/>
                <a:latin typeface="Arial MT"/>
                <a:ea typeface="Arial MT"/>
                <a:cs typeface="Arial MT"/>
              </a:rPr>
              <a:t>The messages sent by a process are temporarily stored in a temporary queue (also called </a:t>
            </a:r>
            <a:r>
              <a:rPr lang="en-US" sz="1800" b="1" dirty="0">
                <a:effectLst/>
                <a:latin typeface="Arial" panose="020B0604020202020204" pitchFamily="34" charset="0"/>
                <a:ea typeface="Arial MT"/>
                <a:cs typeface="Arial MT"/>
              </a:rPr>
              <a:t>buffer</a:t>
            </a:r>
            <a:r>
              <a:rPr lang="en-US" sz="1800" dirty="0">
                <a:effectLst/>
                <a:latin typeface="Arial MT"/>
                <a:ea typeface="Arial MT"/>
                <a:cs typeface="Arial MT"/>
              </a:rPr>
              <a:t>) by the operating system before delivering them to the recipient. This buffer can be implemented in a variety of ways, which are as follows:</a:t>
            </a:r>
            <a:endParaRPr lang="en-IN" sz="1800" dirty="0">
              <a:effectLst/>
              <a:latin typeface="Arial MT"/>
              <a:ea typeface="Arial MT"/>
              <a:cs typeface="Arial MT"/>
            </a:endParaRPr>
          </a:p>
          <a:p>
            <a:pPr marL="342900" marR="62865" lvl="0" indent="-342900" algn="just">
              <a:lnSpc>
                <a:spcPct val="106000"/>
              </a:lnSpc>
              <a:spcBef>
                <a:spcPts val="650"/>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No buffering: </a:t>
            </a:r>
            <a:r>
              <a:rPr lang="en-US" sz="1800" spc="0" dirty="0">
                <a:effectLst/>
                <a:latin typeface="Arial MT"/>
                <a:ea typeface="Arial MT"/>
                <a:cs typeface="Arial MT"/>
              </a:rPr>
              <a:t>The capacity of buffer is zero, that is, no messages may wait in the queue. This implies that sender process has to</a:t>
            </a:r>
            <a:r>
              <a:rPr lang="en-US" sz="1800" spc="400" dirty="0">
                <a:effectLst/>
                <a:latin typeface="Arial MT"/>
                <a:ea typeface="Arial MT"/>
                <a:cs typeface="Arial MT"/>
              </a:rPr>
              <a:t> </a:t>
            </a:r>
            <a:r>
              <a:rPr lang="en-US" sz="1800" spc="0" dirty="0">
                <a:effectLst/>
                <a:latin typeface="Arial MT"/>
                <a:ea typeface="Arial MT"/>
                <a:cs typeface="Arial MT"/>
              </a:rPr>
              <a:t>wait until the message is received by the receiver process.</a:t>
            </a:r>
            <a:endParaRPr lang="en-IN" sz="1800" spc="0" dirty="0">
              <a:effectLst/>
              <a:latin typeface="Arial MT"/>
              <a:ea typeface="Arial MT"/>
              <a:cs typeface="Arial MT"/>
            </a:endParaRPr>
          </a:p>
          <a:p>
            <a:pPr marL="342900" marR="62865" lvl="0" indent="-342900" algn="just">
              <a:lnSpc>
                <a:spcPct val="106000"/>
              </a:lnSpc>
              <a:spcBef>
                <a:spcPts val="350"/>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Bounded</a:t>
            </a:r>
            <a:r>
              <a:rPr lang="en-US" sz="1800" b="1" spc="200" dirty="0">
                <a:effectLst/>
                <a:latin typeface="Arial" panose="020B0604020202020204" pitchFamily="34" charset="0"/>
                <a:ea typeface="Arial MT"/>
                <a:cs typeface="Arial MT"/>
              </a:rPr>
              <a:t> </a:t>
            </a:r>
            <a:r>
              <a:rPr lang="en-US" sz="1800" b="1" spc="0" dirty="0">
                <a:effectLst/>
                <a:latin typeface="Arial" panose="020B0604020202020204" pitchFamily="34" charset="0"/>
                <a:ea typeface="Arial MT"/>
                <a:cs typeface="Arial MT"/>
              </a:rPr>
              <a:t>buffer:</a:t>
            </a:r>
            <a:r>
              <a:rPr lang="en-US" sz="1800" b="1" spc="200" dirty="0">
                <a:effectLst/>
                <a:latin typeface="Arial" panose="020B0604020202020204" pitchFamily="34" charset="0"/>
                <a:ea typeface="Arial MT"/>
                <a:cs typeface="Arial MT"/>
              </a:rPr>
              <a:t> </a:t>
            </a:r>
            <a:r>
              <a:rPr lang="en-US" sz="1800" spc="0" dirty="0">
                <a:effectLst/>
                <a:latin typeface="Arial MT"/>
                <a:ea typeface="Arial MT"/>
                <a:cs typeface="Arial MT"/>
              </a:rPr>
              <a:t>The</a:t>
            </a:r>
            <a:r>
              <a:rPr lang="en-US" sz="1800" spc="200" dirty="0">
                <a:effectLst/>
                <a:latin typeface="Arial MT"/>
                <a:ea typeface="Arial MT"/>
                <a:cs typeface="Arial MT"/>
              </a:rPr>
              <a:t> </a:t>
            </a:r>
            <a:r>
              <a:rPr lang="en-US" sz="1800" spc="0" dirty="0">
                <a:effectLst/>
                <a:latin typeface="Arial MT"/>
                <a:ea typeface="Arial MT"/>
                <a:cs typeface="Arial MT"/>
              </a:rPr>
              <a:t>capacity</a:t>
            </a:r>
            <a:r>
              <a:rPr lang="en-US" sz="1800" spc="200" dirty="0">
                <a:effectLst/>
                <a:latin typeface="Arial MT"/>
                <a:ea typeface="Arial MT"/>
                <a:cs typeface="Arial MT"/>
              </a:rPr>
              <a:t> </a:t>
            </a:r>
            <a:r>
              <a:rPr lang="en-US" sz="1800" spc="0" dirty="0">
                <a:effectLst/>
                <a:latin typeface="Arial MT"/>
                <a:ea typeface="Arial MT"/>
                <a:cs typeface="Arial MT"/>
              </a:rPr>
              <a:t>of</a:t>
            </a:r>
            <a:r>
              <a:rPr lang="en-US" sz="1800" spc="200" dirty="0">
                <a:effectLst/>
                <a:latin typeface="Arial MT"/>
                <a:ea typeface="Arial MT"/>
                <a:cs typeface="Arial MT"/>
              </a:rPr>
              <a:t> </a:t>
            </a:r>
            <a:r>
              <a:rPr lang="en-US" sz="1800" spc="0" dirty="0">
                <a:effectLst/>
                <a:latin typeface="Arial MT"/>
                <a:ea typeface="Arial MT"/>
                <a:cs typeface="Arial MT"/>
              </a:rPr>
              <a:t>the</a:t>
            </a:r>
            <a:r>
              <a:rPr lang="en-US" sz="1800" spc="200" dirty="0">
                <a:effectLst/>
                <a:latin typeface="Arial MT"/>
                <a:ea typeface="Arial MT"/>
                <a:cs typeface="Arial MT"/>
              </a:rPr>
              <a:t> </a:t>
            </a:r>
            <a:r>
              <a:rPr lang="en-US" sz="1800" spc="0" dirty="0">
                <a:effectLst/>
                <a:latin typeface="Arial MT"/>
                <a:ea typeface="Arial MT"/>
                <a:cs typeface="Arial MT"/>
              </a:rPr>
              <a:t>buffer</a:t>
            </a:r>
            <a:r>
              <a:rPr lang="en-US" sz="1800" spc="200" dirty="0">
                <a:effectLst/>
                <a:latin typeface="Arial MT"/>
                <a:ea typeface="Arial MT"/>
                <a:cs typeface="Arial MT"/>
              </a:rPr>
              <a:t> </a:t>
            </a:r>
            <a:r>
              <a:rPr lang="en-US" sz="1800" spc="0" dirty="0">
                <a:effectLst/>
                <a:latin typeface="Arial MT"/>
                <a:ea typeface="Arial MT"/>
                <a:cs typeface="Arial MT"/>
              </a:rPr>
              <a:t>is</a:t>
            </a:r>
            <a:r>
              <a:rPr lang="en-US" sz="1800" spc="200" dirty="0">
                <a:effectLst/>
                <a:latin typeface="Arial MT"/>
                <a:ea typeface="Arial MT"/>
                <a:cs typeface="Arial MT"/>
              </a:rPr>
              <a:t> </a:t>
            </a:r>
            <a:r>
              <a:rPr lang="en-US" sz="1800" spc="0" dirty="0">
                <a:effectLst/>
                <a:latin typeface="Arial MT"/>
                <a:ea typeface="Arial MT"/>
                <a:cs typeface="Arial MT"/>
              </a:rPr>
              <a:t>fixed,</a:t>
            </a:r>
            <a:r>
              <a:rPr lang="en-US" sz="1800" spc="200" dirty="0">
                <a:effectLst/>
                <a:latin typeface="Arial MT"/>
                <a:ea typeface="Arial MT"/>
                <a:cs typeface="Arial MT"/>
              </a:rPr>
              <a:t> </a:t>
            </a:r>
            <a:r>
              <a:rPr lang="en-US" sz="1800" spc="0" dirty="0">
                <a:effectLst/>
                <a:latin typeface="Arial MT"/>
                <a:ea typeface="Arial MT"/>
                <a:cs typeface="Arial MT"/>
              </a:rPr>
              <a:t>say</a:t>
            </a:r>
            <a:r>
              <a:rPr lang="en-US" sz="1800" spc="200" dirty="0">
                <a:effectLst/>
                <a:latin typeface="Arial MT"/>
                <a:ea typeface="Arial MT"/>
                <a:cs typeface="Arial MT"/>
              </a:rPr>
              <a:t> </a:t>
            </a:r>
            <a:r>
              <a:rPr lang="en-US" sz="1800" spc="0" dirty="0">
                <a:effectLst/>
                <a:latin typeface="Arial MT"/>
                <a:ea typeface="Arial MT"/>
                <a:cs typeface="Arial MT"/>
              </a:rPr>
              <a:t>m,</a:t>
            </a:r>
            <a:r>
              <a:rPr lang="en-US" sz="1800" spc="200" dirty="0">
                <a:effectLst/>
                <a:latin typeface="Arial MT"/>
                <a:ea typeface="Arial MT"/>
                <a:cs typeface="Arial MT"/>
              </a:rPr>
              <a:t> </a:t>
            </a:r>
            <a:r>
              <a:rPr lang="en-US" sz="1800" spc="0" dirty="0">
                <a:effectLst/>
                <a:latin typeface="Arial MT"/>
                <a:ea typeface="Arial MT"/>
                <a:cs typeface="Arial MT"/>
              </a:rPr>
              <a:t>that is, at most m processes may wait in the queue at a time. When there are less than m messages waiting in the queue and a new message arrives, it is added in the queue. The sender process need not wait and it can resume its operation. However, if the queue is full, the sender process is blocked until some space becomes available in the queue.</a:t>
            </a:r>
            <a:endParaRPr lang="en-IN" sz="1800" spc="0" dirty="0">
              <a:effectLst/>
              <a:latin typeface="Arial MT"/>
              <a:ea typeface="Arial MT"/>
              <a:cs typeface="Arial MT"/>
            </a:endParaRPr>
          </a:p>
          <a:p>
            <a:pPr marL="342900" marR="64770" lvl="0" indent="-342900" algn="just">
              <a:lnSpc>
                <a:spcPct val="106000"/>
              </a:lnSpc>
              <a:spcBef>
                <a:spcPts val="635"/>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Unbounded buffer: </a:t>
            </a:r>
            <a:r>
              <a:rPr lang="en-US" sz="1800" spc="0" dirty="0">
                <a:effectLst/>
                <a:latin typeface="Arial MT"/>
                <a:ea typeface="Arial MT"/>
                <a:cs typeface="Arial MT"/>
              </a:rPr>
              <a:t>The buffer has an unlimited capacity, that is, an</a:t>
            </a:r>
            <a:r>
              <a:rPr lang="en-US" sz="1800" spc="200" dirty="0">
                <a:effectLst/>
                <a:latin typeface="Arial MT"/>
                <a:ea typeface="Arial MT"/>
                <a:cs typeface="Arial MT"/>
              </a:rPr>
              <a:t> </a:t>
            </a:r>
            <a:r>
              <a:rPr lang="en-US" sz="1800" spc="0" dirty="0">
                <a:effectLst/>
                <a:latin typeface="Arial MT"/>
                <a:ea typeface="Arial MT"/>
                <a:cs typeface="Arial MT"/>
              </a:rPr>
              <a:t>infinite</a:t>
            </a:r>
            <a:r>
              <a:rPr lang="en-US" sz="1800" spc="200" dirty="0">
                <a:effectLst/>
                <a:latin typeface="Arial MT"/>
                <a:ea typeface="Arial MT"/>
                <a:cs typeface="Arial MT"/>
              </a:rPr>
              <a:t> </a:t>
            </a:r>
            <a:r>
              <a:rPr lang="en-US" sz="1800" spc="0" dirty="0">
                <a:effectLst/>
                <a:latin typeface="Arial MT"/>
                <a:ea typeface="Arial MT"/>
                <a:cs typeface="Arial MT"/>
              </a:rPr>
              <a:t>number</a:t>
            </a:r>
            <a:r>
              <a:rPr lang="en-US" sz="1800" spc="200" dirty="0">
                <a:effectLst/>
                <a:latin typeface="Arial MT"/>
                <a:ea typeface="Arial MT"/>
                <a:cs typeface="Arial MT"/>
              </a:rPr>
              <a:t> </a:t>
            </a:r>
            <a:r>
              <a:rPr lang="en-US" sz="1800" spc="0" dirty="0">
                <a:effectLst/>
                <a:latin typeface="Arial MT"/>
                <a:ea typeface="Arial MT"/>
                <a:cs typeface="Arial MT"/>
              </a:rPr>
              <a:t>of</a:t>
            </a:r>
            <a:r>
              <a:rPr lang="en-US" sz="1800" spc="200" dirty="0">
                <a:effectLst/>
                <a:latin typeface="Arial MT"/>
                <a:ea typeface="Arial MT"/>
                <a:cs typeface="Arial MT"/>
              </a:rPr>
              <a:t> </a:t>
            </a:r>
            <a:r>
              <a:rPr lang="en-US" sz="1800" spc="0" dirty="0">
                <a:effectLst/>
                <a:latin typeface="Arial MT"/>
                <a:ea typeface="Arial MT"/>
                <a:cs typeface="Arial MT"/>
              </a:rPr>
              <a:t>messages</a:t>
            </a:r>
            <a:r>
              <a:rPr lang="en-US" sz="1800" spc="200" dirty="0">
                <a:effectLst/>
                <a:latin typeface="Arial MT"/>
                <a:ea typeface="Arial MT"/>
                <a:cs typeface="Arial MT"/>
              </a:rPr>
              <a:t> </a:t>
            </a:r>
            <a:r>
              <a:rPr lang="en-US" sz="1800" spc="0" dirty="0">
                <a:effectLst/>
                <a:latin typeface="Arial MT"/>
                <a:ea typeface="Arial MT"/>
                <a:cs typeface="Arial MT"/>
              </a:rPr>
              <a:t>can</a:t>
            </a:r>
            <a:r>
              <a:rPr lang="en-US" sz="1800" spc="200" dirty="0">
                <a:effectLst/>
                <a:latin typeface="Arial MT"/>
                <a:ea typeface="Arial MT"/>
                <a:cs typeface="Arial MT"/>
              </a:rPr>
              <a:t> </a:t>
            </a:r>
            <a:r>
              <a:rPr lang="en-US" sz="1800" spc="0" dirty="0">
                <a:effectLst/>
                <a:latin typeface="Arial MT"/>
                <a:ea typeface="Arial MT"/>
                <a:cs typeface="Arial MT"/>
              </a:rPr>
              <a:t>be</a:t>
            </a:r>
            <a:r>
              <a:rPr lang="en-US" sz="1800" spc="200" dirty="0">
                <a:effectLst/>
                <a:latin typeface="Arial MT"/>
                <a:ea typeface="Arial MT"/>
                <a:cs typeface="Arial MT"/>
              </a:rPr>
              <a:t> </a:t>
            </a:r>
            <a:r>
              <a:rPr lang="en-US" sz="1800" spc="0" dirty="0">
                <a:effectLst/>
                <a:latin typeface="Arial MT"/>
                <a:ea typeface="Arial MT"/>
                <a:cs typeface="Arial MT"/>
              </a:rPr>
              <a:t>stored</a:t>
            </a:r>
            <a:r>
              <a:rPr lang="en-US" sz="1800" spc="200" dirty="0">
                <a:effectLst/>
                <a:latin typeface="Arial MT"/>
                <a:ea typeface="Arial MT"/>
                <a:cs typeface="Arial MT"/>
              </a:rPr>
              <a:t> </a:t>
            </a:r>
            <a:r>
              <a:rPr lang="en-US" sz="1800" spc="0" dirty="0">
                <a:effectLst/>
                <a:latin typeface="Arial MT"/>
                <a:ea typeface="Arial MT"/>
                <a:cs typeface="Arial MT"/>
              </a:rPr>
              <a:t>in</a:t>
            </a:r>
            <a:r>
              <a:rPr lang="en-US" sz="1800" spc="200" dirty="0">
                <a:effectLst/>
                <a:latin typeface="Arial MT"/>
                <a:ea typeface="Arial MT"/>
                <a:cs typeface="Arial MT"/>
              </a:rPr>
              <a:t> </a:t>
            </a:r>
            <a:r>
              <a:rPr lang="en-US" sz="1800" spc="0" dirty="0">
                <a:effectLst/>
                <a:latin typeface="Arial MT"/>
                <a:ea typeface="Arial MT"/>
                <a:cs typeface="Arial MT"/>
              </a:rPr>
              <a:t>the</a:t>
            </a:r>
            <a:r>
              <a:rPr lang="en-US" sz="1800" spc="200" dirty="0">
                <a:effectLst/>
                <a:latin typeface="Arial MT"/>
                <a:ea typeface="Arial MT"/>
                <a:cs typeface="Arial MT"/>
              </a:rPr>
              <a:t> </a:t>
            </a:r>
            <a:r>
              <a:rPr lang="en-US" sz="1800" spc="0" dirty="0">
                <a:effectLst/>
                <a:latin typeface="Arial MT"/>
                <a:ea typeface="Arial MT"/>
                <a:cs typeface="Arial MT"/>
              </a:rPr>
              <a:t>queue.</a:t>
            </a:r>
            <a:r>
              <a:rPr lang="en-US" sz="1800" spc="200" dirty="0">
                <a:effectLst/>
                <a:latin typeface="Arial MT"/>
                <a:ea typeface="Arial MT"/>
                <a:cs typeface="Arial MT"/>
              </a:rPr>
              <a:t> </a:t>
            </a:r>
            <a:r>
              <a:rPr lang="en-US" sz="1800" spc="0" dirty="0">
                <a:effectLst/>
                <a:latin typeface="Arial MT"/>
                <a:ea typeface="Arial MT"/>
                <a:cs typeface="Arial MT"/>
              </a:rPr>
              <a:t>In this case, the sender process never gets blocked.</a:t>
            </a:r>
            <a:endParaRPr lang="en-IN" sz="1800" spc="0" dirty="0">
              <a:effectLst/>
              <a:latin typeface="Arial MT"/>
              <a:ea typeface="Arial MT"/>
              <a:cs typeface="Arial MT"/>
            </a:endParaRPr>
          </a:p>
          <a:p>
            <a:pPr marL="342900" marR="61595" lvl="0" indent="-342900" algn="just">
              <a:lnSpc>
                <a:spcPct val="106000"/>
              </a:lnSpc>
              <a:spcBef>
                <a:spcPts val="730"/>
              </a:spcBef>
              <a:spcAft>
                <a:spcPts val="0"/>
              </a:spcAft>
              <a:buSzPts val="1450"/>
              <a:buFont typeface="Arial MT"/>
              <a:buChar char="•"/>
              <a:tabLst>
                <a:tab pos="337185" algn="l"/>
                <a:tab pos="382270" algn="l"/>
              </a:tabLst>
            </a:pPr>
            <a:r>
              <a:rPr lang="en-US" sz="1800" b="1" spc="0" dirty="0">
                <a:effectLst/>
                <a:latin typeface="Arial" panose="020B0604020202020204" pitchFamily="34" charset="0"/>
                <a:ea typeface="Arial MT"/>
                <a:cs typeface="Arial MT"/>
              </a:rPr>
              <a:t>Double buffering:</a:t>
            </a:r>
            <a:r>
              <a:rPr lang="en-US" sz="1800" b="1" spc="200" dirty="0">
                <a:effectLst/>
                <a:latin typeface="Arial" panose="020B0604020202020204" pitchFamily="34" charset="0"/>
                <a:ea typeface="Arial MT"/>
                <a:cs typeface="Arial MT"/>
              </a:rPr>
              <a:t> </a:t>
            </a:r>
            <a:r>
              <a:rPr lang="en-US" sz="1800" spc="0" dirty="0">
                <a:effectLst/>
                <a:latin typeface="Arial MT"/>
                <a:ea typeface="Arial MT"/>
                <a:cs typeface="Arial MT"/>
              </a:rPr>
              <a:t>Two</a:t>
            </a:r>
            <a:r>
              <a:rPr lang="en-US" sz="1800" spc="200" dirty="0">
                <a:effectLst/>
                <a:latin typeface="Arial MT"/>
                <a:ea typeface="Arial MT"/>
                <a:cs typeface="Arial MT"/>
              </a:rPr>
              <a:t> </a:t>
            </a:r>
            <a:r>
              <a:rPr lang="en-US" sz="1800" spc="0" dirty="0">
                <a:effectLst/>
                <a:latin typeface="Arial MT"/>
                <a:ea typeface="Arial MT"/>
                <a:cs typeface="Arial MT"/>
              </a:rPr>
              <a:t>buffers</a:t>
            </a:r>
            <a:r>
              <a:rPr lang="en-US" sz="1800" spc="200" dirty="0">
                <a:effectLst/>
                <a:latin typeface="Arial MT"/>
                <a:ea typeface="Arial MT"/>
                <a:cs typeface="Arial MT"/>
              </a:rPr>
              <a:t> </a:t>
            </a:r>
            <a:r>
              <a:rPr lang="en-US" sz="1800" spc="0" dirty="0">
                <a:effectLst/>
                <a:latin typeface="Arial MT"/>
                <a:ea typeface="Arial MT"/>
                <a:cs typeface="Arial MT"/>
              </a:rPr>
              <a:t>are</a:t>
            </a:r>
            <a:r>
              <a:rPr lang="en-US" sz="1800" spc="200" dirty="0">
                <a:effectLst/>
                <a:latin typeface="Arial MT"/>
                <a:ea typeface="Arial MT"/>
                <a:cs typeface="Arial MT"/>
              </a:rPr>
              <a:t> </a:t>
            </a:r>
            <a:r>
              <a:rPr lang="en-US" sz="1800" spc="0" dirty="0">
                <a:effectLst/>
                <a:latin typeface="Arial MT"/>
                <a:ea typeface="Arial MT"/>
                <a:cs typeface="Arial MT"/>
              </a:rPr>
              <a:t>shared</a:t>
            </a:r>
            <a:r>
              <a:rPr lang="en-US" sz="1800" spc="200" dirty="0">
                <a:effectLst/>
                <a:latin typeface="Arial MT"/>
                <a:ea typeface="Arial MT"/>
                <a:cs typeface="Arial MT"/>
              </a:rPr>
              <a:t> </a:t>
            </a:r>
            <a:r>
              <a:rPr lang="en-US" sz="1800" spc="0" dirty="0">
                <a:effectLst/>
                <a:latin typeface="Arial MT"/>
                <a:ea typeface="Arial MT"/>
                <a:cs typeface="Arial MT"/>
              </a:rPr>
              <a:t>between</a:t>
            </a:r>
            <a:r>
              <a:rPr lang="en-US" sz="1800" spc="200" dirty="0">
                <a:effectLst/>
                <a:latin typeface="Arial MT"/>
                <a:ea typeface="Arial MT"/>
                <a:cs typeface="Arial MT"/>
              </a:rPr>
              <a:t> </a:t>
            </a:r>
            <a:r>
              <a:rPr lang="en-US" sz="1800" spc="0" dirty="0">
                <a:effectLst/>
                <a:latin typeface="Arial MT"/>
                <a:ea typeface="Arial MT"/>
                <a:cs typeface="Arial MT"/>
              </a:rPr>
              <a:t>the</a:t>
            </a:r>
            <a:r>
              <a:rPr lang="en-US" sz="1800" spc="200" dirty="0">
                <a:effectLst/>
                <a:latin typeface="Arial MT"/>
                <a:ea typeface="Arial MT"/>
                <a:cs typeface="Arial MT"/>
              </a:rPr>
              <a:t> </a:t>
            </a:r>
            <a:r>
              <a:rPr lang="en-US" sz="1800" spc="0" dirty="0">
                <a:effectLst/>
                <a:latin typeface="Arial MT"/>
                <a:ea typeface="Arial MT"/>
                <a:cs typeface="Arial MT"/>
              </a:rPr>
              <a:t>sender and</a:t>
            </a:r>
            <a:r>
              <a:rPr lang="en-US" sz="1800" spc="180" dirty="0">
                <a:effectLst/>
                <a:latin typeface="Arial MT"/>
                <a:ea typeface="Arial MT"/>
                <a:cs typeface="Arial MT"/>
              </a:rPr>
              <a:t> </a:t>
            </a:r>
            <a:r>
              <a:rPr lang="en-US" sz="1800" spc="0" dirty="0">
                <a:effectLst/>
                <a:latin typeface="Arial MT"/>
                <a:ea typeface="Arial MT"/>
                <a:cs typeface="Arial MT"/>
              </a:rPr>
              <a:t>receiver</a:t>
            </a:r>
            <a:r>
              <a:rPr lang="en-US" sz="1800" spc="180" dirty="0">
                <a:effectLst/>
                <a:latin typeface="Arial MT"/>
                <a:ea typeface="Arial MT"/>
                <a:cs typeface="Arial MT"/>
              </a:rPr>
              <a:t> </a:t>
            </a:r>
            <a:r>
              <a:rPr lang="en-US" sz="1800" spc="0" dirty="0">
                <a:effectLst/>
                <a:latin typeface="Arial MT"/>
                <a:ea typeface="Arial MT"/>
                <a:cs typeface="Arial MT"/>
              </a:rPr>
              <a:t>process.</a:t>
            </a:r>
            <a:r>
              <a:rPr lang="en-US" sz="1800" spc="180" dirty="0">
                <a:effectLst/>
                <a:latin typeface="Arial MT"/>
                <a:ea typeface="Arial MT"/>
                <a:cs typeface="Arial MT"/>
              </a:rPr>
              <a:t> </a:t>
            </a:r>
            <a:r>
              <a:rPr lang="en-US" sz="1800" spc="0" dirty="0">
                <a:effectLst/>
                <a:latin typeface="Arial MT"/>
                <a:ea typeface="Arial MT"/>
                <a:cs typeface="Arial MT"/>
              </a:rPr>
              <a:t>In</a:t>
            </a:r>
            <a:r>
              <a:rPr lang="en-US" sz="1800" spc="180" dirty="0">
                <a:effectLst/>
                <a:latin typeface="Arial MT"/>
                <a:ea typeface="Arial MT"/>
                <a:cs typeface="Arial MT"/>
              </a:rPr>
              <a:t> </a:t>
            </a:r>
            <a:r>
              <a:rPr lang="en-US" sz="1800" spc="0" dirty="0">
                <a:effectLst/>
                <a:latin typeface="Arial MT"/>
                <a:ea typeface="Arial MT"/>
                <a:cs typeface="Arial MT"/>
              </a:rPr>
              <a:t>case</a:t>
            </a:r>
            <a:r>
              <a:rPr lang="en-US" sz="1800" spc="180" dirty="0">
                <a:effectLst/>
                <a:latin typeface="Arial MT"/>
                <a:ea typeface="Arial MT"/>
                <a:cs typeface="Arial MT"/>
              </a:rPr>
              <a:t> </a:t>
            </a:r>
            <a:r>
              <a:rPr lang="en-US" sz="1800" spc="0" dirty="0">
                <a:effectLst/>
                <a:latin typeface="Arial MT"/>
                <a:ea typeface="Arial MT"/>
                <a:cs typeface="Arial MT"/>
              </a:rPr>
              <a:t>one</a:t>
            </a:r>
            <a:r>
              <a:rPr lang="en-US" sz="1800" spc="180" dirty="0">
                <a:effectLst/>
                <a:latin typeface="Arial MT"/>
                <a:ea typeface="Arial MT"/>
                <a:cs typeface="Arial MT"/>
              </a:rPr>
              <a:t> </a:t>
            </a:r>
            <a:r>
              <a:rPr lang="en-US" sz="1800" spc="0" dirty="0">
                <a:effectLst/>
                <a:latin typeface="Arial MT"/>
                <a:ea typeface="Arial MT"/>
                <a:cs typeface="Arial MT"/>
              </a:rPr>
              <a:t>buffer</a:t>
            </a:r>
            <a:r>
              <a:rPr lang="en-US" sz="1800" spc="180" dirty="0">
                <a:effectLst/>
                <a:latin typeface="Arial MT"/>
                <a:ea typeface="Arial MT"/>
                <a:cs typeface="Arial MT"/>
              </a:rPr>
              <a:t> </a:t>
            </a:r>
            <a:r>
              <a:rPr lang="en-US" sz="1800" spc="0" dirty="0">
                <a:effectLst/>
                <a:latin typeface="Arial MT"/>
                <a:ea typeface="Arial MT"/>
                <a:cs typeface="Arial MT"/>
              </a:rPr>
              <a:t>fills</a:t>
            </a:r>
            <a:r>
              <a:rPr lang="en-US" sz="1800" spc="180" dirty="0">
                <a:effectLst/>
                <a:latin typeface="Arial MT"/>
                <a:ea typeface="Arial MT"/>
                <a:cs typeface="Arial MT"/>
              </a:rPr>
              <a:t> </a:t>
            </a:r>
            <a:r>
              <a:rPr lang="en-US" sz="1800" spc="0" dirty="0">
                <a:effectLst/>
                <a:latin typeface="Arial MT"/>
                <a:ea typeface="Arial MT"/>
                <a:cs typeface="Arial MT"/>
              </a:rPr>
              <a:t>up,</a:t>
            </a:r>
            <a:r>
              <a:rPr lang="en-US" sz="1800" spc="180" dirty="0">
                <a:effectLst/>
                <a:latin typeface="Arial MT"/>
                <a:ea typeface="Arial MT"/>
                <a:cs typeface="Arial MT"/>
              </a:rPr>
              <a:t> </a:t>
            </a:r>
            <a:r>
              <a:rPr lang="en-US" sz="1800" spc="0" dirty="0">
                <a:effectLst/>
                <a:latin typeface="Arial MT"/>
                <a:ea typeface="Arial MT"/>
                <a:cs typeface="Arial MT"/>
              </a:rPr>
              <a:t>the</a:t>
            </a:r>
            <a:r>
              <a:rPr lang="en-US" sz="1800" spc="180" dirty="0">
                <a:effectLst/>
                <a:latin typeface="Arial MT"/>
                <a:ea typeface="Arial MT"/>
                <a:cs typeface="Arial MT"/>
              </a:rPr>
              <a:t> </a:t>
            </a:r>
            <a:r>
              <a:rPr lang="en-US" sz="1800" spc="0" dirty="0">
                <a:effectLst/>
                <a:latin typeface="Arial MT"/>
                <a:ea typeface="Arial MT"/>
                <a:cs typeface="Arial MT"/>
              </a:rPr>
              <a:t>second</a:t>
            </a:r>
            <a:r>
              <a:rPr lang="en-US" sz="1800" spc="180" dirty="0">
                <a:effectLst/>
                <a:latin typeface="Arial MT"/>
                <a:ea typeface="Arial MT"/>
                <a:cs typeface="Arial MT"/>
              </a:rPr>
              <a:t> </a:t>
            </a:r>
            <a:r>
              <a:rPr lang="en-US" sz="1800" spc="0" dirty="0">
                <a:effectLst/>
                <a:latin typeface="Arial MT"/>
                <a:ea typeface="Arial MT"/>
                <a:cs typeface="Arial MT"/>
              </a:rPr>
              <a:t>one is used. When the second buffer fills up, the first might have been emptied. This way the buffers are used turn by turn, thus avoiding the blocking of one process because of another.</a:t>
            </a:r>
            <a:endParaRPr lang="en-IN" sz="1800" spc="0" dirty="0">
              <a:effectLst/>
              <a:latin typeface="Arial MT"/>
              <a:ea typeface="Arial MT"/>
              <a:cs typeface="Arial MT"/>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93"/>
        </a:solidFill>
        <a:effectLst/>
      </p:bgPr>
    </p:bg>
    <p:spTree>
      <p:nvGrpSpPr>
        <p:cNvPr id="1" name=""/>
        <p:cNvGrpSpPr/>
        <p:nvPr/>
      </p:nvGrpSpPr>
      <p:grpSpPr>
        <a:xfrm>
          <a:off x="0" y="0"/>
          <a:ext cx="0" cy="0"/>
          <a:chOff x="0" y="0"/>
          <a:chExt cx="0" cy="0"/>
        </a:xfrm>
      </p:grpSpPr>
      <p:sp>
        <p:nvSpPr>
          <p:cNvPr id="2" name="Text 0"/>
          <p:cNvSpPr/>
          <p:nvPr/>
        </p:nvSpPr>
        <p:spPr>
          <a:xfrm>
            <a:off x="457200" y="1828800"/>
            <a:ext cx="8229600" cy="137160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Inter-Process Communication</a:t>
            </a:r>
            <a:endParaRPr lang="en-US" sz="5400" dirty="0"/>
          </a:p>
        </p:txBody>
      </p:sp>
      <p:sp>
        <p:nvSpPr>
          <p:cNvPr id="3" name="Text 1"/>
          <p:cNvSpPr/>
          <p:nvPr/>
        </p:nvSpPr>
        <p:spPr>
          <a:xfrm>
            <a:off x="457200" y="3474720"/>
            <a:ext cx="8229600" cy="731520"/>
          </a:xfrm>
          <a:prstGeom prst="rect">
            <a:avLst/>
          </a:prstGeom>
          <a:noFill/>
          <a:ln/>
        </p:spPr>
        <p:txBody>
          <a:bodyPr wrap="square" rtlCol="0" anchor="ctr"/>
          <a:lstStyle/>
          <a:p>
            <a:pPr marL="0" indent="0" algn="ctr">
              <a:buNone/>
            </a:pPr>
            <a:r>
              <a:rPr lang="en-US" sz="2800" dirty="0">
                <a:solidFill>
                  <a:srgbClr val="E8F4F8"/>
                </a:solidFill>
                <a:latin typeface="Calibri" pitchFamily="34" charset="0"/>
                <a:ea typeface="Calibri" pitchFamily="34" charset="-122"/>
                <a:cs typeface="Calibri" pitchFamily="34" charset="-120"/>
              </a:rPr>
              <a:t>Understanding IPC Mechanisms in Operating Systems</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3600" b="1" dirty="0">
                <a:solidFill>
                  <a:srgbClr val="1F3A93"/>
                </a:solidFill>
                <a:latin typeface="Calibri" pitchFamily="34" charset="0"/>
                <a:ea typeface="Calibri" pitchFamily="34" charset="-122"/>
                <a:cs typeface="Calibri" pitchFamily="34" charset="-120"/>
              </a:rPr>
              <a:t>What is Inter-Process Communication?</a:t>
            </a:r>
            <a:endParaRPr lang="en-US" sz="36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Mechanism for processes to exchange data and information</a:t>
            </a:r>
            <a:endParaRPr lang="en-US" sz="1600" dirty="0"/>
          </a:p>
        </p:txBody>
      </p:sp>
      <p:sp>
        <p:nvSpPr>
          <p:cNvPr id="5" name="Text 3"/>
          <p:cNvSpPr/>
          <p:nvPr/>
        </p:nvSpPr>
        <p:spPr>
          <a:xfrm>
            <a:off x="731520" y="1645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Essential for cooperating processes to coordinate and collaborate</a:t>
            </a:r>
            <a:endParaRPr lang="en-US" sz="1600" dirty="0"/>
          </a:p>
        </p:txBody>
      </p:sp>
      <p:sp>
        <p:nvSpPr>
          <p:cNvPr id="6" name="Text 4"/>
          <p:cNvSpPr/>
          <p:nvPr/>
        </p:nvSpPr>
        <p:spPr>
          <a:xfrm>
            <a:off x="731520" y="21031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Enables processes to read, write, and communicate efficiently</a:t>
            </a:r>
            <a:endParaRPr lang="en-US" sz="1600" dirty="0"/>
          </a:p>
        </p:txBody>
      </p:sp>
      <p:sp>
        <p:nvSpPr>
          <p:cNvPr id="7" name="Text 5"/>
          <p:cNvSpPr/>
          <p:nvPr/>
        </p:nvSpPr>
        <p:spPr>
          <a:xfrm>
            <a:off x="731520" y="25603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Reduces redundancy in system operations</a:t>
            </a:r>
            <a:endParaRPr lang="en-US" sz="1600" dirty="0"/>
          </a:p>
        </p:txBody>
      </p:sp>
      <p:sp>
        <p:nvSpPr>
          <p:cNvPr id="8" name="Text 6"/>
          <p:cNvSpPr/>
          <p:nvPr/>
        </p:nvSpPr>
        <p:spPr>
          <a:xfrm>
            <a:off x="731520" y="30175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Improves system resource utilization and performance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3200" b="1" dirty="0">
                <a:solidFill>
                  <a:srgbClr val="1F3A93"/>
                </a:solidFill>
                <a:latin typeface="Calibri" pitchFamily="34" charset="0"/>
                <a:ea typeface="Calibri" pitchFamily="34" charset="-122"/>
                <a:cs typeface="Calibri" pitchFamily="34" charset="-120"/>
              </a:rPr>
              <a:t>Why Inter-Process Communication Matters?</a:t>
            </a:r>
            <a:endParaRPr lang="en-US" sz="32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Facilitates complex multi-process applications</a:t>
            </a:r>
            <a:endParaRPr lang="en-US" sz="1600" dirty="0"/>
          </a:p>
        </p:txBody>
      </p:sp>
      <p:sp>
        <p:nvSpPr>
          <p:cNvPr id="5" name="Text 3"/>
          <p:cNvSpPr/>
          <p:nvPr/>
        </p:nvSpPr>
        <p:spPr>
          <a:xfrm>
            <a:off x="731520" y="1645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Allows real-time data sharing between processes</a:t>
            </a:r>
            <a:endParaRPr lang="en-US" sz="1600" dirty="0"/>
          </a:p>
        </p:txBody>
      </p:sp>
      <p:sp>
        <p:nvSpPr>
          <p:cNvPr id="6" name="Text 4"/>
          <p:cNvSpPr/>
          <p:nvPr/>
        </p:nvSpPr>
        <p:spPr>
          <a:xfrm>
            <a:off x="731520" y="21031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Enables synchronization and coordination</a:t>
            </a:r>
            <a:endParaRPr lang="en-US" sz="1600" dirty="0"/>
          </a:p>
        </p:txBody>
      </p:sp>
      <p:sp>
        <p:nvSpPr>
          <p:cNvPr id="7" name="Text 5"/>
          <p:cNvSpPr/>
          <p:nvPr/>
        </p:nvSpPr>
        <p:spPr>
          <a:xfrm>
            <a:off x="731520" y="25603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Critical for client-server architectures</a:t>
            </a:r>
            <a:endParaRPr lang="en-US" sz="1600" dirty="0"/>
          </a:p>
        </p:txBody>
      </p:sp>
      <p:sp>
        <p:nvSpPr>
          <p:cNvPr id="8" name="Text 6"/>
          <p:cNvSpPr/>
          <p:nvPr/>
        </p:nvSpPr>
        <p:spPr>
          <a:xfrm>
            <a:off x="731520" y="30175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Foundation for distributed computing systems</a:t>
            </a:r>
            <a:endParaRPr lang="en-US" sz="1600" dirty="0"/>
          </a:p>
        </p:txBody>
      </p:sp>
      <p:sp>
        <p:nvSpPr>
          <p:cNvPr id="9" name="Text 7"/>
          <p:cNvSpPr/>
          <p:nvPr/>
        </p:nvSpPr>
        <p:spPr>
          <a:xfrm>
            <a:off x="731520" y="3474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Essential for system stability and modularity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Two Primary Models of IPC</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Shape 2"/>
          <p:cNvSpPr/>
          <p:nvPr/>
        </p:nvSpPr>
        <p:spPr>
          <a:xfrm>
            <a:off x="457200" y="1280160"/>
            <a:ext cx="3840480" cy="3200400"/>
          </a:xfrm>
          <a:prstGeom prst="roundRect">
            <a:avLst/>
          </a:prstGeom>
          <a:solidFill>
            <a:srgbClr val="E8F4F8"/>
          </a:solidFill>
          <a:ln w="25400">
            <a:solidFill>
              <a:srgbClr val="00A9A6"/>
            </a:solidFill>
            <a:prstDash val="solid"/>
          </a:ln>
        </p:spPr>
      </p:sp>
      <p:sp>
        <p:nvSpPr>
          <p:cNvPr id="5" name="Text 3"/>
          <p:cNvSpPr/>
          <p:nvPr/>
        </p:nvSpPr>
        <p:spPr>
          <a:xfrm>
            <a:off x="640080" y="1463040"/>
            <a:ext cx="3474720" cy="457200"/>
          </a:xfrm>
          <a:prstGeom prst="rect">
            <a:avLst/>
          </a:prstGeom>
          <a:noFill/>
          <a:ln/>
        </p:spPr>
        <p:txBody>
          <a:bodyPr wrap="square" rtlCol="0" anchor="ctr"/>
          <a:lstStyle/>
          <a:p>
            <a:pPr marL="0" indent="0" algn="ctr">
              <a:buNone/>
            </a:pPr>
            <a:r>
              <a:rPr lang="en-US" sz="2000" b="1" dirty="0">
                <a:solidFill>
                  <a:srgbClr val="1F3A93"/>
                </a:solidFill>
                <a:latin typeface="Calibri" pitchFamily="34" charset="0"/>
                <a:ea typeface="Calibri" pitchFamily="34" charset="-122"/>
                <a:cs typeface="Calibri" pitchFamily="34" charset="-120"/>
              </a:rPr>
              <a:t>Shared Memory</a:t>
            </a:r>
            <a:endParaRPr lang="en-US" sz="2000" dirty="0"/>
          </a:p>
          <a:p>
            <a:pPr marL="0" indent="0" algn="ctr">
              <a:buNone/>
            </a:pPr>
            <a:r>
              <a:rPr lang="en-US" sz="2000" b="1" dirty="0">
                <a:solidFill>
                  <a:srgbClr val="1F3A93"/>
                </a:solidFill>
                <a:latin typeface="Calibri" pitchFamily="34" charset="0"/>
                <a:ea typeface="Calibri" pitchFamily="34" charset="-122"/>
                <a:cs typeface="Calibri" pitchFamily="34" charset="-120"/>
              </a:rPr>
              <a:t>Systems</a:t>
            </a:r>
            <a:endParaRPr lang="en-US" sz="2000" dirty="0"/>
          </a:p>
        </p:txBody>
      </p:sp>
      <p:sp>
        <p:nvSpPr>
          <p:cNvPr id="6" name="Text 4"/>
          <p:cNvSpPr/>
          <p:nvPr/>
        </p:nvSpPr>
        <p:spPr>
          <a:xfrm>
            <a:off x="640080" y="2011680"/>
            <a:ext cx="3474720" cy="2286000"/>
          </a:xfrm>
          <a:prstGeom prst="rect">
            <a:avLst/>
          </a:prstGeom>
          <a:noFill/>
          <a:ln/>
        </p:spPr>
        <p:txBody>
          <a:bodyPr wrap="square" rtlCol="0" anchor="ctr"/>
          <a:lstStyle/>
          <a:p>
            <a:pPr marL="0" indent="0" algn="l">
              <a:buNone/>
            </a:pPr>
            <a:r>
              <a:rPr lang="en-US" sz="2000" dirty="0">
                <a:solidFill>
                  <a:srgbClr val="2D3436"/>
                </a:solidFill>
                <a:latin typeface="Calibri" pitchFamily="34" charset="0"/>
                <a:ea typeface="Calibri" pitchFamily="34" charset="-122"/>
                <a:cs typeface="Calibri" pitchFamily="34" charset="-120"/>
              </a:rPr>
              <a:t>• Processes share memory</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Direct data read/write</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Faster communication</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Minimal kernel involvement</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Requires synchronization</a:t>
            </a:r>
            <a:endParaRPr lang="en-US" sz="2000" dirty="0"/>
          </a:p>
        </p:txBody>
      </p:sp>
      <p:sp>
        <p:nvSpPr>
          <p:cNvPr id="7" name="Shape 5"/>
          <p:cNvSpPr/>
          <p:nvPr/>
        </p:nvSpPr>
        <p:spPr>
          <a:xfrm>
            <a:off x="4846320" y="1280160"/>
            <a:ext cx="3840480" cy="3200400"/>
          </a:xfrm>
          <a:prstGeom prst="roundRect">
            <a:avLst/>
          </a:prstGeom>
          <a:solidFill>
            <a:srgbClr val="FFE5D3"/>
          </a:solidFill>
          <a:ln w="25400">
            <a:solidFill>
              <a:srgbClr val="FF6B35"/>
            </a:solidFill>
            <a:prstDash val="solid"/>
          </a:ln>
        </p:spPr>
      </p:sp>
      <p:sp>
        <p:nvSpPr>
          <p:cNvPr id="8" name="Text 6"/>
          <p:cNvSpPr/>
          <p:nvPr/>
        </p:nvSpPr>
        <p:spPr>
          <a:xfrm>
            <a:off x="5029200" y="1463040"/>
            <a:ext cx="3474720" cy="457200"/>
          </a:xfrm>
          <a:prstGeom prst="rect">
            <a:avLst/>
          </a:prstGeom>
          <a:noFill/>
          <a:ln/>
        </p:spPr>
        <p:txBody>
          <a:bodyPr wrap="square" rtlCol="0" anchor="ctr"/>
          <a:lstStyle/>
          <a:p>
            <a:pPr marL="0" indent="0" algn="ctr">
              <a:buNone/>
            </a:pPr>
            <a:r>
              <a:rPr lang="en-US" sz="2000" b="1" dirty="0">
                <a:solidFill>
                  <a:srgbClr val="FF6B35"/>
                </a:solidFill>
                <a:latin typeface="Calibri" pitchFamily="34" charset="0"/>
                <a:ea typeface="Calibri" pitchFamily="34" charset="-122"/>
                <a:cs typeface="Calibri" pitchFamily="34" charset="-120"/>
              </a:rPr>
              <a:t>Message Passing</a:t>
            </a:r>
            <a:endParaRPr lang="en-US" sz="2000" dirty="0"/>
          </a:p>
          <a:p>
            <a:pPr marL="0" indent="0" algn="ctr">
              <a:buNone/>
            </a:pPr>
            <a:r>
              <a:rPr lang="en-US" sz="2000" b="1" dirty="0">
                <a:solidFill>
                  <a:srgbClr val="FF6B35"/>
                </a:solidFill>
                <a:latin typeface="Calibri" pitchFamily="34" charset="0"/>
                <a:ea typeface="Calibri" pitchFamily="34" charset="-122"/>
                <a:cs typeface="Calibri" pitchFamily="34" charset="-120"/>
              </a:rPr>
              <a:t>Systems</a:t>
            </a:r>
            <a:endParaRPr lang="en-US" sz="2000" dirty="0"/>
          </a:p>
        </p:txBody>
      </p:sp>
      <p:sp>
        <p:nvSpPr>
          <p:cNvPr id="9" name="Text 7"/>
          <p:cNvSpPr/>
          <p:nvPr/>
        </p:nvSpPr>
        <p:spPr>
          <a:xfrm>
            <a:off x="5029200" y="2011680"/>
            <a:ext cx="3474720" cy="2286000"/>
          </a:xfrm>
          <a:prstGeom prst="rect">
            <a:avLst/>
          </a:prstGeom>
          <a:noFill/>
          <a:ln/>
        </p:spPr>
        <p:txBody>
          <a:bodyPr wrap="square" rtlCol="0" anchor="ctr"/>
          <a:lstStyle/>
          <a:p>
            <a:pPr marL="0" indent="0" algn="l">
              <a:buNone/>
            </a:pPr>
            <a:r>
              <a:rPr lang="en-US" sz="2000" dirty="0">
                <a:solidFill>
                  <a:srgbClr val="2D3436"/>
                </a:solidFill>
                <a:latin typeface="Calibri" pitchFamily="34" charset="0"/>
                <a:ea typeface="Calibri" pitchFamily="34" charset="-122"/>
                <a:cs typeface="Calibri" pitchFamily="34" charset="-120"/>
              </a:rPr>
              <a:t>• Use send() and receive()</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Messages in buffers</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Works across networks</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Heavy kernel involvement</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Slower but safer</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Shared Memory Systems</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Processes create and attach to shared memory segments</a:t>
            </a:r>
            <a:endParaRPr lang="en-US" sz="1600" dirty="0"/>
          </a:p>
        </p:txBody>
      </p:sp>
      <p:sp>
        <p:nvSpPr>
          <p:cNvPr id="5" name="Text 3"/>
          <p:cNvSpPr/>
          <p:nvPr/>
        </p:nvSpPr>
        <p:spPr>
          <a:xfrm>
            <a:off x="731520" y="1645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All cooperating processes can read and write data</a:t>
            </a:r>
            <a:endParaRPr lang="en-US" sz="1600" dirty="0"/>
          </a:p>
        </p:txBody>
      </p:sp>
      <p:sp>
        <p:nvSpPr>
          <p:cNvPr id="6" name="Text 4"/>
          <p:cNvSpPr/>
          <p:nvPr/>
        </p:nvSpPr>
        <p:spPr>
          <a:xfrm>
            <a:off x="731520" y="21031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Communication occurs through the shared area</a:t>
            </a:r>
            <a:endParaRPr lang="en-US" sz="1600" dirty="0"/>
          </a:p>
        </p:txBody>
      </p:sp>
      <p:sp>
        <p:nvSpPr>
          <p:cNvPr id="7" name="Text 5"/>
          <p:cNvSpPr/>
          <p:nvPr/>
        </p:nvSpPr>
        <p:spPr>
          <a:xfrm>
            <a:off x="731520" y="25603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Minimal kernel involvement after setup</a:t>
            </a:r>
            <a:endParaRPr lang="en-US" sz="1600" dirty="0"/>
          </a:p>
        </p:txBody>
      </p:sp>
      <p:sp>
        <p:nvSpPr>
          <p:cNvPr id="8" name="Text 6"/>
          <p:cNvSpPr/>
          <p:nvPr/>
        </p:nvSpPr>
        <p:spPr>
          <a:xfrm>
            <a:off x="731520" y="3017520"/>
            <a:ext cx="8053252" cy="339724"/>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High speed communication between processes</a:t>
            </a:r>
            <a:endParaRPr lang="en-US" sz="1600" dirty="0"/>
          </a:p>
        </p:txBody>
      </p:sp>
      <p:sp>
        <p:nvSpPr>
          <p:cNvPr id="9" name="Text 7"/>
          <p:cNvSpPr/>
          <p:nvPr/>
        </p:nvSpPr>
        <p:spPr>
          <a:xfrm>
            <a:off x="731520" y="3474718"/>
            <a:ext cx="7955280" cy="339723"/>
          </a:xfrm>
          <a:prstGeom prst="rect">
            <a:avLst/>
          </a:prstGeom>
          <a:noFill/>
          <a:ln/>
        </p:spPr>
        <p:txBody>
          <a:bodyPr wrap="square" rtlCol="0" anchor="ctr"/>
          <a:lstStyle/>
          <a:p>
            <a:pPr marL="342900" indent="-342900" algn="l">
              <a:buSzPct val="100000"/>
              <a:buChar char="•"/>
            </a:pPr>
            <a:r>
              <a:rPr lang="en-US" sz="1600" b="1" dirty="0">
                <a:solidFill>
                  <a:srgbClr val="2D3436"/>
                </a:solidFill>
                <a:latin typeface="Calibri" pitchFamily="34" charset="0"/>
                <a:ea typeface="Calibri" pitchFamily="34" charset="-122"/>
                <a:cs typeface="Calibri" pitchFamily="34" charset="-120"/>
              </a:rPr>
              <a:t>Critical: </a:t>
            </a:r>
            <a:r>
              <a:rPr lang="en-US" sz="1600" dirty="0">
                <a:solidFill>
                  <a:srgbClr val="2D3436"/>
                </a:solidFill>
                <a:latin typeface="Calibri" pitchFamily="34" charset="0"/>
                <a:ea typeface="Calibri" pitchFamily="34" charset="-122"/>
                <a:cs typeface="Calibri" pitchFamily="34" charset="-120"/>
              </a:rPr>
              <a:t>Synchronization required to prevent data corruption</a:t>
            </a:r>
            <a:endParaRPr lang="en-US" sz="1600" dirty="0"/>
          </a:p>
        </p:txBody>
      </p:sp>
      <p:pic>
        <p:nvPicPr>
          <p:cNvPr id="10" name="Image 2">
            <a:extLst>
              <a:ext uri="{FF2B5EF4-FFF2-40B4-BE49-F238E27FC236}">
                <a16:creationId xmlns:a16="http://schemas.microsoft.com/office/drawing/2014/main" id="{DE2684DF-4049-4A18-BB7F-C3AA8508377F}"/>
              </a:ext>
            </a:extLst>
          </p:cNvPr>
          <p:cNvPicPr/>
          <p:nvPr/>
        </p:nvPicPr>
        <p:blipFill>
          <a:blip r:embed="rId3" cstate="print"/>
          <a:stretch>
            <a:fillRect/>
          </a:stretch>
        </p:blipFill>
        <p:spPr>
          <a:xfrm>
            <a:off x="6074229" y="1188720"/>
            <a:ext cx="2710543" cy="21685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3600" b="1" dirty="0">
                <a:solidFill>
                  <a:srgbClr val="1F3A93"/>
                </a:solidFill>
                <a:latin typeface="Calibri" pitchFamily="34" charset="0"/>
                <a:ea typeface="Calibri" pitchFamily="34" charset="-122"/>
                <a:cs typeface="Calibri" pitchFamily="34" charset="-120"/>
              </a:rPr>
              <a:t>Advantages of Shared Memory Systems</a:t>
            </a:r>
            <a:endParaRPr lang="en-US" sz="36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Very fast communication - data directly accessible</a:t>
            </a:r>
            <a:endParaRPr lang="en-US" sz="1600" dirty="0"/>
          </a:p>
        </p:txBody>
      </p:sp>
      <p:sp>
        <p:nvSpPr>
          <p:cNvPr id="5" name="Text 3"/>
          <p:cNvSpPr/>
          <p:nvPr/>
        </p:nvSpPr>
        <p:spPr>
          <a:xfrm>
            <a:off x="731520" y="1645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Low overhead - system calls needed only for setup</a:t>
            </a:r>
            <a:endParaRPr lang="en-US" sz="1600" dirty="0"/>
          </a:p>
        </p:txBody>
      </p:sp>
      <p:sp>
        <p:nvSpPr>
          <p:cNvPr id="6" name="Text 4"/>
          <p:cNvSpPr/>
          <p:nvPr/>
        </p:nvSpPr>
        <p:spPr>
          <a:xfrm>
            <a:off x="731520" y="21031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Flexible - processes can share large data structures</a:t>
            </a:r>
            <a:endParaRPr lang="en-US" sz="1600" dirty="0"/>
          </a:p>
        </p:txBody>
      </p:sp>
      <p:sp>
        <p:nvSpPr>
          <p:cNvPr id="7" name="Text 5"/>
          <p:cNvSpPr/>
          <p:nvPr/>
        </p:nvSpPr>
        <p:spPr>
          <a:xfrm>
            <a:off x="731520" y="25603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Efficient for high-volume data transfer</a:t>
            </a:r>
            <a:endParaRPr lang="en-US" sz="1600" dirty="0"/>
          </a:p>
        </p:txBody>
      </p:sp>
      <p:sp>
        <p:nvSpPr>
          <p:cNvPr id="8" name="Text 6"/>
          <p:cNvSpPr/>
          <p:nvPr/>
        </p:nvSpPr>
        <p:spPr>
          <a:xfrm>
            <a:off x="731520" y="30175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No message copying overhead</a:t>
            </a:r>
            <a:endParaRPr lang="en-US" sz="1600" dirty="0"/>
          </a:p>
        </p:txBody>
      </p:sp>
      <p:sp>
        <p:nvSpPr>
          <p:cNvPr id="9" name="Text 7"/>
          <p:cNvSpPr/>
          <p:nvPr/>
        </p:nvSpPr>
        <p:spPr>
          <a:xfrm>
            <a:off x="731520" y="3474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Good for processes on the same machine</a:t>
            </a:r>
            <a:endParaRPr lang="en-US" sz="1600" dirty="0"/>
          </a:p>
        </p:txBody>
      </p:sp>
      <p:sp>
        <p:nvSpPr>
          <p:cNvPr id="10" name="Text 8"/>
          <p:cNvSpPr/>
          <p:nvPr/>
        </p:nvSpPr>
        <p:spPr>
          <a:xfrm>
            <a:off x="731520" y="3931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Simple implementation for basic use cases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Producer-Consumer Problem</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1400" i="1" dirty="0">
                <a:solidFill>
                  <a:srgbClr val="2D3436"/>
                </a:solidFill>
                <a:latin typeface="Calibri" pitchFamily="34" charset="0"/>
                <a:ea typeface="Calibri" pitchFamily="34" charset="-122"/>
                <a:cs typeface="Calibri" pitchFamily="34" charset="-120"/>
              </a:rPr>
              <a:t>Classic example of IPC in shared memory systems</a:t>
            </a:r>
            <a:endParaRPr lang="en-US" sz="1400" dirty="0"/>
          </a:p>
        </p:txBody>
      </p:sp>
      <p:sp>
        <p:nvSpPr>
          <p:cNvPr id="5" name="Text 3"/>
          <p:cNvSpPr/>
          <p:nvPr/>
        </p:nvSpPr>
        <p:spPr>
          <a:xfrm>
            <a:off x="731520" y="20116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Producer Process: Generates items and places them in buffer</a:t>
            </a:r>
            <a:endParaRPr lang="en-US" sz="16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Consumer Process: Removes items and consumes them</a:t>
            </a:r>
            <a:endParaRPr lang="en-US" sz="16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Key Challenge: Coordination between producer and consumer</a:t>
            </a:r>
            <a:endParaRPr lang="en-US" sz="16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Buffer acts as intermediate storage</a:t>
            </a:r>
            <a:endParaRPr lang="en-US" sz="16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Must prevent buffer overflow and underflow</a:t>
            </a:r>
            <a:endParaRPr lang="en-US" sz="1600" dirty="0"/>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Requires proper synchronization mechanisms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8809B9-EE09-41E7-892B-A087DDC9C28E}"/>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2214320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Buffer Types in Producer-Consumer</a:t>
            </a:r>
            <a:endParaRPr lang="en-US" sz="4000" dirty="0"/>
          </a:p>
        </p:txBody>
      </p:sp>
      <p:sp>
        <p:nvSpPr>
          <p:cNvPr id="3" name="Shape 1"/>
          <p:cNvSpPr/>
          <p:nvPr/>
        </p:nvSpPr>
        <p:spPr>
          <a:xfrm>
            <a:off x="457200" y="914400"/>
            <a:ext cx="2743200" cy="73152"/>
          </a:xfrm>
          <a:prstGeom prst="rect">
            <a:avLst/>
          </a:prstGeom>
          <a:solidFill>
            <a:srgbClr val="00A9A6"/>
          </a:solidFill>
          <a:ln/>
        </p:spPr>
      </p:sp>
      <p:sp>
        <p:nvSpPr>
          <p:cNvPr id="4" name="Shape 2"/>
          <p:cNvSpPr/>
          <p:nvPr/>
        </p:nvSpPr>
        <p:spPr>
          <a:xfrm>
            <a:off x="457200" y="1188720"/>
            <a:ext cx="4023360" cy="3474720"/>
          </a:xfrm>
          <a:prstGeom prst="roundRect">
            <a:avLst/>
          </a:prstGeom>
          <a:solidFill>
            <a:srgbClr val="E8F4F8"/>
          </a:solidFill>
          <a:ln w="25400">
            <a:solidFill>
              <a:srgbClr val="00A9A6"/>
            </a:solidFill>
            <a:prstDash val="solid"/>
          </a:ln>
        </p:spPr>
      </p:sp>
      <p:sp>
        <p:nvSpPr>
          <p:cNvPr id="5" name="Text 3"/>
          <p:cNvSpPr/>
          <p:nvPr/>
        </p:nvSpPr>
        <p:spPr>
          <a:xfrm>
            <a:off x="640080" y="1371600"/>
            <a:ext cx="3657600" cy="411480"/>
          </a:xfrm>
          <a:prstGeom prst="rect">
            <a:avLst/>
          </a:prstGeom>
          <a:noFill/>
          <a:ln/>
        </p:spPr>
        <p:txBody>
          <a:bodyPr wrap="square" rtlCol="0" anchor="ctr"/>
          <a:lstStyle/>
          <a:p>
            <a:pPr marL="0" indent="0" algn="ctr">
              <a:buNone/>
            </a:pPr>
            <a:r>
              <a:rPr lang="en-US" sz="1600" b="1" dirty="0">
                <a:solidFill>
                  <a:srgbClr val="1F3A93"/>
                </a:solidFill>
                <a:latin typeface="Calibri" pitchFamily="34" charset="0"/>
                <a:ea typeface="Calibri" pitchFamily="34" charset="-122"/>
                <a:cs typeface="Calibri" pitchFamily="34" charset="-120"/>
              </a:rPr>
              <a:t>Bounded Buffer</a:t>
            </a:r>
            <a:endParaRPr lang="en-US" sz="1600" dirty="0"/>
          </a:p>
        </p:txBody>
      </p:sp>
      <p:sp>
        <p:nvSpPr>
          <p:cNvPr id="6" name="Text 4"/>
          <p:cNvSpPr/>
          <p:nvPr/>
        </p:nvSpPr>
        <p:spPr>
          <a:xfrm>
            <a:off x="640080" y="1920240"/>
            <a:ext cx="3657600" cy="2560320"/>
          </a:xfrm>
          <a:prstGeom prst="rect">
            <a:avLst/>
          </a:prstGeom>
          <a:noFill/>
          <a:ln/>
        </p:spPr>
        <p:txBody>
          <a:bodyPr wrap="square" rtlCol="0" anchor="ctr"/>
          <a:lstStyle/>
          <a:p>
            <a:pPr marL="0" indent="0" algn="l">
              <a:buNone/>
            </a:pPr>
            <a:r>
              <a:rPr lang="en-US" dirty="0">
                <a:solidFill>
                  <a:srgbClr val="2D3436"/>
                </a:solidFill>
                <a:latin typeface="Calibri" pitchFamily="34" charset="0"/>
                <a:ea typeface="Calibri" pitchFamily="34" charset="-122"/>
                <a:cs typeface="Calibri" pitchFamily="34" charset="-120"/>
              </a:rPr>
              <a:t>• Fixed size buffer</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Producer waits if full</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Consumer waits if empty</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Prevents memory overflow</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Resource-controlled</a:t>
            </a:r>
            <a:endParaRPr lang="en-US" dirty="0"/>
          </a:p>
        </p:txBody>
      </p:sp>
      <p:sp>
        <p:nvSpPr>
          <p:cNvPr id="7" name="Shape 5"/>
          <p:cNvSpPr/>
          <p:nvPr/>
        </p:nvSpPr>
        <p:spPr>
          <a:xfrm>
            <a:off x="4663440" y="1188720"/>
            <a:ext cx="4023360" cy="3474720"/>
          </a:xfrm>
          <a:prstGeom prst="roundRect">
            <a:avLst/>
          </a:prstGeom>
          <a:solidFill>
            <a:srgbClr val="FFE5D3"/>
          </a:solidFill>
          <a:ln w="25400">
            <a:solidFill>
              <a:srgbClr val="FF6B35"/>
            </a:solidFill>
            <a:prstDash val="solid"/>
          </a:ln>
        </p:spPr>
      </p:sp>
      <p:sp>
        <p:nvSpPr>
          <p:cNvPr id="8" name="Text 6"/>
          <p:cNvSpPr/>
          <p:nvPr/>
        </p:nvSpPr>
        <p:spPr>
          <a:xfrm>
            <a:off x="4846320" y="1371600"/>
            <a:ext cx="3657600" cy="411480"/>
          </a:xfrm>
          <a:prstGeom prst="rect">
            <a:avLst/>
          </a:prstGeom>
          <a:noFill/>
          <a:ln/>
        </p:spPr>
        <p:txBody>
          <a:bodyPr wrap="square" rtlCol="0" anchor="ctr"/>
          <a:lstStyle/>
          <a:p>
            <a:pPr marL="0" indent="0" algn="ctr">
              <a:buNone/>
            </a:pPr>
            <a:r>
              <a:rPr lang="en-US" sz="1600" b="1" dirty="0">
                <a:solidFill>
                  <a:srgbClr val="FF6B35"/>
                </a:solidFill>
                <a:latin typeface="Calibri" pitchFamily="34" charset="0"/>
                <a:ea typeface="Calibri" pitchFamily="34" charset="-122"/>
                <a:cs typeface="Calibri" pitchFamily="34" charset="-120"/>
              </a:rPr>
              <a:t>Unbounded Buffer</a:t>
            </a:r>
            <a:endParaRPr lang="en-US" sz="1600" dirty="0"/>
          </a:p>
        </p:txBody>
      </p:sp>
      <p:sp>
        <p:nvSpPr>
          <p:cNvPr id="9" name="Text 7"/>
          <p:cNvSpPr/>
          <p:nvPr/>
        </p:nvSpPr>
        <p:spPr>
          <a:xfrm>
            <a:off x="4846320" y="1920240"/>
            <a:ext cx="3657600" cy="2560320"/>
          </a:xfrm>
          <a:prstGeom prst="rect">
            <a:avLst/>
          </a:prstGeom>
          <a:noFill/>
          <a:ln/>
        </p:spPr>
        <p:txBody>
          <a:bodyPr wrap="square" rtlCol="0" anchor="ctr"/>
          <a:lstStyle/>
          <a:p>
            <a:pPr marL="0" indent="0" algn="l">
              <a:buNone/>
            </a:pPr>
            <a:r>
              <a:rPr lang="en-US" dirty="0">
                <a:solidFill>
                  <a:srgbClr val="2D3436"/>
                </a:solidFill>
                <a:latin typeface="Calibri" pitchFamily="34" charset="0"/>
                <a:ea typeface="Calibri" pitchFamily="34" charset="-122"/>
                <a:cs typeface="Calibri" pitchFamily="34" charset="-120"/>
              </a:rPr>
              <a:t>• Unlimited capacity</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Producer never waits</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Consumer waits if empty</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Requires large memory</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Simple operation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Circular Buffer Implementation</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1400" i="1" dirty="0">
                <a:solidFill>
                  <a:srgbClr val="2D3436"/>
                </a:solidFill>
                <a:latin typeface="Calibri" pitchFamily="34" charset="0"/>
                <a:ea typeface="Calibri" pitchFamily="34" charset="-122"/>
                <a:cs typeface="Calibri" pitchFamily="34" charset="-120"/>
              </a:rPr>
              <a:t>Common approach for bounded buffer implementation</a:t>
            </a:r>
            <a:endParaRPr lang="en-US" sz="1400" dirty="0"/>
          </a:p>
        </p:txBody>
      </p:sp>
      <p:sp>
        <p:nvSpPr>
          <p:cNvPr id="5" name="Text 3"/>
          <p:cNvSpPr/>
          <p:nvPr/>
        </p:nvSpPr>
        <p:spPr>
          <a:xfrm>
            <a:off x="731520" y="20116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Uses circular array to maximize buffer space</a:t>
            </a:r>
            <a:endParaRPr lang="en-US" sz="14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Two pointers: 'in' and 'out' for tracking positions</a:t>
            </a:r>
            <a:endParaRPr lang="en-US" sz="14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Initial state: Both pointers set to zero</a:t>
            </a:r>
            <a:endParaRPr lang="en-US" sz="14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Wrap-around: When pointer reaches size, resets to zero</a:t>
            </a:r>
            <a:endParaRPr lang="en-US" sz="14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Condition for full: (in + 1) % size == out</a:t>
            </a:r>
            <a:endParaRPr lang="en-US" sz="1400" dirty="0"/>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Condition for empty: in == out</a:t>
            </a:r>
            <a:endParaRPr lang="en-US" sz="1400" dirty="0"/>
          </a:p>
        </p:txBody>
      </p:sp>
      <p:sp>
        <p:nvSpPr>
          <p:cNvPr id="11" name="Text 9"/>
          <p:cNvSpPr/>
          <p:nvPr/>
        </p:nvSpPr>
        <p:spPr>
          <a:xfrm>
            <a:off x="731520" y="47548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Efficient use of fixed memory space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Synchronization in Shared Memory</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078993"/>
            <a:ext cx="7955280" cy="365758"/>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Critical Issue: Data corruption if multiple processes access simultaneously</a:t>
            </a:r>
            <a:endParaRPr lang="en-US" sz="1600" dirty="0"/>
          </a:p>
        </p:txBody>
      </p:sp>
      <p:sp>
        <p:nvSpPr>
          <p:cNvPr id="5" name="Text 3"/>
          <p:cNvSpPr/>
          <p:nvPr/>
        </p:nvSpPr>
        <p:spPr>
          <a:xfrm>
            <a:off x="731520" y="1645919"/>
            <a:ext cx="7955280" cy="256023"/>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Solution: Use mutual exclusion (mutex) locks</a:t>
            </a:r>
            <a:endParaRPr lang="en-US" sz="1600" dirty="0"/>
          </a:p>
        </p:txBody>
      </p:sp>
      <p:sp>
        <p:nvSpPr>
          <p:cNvPr id="6" name="Text 4"/>
          <p:cNvSpPr/>
          <p:nvPr/>
        </p:nvSpPr>
        <p:spPr>
          <a:xfrm>
            <a:off x="731520" y="2103119"/>
            <a:ext cx="7955280" cy="256021"/>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Implementation: Semaphores, mutex variables, or other locking mechanisms</a:t>
            </a:r>
            <a:endParaRPr lang="en-US" sz="1600" dirty="0"/>
          </a:p>
        </p:txBody>
      </p:sp>
      <p:sp>
        <p:nvSpPr>
          <p:cNvPr id="7" name="Text 5"/>
          <p:cNvSpPr/>
          <p:nvPr/>
        </p:nvSpPr>
        <p:spPr>
          <a:xfrm>
            <a:off x="731520" y="2560319"/>
            <a:ext cx="7955280" cy="224041"/>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Ensures: Only one process accesses shared memory at a time</a:t>
            </a:r>
            <a:endParaRPr lang="en-US" sz="1600" dirty="0"/>
          </a:p>
        </p:txBody>
      </p:sp>
      <p:sp>
        <p:nvSpPr>
          <p:cNvPr id="8" name="Text 6"/>
          <p:cNvSpPr/>
          <p:nvPr/>
        </p:nvSpPr>
        <p:spPr>
          <a:xfrm>
            <a:off x="731520" y="3017519"/>
            <a:ext cx="7955280" cy="224039"/>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Prevents: Race conditions and data inconsistencies</a:t>
            </a:r>
            <a:endParaRPr lang="en-US" sz="1600" dirty="0"/>
          </a:p>
        </p:txBody>
      </p:sp>
      <p:sp>
        <p:nvSpPr>
          <p:cNvPr id="9" name="Text 7"/>
          <p:cNvSpPr/>
          <p:nvPr/>
        </p:nvSpPr>
        <p:spPr>
          <a:xfrm>
            <a:off x="731520" y="3474720"/>
            <a:ext cx="7955280" cy="403316"/>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Trade-off: Performance vs. data integrity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Message Passing Systems</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Uses send() and receive() system calls for communication</a:t>
            </a:r>
            <a:endParaRPr lang="en-US" sz="1600" dirty="0"/>
          </a:p>
        </p:txBody>
      </p:sp>
      <p:sp>
        <p:nvSpPr>
          <p:cNvPr id="5" name="Text 3"/>
          <p:cNvSpPr/>
          <p:nvPr/>
        </p:nvSpPr>
        <p:spPr>
          <a:xfrm>
            <a:off x="731520" y="1645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Sender: Invokes send() to transmit message to kernel buffer</a:t>
            </a:r>
            <a:endParaRPr lang="en-US" sz="1600" dirty="0"/>
          </a:p>
        </p:txBody>
      </p:sp>
      <p:sp>
        <p:nvSpPr>
          <p:cNvPr id="6" name="Text 4"/>
          <p:cNvSpPr/>
          <p:nvPr/>
        </p:nvSpPr>
        <p:spPr>
          <a:xfrm>
            <a:off x="731520" y="21031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Kernel: Stores message until receiver retrieves it</a:t>
            </a:r>
            <a:endParaRPr lang="en-US" sz="1600" dirty="0"/>
          </a:p>
        </p:txBody>
      </p:sp>
      <p:sp>
        <p:nvSpPr>
          <p:cNvPr id="7" name="Text 5"/>
          <p:cNvSpPr/>
          <p:nvPr/>
        </p:nvSpPr>
        <p:spPr>
          <a:xfrm>
            <a:off x="731520" y="25603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Receiver: Invokes receive() to get message from kernel</a:t>
            </a:r>
            <a:endParaRPr lang="en-US" sz="1600" dirty="0"/>
          </a:p>
        </p:txBody>
      </p:sp>
      <p:sp>
        <p:nvSpPr>
          <p:cNvPr id="8" name="Text 6"/>
          <p:cNvSpPr/>
          <p:nvPr/>
        </p:nvSpPr>
        <p:spPr>
          <a:xfrm>
            <a:off x="731520" y="3017519"/>
            <a:ext cx="7955280" cy="157191"/>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Multiple Messages: Organized in queues (FIFO order)- one receive() required for each message</a:t>
            </a:r>
            <a:endParaRPr lang="en-US" sz="1600" dirty="0"/>
          </a:p>
        </p:txBody>
      </p:sp>
      <p:sp>
        <p:nvSpPr>
          <p:cNvPr id="9" name="Text 7"/>
          <p:cNvSpPr/>
          <p:nvPr/>
        </p:nvSpPr>
        <p:spPr>
          <a:xfrm>
            <a:off x="731520" y="3474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Blocking: Receiver blocked if no message available</a:t>
            </a:r>
            <a:endParaRPr lang="en-US" sz="1600" dirty="0"/>
          </a:p>
        </p:txBody>
      </p:sp>
      <p:sp>
        <p:nvSpPr>
          <p:cNvPr id="10" name="Text 8"/>
          <p:cNvSpPr/>
          <p:nvPr/>
        </p:nvSpPr>
        <p:spPr>
          <a:xfrm>
            <a:off x="731520" y="3931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Operating System: Handles all message management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3200" b="1" dirty="0">
                <a:solidFill>
                  <a:srgbClr val="1F3A93"/>
                </a:solidFill>
                <a:latin typeface="Calibri" pitchFamily="34" charset="0"/>
                <a:ea typeface="Calibri" pitchFamily="34" charset="-122"/>
                <a:cs typeface="Calibri" pitchFamily="34" charset="-120"/>
              </a:rPr>
              <a:t>Message Passing Communication Model</a:t>
            </a:r>
            <a:endParaRPr lang="en-US" sz="3200" dirty="0"/>
          </a:p>
        </p:txBody>
      </p:sp>
      <p:sp>
        <p:nvSpPr>
          <p:cNvPr id="3" name="Shape 1"/>
          <p:cNvSpPr/>
          <p:nvPr/>
        </p:nvSpPr>
        <p:spPr>
          <a:xfrm>
            <a:off x="457200" y="914400"/>
            <a:ext cx="2743200" cy="73152"/>
          </a:xfrm>
          <a:prstGeom prst="rect">
            <a:avLst/>
          </a:prstGeom>
          <a:solidFill>
            <a:srgbClr val="00A9A6"/>
          </a:solidFill>
          <a:ln/>
        </p:spPr>
      </p:sp>
      <p:sp>
        <p:nvSpPr>
          <p:cNvPr id="4" name="Shape 2"/>
          <p:cNvSpPr/>
          <p:nvPr/>
        </p:nvSpPr>
        <p:spPr>
          <a:xfrm>
            <a:off x="457200" y="1280160"/>
            <a:ext cx="1645920" cy="1097280"/>
          </a:xfrm>
          <a:prstGeom prst="roundRect">
            <a:avLst/>
          </a:prstGeom>
          <a:solidFill>
            <a:srgbClr val="E8F4F8"/>
          </a:solidFill>
          <a:ln w="25400">
            <a:solidFill>
              <a:srgbClr val="00A9A6"/>
            </a:solidFill>
            <a:prstDash val="solid"/>
          </a:ln>
        </p:spPr>
      </p:sp>
      <p:sp>
        <p:nvSpPr>
          <p:cNvPr id="5" name="Text 3"/>
          <p:cNvSpPr/>
          <p:nvPr/>
        </p:nvSpPr>
        <p:spPr>
          <a:xfrm>
            <a:off x="548640" y="1463040"/>
            <a:ext cx="1463040" cy="731520"/>
          </a:xfrm>
          <a:prstGeom prst="rect">
            <a:avLst/>
          </a:prstGeom>
          <a:noFill/>
          <a:ln/>
        </p:spPr>
        <p:txBody>
          <a:bodyPr wrap="square" rtlCol="0" anchor="ctr"/>
          <a:lstStyle/>
          <a:p>
            <a:pPr marL="0" indent="0" algn="ctr">
              <a:buNone/>
            </a:pPr>
            <a:r>
              <a:rPr lang="en-US" sz="1400" b="1" dirty="0">
                <a:solidFill>
                  <a:srgbClr val="1F3A93"/>
                </a:solidFill>
                <a:latin typeface="Calibri" pitchFamily="34" charset="0"/>
                <a:ea typeface="Calibri" pitchFamily="34" charset="-122"/>
                <a:cs typeface="Calibri" pitchFamily="34" charset="-120"/>
              </a:rPr>
              <a:t>Process 1</a:t>
            </a:r>
            <a:endParaRPr lang="en-US" sz="1400" dirty="0"/>
          </a:p>
          <a:p>
            <a:pPr marL="0" indent="0" algn="ctr">
              <a:buNone/>
            </a:pPr>
            <a:r>
              <a:rPr lang="en-US" sz="1400" b="1" dirty="0">
                <a:solidFill>
                  <a:srgbClr val="1F3A93"/>
                </a:solidFill>
                <a:latin typeface="Calibri" pitchFamily="34" charset="0"/>
                <a:ea typeface="Calibri" pitchFamily="34" charset="-122"/>
                <a:cs typeface="Calibri" pitchFamily="34" charset="-120"/>
              </a:rPr>
              <a:t>(Sender)</a:t>
            </a:r>
            <a:endParaRPr lang="en-US" sz="1400" dirty="0"/>
          </a:p>
        </p:txBody>
      </p:sp>
      <p:sp>
        <p:nvSpPr>
          <p:cNvPr id="6" name="Shape 4"/>
          <p:cNvSpPr/>
          <p:nvPr/>
        </p:nvSpPr>
        <p:spPr>
          <a:xfrm>
            <a:off x="3291840" y="1280160"/>
            <a:ext cx="2560320" cy="1097280"/>
          </a:xfrm>
          <a:prstGeom prst="roundRect">
            <a:avLst/>
          </a:prstGeom>
          <a:solidFill>
            <a:srgbClr val="FFE5D3"/>
          </a:solidFill>
          <a:ln w="25400">
            <a:solidFill>
              <a:srgbClr val="FF6B35"/>
            </a:solidFill>
            <a:prstDash val="solid"/>
          </a:ln>
        </p:spPr>
      </p:sp>
      <p:sp>
        <p:nvSpPr>
          <p:cNvPr id="7" name="Text 5"/>
          <p:cNvSpPr/>
          <p:nvPr/>
        </p:nvSpPr>
        <p:spPr>
          <a:xfrm>
            <a:off x="3474720" y="1463040"/>
            <a:ext cx="2194560" cy="731520"/>
          </a:xfrm>
          <a:prstGeom prst="rect">
            <a:avLst/>
          </a:prstGeom>
          <a:noFill/>
          <a:ln/>
        </p:spPr>
        <p:txBody>
          <a:bodyPr wrap="square" rtlCol="0" anchor="ctr"/>
          <a:lstStyle/>
          <a:p>
            <a:pPr marL="0" indent="0" algn="ctr">
              <a:buNone/>
            </a:pPr>
            <a:r>
              <a:rPr lang="en-US" sz="1400" b="1" dirty="0">
                <a:solidFill>
                  <a:srgbClr val="FF6B35"/>
                </a:solidFill>
                <a:latin typeface="Calibri" pitchFamily="34" charset="0"/>
                <a:ea typeface="Calibri" pitchFamily="34" charset="-122"/>
                <a:cs typeface="Calibri" pitchFamily="34" charset="-120"/>
              </a:rPr>
              <a:t>Kernel</a:t>
            </a:r>
            <a:endParaRPr lang="en-US" sz="1400" dirty="0"/>
          </a:p>
          <a:p>
            <a:pPr marL="0" indent="0" algn="ctr">
              <a:buNone/>
            </a:pPr>
            <a:r>
              <a:rPr lang="en-US" sz="1400" b="1" dirty="0">
                <a:solidFill>
                  <a:srgbClr val="FF6B35"/>
                </a:solidFill>
                <a:latin typeface="Calibri" pitchFamily="34" charset="0"/>
                <a:ea typeface="Calibri" pitchFamily="34" charset="-122"/>
                <a:cs typeface="Calibri" pitchFamily="34" charset="-120"/>
              </a:rPr>
              <a:t>Message Buffer</a:t>
            </a:r>
            <a:endParaRPr lang="en-US" sz="1400" dirty="0"/>
          </a:p>
        </p:txBody>
      </p:sp>
      <p:sp>
        <p:nvSpPr>
          <p:cNvPr id="8" name="Shape 6"/>
          <p:cNvSpPr/>
          <p:nvPr/>
        </p:nvSpPr>
        <p:spPr>
          <a:xfrm>
            <a:off x="7040880" y="1280160"/>
            <a:ext cx="1645920" cy="1097280"/>
          </a:xfrm>
          <a:prstGeom prst="roundRect">
            <a:avLst/>
          </a:prstGeom>
          <a:solidFill>
            <a:srgbClr val="E8F4F8"/>
          </a:solidFill>
          <a:ln w="25400">
            <a:solidFill>
              <a:srgbClr val="00A9A6"/>
            </a:solidFill>
            <a:prstDash val="solid"/>
          </a:ln>
        </p:spPr>
      </p:sp>
      <p:sp>
        <p:nvSpPr>
          <p:cNvPr id="9" name="Text 7"/>
          <p:cNvSpPr/>
          <p:nvPr/>
        </p:nvSpPr>
        <p:spPr>
          <a:xfrm>
            <a:off x="7132320" y="1463040"/>
            <a:ext cx="1463040" cy="731520"/>
          </a:xfrm>
          <a:prstGeom prst="rect">
            <a:avLst/>
          </a:prstGeom>
          <a:noFill/>
          <a:ln/>
        </p:spPr>
        <p:txBody>
          <a:bodyPr wrap="square" rtlCol="0" anchor="ctr"/>
          <a:lstStyle/>
          <a:p>
            <a:pPr marL="0" indent="0" algn="ctr">
              <a:buNone/>
            </a:pPr>
            <a:r>
              <a:rPr lang="en-US" sz="1400" b="1" dirty="0">
                <a:solidFill>
                  <a:srgbClr val="1F3A93"/>
                </a:solidFill>
                <a:latin typeface="Calibri" pitchFamily="34" charset="0"/>
                <a:ea typeface="Calibri" pitchFamily="34" charset="-122"/>
                <a:cs typeface="Calibri" pitchFamily="34" charset="-120"/>
              </a:rPr>
              <a:t>Process 2</a:t>
            </a:r>
            <a:endParaRPr lang="en-US" sz="1400" dirty="0"/>
          </a:p>
          <a:p>
            <a:pPr marL="0" indent="0" algn="ctr">
              <a:buNone/>
            </a:pPr>
            <a:r>
              <a:rPr lang="en-US" sz="1400" b="1" dirty="0">
                <a:solidFill>
                  <a:srgbClr val="1F3A93"/>
                </a:solidFill>
                <a:latin typeface="Calibri" pitchFamily="34" charset="0"/>
                <a:ea typeface="Calibri" pitchFamily="34" charset="-122"/>
                <a:cs typeface="Calibri" pitchFamily="34" charset="-120"/>
              </a:rPr>
              <a:t>(Receiver)</a:t>
            </a:r>
            <a:endParaRPr lang="en-US" sz="1400" dirty="0"/>
          </a:p>
        </p:txBody>
      </p:sp>
      <p:sp>
        <p:nvSpPr>
          <p:cNvPr id="10" name="Text 8"/>
          <p:cNvSpPr/>
          <p:nvPr/>
        </p:nvSpPr>
        <p:spPr>
          <a:xfrm>
            <a:off x="457200" y="2743200"/>
            <a:ext cx="8229600" cy="2103120"/>
          </a:xfrm>
          <a:prstGeom prst="rect">
            <a:avLst/>
          </a:prstGeom>
          <a:noFill/>
          <a:ln/>
        </p:spPr>
        <p:txBody>
          <a:bodyPr wrap="square" rtlCol="0" anchor="ctr"/>
          <a:lstStyle/>
          <a:p>
            <a:pPr marL="0" indent="0" algn="l">
              <a:buNone/>
            </a:pPr>
            <a:r>
              <a:rPr lang="en-US" dirty="0">
                <a:solidFill>
                  <a:srgbClr val="2D3436"/>
                </a:solidFill>
                <a:latin typeface="Calibri" pitchFamily="34" charset="0"/>
                <a:ea typeface="Calibri" pitchFamily="34" charset="-122"/>
                <a:cs typeface="Calibri" pitchFamily="34" charset="-120"/>
              </a:rPr>
              <a:t>Flow: Process 1 sends → Kernel stores → Process 2 receives</a:t>
            </a:r>
            <a:endParaRPr lang="en-US" dirty="0"/>
          </a:p>
          <a:p>
            <a:pPr marL="0" indent="0" algn="l">
              <a:buNone/>
            </a:pP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Advantages: Works across networks, Safer, Controlled communication</a:t>
            </a:r>
            <a:endParaRPr lang="en-US" dirty="0"/>
          </a:p>
          <a:p>
            <a:pPr marL="0" indent="0" algn="l">
              <a:buNone/>
            </a:pP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Disadvantages: Slower, Higher overhead, More kernel involvement</a:t>
            </a:r>
            <a:endParaRPr lang="en-US" dirty="0"/>
          </a:p>
        </p:txBody>
      </p:sp>
      <p:cxnSp>
        <p:nvCxnSpPr>
          <p:cNvPr id="12" name="Straight Arrow Connector 11">
            <a:extLst>
              <a:ext uri="{FF2B5EF4-FFF2-40B4-BE49-F238E27FC236}">
                <a16:creationId xmlns:a16="http://schemas.microsoft.com/office/drawing/2014/main" id="{0BAEA9BD-1279-4487-98B4-7862DFE48339}"/>
              </a:ext>
            </a:extLst>
          </p:cNvPr>
          <p:cNvCxnSpPr>
            <a:stCxn id="4" idx="3"/>
            <a:endCxn id="6" idx="1"/>
          </p:cNvCxnSpPr>
          <p:nvPr/>
        </p:nvCxnSpPr>
        <p:spPr>
          <a:xfrm>
            <a:off x="2103120" y="1828800"/>
            <a:ext cx="1188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4CF5B1E-C4FE-4499-8336-55C25A1A188F}"/>
              </a:ext>
            </a:extLst>
          </p:cNvPr>
          <p:cNvCxnSpPr>
            <a:stCxn id="6" idx="3"/>
            <a:endCxn id="8" idx="1"/>
          </p:cNvCxnSpPr>
          <p:nvPr/>
        </p:nvCxnSpPr>
        <p:spPr>
          <a:xfrm>
            <a:off x="5852160" y="1828800"/>
            <a:ext cx="1188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Direct Communication: Symmetric</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2000" i="1" dirty="0">
                <a:solidFill>
                  <a:srgbClr val="2D3436"/>
                </a:solidFill>
                <a:latin typeface="Calibri" pitchFamily="34" charset="0"/>
                <a:ea typeface="Calibri" pitchFamily="34" charset="-122"/>
                <a:cs typeface="Calibri" pitchFamily="34" charset="-120"/>
              </a:rPr>
              <a:t>Both sender and receiver must address each other</a:t>
            </a:r>
            <a:endParaRPr lang="en-US" sz="2000" dirty="0"/>
          </a:p>
        </p:txBody>
      </p:sp>
      <p:sp>
        <p:nvSpPr>
          <p:cNvPr id="5" name="Text 3"/>
          <p:cNvSpPr/>
          <p:nvPr/>
        </p:nvSpPr>
        <p:spPr>
          <a:xfrm>
            <a:off x="731520" y="20116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Sender specifies receiver's PID in send() call</a:t>
            </a:r>
            <a:endParaRPr lang="en-US" sz="20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Receiver specifies sender's PID in receive() call</a:t>
            </a:r>
            <a:endParaRPr lang="en-US" sz="20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System calls: send(PID2, message) and receive(PID1, message)</a:t>
            </a:r>
            <a:endParaRPr lang="en-US" sz="20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Both processes must know each other's process ID</a:t>
            </a:r>
            <a:endParaRPr lang="en-US" sz="20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Creates symmetric addressing relationship</a:t>
            </a:r>
            <a:endParaRPr lang="en-US" sz="2000" dirty="0"/>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One-to-one communication link</a:t>
            </a:r>
            <a:endParaRPr lang="en-US" sz="2000" dirty="0"/>
          </a:p>
        </p:txBody>
      </p:sp>
      <p:sp>
        <p:nvSpPr>
          <p:cNvPr id="11" name="Text 9"/>
          <p:cNvSpPr/>
          <p:nvPr/>
        </p:nvSpPr>
        <p:spPr>
          <a:xfrm>
            <a:off x="731520" y="4754880"/>
            <a:ext cx="7955280" cy="0"/>
          </a:xfrm>
          <a:prstGeom prst="rect">
            <a:avLst/>
          </a:prstGeom>
          <a:noFill/>
          <a:ln/>
        </p:spPr>
        <p:txBody>
          <a:bodyPr wrap="square" rtlCol="0" anchor="ctr"/>
          <a:lstStyle/>
          <a:p>
            <a:pPr marL="342900" indent="-342900" algn="l">
              <a:buSzPct val="100000"/>
              <a:buChar char="•"/>
            </a:pPr>
            <a:r>
              <a:rPr lang="en-US" sz="2000" dirty="0">
                <a:solidFill>
                  <a:srgbClr val="2D3436"/>
                </a:solidFill>
                <a:latin typeface="Calibri" pitchFamily="34" charset="0"/>
                <a:ea typeface="Calibri" pitchFamily="34" charset="-122"/>
                <a:cs typeface="Calibri" pitchFamily="34" charset="-120"/>
              </a:rPr>
              <a:t>Restrictive but explicit and clear</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8F40DC-4BDA-4922-9AA7-EF393E004C28}"/>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61927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Direct Communication: Asymmetric</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1400" i="1" dirty="0">
                <a:solidFill>
                  <a:srgbClr val="2D3436"/>
                </a:solidFill>
                <a:latin typeface="Calibri" pitchFamily="34" charset="0"/>
                <a:ea typeface="Calibri" pitchFamily="34" charset="-122"/>
                <a:cs typeface="Calibri" pitchFamily="34" charset="-120"/>
              </a:rPr>
              <a:t>Asymmetry in addressing between sender and receiver</a:t>
            </a:r>
            <a:endParaRPr lang="en-US" sz="1400" dirty="0"/>
          </a:p>
        </p:txBody>
      </p:sp>
      <p:sp>
        <p:nvSpPr>
          <p:cNvPr id="5" name="Text 3"/>
          <p:cNvSpPr/>
          <p:nvPr/>
        </p:nvSpPr>
        <p:spPr>
          <a:xfrm>
            <a:off x="731520" y="20116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Sender addresses receiver explicitly: send(PID2, message)</a:t>
            </a:r>
            <a:endParaRPr lang="en-US" sz="14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Receiver does not need to know sender's PID: receive(id, message)</a:t>
            </a:r>
            <a:endParaRPr lang="en-US" sz="14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Kernel replaces 'id' parameter with sender's actual PID</a:t>
            </a:r>
            <a:endParaRPr lang="en-US" sz="14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Receiver discovers sender identity at message arrival</a:t>
            </a:r>
            <a:endParaRPr lang="en-US" sz="14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1400" dirty="0">
                <a:solidFill>
                  <a:srgbClr val="C00000"/>
                </a:solidFill>
                <a:latin typeface="Calibri" pitchFamily="34" charset="0"/>
                <a:ea typeface="Calibri" pitchFamily="34" charset="-122"/>
                <a:cs typeface="Calibri" pitchFamily="34" charset="-120"/>
              </a:rPr>
              <a:t>More flexible </a:t>
            </a:r>
            <a:r>
              <a:rPr lang="en-US" sz="1400" dirty="0">
                <a:solidFill>
                  <a:srgbClr val="2D3436"/>
                </a:solidFill>
                <a:latin typeface="Calibri" pitchFamily="34" charset="0"/>
                <a:ea typeface="Calibri" pitchFamily="34" charset="-122"/>
                <a:cs typeface="Calibri" pitchFamily="34" charset="-120"/>
              </a:rPr>
              <a:t>than symmetric addressing</a:t>
            </a:r>
            <a:endParaRPr lang="en-US" sz="1400" dirty="0"/>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1400" dirty="0">
                <a:solidFill>
                  <a:srgbClr val="C00000"/>
                </a:solidFill>
                <a:latin typeface="Calibri" pitchFamily="34" charset="0"/>
                <a:ea typeface="Calibri" pitchFamily="34" charset="-122"/>
                <a:cs typeface="Calibri" pitchFamily="34" charset="-120"/>
              </a:rPr>
              <a:t>Useful for server processes accepting from multiple clients</a:t>
            </a:r>
            <a:endParaRPr lang="en-US" sz="1400" dirty="0">
              <a:solidFill>
                <a:srgbClr val="C00000"/>
              </a:solidFill>
            </a:endParaRPr>
          </a:p>
        </p:txBody>
      </p:sp>
      <p:sp>
        <p:nvSpPr>
          <p:cNvPr id="11" name="Text 9"/>
          <p:cNvSpPr/>
          <p:nvPr/>
        </p:nvSpPr>
        <p:spPr>
          <a:xfrm>
            <a:off x="731520" y="4561726"/>
            <a:ext cx="7955280" cy="400687"/>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One-way knowledge requirement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50F139-5D5A-4302-B33D-ABC8FB569CBA}"/>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2014810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3600" b="1" dirty="0">
                <a:solidFill>
                  <a:srgbClr val="1F3A93"/>
                </a:solidFill>
                <a:latin typeface="Calibri" pitchFamily="34" charset="0"/>
                <a:ea typeface="Calibri" pitchFamily="34" charset="-122"/>
                <a:cs typeface="Calibri" pitchFamily="34" charset="-120"/>
              </a:rPr>
              <a:t>Synchronization: Blocking vs Non-blocking</a:t>
            </a:r>
            <a:endParaRPr lang="en-US" sz="3600" dirty="0"/>
          </a:p>
        </p:txBody>
      </p:sp>
      <p:sp>
        <p:nvSpPr>
          <p:cNvPr id="3" name="Shape 1"/>
          <p:cNvSpPr/>
          <p:nvPr/>
        </p:nvSpPr>
        <p:spPr>
          <a:xfrm>
            <a:off x="457200" y="914400"/>
            <a:ext cx="2743200" cy="73152"/>
          </a:xfrm>
          <a:prstGeom prst="rect">
            <a:avLst/>
          </a:prstGeom>
          <a:solidFill>
            <a:srgbClr val="00A9A6"/>
          </a:solidFill>
          <a:ln/>
        </p:spPr>
      </p:sp>
      <p:sp>
        <p:nvSpPr>
          <p:cNvPr id="4" name="Shape 2"/>
          <p:cNvSpPr/>
          <p:nvPr/>
        </p:nvSpPr>
        <p:spPr>
          <a:xfrm>
            <a:off x="457200" y="1188720"/>
            <a:ext cx="4023360" cy="3474720"/>
          </a:xfrm>
          <a:prstGeom prst="roundRect">
            <a:avLst/>
          </a:prstGeom>
          <a:solidFill>
            <a:srgbClr val="E8F4F8"/>
          </a:solidFill>
          <a:ln w="25400">
            <a:solidFill>
              <a:srgbClr val="00A9A6"/>
            </a:solidFill>
            <a:prstDash val="solid"/>
          </a:ln>
        </p:spPr>
      </p:sp>
      <p:sp>
        <p:nvSpPr>
          <p:cNvPr id="5" name="Text 3"/>
          <p:cNvSpPr/>
          <p:nvPr/>
        </p:nvSpPr>
        <p:spPr>
          <a:xfrm>
            <a:off x="640080" y="1371600"/>
            <a:ext cx="3657600" cy="365760"/>
          </a:xfrm>
          <a:prstGeom prst="rect">
            <a:avLst/>
          </a:prstGeom>
          <a:noFill/>
          <a:ln/>
        </p:spPr>
        <p:txBody>
          <a:bodyPr wrap="square" rtlCol="0" anchor="ctr"/>
          <a:lstStyle/>
          <a:p>
            <a:pPr marL="0" indent="0" algn="ctr">
              <a:buNone/>
            </a:pPr>
            <a:r>
              <a:rPr lang="en-US" sz="2000" b="1" dirty="0">
                <a:solidFill>
                  <a:srgbClr val="1F3A93"/>
                </a:solidFill>
                <a:latin typeface="Calibri" pitchFamily="34" charset="0"/>
                <a:ea typeface="Calibri" pitchFamily="34" charset="-122"/>
                <a:cs typeface="Calibri" pitchFamily="34" charset="-120"/>
              </a:rPr>
              <a:t>Blocking</a:t>
            </a:r>
            <a:endParaRPr lang="en-US" sz="2000" dirty="0"/>
          </a:p>
          <a:p>
            <a:pPr marL="0" indent="0" algn="ctr">
              <a:buNone/>
            </a:pPr>
            <a:r>
              <a:rPr lang="en-US" sz="2000" b="1" dirty="0">
                <a:solidFill>
                  <a:srgbClr val="1F3A93"/>
                </a:solidFill>
                <a:latin typeface="Calibri" pitchFamily="34" charset="0"/>
                <a:ea typeface="Calibri" pitchFamily="34" charset="-122"/>
                <a:cs typeface="Calibri" pitchFamily="34" charset="-120"/>
              </a:rPr>
              <a:t>(Synchronous)</a:t>
            </a:r>
            <a:endParaRPr lang="en-US" sz="2000" dirty="0"/>
          </a:p>
        </p:txBody>
      </p:sp>
      <p:sp>
        <p:nvSpPr>
          <p:cNvPr id="6" name="Text 4"/>
          <p:cNvSpPr/>
          <p:nvPr/>
        </p:nvSpPr>
        <p:spPr>
          <a:xfrm>
            <a:off x="640080" y="1828800"/>
            <a:ext cx="3657600" cy="2743200"/>
          </a:xfrm>
          <a:prstGeom prst="rect">
            <a:avLst/>
          </a:prstGeom>
          <a:noFill/>
          <a:ln/>
        </p:spPr>
        <p:txBody>
          <a:bodyPr wrap="square" rtlCol="0" anchor="ctr"/>
          <a:lstStyle/>
          <a:p>
            <a:pPr marL="0" indent="0" algn="l">
              <a:buNone/>
            </a:pPr>
            <a:r>
              <a:rPr lang="en-US" sz="2000" dirty="0">
                <a:solidFill>
                  <a:srgbClr val="2D3436"/>
                </a:solidFill>
                <a:latin typeface="Calibri" pitchFamily="34" charset="0"/>
                <a:ea typeface="Calibri" pitchFamily="34" charset="-122"/>
                <a:cs typeface="Calibri" pitchFamily="34" charset="-120"/>
              </a:rPr>
              <a:t>Blocking Send:</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Sender blocked until received</a:t>
            </a:r>
            <a:endParaRPr lang="en-US" sz="2000" dirty="0"/>
          </a:p>
          <a:p>
            <a:pPr marL="0" indent="0" algn="l">
              <a:buNone/>
            </a:pP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Blocking Receive:</a:t>
            </a: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 Receiver blocked until available</a:t>
            </a:r>
            <a:endParaRPr lang="en-US" sz="2000" dirty="0"/>
          </a:p>
          <a:p>
            <a:pPr marL="0" indent="0" algn="l">
              <a:buNone/>
            </a:pPr>
            <a:endParaRPr lang="en-US" sz="2000" dirty="0"/>
          </a:p>
          <a:p>
            <a:pPr marL="0" indent="0" algn="l">
              <a:buNone/>
            </a:pPr>
            <a:r>
              <a:rPr lang="en-US" sz="2000" dirty="0">
                <a:solidFill>
                  <a:srgbClr val="2D3436"/>
                </a:solidFill>
                <a:latin typeface="Calibri" pitchFamily="34" charset="0"/>
                <a:ea typeface="Calibri" pitchFamily="34" charset="-122"/>
                <a:cs typeface="Calibri" pitchFamily="34" charset="-120"/>
              </a:rPr>
              <a:t>Advantage: Guaranteed sync</a:t>
            </a:r>
            <a:endParaRPr lang="en-US" sz="2000" dirty="0"/>
          </a:p>
        </p:txBody>
      </p:sp>
      <p:sp>
        <p:nvSpPr>
          <p:cNvPr id="7" name="Shape 5"/>
          <p:cNvSpPr/>
          <p:nvPr/>
        </p:nvSpPr>
        <p:spPr>
          <a:xfrm>
            <a:off x="4663440" y="1188720"/>
            <a:ext cx="4023360" cy="3474720"/>
          </a:xfrm>
          <a:prstGeom prst="roundRect">
            <a:avLst/>
          </a:prstGeom>
          <a:solidFill>
            <a:srgbClr val="FFE5D3"/>
          </a:solidFill>
          <a:ln w="25400">
            <a:solidFill>
              <a:srgbClr val="FF6B35"/>
            </a:solidFill>
            <a:prstDash val="solid"/>
          </a:ln>
        </p:spPr>
      </p:sp>
      <p:sp>
        <p:nvSpPr>
          <p:cNvPr id="8" name="Text 6"/>
          <p:cNvSpPr/>
          <p:nvPr/>
        </p:nvSpPr>
        <p:spPr>
          <a:xfrm>
            <a:off x="4846320" y="1371600"/>
            <a:ext cx="3657600" cy="365760"/>
          </a:xfrm>
          <a:prstGeom prst="rect">
            <a:avLst/>
          </a:prstGeom>
          <a:noFill/>
          <a:ln/>
        </p:spPr>
        <p:txBody>
          <a:bodyPr wrap="square" rtlCol="0" anchor="ctr"/>
          <a:lstStyle/>
          <a:p>
            <a:pPr marL="0" indent="0" algn="ctr">
              <a:buNone/>
            </a:pPr>
            <a:r>
              <a:rPr lang="en-US" sz="2000" b="1" dirty="0">
                <a:solidFill>
                  <a:srgbClr val="FF6B35"/>
                </a:solidFill>
                <a:latin typeface="Calibri" pitchFamily="34" charset="0"/>
                <a:ea typeface="Calibri" pitchFamily="34" charset="-122"/>
                <a:cs typeface="Calibri" pitchFamily="34" charset="-120"/>
              </a:rPr>
              <a:t>Non-blocking</a:t>
            </a:r>
            <a:endParaRPr lang="en-US" sz="2000" dirty="0"/>
          </a:p>
          <a:p>
            <a:pPr marL="0" indent="0" algn="ctr">
              <a:buNone/>
            </a:pPr>
            <a:r>
              <a:rPr lang="en-US" sz="2000" b="1" dirty="0">
                <a:solidFill>
                  <a:srgbClr val="FF6B35"/>
                </a:solidFill>
                <a:latin typeface="Calibri" pitchFamily="34" charset="0"/>
                <a:ea typeface="Calibri" pitchFamily="34" charset="-122"/>
                <a:cs typeface="Calibri" pitchFamily="34" charset="-120"/>
              </a:rPr>
              <a:t>(Asynchronous)</a:t>
            </a:r>
            <a:endParaRPr lang="en-US" sz="2000" dirty="0"/>
          </a:p>
        </p:txBody>
      </p:sp>
      <p:sp>
        <p:nvSpPr>
          <p:cNvPr id="9" name="Text 7"/>
          <p:cNvSpPr/>
          <p:nvPr/>
        </p:nvSpPr>
        <p:spPr>
          <a:xfrm>
            <a:off x="4846320" y="1828800"/>
            <a:ext cx="3657600" cy="2743200"/>
          </a:xfrm>
          <a:prstGeom prst="rect">
            <a:avLst/>
          </a:prstGeom>
          <a:noFill/>
          <a:ln/>
        </p:spPr>
        <p:txBody>
          <a:bodyPr wrap="square" rtlCol="0" anchor="ctr"/>
          <a:lstStyle/>
          <a:p>
            <a:pPr marL="0" indent="0" algn="l">
              <a:buNone/>
            </a:pPr>
            <a:r>
              <a:rPr lang="en-US" dirty="0">
                <a:solidFill>
                  <a:srgbClr val="2D3436"/>
                </a:solidFill>
                <a:latin typeface="Calibri" pitchFamily="34" charset="0"/>
                <a:ea typeface="Calibri" pitchFamily="34" charset="-122"/>
                <a:cs typeface="Calibri" pitchFamily="34" charset="-120"/>
              </a:rPr>
              <a:t>Non-blocking Send:</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Sender continues after send</a:t>
            </a:r>
            <a:endParaRPr lang="en-US" dirty="0"/>
          </a:p>
          <a:p>
            <a:pPr marL="0" indent="0" algn="l">
              <a:buNone/>
            </a:pP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Non-blocking Receive:</a:t>
            </a: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 Returns message or NULL</a:t>
            </a:r>
            <a:endParaRPr lang="en-US" dirty="0"/>
          </a:p>
          <a:p>
            <a:pPr marL="0" indent="0" algn="l">
              <a:buNone/>
            </a:pPr>
            <a:endParaRPr lang="en-US" dirty="0"/>
          </a:p>
          <a:p>
            <a:pPr marL="0" indent="0" algn="l">
              <a:buNone/>
            </a:pPr>
            <a:r>
              <a:rPr lang="en-US" dirty="0">
                <a:solidFill>
                  <a:srgbClr val="2D3436"/>
                </a:solidFill>
                <a:latin typeface="Calibri" pitchFamily="34" charset="0"/>
                <a:ea typeface="Calibri" pitchFamily="34" charset="-122"/>
                <a:cs typeface="Calibri" pitchFamily="34" charset="-120"/>
              </a:rPr>
              <a:t>Advantage: Uninterrupted</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Indirect Communication via Mailbox</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7955280" cy="0"/>
          </a:xfrm>
          <a:prstGeom prst="rect">
            <a:avLst/>
          </a:prstGeom>
          <a:noFill/>
          <a:ln/>
        </p:spPr>
        <p:txBody>
          <a:bodyPr wrap="square" rtlCol="0" anchor="ctr"/>
          <a:lstStyle/>
          <a:p>
            <a:pPr marL="342900" indent="-342900" algn="l">
              <a:buSzPct val="100000"/>
              <a:buChar char="•"/>
            </a:pPr>
            <a:r>
              <a:rPr lang="en-US" sz="1600" dirty="0">
                <a:solidFill>
                  <a:srgbClr val="C00000"/>
                </a:solidFill>
                <a:latin typeface="Calibri" pitchFamily="34" charset="0"/>
                <a:ea typeface="Calibri" pitchFamily="34" charset="-122"/>
                <a:cs typeface="Calibri" pitchFamily="34" charset="-120"/>
              </a:rPr>
              <a:t>Messages sent and received through mailbox (port</a:t>
            </a:r>
            <a:r>
              <a:rPr lang="en-US" sz="1600" dirty="0">
                <a:solidFill>
                  <a:srgbClr val="2D3436"/>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731520" y="1645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Mailbox: Repository acting like a postbox for messages</a:t>
            </a:r>
            <a:endParaRPr lang="en-US" sz="1600" dirty="0"/>
          </a:p>
        </p:txBody>
      </p:sp>
      <p:sp>
        <p:nvSpPr>
          <p:cNvPr id="6" name="Text 4"/>
          <p:cNvSpPr/>
          <p:nvPr/>
        </p:nvSpPr>
        <p:spPr>
          <a:xfrm>
            <a:off x="731520" y="21031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Decouples </a:t>
            </a:r>
            <a:r>
              <a:rPr lang="en-US" sz="1600" dirty="0">
                <a:solidFill>
                  <a:srgbClr val="C00000"/>
                </a:solidFill>
                <a:latin typeface="Calibri" pitchFamily="34" charset="0"/>
                <a:ea typeface="Calibri" pitchFamily="34" charset="-122"/>
                <a:cs typeface="Calibri" pitchFamily="34" charset="-120"/>
              </a:rPr>
              <a:t>sender and receiver - don't need to know each other</a:t>
            </a:r>
            <a:endParaRPr lang="en-US" sz="1600" dirty="0">
              <a:solidFill>
                <a:srgbClr val="C00000"/>
              </a:solidFill>
            </a:endParaRPr>
          </a:p>
        </p:txBody>
      </p:sp>
      <p:sp>
        <p:nvSpPr>
          <p:cNvPr id="7" name="Text 5"/>
          <p:cNvSpPr/>
          <p:nvPr/>
        </p:nvSpPr>
        <p:spPr>
          <a:xfrm>
            <a:off x="731520" y="25603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Multiple senders can write to one mailbox</a:t>
            </a:r>
            <a:endParaRPr lang="en-US" sz="1600" dirty="0"/>
          </a:p>
        </p:txBody>
      </p:sp>
      <p:sp>
        <p:nvSpPr>
          <p:cNvPr id="8" name="Text 6"/>
          <p:cNvSpPr/>
          <p:nvPr/>
        </p:nvSpPr>
        <p:spPr>
          <a:xfrm>
            <a:off x="731520" y="30175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Only owner (creator) can receive from mailbox</a:t>
            </a:r>
            <a:endParaRPr lang="en-US" sz="1600" dirty="0"/>
          </a:p>
        </p:txBody>
      </p:sp>
      <p:sp>
        <p:nvSpPr>
          <p:cNvPr id="9" name="Text 7"/>
          <p:cNvSpPr/>
          <p:nvPr/>
        </p:nvSpPr>
        <p:spPr>
          <a:xfrm>
            <a:off x="731520" y="34747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Other processes send by knowing mailbox ID</a:t>
            </a:r>
            <a:endParaRPr lang="en-US" sz="1600" dirty="0"/>
          </a:p>
        </p:txBody>
      </p:sp>
      <p:sp>
        <p:nvSpPr>
          <p:cNvPr id="10" name="Text 8"/>
          <p:cNvSpPr/>
          <p:nvPr/>
        </p:nvSpPr>
        <p:spPr>
          <a:xfrm>
            <a:off x="731520" y="393192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System calls: send(X, message) and receive(X, message)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D2DA83-0749-496D-8BBE-84CE690714E3}"/>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3214026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Mailbox Characteristics</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731520" y="1188720"/>
            <a:ext cx="1371600" cy="274320"/>
          </a:xfrm>
          <a:prstGeom prst="rect">
            <a:avLst/>
          </a:prstGeom>
          <a:noFill/>
          <a:ln/>
        </p:spPr>
        <p:txBody>
          <a:bodyPr wrap="square" rtlCol="0" anchor="ctr"/>
          <a:lstStyle/>
          <a:p>
            <a:pPr marL="0" indent="0" algn="l">
              <a:buNone/>
            </a:pPr>
            <a:r>
              <a:rPr lang="en-US" sz="1300" b="1" dirty="0">
                <a:solidFill>
                  <a:srgbClr val="00A9A6"/>
                </a:solidFill>
                <a:latin typeface="Calibri" pitchFamily="34" charset="0"/>
                <a:ea typeface="Calibri" pitchFamily="34" charset="-122"/>
                <a:cs typeface="Calibri" pitchFamily="34" charset="-120"/>
              </a:rPr>
              <a:t>Unique Identification</a:t>
            </a:r>
            <a:endParaRPr lang="en-US" sz="1300" dirty="0"/>
          </a:p>
        </p:txBody>
      </p:sp>
      <p:sp>
        <p:nvSpPr>
          <p:cNvPr id="5" name="Text 3"/>
          <p:cNvSpPr/>
          <p:nvPr/>
        </p:nvSpPr>
        <p:spPr>
          <a:xfrm>
            <a:off x="2286000" y="1188720"/>
            <a:ext cx="6400800" cy="274320"/>
          </a:xfrm>
          <a:prstGeom prst="rect">
            <a:avLst/>
          </a:prstGeom>
          <a:noFill/>
          <a:ln/>
        </p:spPr>
        <p:txBody>
          <a:bodyPr wrap="square" rtlCol="0" anchor="ctr"/>
          <a:lstStyle/>
          <a:p>
            <a:pPr marL="0" indent="0" algn="l">
              <a:buNone/>
            </a:pPr>
            <a:r>
              <a:rPr lang="en-US" sz="1200" dirty="0">
                <a:solidFill>
                  <a:srgbClr val="2D3436"/>
                </a:solidFill>
                <a:latin typeface="Calibri" pitchFamily="34" charset="0"/>
                <a:ea typeface="Calibri" pitchFamily="34" charset="-122"/>
                <a:cs typeface="Calibri" pitchFamily="34" charset="-120"/>
              </a:rPr>
              <a:t>Each mailbox has unique ID for process communication</a:t>
            </a:r>
            <a:endParaRPr lang="en-US" sz="1200" dirty="0"/>
          </a:p>
        </p:txBody>
      </p:sp>
      <p:sp>
        <p:nvSpPr>
          <p:cNvPr id="6" name="Text 4"/>
          <p:cNvSpPr/>
          <p:nvPr/>
        </p:nvSpPr>
        <p:spPr>
          <a:xfrm>
            <a:off x="731520" y="1828800"/>
            <a:ext cx="1371600" cy="274320"/>
          </a:xfrm>
          <a:prstGeom prst="rect">
            <a:avLst/>
          </a:prstGeom>
          <a:noFill/>
          <a:ln/>
        </p:spPr>
        <p:txBody>
          <a:bodyPr wrap="square" rtlCol="0" anchor="ctr"/>
          <a:lstStyle/>
          <a:p>
            <a:pPr marL="0" indent="0" algn="l">
              <a:buNone/>
            </a:pPr>
            <a:r>
              <a:rPr lang="en-US" sz="1300" b="1" dirty="0">
                <a:solidFill>
                  <a:srgbClr val="00A9A6"/>
                </a:solidFill>
                <a:latin typeface="Calibri" pitchFamily="34" charset="0"/>
                <a:ea typeface="Calibri" pitchFamily="34" charset="-122"/>
                <a:cs typeface="Calibri" pitchFamily="34" charset="-120"/>
              </a:rPr>
              <a:t>Ownership</a:t>
            </a:r>
            <a:endParaRPr lang="en-US" sz="1300" dirty="0"/>
          </a:p>
        </p:txBody>
      </p:sp>
      <p:sp>
        <p:nvSpPr>
          <p:cNvPr id="7" name="Text 5"/>
          <p:cNvSpPr/>
          <p:nvPr/>
        </p:nvSpPr>
        <p:spPr>
          <a:xfrm>
            <a:off x="2286000" y="1828800"/>
            <a:ext cx="6400800" cy="274320"/>
          </a:xfrm>
          <a:prstGeom prst="rect">
            <a:avLst/>
          </a:prstGeom>
          <a:noFill/>
          <a:ln/>
        </p:spPr>
        <p:txBody>
          <a:bodyPr wrap="square" rtlCol="0" anchor="ctr"/>
          <a:lstStyle/>
          <a:p>
            <a:pPr marL="0" indent="0" algn="l">
              <a:buNone/>
            </a:pPr>
            <a:r>
              <a:rPr lang="en-US" sz="1200" dirty="0">
                <a:solidFill>
                  <a:srgbClr val="2D3436"/>
                </a:solidFill>
                <a:latin typeface="Calibri" pitchFamily="34" charset="0"/>
                <a:ea typeface="Calibri" pitchFamily="34" charset="-122"/>
                <a:cs typeface="Calibri" pitchFamily="34" charset="-120"/>
              </a:rPr>
              <a:t>Creator is owner and only receiver; others are senders only</a:t>
            </a:r>
            <a:endParaRPr lang="en-US" sz="1200" dirty="0"/>
          </a:p>
        </p:txBody>
      </p:sp>
      <p:sp>
        <p:nvSpPr>
          <p:cNvPr id="8" name="Text 6"/>
          <p:cNvSpPr/>
          <p:nvPr/>
        </p:nvSpPr>
        <p:spPr>
          <a:xfrm>
            <a:off x="731520" y="2468880"/>
            <a:ext cx="1371600" cy="274320"/>
          </a:xfrm>
          <a:prstGeom prst="rect">
            <a:avLst/>
          </a:prstGeom>
          <a:noFill/>
          <a:ln/>
        </p:spPr>
        <p:txBody>
          <a:bodyPr wrap="square" rtlCol="0" anchor="ctr"/>
          <a:lstStyle/>
          <a:p>
            <a:pPr marL="0" indent="0" algn="l">
              <a:buNone/>
            </a:pPr>
            <a:r>
              <a:rPr lang="en-US" sz="1300" b="1" dirty="0">
                <a:solidFill>
                  <a:srgbClr val="00A9A6"/>
                </a:solidFill>
                <a:latin typeface="Calibri" pitchFamily="34" charset="0"/>
                <a:ea typeface="Calibri" pitchFamily="34" charset="-122"/>
                <a:cs typeface="Calibri" pitchFamily="34" charset="-120"/>
              </a:rPr>
              <a:t>Multiple Senders</a:t>
            </a:r>
            <a:endParaRPr lang="en-US" sz="1300" dirty="0"/>
          </a:p>
        </p:txBody>
      </p:sp>
      <p:sp>
        <p:nvSpPr>
          <p:cNvPr id="9" name="Text 7"/>
          <p:cNvSpPr/>
          <p:nvPr/>
        </p:nvSpPr>
        <p:spPr>
          <a:xfrm>
            <a:off x="2286000" y="2468880"/>
            <a:ext cx="6400800" cy="274320"/>
          </a:xfrm>
          <a:prstGeom prst="rect">
            <a:avLst/>
          </a:prstGeom>
          <a:noFill/>
          <a:ln/>
        </p:spPr>
        <p:txBody>
          <a:bodyPr wrap="square" rtlCol="0" anchor="ctr"/>
          <a:lstStyle/>
          <a:p>
            <a:pPr marL="0" indent="0" algn="l">
              <a:buNone/>
            </a:pPr>
            <a:r>
              <a:rPr lang="en-US" sz="1200" dirty="0">
                <a:solidFill>
                  <a:srgbClr val="2D3436"/>
                </a:solidFill>
                <a:latin typeface="Calibri" pitchFamily="34" charset="0"/>
                <a:ea typeface="Calibri" pitchFamily="34" charset="-122"/>
                <a:cs typeface="Calibri" pitchFamily="34" charset="-120"/>
              </a:rPr>
              <a:t>Multiple processes can send to same mailbox simultaneously</a:t>
            </a:r>
            <a:endParaRPr lang="en-US" sz="1200" dirty="0"/>
          </a:p>
        </p:txBody>
      </p:sp>
      <p:sp>
        <p:nvSpPr>
          <p:cNvPr id="10" name="Text 8"/>
          <p:cNvSpPr/>
          <p:nvPr/>
        </p:nvSpPr>
        <p:spPr>
          <a:xfrm>
            <a:off x="731520" y="3108960"/>
            <a:ext cx="1371600" cy="274320"/>
          </a:xfrm>
          <a:prstGeom prst="rect">
            <a:avLst/>
          </a:prstGeom>
          <a:noFill/>
          <a:ln/>
        </p:spPr>
        <p:txBody>
          <a:bodyPr wrap="square" rtlCol="0" anchor="ctr"/>
          <a:lstStyle/>
          <a:p>
            <a:pPr marL="0" indent="0" algn="l">
              <a:buNone/>
            </a:pPr>
            <a:r>
              <a:rPr lang="en-US" sz="1300" b="1" dirty="0">
                <a:solidFill>
                  <a:srgbClr val="00A9A6"/>
                </a:solidFill>
                <a:latin typeface="Calibri" pitchFamily="34" charset="0"/>
                <a:ea typeface="Calibri" pitchFamily="34" charset="-122"/>
                <a:cs typeface="Calibri" pitchFamily="34" charset="-120"/>
              </a:rPr>
              <a:t>Single Receiver</a:t>
            </a:r>
            <a:endParaRPr lang="en-US" sz="1300" dirty="0"/>
          </a:p>
        </p:txBody>
      </p:sp>
      <p:sp>
        <p:nvSpPr>
          <p:cNvPr id="11" name="Text 9"/>
          <p:cNvSpPr/>
          <p:nvPr/>
        </p:nvSpPr>
        <p:spPr>
          <a:xfrm>
            <a:off x="2286000" y="3108960"/>
            <a:ext cx="6400800" cy="274320"/>
          </a:xfrm>
          <a:prstGeom prst="rect">
            <a:avLst/>
          </a:prstGeom>
          <a:noFill/>
          <a:ln/>
        </p:spPr>
        <p:txBody>
          <a:bodyPr wrap="square" rtlCol="0" anchor="ctr"/>
          <a:lstStyle/>
          <a:p>
            <a:pPr marL="0" indent="0" algn="l">
              <a:buNone/>
            </a:pPr>
            <a:r>
              <a:rPr lang="en-US" sz="1200" dirty="0">
                <a:solidFill>
                  <a:srgbClr val="2D3436"/>
                </a:solidFill>
                <a:latin typeface="Calibri" pitchFamily="34" charset="0"/>
                <a:ea typeface="Calibri" pitchFamily="34" charset="-122"/>
                <a:cs typeface="Calibri" pitchFamily="34" charset="-120"/>
              </a:rPr>
              <a:t>Only one process (owner) can receive from a mailbox</a:t>
            </a:r>
            <a:endParaRPr lang="en-US" sz="1200" dirty="0"/>
          </a:p>
        </p:txBody>
      </p:sp>
      <p:sp>
        <p:nvSpPr>
          <p:cNvPr id="12" name="Text 10"/>
          <p:cNvSpPr/>
          <p:nvPr/>
        </p:nvSpPr>
        <p:spPr>
          <a:xfrm>
            <a:off x="731520" y="3749040"/>
            <a:ext cx="1371600" cy="274320"/>
          </a:xfrm>
          <a:prstGeom prst="rect">
            <a:avLst/>
          </a:prstGeom>
          <a:noFill/>
          <a:ln/>
        </p:spPr>
        <p:txBody>
          <a:bodyPr wrap="square" rtlCol="0" anchor="ctr"/>
          <a:lstStyle/>
          <a:p>
            <a:pPr marL="0" indent="0" algn="l">
              <a:buNone/>
            </a:pPr>
            <a:r>
              <a:rPr lang="en-US" sz="1300" b="1" dirty="0">
                <a:solidFill>
                  <a:srgbClr val="00A9A6"/>
                </a:solidFill>
                <a:latin typeface="Calibri" pitchFamily="34" charset="0"/>
                <a:ea typeface="Calibri" pitchFamily="34" charset="-122"/>
                <a:cs typeface="Calibri" pitchFamily="34" charset="-120"/>
              </a:rPr>
              <a:t>OS Management</a:t>
            </a:r>
            <a:endParaRPr lang="en-US" sz="1300" dirty="0"/>
          </a:p>
        </p:txBody>
      </p:sp>
      <p:sp>
        <p:nvSpPr>
          <p:cNvPr id="13" name="Text 11"/>
          <p:cNvSpPr/>
          <p:nvPr/>
        </p:nvSpPr>
        <p:spPr>
          <a:xfrm>
            <a:off x="2286000" y="3749040"/>
            <a:ext cx="6400800" cy="274320"/>
          </a:xfrm>
          <a:prstGeom prst="rect">
            <a:avLst/>
          </a:prstGeom>
          <a:noFill/>
          <a:ln/>
        </p:spPr>
        <p:txBody>
          <a:bodyPr wrap="square" rtlCol="0" anchor="ctr"/>
          <a:lstStyle/>
          <a:p>
            <a:pPr marL="0" indent="0" algn="l">
              <a:buNone/>
            </a:pPr>
            <a:r>
              <a:rPr lang="en-US" sz="1200" dirty="0">
                <a:solidFill>
                  <a:srgbClr val="2D3436"/>
                </a:solidFill>
                <a:latin typeface="Calibri" pitchFamily="34" charset="0"/>
                <a:ea typeface="Calibri" pitchFamily="34" charset="-122"/>
                <a:cs typeface="Calibri" pitchFamily="34" charset="-120"/>
              </a:rPr>
              <a:t>Operating system can also own and manage mailboxes</a:t>
            </a:r>
            <a:endParaRPr lang="en-US" sz="1200" dirty="0"/>
          </a:p>
        </p:txBody>
      </p:sp>
      <p:sp>
        <p:nvSpPr>
          <p:cNvPr id="14" name="Text 12"/>
          <p:cNvSpPr/>
          <p:nvPr/>
        </p:nvSpPr>
        <p:spPr>
          <a:xfrm>
            <a:off x="731520" y="4389120"/>
            <a:ext cx="1371600" cy="274320"/>
          </a:xfrm>
          <a:prstGeom prst="rect">
            <a:avLst/>
          </a:prstGeom>
          <a:noFill/>
          <a:ln/>
        </p:spPr>
        <p:txBody>
          <a:bodyPr wrap="square" rtlCol="0" anchor="ctr"/>
          <a:lstStyle/>
          <a:p>
            <a:pPr marL="0" indent="0" algn="l">
              <a:buNone/>
            </a:pPr>
            <a:r>
              <a:rPr lang="en-US" sz="1300" b="1" dirty="0">
                <a:solidFill>
                  <a:srgbClr val="00A9A6"/>
                </a:solidFill>
                <a:latin typeface="Calibri" pitchFamily="34" charset="0"/>
                <a:ea typeface="Calibri" pitchFamily="34" charset="-122"/>
                <a:cs typeface="Calibri" pitchFamily="34" charset="-120"/>
              </a:rPr>
              <a:t>Ownership Transfer</a:t>
            </a:r>
            <a:endParaRPr lang="en-US" sz="1300" dirty="0"/>
          </a:p>
        </p:txBody>
      </p:sp>
      <p:sp>
        <p:nvSpPr>
          <p:cNvPr id="15" name="Text 13"/>
          <p:cNvSpPr/>
          <p:nvPr/>
        </p:nvSpPr>
        <p:spPr>
          <a:xfrm>
            <a:off x="2286000" y="4389120"/>
            <a:ext cx="6400800" cy="274320"/>
          </a:xfrm>
          <a:prstGeom prst="rect">
            <a:avLst/>
          </a:prstGeom>
          <a:noFill/>
          <a:ln/>
        </p:spPr>
        <p:txBody>
          <a:bodyPr wrap="square" rtlCol="0" anchor="ctr"/>
          <a:lstStyle/>
          <a:p>
            <a:pPr marL="0" indent="0" algn="l">
              <a:buNone/>
            </a:pPr>
            <a:r>
              <a:rPr lang="en-US" sz="1200" dirty="0">
                <a:solidFill>
                  <a:srgbClr val="2D3436"/>
                </a:solidFill>
                <a:latin typeface="Calibri" pitchFamily="34" charset="0"/>
                <a:ea typeface="Calibri" pitchFamily="34" charset="-122"/>
                <a:cs typeface="Calibri" pitchFamily="34" charset="-120"/>
              </a:rPr>
              <a:t>OS may transfer mailbox ownership to other processes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Direct vs Indirect Communication</a:t>
            </a:r>
            <a:endParaRPr lang="en-US" sz="4000" dirty="0"/>
          </a:p>
        </p:txBody>
      </p:sp>
      <p:sp>
        <p:nvSpPr>
          <p:cNvPr id="3" name="Shape 1"/>
          <p:cNvSpPr/>
          <p:nvPr/>
        </p:nvSpPr>
        <p:spPr>
          <a:xfrm>
            <a:off x="457200" y="914400"/>
            <a:ext cx="2743200" cy="73152"/>
          </a:xfrm>
          <a:prstGeom prst="rect">
            <a:avLst/>
          </a:prstGeom>
          <a:solidFill>
            <a:srgbClr val="00A9A6"/>
          </a:solidFill>
          <a:ln/>
        </p:spPr>
      </p:sp>
      <p:sp>
        <p:nvSpPr>
          <p:cNvPr id="4" name="Shape 2"/>
          <p:cNvSpPr/>
          <p:nvPr/>
        </p:nvSpPr>
        <p:spPr>
          <a:xfrm>
            <a:off x="457200" y="1188720"/>
            <a:ext cx="8229600" cy="365760"/>
          </a:xfrm>
          <a:prstGeom prst="rect">
            <a:avLst/>
          </a:prstGeom>
          <a:solidFill>
            <a:srgbClr val="FFFFFF"/>
          </a:solidFill>
          <a:ln/>
        </p:spPr>
      </p:sp>
      <p:sp>
        <p:nvSpPr>
          <p:cNvPr id="5" name="Text 3"/>
          <p:cNvSpPr/>
          <p:nvPr/>
        </p:nvSpPr>
        <p:spPr>
          <a:xfrm>
            <a:off x="640080" y="1234440"/>
            <a:ext cx="1828800" cy="274320"/>
          </a:xfrm>
          <a:prstGeom prst="rect">
            <a:avLst/>
          </a:prstGeom>
          <a:noFill/>
          <a:ln/>
        </p:spPr>
        <p:txBody>
          <a:bodyPr wrap="square" rtlCol="0" anchor="ctr"/>
          <a:lstStyle/>
          <a:p>
            <a:pPr marL="0" indent="0" algn="l">
              <a:buNone/>
            </a:pPr>
            <a:r>
              <a:rPr lang="en-US" sz="1200" b="1" dirty="0">
                <a:solidFill>
                  <a:srgbClr val="1F3A93"/>
                </a:solidFill>
                <a:latin typeface="Calibri" pitchFamily="34" charset="0"/>
                <a:ea typeface="Calibri" pitchFamily="34" charset="-122"/>
                <a:cs typeface="Calibri" pitchFamily="34" charset="-120"/>
              </a:rPr>
              <a:t>Links</a:t>
            </a:r>
            <a:endParaRPr lang="en-US" sz="1200" dirty="0"/>
          </a:p>
        </p:txBody>
      </p:sp>
      <p:sp>
        <p:nvSpPr>
          <p:cNvPr id="6" name="Text 4"/>
          <p:cNvSpPr/>
          <p:nvPr/>
        </p:nvSpPr>
        <p:spPr>
          <a:xfrm>
            <a:off x="2560320" y="1234440"/>
            <a:ext cx="292608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One per process pair</a:t>
            </a:r>
            <a:endParaRPr lang="en-US" sz="1100" dirty="0"/>
          </a:p>
        </p:txBody>
      </p:sp>
      <p:sp>
        <p:nvSpPr>
          <p:cNvPr id="7" name="Text 5"/>
          <p:cNvSpPr/>
          <p:nvPr/>
        </p:nvSpPr>
        <p:spPr>
          <a:xfrm>
            <a:off x="5577840" y="1234440"/>
            <a:ext cx="310896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Multiple possible</a:t>
            </a:r>
            <a:endParaRPr lang="en-US" sz="1100" dirty="0"/>
          </a:p>
        </p:txBody>
      </p:sp>
      <p:sp>
        <p:nvSpPr>
          <p:cNvPr id="8" name="Shape 6"/>
          <p:cNvSpPr/>
          <p:nvPr/>
        </p:nvSpPr>
        <p:spPr>
          <a:xfrm>
            <a:off x="457200" y="1645920"/>
            <a:ext cx="8229600" cy="365760"/>
          </a:xfrm>
          <a:prstGeom prst="rect">
            <a:avLst/>
          </a:prstGeom>
          <a:solidFill>
            <a:srgbClr val="F0F0F0"/>
          </a:solidFill>
          <a:ln/>
        </p:spPr>
      </p:sp>
      <p:sp>
        <p:nvSpPr>
          <p:cNvPr id="9" name="Text 7"/>
          <p:cNvSpPr/>
          <p:nvPr/>
        </p:nvSpPr>
        <p:spPr>
          <a:xfrm>
            <a:off x="640080" y="1691640"/>
            <a:ext cx="1828800" cy="274320"/>
          </a:xfrm>
          <a:prstGeom prst="rect">
            <a:avLst/>
          </a:prstGeom>
          <a:noFill/>
          <a:ln/>
        </p:spPr>
        <p:txBody>
          <a:bodyPr wrap="square" rtlCol="0" anchor="ctr"/>
          <a:lstStyle/>
          <a:p>
            <a:pPr marL="0" indent="0" algn="l">
              <a:buNone/>
            </a:pPr>
            <a:r>
              <a:rPr lang="en-US" sz="1200" b="1" dirty="0">
                <a:solidFill>
                  <a:srgbClr val="1F3A93"/>
                </a:solidFill>
                <a:latin typeface="Calibri" pitchFamily="34" charset="0"/>
                <a:ea typeface="Calibri" pitchFamily="34" charset="-122"/>
                <a:cs typeface="Calibri" pitchFamily="34" charset="-120"/>
              </a:rPr>
              <a:t>Association</a:t>
            </a:r>
            <a:endParaRPr lang="en-US" sz="1200" dirty="0"/>
          </a:p>
        </p:txBody>
      </p:sp>
      <p:sp>
        <p:nvSpPr>
          <p:cNvPr id="10" name="Text 8"/>
          <p:cNvSpPr/>
          <p:nvPr/>
        </p:nvSpPr>
        <p:spPr>
          <a:xfrm>
            <a:off x="2560320" y="1691640"/>
            <a:ext cx="292608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Two processes</a:t>
            </a:r>
            <a:endParaRPr lang="en-US" sz="1100" dirty="0"/>
          </a:p>
        </p:txBody>
      </p:sp>
      <p:sp>
        <p:nvSpPr>
          <p:cNvPr id="11" name="Text 9"/>
          <p:cNvSpPr/>
          <p:nvPr/>
        </p:nvSpPr>
        <p:spPr>
          <a:xfrm>
            <a:off x="5577840" y="1691640"/>
            <a:ext cx="310896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Mailbox</a:t>
            </a:r>
            <a:endParaRPr lang="en-US" sz="1100" dirty="0"/>
          </a:p>
        </p:txBody>
      </p:sp>
      <p:sp>
        <p:nvSpPr>
          <p:cNvPr id="12" name="Shape 10"/>
          <p:cNvSpPr/>
          <p:nvPr/>
        </p:nvSpPr>
        <p:spPr>
          <a:xfrm>
            <a:off x="457200" y="2103120"/>
            <a:ext cx="8229600" cy="365760"/>
          </a:xfrm>
          <a:prstGeom prst="rect">
            <a:avLst/>
          </a:prstGeom>
          <a:solidFill>
            <a:srgbClr val="FFFFFF"/>
          </a:solidFill>
          <a:ln/>
        </p:spPr>
      </p:sp>
      <p:sp>
        <p:nvSpPr>
          <p:cNvPr id="13" name="Text 11"/>
          <p:cNvSpPr/>
          <p:nvPr/>
        </p:nvSpPr>
        <p:spPr>
          <a:xfrm>
            <a:off x="640080" y="2148840"/>
            <a:ext cx="1828800" cy="274320"/>
          </a:xfrm>
          <a:prstGeom prst="rect">
            <a:avLst/>
          </a:prstGeom>
          <a:noFill/>
          <a:ln/>
        </p:spPr>
        <p:txBody>
          <a:bodyPr wrap="square" rtlCol="0" anchor="ctr"/>
          <a:lstStyle/>
          <a:p>
            <a:pPr marL="0" indent="0" algn="l">
              <a:buNone/>
            </a:pPr>
            <a:r>
              <a:rPr lang="en-US" sz="1200" b="1" dirty="0">
                <a:solidFill>
                  <a:srgbClr val="1F3A93"/>
                </a:solidFill>
                <a:latin typeface="Calibri" pitchFamily="34" charset="0"/>
                <a:ea typeface="Calibri" pitchFamily="34" charset="-122"/>
                <a:cs typeface="Calibri" pitchFamily="34" charset="-120"/>
              </a:rPr>
              <a:t>Establishment</a:t>
            </a:r>
            <a:endParaRPr lang="en-US" sz="1200" dirty="0"/>
          </a:p>
        </p:txBody>
      </p:sp>
      <p:sp>
        <p:nvSpPr>
          <p:cNvPr id="14" name="Text 12"/>
          <p:cNvSpPr/>
          <p:nvPr/>
        </p:nvSpPr>
        <p:spPr>
          <a:xfrm>
            <a:off x="2560320" y="2148840"/>
            <a:ext cx="292608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If PID known</a:t>
            </a:r>
            <a:endParaRPr lang="en-US" sz="1100" dirty="0"/>
          </a:p>
        </p:txBody>
      </p:sp>
      <p:sp>
        <p:nvSpPr>
          <p:cNvPr id="15" name="Text 13"/>
          <p:cNvSpPr/>
          <p:nvPr/>
        </p:nvSpPr>
        <p:spPr>
          <a:xfrm>
            <a:off x="5577840" y="2148840"/>
            <a:ext cx="310896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Shared mailbox ID</a:t>
            </a:r>
            <a:endParaRPr lang="en-US" sz="1100" dirty="0"/>
          </a:p>
        </p:txBody>
      </p:sp>
      <p:sp>
        <p:nvSpPr>
          <p:cNvPr id="16" name="Shape 14"/>
          <p:cNvSpPr/>
          <p:nvPr/>
        </p:nvSpPr>
        <p:spPr>
          <a:xfrm>
            <a:off x="457200" y="2560320"/>
            <a:ext cx="8229600" cy="365760"/>
          </a:xfrm>
          <a:prstGeom prst="rect">
            <a:avLst/>
          </a:prstGeom>
          <a:solidFill>
            <a:srgbClr val="F0F0F0"/>
          </a:solidFill>
          <a:ln/>
        </p:spPr>
      </p:sp>
      <p:sp>
        <p:nvSpPr>
          <p:cNvPr id="17" name="Text 15"/>
          <p:cNvSpPr/>
          <p:nvPr/>
        </p:nvSpPr>
        <p:spPr>
          <a:xfrm>
            <a:off x="640080" y="2606040"/>
            <a:ext cx="1828800" cy="274320"/>
          </a:xfrm>
          <a:prstGeom prst="rect">
            <a:avLst/>
          </a:prstGeom>
          <a:noFill/>
          <a:ln/>
        </p:spPr>
        <p:txBody>
          <a:bodyPr wrap="square" rtlCol="0" anchor="ctr"/>
          <a:lstStyle/>
          <a:p>
            <a:pPr marL="0" indent="0" algn="l">
              <a:buNone/>
            </a:pPr>
            <a:r>
              <a:rPr lang="en-US" sz="1200" b="1" dirty="0">
                <a:solidFill>
                  <a:srgbClr val="1F3A93"/>
                </a:solidFill>
                <a:latin typeface="Calibri" pitchFamily="34" charset="0"/>
                <a:ea typeface="Calibri" pitchFamily="34" charset="-122"/>
                <a:cs typeface="Calibri" pitchFamily="34" charset="-120"/>
              </a:rPr>
              <a:t>Scope</a:t>
            </a:r>
            <a:endParaRPr lang="en-US" sz="1200" dirty="0"/>
          </a:p>
        </p:txBody>
      </p:sp>
      <p:sp>
        <p:nvSpPr>
          <p:cNvPr id="18" name="Text 16"/>
          <p:cNvSpPr/>
          <p:nvPr/>
        </p:nvSpPr>
        <p:spPr>
          <a:xfrm>
            <a:off x="2560320" y="2606040"/>
            <a:ext cx="292608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Point-to-point</a:t>
            </a:r>
            <a:endParaRPr lang="en-US" sz="1100" dirty="0"/>
          </a:p>
        </p:txBody>
      </p:sp>
      <p:sp>
        <p:nvSpPr>
          <p:cNvPr id="19" name="Text 17"/>
          <p:cNvSpPr/>
          <p:nvPr/>
        </p:nvSpPr>
        <p:spPr>
          <a:xfrm>
            <a:off x="5577840" y="2606040"/>
            <a:ext cx="310896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Multiple processes</a:t>
            </a:r>
            <a:endParaRPr lang="en-US" sz="1100" dirty="0"/>
          </a:p>
        </p:txBody>
      </p:sp>
      <p:sp>
        <p:nvSpPr>
          <p:cNvPr id="20" name="Shape 18"/>
          <p:cNvSpPr/>
          <p:nvPr/>
        </p:nvSpPr>
        <p:spPr>
          <a:xfrm>
            <a:off x="457200" y="3017520"/>
            <a:ext cx="8229600" cy="365760"/>
          </a:xfrm>
          <a:prstGeom prst="rect">
            <a:avLst/>
          </a:prstGeom>
          <a:solidFill>
            <a:srgbClr val="FFFFFF"/>
          </a:solidFill>
          <a:ln/>
        </p:spPr>
      </p:sp>
      <p:sp>
        <p:nvSpPr>
          <p:cNvPr id="21" name="Text 19"/>
          <p:cNvSpPr/>
          <p:nvPr/>
        </p:nvSpPr>
        <p:spPr>
          <a:xfrm>
            <a:off x="640080" y="3063240"/>
            <a:ext cx="1828800" cy="274320"/>
          </a:xfrm>
          <a:prstGeom prst="rect">
            <a:avLst/>
          </a:prstGeom>
          <a:noFill/>
          <a:ln/>
        </p:spPr>
        <p:txBody>
          <a:bodyPr wrap="square" rtlCol="0" anchor="ctr"/>
          <a:lstStyle/>
          <a:p>
            <a:pPr marL="0" indent="0" algn="l">
              <a:buNone/>
            </a:pPr>
            <a:r>
              <a:rPr lang="en-US" sz="1200" b="1" dirty="0">
                <a:solidFill>
                  <a:srgbClr val="1F3A93"/>
                </a:solidFill>
                <a:latin typeface="Calibri" pitchFamily="34" charset="0"/>
                <a:ea typeface="Calibri" pitchFamily="34" charset="-122"/>
                <a:cs typeface="Calibri" pitchFamily="34" charset="-120"/>
              </a:rPr>
              <a:t>Flexibility</a:t>
            </a:r>
            <a:endParaRPr lang="en-US" sz="1200" dirty="0"/>
          </a:p>
        </p:txBody>
      </p:sp>
      <p:sp>
        <p:nvSpPr>
          <p:cNvPr id="22" name="Text 20"/>
          <p:cNvSpPr/>
          <p:nvPr/>
        </p:nvSpPr>
        <p:spPr>
          <a:xfrm>
            <a:off x="2560320" y="3063240"/>
            <a:ext cx="292608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Limited options</a:t>
            </a:r>
            <a:endParaRPr lang="en-US" sz="1100" dirty="0"/>
          </a:p>
        </p:txBody>
      </p:sp>
      <p:sp>
        <p:nvSpPr>
          <p:cNvPr id="23" name="Text 21"/>
          <p:cNvSpPr/>
          <p:nvPr/>
        </p:nvSpPr>
        <p:spPr>
          <a:xfrm>
            <a:off x="5577840" y="3063240"/>
            <a:ext cx="3108960" cy="27432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Flexible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Message Buffering Strategies</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Shape 2"/>
          <p:cNvSpPr/>
          <p:nvPr/>
        </p:nvSpPr>
        <p:spPr>
          <a:xfrm>
            <a:off x="457200" y="1188720"/>
            <a:ext cx="8229600" cy="822960"/>
          </a:xfrm>
          <a:prstGeom prst="rect">
            <a:avLst/>
          </a:prstGeom>
          <a:solidFill>
            <a:srgbClr val="E8F4F8"/>
          </a:solidFill>
          <a:ln w="12700">
            <a:solidFill>
              <a:srgbClr val="00A9A6"/>
            </a:solidFill>
            <a:prstDash val="solid"/>
          </a:ln>
        </p:spPr>
      </p:sp>
      <p:sp>
        <p:nvSpPr>
          <p:cNvPr id="5" name="Text 3"/>
          <p:cNvSpPr/>
          <p:nvPr/>
        </p:nvSpPr>
        <p:spPr>
          <a:xfrm>
            <a:off x="731520" y="1261872"/>
            <a:ext cx="1828800" cy="274320"/>
          </a:xfrm>
          <a:prstGeom prst="rect">
            <a:avLst/>
          </a:prstGeom>
          <a:noFill/>
          <a:ln/>
        </p:spPr>
        <p:txBody>
          <a:bodyPr wrap="square" rtlCol="0" anchor="ctr"/>
          <a:lstStyle/>
          <a:p>
            <a:pPr marL="0" indent="0" algn="l">
              <a:buNone/>
            </a:pPr>
            <a:r>
              <a:rPr lang="en-US" sz="1600" b="1" dirty="0">
                <a:solidFill>
                  <a:srgbClr val="1F3A93"/>
                </a:solidFill>
                <a:latin typeface="Calibri" pitchFamily="34" charset="0"/>
                <a:ea typeface="Calibri" pitchFamily="34" charset="-122"/>
                <a:cs typeface="Calibri" pitchFamily="34" charset="-120"/>
              </a:rPr>
              <a:t>No Buffering</a:t>
            </a:r>
            <a:endParaRPr lang="en-US" sz="1600" dirty="0"/>
          </a:p>
        </p:txBody>
      </p:sp>
      <p:sp>
        <p:nvSpPr>
          <p:cNvPr id="6" name="Text 4"/>
          <p:cNvSpPr/>
          <p:nvPr/>
        </p:nvSpPr>
        <p:spPr>
          <a:xfrm>
            <a:off x="2651760" y="1261872"/>
            <a:ext cx="6035040" cy="640080"/>
          </a:xfrm>
          <a:prstGeom prst="rect">
            <a:avLst/>
          </a:prstGeom>
          <a:noFill/>
          <a:ln/>
        </p:spPr>
        <p:txBody>
          <a:bodyPr wrap="square" rtlCol="0" anchor="ctr"/>
          <a:lstStyle/>
          <a:p>
            <a:pPr marL="0" indent="0" algn="l">
              <a:buNone/>
            </a:pPr>
            <a:r>
              <a:rPr lang="en-US" sz="1400" dirty="0">
                <a:solidFill>
                  <a:srgbClr val="2D3436"/>
                </a:solidFill>
                <a:latin typeface="Calibri" pitchFamily="34" charset="0"/>
                <a:ea typeface="Calibri" pitchFamily="34" charset="-122"/>
                <a:cs typeface="Calibri" pitchFamily="34" charset="-120"/>
              </a:rPr>
              <a:t>Zero capacity - sender waits until message received</a:t>
            </a:r>
            <a:endParaRPr lang="en-US" sz="1400" dirty="0"/>
          </a:p>
        </p:txBody>
      </p:sp>
      <p:sp>
        <p:nvSpPr>
          <p:cNvPr id="7" name="Shape 5"/>
          <p:cNvSpPr/>
          <p:nvPr/>
        </p:nvSpPr>
        <p:spPr>
          <a:xfrm>
            <a:off x="457200" y="2103120"/>
            <a:ext cx="8229600" cy="822960"/>
          </a:xfrm>
          <a:prstGeom prst="rect">
            <a:avLst/>
          </a:prstGeom>
          <a:solidFill>
            <a:srgbClr val="FFE5D3"/>
          </a:solidFill>
          <a:ln w="12700">
            <a:solidFill>
              <a:srgbClr val="FF6B35"/>
            </a:solidFill>
            <a:prstDash val="solid"/>
          </a:ln>
        </p:spPr>
      </p:sp>
      <p:sp>
        <p:nvSpPr>
          <p:cNvPr id="8" name="Text 6"/>
          <p:cNvSpPr/>
          <p:nvPr/>
        </p:nvSpPr>
        <p:spPr>
          <a:xfrm>
            <a:off x="731520" y="2176272"/>
            <a:ext cx="1828800" cy="274320"/>
          </a:xfrm>
          <a:prstGeom prst="rect">
            <a:avLst/>
          </a:prstGeom>
          <a:noFill/>
          <a:ln/>
        </p:spPr>
        <p:txBody>
          <a:bodyPr wrap="square" rtlCol="0" anchor="ctr"/>
          <a:lstStyle/>
          <a:p>
            <a:pPr marL="0" indent="0" algn="l">
              <a:buNone/>
            </a:pPr>
            <a:r>
              <a:rPr lang="en-US" sz="1600" b="1" dirty="0">
                <a:solidFill>
                  <a:srgbClr val="1F3A93"/>
                </a:solidFill>
                <a:latin typeface="Calibri" pitchFamily="34" charset="0"/>
                <a:ea typeface="Calibri" pitchFamily="34" charset="-122"/>
                <a:cs typeface="Calibri" pitchFamily="34" charset="-120"/>
              </a:rPr>
              <a:t>Bounded Buffer</a:t>
            </a:r>
            <a:endParaRPr lang="en-US" sz="1600" dirty="0"/>
          </a:p>
        </p:txBody>
      </p:sp>
      <p:sp>
        <p:nvSpPr>
          <p:cNvPr id="9" name="Text 7"/>
          <p:cNvSpPr/>
          <p:nvPr/>
        </p:nvSpPr>
        <p:spPr>
          <a:xfrm>
            <a:off x="2651760" y="2176272"/>
            <a:ext cx="6035040" cy="640080"/>
          </a:xfrm>
          <a:prstGeom prst="rect">
            <a:avLst/>
          </a:prstGeom>
          <a:noFill/>
          <a:ln/>
        </p:spPr>
        <p:txBody>
          <a:bodyPr wrap="square" rtlCol="0" anchor="ctr"/>
          <a:lstStyle/>
          <a:p>
            <a:pPr marL="0" indent="0" algn="l">
              <a:buNone/>
            </a:pPr>
            <a:r>
              <a:rPr lang="en-US" sz="1400" dirty="0">
                <a:solidFill>
                  <a:srgbClr val="2D3436"/>
                </a:solidFill>
                <a:latin typeface="Calibri" pitchFamily="34" charset="0"/>
                <a:ea typeface="Calibri" pitchFamily="34" charset="-122"/>
                <a:cs typeface="Calibri" pitchFamily="34" charset="-120"/>
              </a:rPr>
              <a:t>Fixed capacity - sender blocked if queue full</a:t>
            </a:r>
            <a:endParaRPr lang="en-US" sz="1400" dirty="0"/>
          </a:p>
        </p:txBody>
      </p:sp>
      <p:sp>
        <p:nvSpPr>
          <p:cNvPr id="10" name="Shape 8"/>
          <p:cNvSpPr/>
          <p:nvPr/>
        </p:nvSpPr>
        <p:spPr>
          <a:xfrm>
            <a:off x="457200" y="3017520"/>
            <a:ext cx="8229600" cy="822960"/>
          </a:xfrm>
          <a:prstGeom prst="rect">
            <a:avLst/>
          </a:prstGeom>
          <a:solidFill>
            <a:srgbClr val="E8F4F8"/>
          </a:solidFill>
          <a:ln w="12700">
            <a:solidFill>
              <a:srgbClr val="00A9A6"/>
            </a:solidFill>
            <a:prstDash val="solid"/>
          </a:ln>
        </p:spPr>
      </p:sp>
      <p:sp>
        <p:nvSpPr>
          <p:cNvPr id="11" name="Text 9"/>
          <p:cNvSpPr/>
          <p:nvPr/>
        </p:nvSpPr>
        <p:spPr>
          <a:xfrm>
            <a:off x="731520" y="3090672"/>
            <a:ext cx="1828800" cy="274320"/>
          </a:xfrm>
          <a:prstGeom prst="rect">
            <a:avLst/>
          </a:prstGeom>
          <a:noFill/>
          <a:ln/>
        </p:spPr>
        <p:txBody>
          <a:bodyPr wrap="square" rtlCol="0" anchor="ctr"/>
          <a:lstStyle/>
          <a:p>
            <a:pPr marL="0" indent="0" algn="l">
              <a:buNone/>
            </a:pPr>
            <a:r>
              <a:rPr lang="en-US" sz="1600" b="1" dirty="0">
                <a:solidFill>
                  <a:srgbClr val="1F3A93"/>
                </a:solidFill>
                <a:latin typeface="Calibri" pitchFamily="34" charset="0"/>
                <a:ea typeface="Calibri" pitchFamily="34" charset="-122"/>
                <a:cs typeface="Calibri" pitchFamily="34" charset="-120"/>
              </a:rPr>
              <a:t>Unbounded Buffer</a:t>
            </a:r>
            <a:endParaRPr lang="en-US" sz="1600" dirty="0"/>
          </a:p>
        </p:txBody>
      </p:sp>
      <p:sp>
        <p:nvSpPr>
          <p:cNvPr id="12" name="Text 10"/>
          <p:cNvSpPr/>
          <p:nvPr/>
        </p:nvSpPr>
        <p:spPr>
          <a:xfrm>
            <a:off x="2651760" y="3090672"/>
            <a:ext cx="6035040" cy="640080"/>
          </a:xfrm>
          <a:prstGeom prst="rect">
            <a:avLst/>
          </a:prstGeom>
          <a:noFill/>
          <a:ln/>
        </p:spPr>
        <p:txBody>
          <a:bodyPr wrap="square" rtlCol="0" anchor="ctr"/>
          <a:lstStyle/>
          <a:p>
            <a:pPr marL="0" indent="0" algn="l">
              <a:buNone/>
            </a:pPr>
            <a:r>
              <a:rPr lang="en-US" sz="1400" dirty="0">
                <a:solidFill>
                  <a:srgbClr val="2D3436"/>
                </a:solidFill>
                <a:latin typeface="Calibri" pitchFamily="34" charset="0"/>
                <a:ea typeface="Calibri" pitchFamily="34" charset="-122"/>
                <a:cs typeface="Calibri" pitchFamily="34" charset="-120"/>
              </a:rPr>
              <a:t>Unlimited capacity - sender never blocked</a:t>
            </a:r>
            <a:endParaRPr lang="en-US" sz="1400" dirty="0"/>
          </a:p>
        </p:txBody>
      </p:sp>
      <p:sp>
        <p:nvSpPr>
          <p:cNvPr id="13" name="Shape 11"/>
          <p:cNvSpPr/>
          <p:nvPr/>
        </p:nvSpPr>
        <p:spPr>
          <a:xfrm>
            <a:off x="457200" y="3931920"/>
            <a:ext cx="8229600" cy="822960"/>
          </a:xfrm>
          <a:prstGeom prst="rect">
            <a:avLst/>
          </a:prstGeom>
          <a:solidFill>
            <a:srgbClr val="FFE5D3"/>
          </a:solidFill>
          <a:ln w="12700">
            <a:solidFill>
              <a:srgbClr val="FF6B35"/>
            </a:solidFill>
            <a:prstDash val="solid"/>
          </a:ln>
        </p:spPr>
      </p:sp>
      <p:sp>
        <p:nvSpPr>
          <p:cNvPr id="14" name="Text 12"/>
          <p:cNvSpPr/>
          <p:nvPr/>
        </p:nvSpPr>
        <p:spPr>
          <a:xfrm>
            <a:off x="731520" y="4005072"/>
            <a:ext cx="1828800" cy="274320"/>
          </a:xfrm>
          <a:prstGeom prst="rect">
            <a:avLst/>
          </a:prstGeom>
          <a:noFill/>
          <a:ln/>
        </p:spPr>
        <p:txBody>
          <a:bodyPr wrap="square" rtlCol="0" anchor="ctr"/>
          <a:lstStyle/>
          <a:p>
            <a:pPr marL="0" indent="0" algn="l">
              <a:buNone/>
            </a:pPr>
            <a:r>
              <a:rPr lang="en-US" sz="1600" b="1" dirty="0">
                <a:solidFill>
                  <a:srgbClr val="1F3A93"/>
                </a:solidFill>
                <a:latin typeface="Calibri" pitchFamily="34" charset="0"/>
                <a:ea typeface="Calibri" pitchFamily="34" charset="-122"/>
                <a:cs typeface="Calibri" pitchFamily="34" charset="-120"/>
              </a:rPr>
              <a:t>Double Buffering</a:t>
            </a:r>
            <a:endParaRPr lang="en-US" sz="1600" dirty="0"/>
          </a:p>
        </p:txBody>
      </p:sp>
      <p:sp>
        <p:nvSpPr>
          <p:cNvPr id="15" name="Text 13"/>
          <p:cNvSpPr/>
          <p:nvPr/>
        </p:nvSpPr>
        <p:spPr>
          <a:xfrm>
            <a:off x="2651760" y="4005072"/>
            <a:ext cx="6035040" cy="640080"/>
          </a:xfrm>
          <a:prstGeom prst="rect">
            <a:avLst/>
          </a:prstGeom>
          <a:noFill/>
          <a:ln/>
        </p:spPr>
        <p:txBody>
          <a:bodyPr wrap="square" rtlCol="0" anchor="ctr"/>
          <a:lstStyle/>
          <a:p>
            <a:pPr marL="0" indent="0" algn="l">
              <a:buNone/>
            </a:pPr>
            <a:r>
              <a:rPr lang="en-US" sz="1400" dirty="0">
                <a:solidFill>
                  <a:srgbClr val="2D3436"/>
                </a:solidFill>
                <a:latin typeface="Calibri" pitchFamily="34" charset="0"/>
                <a:ea typeface="Calibri" pitchFamily="34" charset="-122"/>
                <a:cs typeface="Calibri" pitchFamily="34" charset="-120"/>
              </a:rPr>
              <a:t>Two buffers alternate - improves efficiency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8E5A00-9273-4C6C-822A-265FD48E932D}"/>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461387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Pipes: IPC Mechanism</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1400" i="1" dirty="0">
                <a:solidFill>
                  <a:srgbClr val="2D3436"/>
                </a:solidFill>
                <a:latin typeface="Calibri" pitchFamily="34" charset="0"/>
                <a:ea typeface="Calibri" pitchFamily="34" charset="-122"/>
                <a:cs typeface="Calibri" pitchFamily="34" charset="-120"/>
              </a:rPr>
              <a:t>Standard communication mechanism for data transfer between processes</a:t>
            </a:r>
            <a:endParaRPr lang="en-US" sz="1400" dirty="0"/>
          </a:p>
        </p:txBody>
      </p:sp>
      <p:sp>
        <p:nvSpPr>
          <p:cNvPr id="5" name="Text 3"/>
          <p:cNvSpPr/>
          <p:nvPr/>
        </p:nvSpPr>
        <p:spPr>
          <a:xfrm>
            <a:off x="731520" y="1854999"/>
            <a:ext cx="7955280" cy="385280"/>
          </a:xfrm>
          <a:prstGeom prst="rect">
            <a:avLst/>
          </a:prstGeom>
          <a:noFill/>
          <a:ln/>
        </p:spPr>
        <p:txBody>
          <a:bodyPr wrap="square" rtlCol="0" anchor="ctr"/>
          <a:lstStyle/>
          <a:p>
            <a:pPr marL="342900" indent="-342900" algn="l">
              <a:buSzPct val="100000"/>
              <a:buChar char="•"/>
            </a:pPr>
            <a:r>
              <a:rPr lang="en-US" sz="1600" dirty="0">
                <a:ea typeface="Calibri" pitchFamily="34" charset="-122"/>
                <a:cs typeface="Calibri" pitchFamily="34" charset="-120"/>
              </a:rPr>
              <a:t>Definition: </a:t>
            </a:r>
            <a:r>
              <a:rPr lang="en-US" sz="1600" dirty="0">
                <a:effectLst/>
                <a:ea typeface="Arial MT"/>
                <a:cs typeface="Arial MT"/>
              </a:rPr>
              <a:t>It provides a means of </a:t>
            </a:r>
            <a:r>
              <a:rPr lang="en-US" sz="1600" b="1" dirty="0">
                <a:effectLst/>
                <a:ea typeface="Arial MT"/>
                <a:cs typeface="Arial MT"/>
              </a:rPr>
              <a:t>one-way</a:t>
            </a:r>
            <a:r>
              <a:rPr lang="en-US" sz="1600" dirty="0">
                <a:effectLst/>
                <a:ea typeface="Arial MT"/>
                <a:cs typeface="Arial MT"/>
              </a:rPr>
              <a:t> </a:t>
            </a:r>
            <a:r>
              <a:rPr lang="en-US" sz="1600" dirty="0">
                <a:solidFill>
                  <a:srgbClr val="FF0000"/>
                </a:solidFill>
                <a:effectLst/>
                <a:ea typeface="Arial MT"/>
                <a:cs typeface="Arial MT"/>
              </a:rPr>
              <a:t>communication between related processes</a:t>
            </a:r>
            <a:r>
              <a:rPr lang="en-US" sz="1600" dirty="0">
                <a:effectLst/>
                <a:ea typeface="Arial MT"/>
                <a:cs typeface="Arial MT"/>
              </a:rPr>
              <a:t>.</a:t>
            </a:r>
            <a:endParaRPr lang="en-US" sz="16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1600" dirty="0">
                <a:latin typeface="Calibri" pitchFamily="34" charset="0"/>
                <a:ea typeface="Calibri" pitchFamily="34" charset="-122"/>
                <a:cs typeface="Calibri" pitchFamily="34" charset="-120"/>
              </a:rPr>
              <a:t>Structure: Each pipe has read end and write end</a:t>
            </a:r>
            <a:endParaRPr lang="en-US" sz="16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1600" dirty="0">
                <a:latin typeface="Calibri" pitchFamily="34" charset="0"/>
                <a:ea typeface="Calibri" pitchFamily="34" charset="-122"/>
                <a:cs typeface="Calibri" pitchFamily="34" charset="-120"/>
              </a:rPr>
              <a:t>Data Flow: Bytes written at write end appear at read end</a:t>
            </a:r>
            <a:endParaRPr lang="en-US" sz="16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1600" dirty="0">
                <a:latin typeface="Calibri" pitchFamily="34" charset="0"/>
                <a:ea typeface="Calibri" pitchFamily="34" charset="-122"/>
                <a:cs typeface="Calibri" pitchFamily="34" charset="-120"/>
              </a:rPr>
              <a:t>Management: Operates as FIFO queue with shared buffer</a:t>
            </a:r>
            <a:endParaRPr lang="en-US" sz="16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1600" dirty="0">
                <a:latin typeface="Calibri" pitchFamily="34" charset="0"/>
                <a:ea typeface="Calibri" pitchFamily="34" charset="-122"/>
                <a:cs typeface="Calibri" pitchFamily="34" charset="-120"/>
              </a:rPr>
              <a:t>Related Processes: </a:t>
            </a:r>
            <a:r>
              <a:rPr lang="en-US" sz="1600" dirty="0">
                <a:solidFill>
                  <a:srgbClr val="FF0000"/>
                </a:solidFill>
                <a:latin typeface="Calibri" pitchFamily="34" charset="0"/>
                <a:ea typeface="Calibri" pitchFamily="34" charset="-122"/>
                <a:cs typeface="Calibri" pitchFamily="34" charset="-120"/>
              </a:rPr>
              <a:t>Works with processes related through </a:t>
            </a:r>
            <a:r>
              <a:rPr lang="en-US" sz="1600" b="1" dirty="0">
                <a:solidFill>
                  <a:srgbClr val="FF0000"/>
                </a:solidFill>
                <a:latin typeface="Calibri" pitchFamily="34" charset="0"/>
                <a:ea typeface="Calibri" pitchFamily="34" charset="-122"/>
                <a:cs typeface="Calibri" pitchFamily="34" charset="-120"/>
              </a:rPr>
              <a:t>fork</a:t>
            </a:r>
            <a:endParaRPr lang="en-US" sz="1600" b="1" dirty="0">
              <a:solidFill>
                <a:srgbClr val="FF0000"/>
              </a:solidFill>
            </a:endParaRPr>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1600" dirty="0">
                <a:latin typeface="Calibri" pitchFamily="34" charset="0"/>
                <a:ea typeface="Calibri" pitchFamily="34" charset="-122"/>
                <a:cs typeface="Calibri" pitchFamily="34" charset="-120"/>
              </a:rPr>
              <a:t>Synchronization: UNIX uses locks and wait queues</a:t>
            </a:r>
            <a:endParaRPr lang="en-US" sz="1600" dirty="0"/>
          </a:p>
        </p:txBody>
      </p:sp>
      <p:sp>
        <p:nvSpPr>
          <p:cNvPr id="11" name="Text 9"/>
          <p:cNvSpPr/>
          <p:nvPr/>
        </p:nvSpPr>
        <p:spPr>
          <a:xfrm>
            <a:off x="731520" y="4754880"/>
            <a:ext cx="7955280" cy="0"/>
          </a:xfrm>
          <a:prstGeom prst="rect">
            <a:avLst/>
          </a:prstGeom>
          <a:noFill/>
          <a:ln/>
        </p:spPr>
        <p:txBody>
          <a:bodyPr wrap="square" rtlCol="0" anchor="ctr"/>
          <a:lstStyle/>
          <a:p>
            <a:pPr marL="342900" indent="-342900" algn="l">
              <a:buSzPct val="100000"/>
              <a:buChar char="•"/>
            </a:pPr>
            <a:r>
              <a:rPr lang="en-US" sz="1600" dirty="0">
                <a:latin typeface="Calibri" pitchFamily="34" charset="0"/>
                <a:ea typeface="Calibri" pitchFamily="34" charset="-122"/>
                <a:cs typeface="Calibri" pitchFamily="34" charset="-120"/>
              </a:rPr>
              <a:t>Implementation: Managed at kernel level for coordination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Pipe Synchronization and Operation</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1400" i="1" dirty="0">
                <a:solidFill>
                  <a:srgbClr val="2D3436"/>
                </a:solidFill>
                <a:latin typeface="Calibri" pitchFamily="34" charset="0"/>
                <a:ea typeface="Calibri" pitchFamily="34" charset="-122"/>
                <a:cs typeface="Calibri" pitchFamily="34" charset="-120"/>
              </a:rPr>
              <a:t>UNIX ensures single process accesses pipe at a time</a:t>
            </a:r>
            <a:endParaRPr lang="en-US" sz="1400" dirty="0"/>
          </a:p>
        </p:txBody>
      </p:sp>
      <p:sp>
        <p:nvSpPr>
          <p:cNvPr id="5" name="Text 3"/>
          <p:cNvSpPr/>
          <p:nvPr/>
        </p:nvSpPr>
        <p:spPr>
          <a:xfrm>
            <a:off x="731520" y="20116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Locks: Pipe locked when process accesses it</a:t>
            </a:r>
            <a:endParaRPr lang="en-US" sz="14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Wait Queues: Each pipe end has associated wait queue</a:t>
            </a:r>
            <a:endParaRPr lang="en-US" sz="14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Writer Process: Locks pipe if space available, waits if full</a:t>
            </a:r>
            <a:endParaRPr lang="en-US" sz="14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Reader Process: Sleeps if no data, awakened when data written</a:t>
            </a:r>
            <a:endParaRPr lang="en-US" sz="14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Data Transfer: Bytes copied to/from shared buffer</a:t>
            </a:r>
            <a:endParaRPr lang="en-US" sz="1400" dirty="0"/>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Coordination: Reader awakened when data arrives, writer after read</a:t>
            </a:r>
            <a:endParaRPr lang="en-US" sz="1400" dirty="0"/>
          </a:p>
        </p:txBody>
      </p:sp>
      <p:sp>
        <p:nvSpPr>
          <p:cNvPr id="11" name="Text 9"/>
          <p:cNvSpPr/>
          <p:nvPr/>
        </p:nvSpPr>
        <p:spPr>
          <a:xfrm>
            <a:off x="731520" y="4754880"/>
            <a:ext cx="7955280" cy="0"/>
          </a:xfrm>
          <a:prstGeom prst="rect">
            <a:avLst/>
          </a:prstGeom>
          <a:noFill/>
          <a:ln/>
        </p:spPr>
        <p:txBody>
          <a:bodyPr wrap="square" rtlCol="0" anchor="ctr"/>
          <a:lstStyle/>
          <a:p>
            <a:pPr marL="342900" indent="-342900" algn="l">
              <a:buSzPct val="100000"/>
              <a:buChar char="•"/>
            </a:pPr>
            <a:r>
              <a:rPr lang="en-US" sz="1400" dirty="0">
                <a:solidFill>
                  <a:srgbClr val="2D3436"/>
                </a:solidFill>
                <a:latin typeface="Calibri" pitchFamily="34" charset="0"/>
                <a:ea typeface="Calibri" pitchFamily="34" charset="-122"/>
                <a:cs typeface="Calibri" pitchFamily="34" charset="-120"/>
              </a:rPr>
              <a:t>FIFO Ordering: Data processed in order written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0B4546-240E-4E68-A681-9170D31B2E34}"/>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2434773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Pipes: Advantages and Disadvantages</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Shape 2"/>
          <p:cNvSpPr/>
          <p:nvPr/>
        </p:nvSpPr>
        <p:spPr>
          <a:xfrm>
            <a:off x="457200" y="1188720"/>
            <a:ext cx="4023360" cy="3474720"/>
          </a:xfrm>
          <a:prstGeom prst="roundRect">
            <a:avLst/>
          </a:prstGeom>
          <a:solidFill>
            <a:srgbClr val="E8F4F8"/>
          </a:solidFill>
          <a:ln w="25400">
            <a:solidFill>
              <a:srgbClr val="00A9A6"/>
            </a:solidFill>
            <a:prstDash val="solid"/>
          </a:ln>
        </p:spPr>
      </p:sp>
      <p:sp>
        <p:nvSpPr>
          <p:cNvPr id="5" name="Text 3"/>
          <p:cNvSpPr/>
          <p:nvPr/>
        </p:nvSpPr>
        <p:spPr>
          <a:xfrm>
            <a:off x="640080" y="1371600"/>
            <a:ext cx="3657600" cy="365760"/>
          </a:xfrm>
          <a:prstGeom prst="rect">
            <a:avLst/>
          </a:prstGeom>
          <a:noFill/>
          <a:ln/>
        </p:spPr>
        <p:txBody>
          <a:bodyPr wrap="square" rtlCol="0" anchor="ctr"/>
          <a:lstStyle/>
          <a:p>
            <a:pPr marL="0" indent="0" algn="ctr">
              <a:buNone/>
            </a:pPr>
            <a:r>
              <a:rPr lang="en-US" b="1" dirty="0">
                <a:solidFill>
                  <a:srgbClr val="00A9A6"/>
                </a:solidFill>
                <a:latin typeface="Calibri" pitchFamily="34" charset="0"/>
                <a:ea typeface="Calibri" pitchFamily="34" charset="-122"/>
                <a:cs typeface="Calibri" pitchFamily="34" charset="-120"/>
              </a:rPr>
              <a:t>Advantages</a:t>
            </a:r>
            <a:endParaRPr lang="en-US" dirty="0"/>
          </a:p>
        </p:txBody>
      </p:sp>
      <p:sp>
        <p:nvSpPr>
          <p:cNvPr id="6" name="Text 4"/>
          <p:cNvSpPr/>
          <p:nvPr/>
        </p:nvSpPr>
        <p:spPr>
          <a:xfrm>
            <a:off x="640080" y="1828800"/>
            <a:ext cx="3657600" cy="2743200"/>
          </a:xfrm>
          <a:prstGeom prst="rect">
            <a:avLst/>
          </a:prstGeom>
          <a:noFill/>
          <a:ln/>
        </p:spPr>
        <p:txBody>
          <a:bodyPr wrap="square" rtlCol="0" anchor="ctr"/>
          <a:lstStyle/>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Simple and straightforward</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Efficient data transfer</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Reliable communication</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Error detection capability</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Fast within same system</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Flexible protocols</a:t>
            </a:r>
            <a:endParaRPr lang="en-US" dirty="0"/>
          </a:p>
        </p:txBody>
      </p:sp>
      <p:sp>
        <p:nvSpPr>
          <p:cNvPr id="7" name="Shape 5"/>
          <p:cNvSpPr/>
          <p:nvPr/>
        </p:nvSpPr>
        <p:spPr>
          <a:xfrm>
            <a:off x="4663440" y="1188720"/>
            <a:ext cx="4023360" cy="3474720"/>
          </a:xfrm>
          <a:prstGeom prst="roundRect">
            <a:avLst/>
          </a:prstGeom>
          <a:solidFill>
            <a:srgbClr val="FFE5D3"/>
          </a:solidFill>
          <a:ln w="25400">
            <a:solidFill>
              <a:srgbClr val="FF6B35"/>
            </a:solidFill>
            <a:prstDash val="solid"/>
          </a:ln>
        </p:spPr>
      </p:sp>
      <p:sp>
        <p:nvSpPr>
          <p:cNvPr id="8" name="Text 6"/>
          <p:cNvSpPr/>
          <p:nvPr/>
        </p:nvSpPr>
        <p:spPr>
          <a:xfrm>
            <a:off x="4846320" y="1371600"/>
            <a:ext cx="3657600" cy="365760"/>
          </a:xfrm>
          <a:prstGeom prst="rect">
            <a:avLst/>
          </a:prstGeom>
          <a:noFill/>
          <a:ln/>
        </p:spPr>
        <p:txBody>
          <a:bodyPr wrap="square" rtlCol="0" anchor="ctr"/>
          <a:lstStyle/>
          <a:p>
            <a:pPr marL="0" indent="0" algn="ctr">
              <a:buNone/>
            </a:pPr>
            <a:r>
              <a:rPr lang="en-US" b="1" dirty="0">
                <a:solidFill>
                  <a:srgbClr val="FF6B35"/>
                </a:solidFill>
                <a:latin typeface="Calibri" pitchFamily="34" charset="0"/>
                <a:ea typeface="Calibri" pitchFamily="34" charset="-122"/>
                <a:cs typeface="Calibri" pitchFamily="34" charset="-120"/>
              </a:rPr>
              <a:t>Disadvantages</a:t>
            </a:r>
            <a:endParaRPr lang="en-US" dirty="0"/>
          </a:p>
        </p:txBody>
      </p:sp>
      <p:sp>
        <p:nvSpPr>
          <p:cNvPr id="9" name="Text 7"/>
          <p:cNvSpPr/>
          <p:nvPr/>
        </p:nvSpPr>
        <p:spPr>
          <a:xfrm>
            <a:off x="4846320" y="1828800"/>
            <a:ext cx="3657600" cy="2743200"/>
          </a:xfrm>
          <a:prstGeom prst="rect">
            <a:avLst/>
          </a:prstGeom>
          <a:noFill/>
          <a:ln/>
        </p:spPr>
        <p:txBody>
          <a:bodyPr wrap="square" rtlCol="0" anchor="ctr"/>
          <a:lstStyle/>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Limited capacity</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Unidirectional only</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Requires synchronization</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Limited scalability</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Related processes only</a:t>
            </a:r>
            <a:endParaRPr lang="en-US" dirty="0"/>
          </a:p>
          <a:p>
            <a:pPr marL="285750" indent="-285750" algn="l">
              <a:buFont typeface="Arial" panose="020B0604020202020204" pitchFamily="34" charset="0"/>
              <a:buChar char="•"/>
            </a:pPr>
            <a:r>
              <a:rPr lang="en-US" dirty="0">
                <a:solidFill>
                  <a:srgbClr val="2D3436"/>
                </a:solidFill>
                <a:latin typeface="Calibri" pitchFamily="34" charset="0"/>
                <a:ea typeface="Calibri" pitchFamily="34" charset="-122"/>
                <a:cs typeface="Calibri" pitchFamily="34" charset="-120"/>
              </a:rPr>
              <a:t>Fixed size buffer</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Message Queues: Advanced IPC</a:t>
            </a:r>
            <a:endParaRPr lang="en-US" sz="4000" dirty="0"/>
          </a:p>
        </p:txBody>
      </p:sp>
      <p:sp>
        <p:nvSpPr>
          <p:cNvPr id="3" name="Shape 1"/>
          <p:cNvSpPr/>
          <p:nvPr/>
        </p:nvSpPr>
        <p:spPr>
          <a:xfrm>
            <a:off x="457200" y="914400"/>
            <a:ext cx="2286000" cy="73152"/>
          </a:xfrm>
          <a:prstGeom prst="rect">
            <a:avLst/>
          </a:prstGeom>
          <a:solidFill>
            <a:srgbClr val="00A9A6"/>
          </a:solidFill>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i="1" dirty="0">
                <a:solidFill>
                  <a:srgbClr val="C00000"/>
                </a:solidFill>
                <a:latin typeface="Calibri" pitchFamily="34" charset="0"/>
                <a:ea typeface="Calibri" pitchFamily="34" charset="-122"/>
                <a:cs typeface="Calibri" pitchFamily="34" charset="-120"/>
              </a:rPr>
              <a:t>Linked list of messages stored in kernel, identified by unique ID</a:t>
            </a:r>
            <a:endParaRPr lang="en-US" dirty="0">
              <a:solidFill>
                <a:srgbClr val="C00000"/>
              </a:solidFill>
            </a:endParaRPr>
          </a:p>
        </p:txBody>
      </p:sp>
      <p:sp>
        <p:nvSpPr>
          <p:cNvPr id="5" name="Text 3"/>
          <p:cNvSpPr/>
          <p:nvPr/>
        </p:nvSpPr>
        <p:spPr>
          <a:xfrm>
            <a:off x="731520" y="20116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FIFO Organization: Messages stored and retrieved in FIFO order</a:t>
            </a:r>
            <a:endParaRPr lang="en-US" sz="1600" dirty="0"/>
          </a:p>
        </p:txBody>
      </p:sp>
      <p:sp>
        <p:nvSpPr>
          <p:cNvPr id="6" name="Text 4"/>
          <p:cNvSpPr/>
          <p:nvPr/>
        </p:nvSpPr>
        <p:spPr>
          <a:xfrm>
            <a:off x="731520" y="24688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Message Type: Each message has positive long integer type field</a:t>
            </a:r>
            <a:endParaRPr lang="en-US" sz="1600" dirty="0"/>
          </a:p>
        </p:txBody>
      </p:sp>
      <p:sp>
        <p:nvSpPr>
          <p:cNvPr id="7" name="Text 5"/>
          <p:cNvSpPr/>
          <p:nvPr/>
        </p:nvSpPr>
        <p:spPr>
          <a:xfrm>
            <a:off x="731520" y="29260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System Calls: msgget(), msgsnd(), msgrcv(), msgctl()</a:t>
            </a:r>
            <a:endParaRPr lang="en-US" sz="1600" dirty="0"/>
          </a:p>
        </p:txBody>
      </p:sp>
      <p:sp>
        <p:nvSpPr>
          <p:cNvPr id="8" name="Text 6"/>
          <p:cNvSpPr/>
          <p:nvPr/>
        </p:nvSpPr>
        <p:spPr>
          <a:xfrm>
            <a:off x="731520" y="33832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Flexible Retrieval: Can fetch messages by type, not just FIFO order</a:t>
            </a:r>
            <a:endParaRPr lang="en-US" sz="1600" dirty="0"/>
          </a:p>
        </p:txBody>
      </p:sp>
      <p:sp>
        <p:nvSpPr>
          <p:cNvPr id="9" name="Text 7"/>
          <p:cNvSpPr/>
          <p:nvPr/>
        </p:nvSpPr>
        <p:spPr>
          <a:xfrm>
            <a:off x="731520" y="38404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Asynchronous Communication: Messages queue, retrieve when ready</a:t>
            </a:r>
            <a:endParaRPr lang="en-US" sz="1600" dirty="0"/>
          </a:p>
        </p:txBody>
      </p:sp>
      <p:sp>
        <p:nvSpPr>
          <p:cNvPr id="10" name="Text 8"/>
          <p:cNvSpPr/>
          <p:nvPr/>
        </p:nvSpPr>
        <p:spPr>
          <a:xfrm>
            <a:off x="731520" y="42976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Kernel Managed: OS maintains message queue structure and state</a:t>
            </a:r>
            <a:endParaRPr lang="en-US" sz="1600" dirty="0"/>
          </a:p>
        </p:txBody>
      </p:sp>
      <p:sp>
        <p:nvSpPr>
          <p:cNvPr id="11" name="Text 9"/>
          <p:cNvSpPr/>
          <p:nvPr/>
        </p:nvSpPr>
        <p:spPr>
          <a:xfrm>
            <a:off x="731520" y="4754880"/>
            <a:ext cx="7955280" cy="0"/>
          </a:xfrm>
          <a:prstGeom prst="rect">
            <a:avLst/>
          </a:prstGeom>
          <a:noFill/>
          <a:ln/>
        </p:spPr>
        <p:txBody>
          <a:bodyPr wrap="square" rtlCol="0" anchor="ctr"/>
          <a:lstStyle/>
          <a:p>
            <a:pPr marL="342900" indent="-342900" algn="l">
              <a:buSzPct val="100000"/>
              <a:buChar char="•"/>
            </a:pPr>
            <a:r>
              <a:rPr lang="en-US" sz="1600" dirty="0">
                <a:solidFill>
                  <a:srgbClr val="2D3436"/>
                </a:solidFill>
                <a:latin typeface="Calibri" pitchFamily="34" charset="0"/>
                <a:ea typeface="Calibri" pitchFamily="34" charset="-122"/>
                <a:cs typeface="Calibri" pitchFamily="34" charset="-120"/>
              </a:rPr>
              <a:t>Robust Method: Most common IPC mechanism for queued communication</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E6E93B-B711-4190-984F-96292ED4A516}"/>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1295451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B4B06E-89C2-48E8-B40D-2A571F14AD59}"/>
              </a:ext>
            </a:extLst>
          </p:cNvPr>
          <p:cNvPicPr>
            <a:picLocks noChangeAspect="1"/>
          </p:cNvPicPr>
          <p:nvPr/>
        </p:nvPicPr>
        <p:blipFill>
          <a:blip r:embed="rId2"/>
          <a:stretch>
            <a:fillRect/>
          </a:stretch>
        </p:blipFill>
        <p:spPr>
          <a:xfrm>
            <a:off x="2107406" y="0"/>
            <a:ext cx="4929188" cy="5143500"/>
          </a:xfrm>
          <a:prstGeom prst="rect">
            <a:avLst/>
          </a:prstGeom>
        </p:spPr>
      </p:pic>
    </p:spTree>
    <p:extLst>
      <p:ext uri="{BB962C8B-B14F-4D97-AF65-F5344CB8AC3E}">
        <p14:creationId xmlns:p14="http://schemas.microsoft.com/office/powerpoint/2010/main" val="2307506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lgn="l">
              <a:buNone/>
            </a:pPr>
            <a:r>
              <a:rPr lang="en-US" sz="4000" b="1" dirty="0">
                <a:solidFill>
                  <a:srgbClr val="1F3A93"/>
                </a:solidFill>
                <a:latin typeface="Calibri" pitchFamily="34" charset="0"/>
                <a:ea typeface="Calibri" pitchFamily="34" charset="-122"/>
                <a:cs typeface="Calibri" pitchFamily="34" charset="-120"/>
              </a:rPr>
              <a:t>Message Queue System Calls</a:t>
            </a:r>
            <a:endParaRPr lang="en-US" sz="4000" dirty="0"/>
          </a:p>
        </p:txBody>
      </p:sp>
      <p:sp>
        <p:nvSpPr>
          <p:cNvPr id="3" name="Shape 1"/>
          <p:cNvSpPr/>
          <p:nvPr/>
        </p:nvSpPr>
        <p:spPr>
          <a:xfrm>
            <a:off x="457200" y="914400"/>
            <a:ext cx="2743200" cy="73152"/>
          </a:xfrm>
          <a:prstGeom prst="rect">
            <a:avLst/>
          </a:prstGeom>
          <a:solidFill>
            <a:srgbClr val="00A9A6"/>
          </a:solidFill>
          <a:ln/>
        </p:spPr>
      </p:sp>
      <p:sp>
        <p:nvSpPr>
          <p:cNvPr id="4" name="Shape 2"/>
          <p:cNvSpPr/>
          <p:nvPr/>
        </p:nvSpPr>
        <p:spPr>
          <a:xfrm>
            <a:off x="457200" y="1188720"/>
            <a:ext cx="8229600" cy="731520"/>
          </a:xfrm>
          <a:prstGeom prst="rect">
            <a:avLst/>
          </a:prstGeom>
          <a:solidFill>
            <a:srgbClr val="E8F4F8"/>
          </a:solidFill>
          <a:ln w="12700">
            <a:solidFill>
              <a:srgbClr val="00A9A6"/>
            </a:solidFill>
            <a:prstDash val="solid"/>
          </a:ln>
        </p:spPr>
      </p:sp>
      <p:sp>
        <p:nvSpPr>
          <p:cNvPr id="5" name="Text 3"/>
          <p:cNvSpPr/>
          <p:nvPr/>
        </p:nvSpPr>
        <p:spPr>
          <a:xfrm>
            <a:off x="731520" y="1325880"/>
            <a:ext cx="1645920" cy="457200"/>
          </a:xfrm>
          <a:prstGeom prst="rect">
            <a:avLst/>
          </a:prstGeom>
          <a:noFill/>
          <a:ln/>
        </p:spPr>
        <p:txBody>
          <a:bodyPr wrap="square" rtlCol="0" anchor="ctr"/>
          <a:lstStyle/>
          <a:p>
            <a:pPr marL="0" indent="0" algn="l">
              <a:buNone/>
            </a:pPr>
            <a:r>
              <a:rPr lang="en-US" sz="1300" b="1" dirty="0">
                <a:solidFill>
                  <a:srgbClr val="1F3A93"/>
                </a:solidFill>
                <a:latin typeface="Calibri" pitchFamily="34" charset="0"/>
                <a:ea typeface="Calibri" pitchFamily="34" charset="-122"/>
                <a:cs typeface="Calibri" pitchFamily="34" charset="-120"/>
              </a:rPr>
              <a:t>ftok()</a:t>
            </a:r>
            <a:endParaRPr lang="en-US" sz="1300" dirty="0"/>
          </a:p>
        </p:txBody>
      </p:sp>
      <p:sp>
        <p:nvSpPr>
          <p:cNvPr id="6" name="Text 4"/>
          <p:cNvSpPr/>
          <p:nvPr/>
        </p:nvSpPr>
        <p:spPr>
          <a:xfrm>
            <a:off x="2468880" y="1325880"/>
            <a:ext cx="6217920" cy="45720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Generates unique key for message queue identification</a:t>
            </a:r>
            <a:endParaRPr lang="en-US" sz="1100" dirty="0"/>
          </a:p>
        </p:txBody>
      </p:sp>
      <p:sp>
        <p:nvSpPr>
          <p:cNvPr id="7" name="Shape 5"/>
          <p:cNvSpPr/>
          <p:nvPr/>
        </p:nvSpPr>
        <p:spPr>
          <a:xfrm>
            <a:off x="457200" y="2011680"/>
            <a:ext cx="8229600" cy="731520"/>
          </a:xfrm>
          <a:prstGeom prst="rect">
            <a:avLst/>
          </a:prstGeom>
          <a:solidFill>
            <a:srgbClr val="FFE5D3"/>
          </a:solidFill>
          <a:ln w="12700">
            <a:solidFill>
              <a:srgbClr val="FF6B35"/>
            </a:solidFill>
            <a:prstDash val="solid"/>
          </a:ln>
        </p:spPr>
      </p:sp>
      <p:sp>
        <p:nvSpPr>
          <p:cNvPr id="8" name="Text 6"/>
          <p:cNvSpPr/>
          <p:nvPr/>
        </p:nvSpPr>
        <p:spPr>
          <a:xfrm>
            <a:off x="731520" y="2148840"/>
            <a:ext cx="1645920" cy="457200"/>
          </a:xfrm>
          <a:prstGeom prst="rect">
            <a:avLst/>
          </a:prstGeom>
          <a:noFill/>
          <a:ln/>
        </p:spPr>
        <p:txBody>
          <a:bodyPr wrap="square" rtlCol="0" anchor="ctr"/>
          <a:lstStyle/>
          <a:p>
            <a:pPr marL="0" indent="0" algn="l">
              <a:buNone/>
            </a:pPr>
            <a:r>
              <a:rPr lang="en-US" sz="1300" b="1" dirty="0">
                <a:solidFill>
                  <a:srgbClr val="1F3A93"/>
                </a:solidFill>
                <a:latin typeface="Calibri" pitchFamily="34" charset="0"/>
                <a:ea typeface="Calibri" pitchFamily="34" charset="-122"/>
                <a:cs typeface="Calibri" pitchFamily="34" charset="-120"/>
              </a:rPr>
              <a:t>msgget()</a:t>
            </a:r>
            <a:endParaRPr lang="en-US" sz="1300" dirty="0"/>
          </a:p>
        </p:txBody>
      </p:sp>
      <p:sp>
        <p:nvSpPr>
          <p:cNvPr id="9" name="Text 7"/>
          <p:cNvSpPr/>
          <p:nvPr/>
        </p:nvSpPr>
        <p:spPr>
          <a:xfrm>
            <a:off x="2468880" y="2148840"/>
            <a:ext cx="6217920" cy="45720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Creates new queue or accesses existing queue, returns ID</a:t>
            </a:r>
            <a:endParaRPr lang="en-US" sz="1100" dirty="0"/>
          </a:p>
        </p:txBody>
      </p:sp>
      <p:sp>
        <p:nvSpPr>
          <p:cNvPr id="10" name="Shape 8"/>
          <p:cNvSpPr/>
          <p:nvPr/>
        </p:nvSpPr>
        <p:spPr>
          <a:xfrm>
            <a:off x="457200" y="2834640"/>
            <a:ext cx="8229600" cy="731520"/>
          </a:xfrm>
          <a:prstGeom prst="rect">
            <a:avLst/>
          </a:prstGeom>
          <a:solidFill>
            <a:srgbClr val="E8F4F8"/>
          </a:solidFill>
          <a:ln w="12700">
            <a:solidFill>
              <a:srgbClr val="00A9A6"/>
            </a:solidFill>
            <a:prstDash val="solid"/>
          </a:ln>
        </p:spPr>
      </p:sp>
      <p:sp>
        <p:nvSpPr>
          <p:cNvPr id="11" name="Text 9"/>
          <p:cNvSpPr/>
          <p:nvPr/>
        </p:nvSpPr>
        <p:spPr>
          <a:xfrm>
            <a:off x="731520" y="2971800"/>
            <a:ext cx="1645920" cy="457200"/>
          </a:xfrm>
          <a:prstGeom prst="rect">
            <a:avLst/>
          </a:prstGeom>
          <a:noFill/>
          <a:ln/>
        </p:spPr>
        <p:txBody>
          <a:bodyPr wrap="square" rtlCol="0" anchor="ctr"/>
          <a:lstStyle/>
          <a:p>
            <a:pPr marL="0" indent="0" algn="l">
              <a:buNone/>
            </a:pPr>
            <a:r>
              <a:rPr lang="en-US" sz="1300" b="1" dirty="0">
                <a:solidFill>
                  <a:srgbClr val="1F3A93"/>
                </a:solidFill>
                <a:latin typeface="Calibri" pitchFamily="34" charset="0"/>
                <a:ea typeface="Calibri" pitchFamily="34" charset="-122"/>
                <a:cs typeface="Calibri" pitchFamily="34" charset="-120"/>
              </a:rPr>
              <a:t>msgsnd()</a:t>
            </a:r>
            <a:endParaRPr lang="en-US" sz="1300" dirty="0"/>
          </a:p>
        </p:txBody>
      </p:sp>
      <p:sp>
        <p:nvSpPr>
          <p:cNvPr id="12" name="Text 10"/>
          <p:cNvSpPr/>
          <p:nvPr/>
        </p:nvSpPr>
        <p:spPr>
          <a:xfrm>
            <a:off x="2468880" y="2971800"/>
            <a:ext cx="6217920" cy="45720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Adds message to queue with type and content</a:t>
            </a:r>
            <a:endParaRPr lang="en-US" sz="1100" dirty="0"/>
          </a:p>
        </p:txBody>
      </p:sp>
      <p:sp>
        <p:nvSpPr>
          <p:cNvPr id="13" name="Shape 11"/>
          <p:cNvSpPr/>
          <p:nvPr/>
        </p:nvSpPr>
        <p:spPr>
          <a:xfrm>
            <a:off x="457200" y="3657600"/>
            <a:ext cx="8229600" cy="731520"/>
          </a:xfrm>
          <a:prstGeom prst="rect">
            <a:avLst/>
          </a:prstGeom>
          <a:solidFill>
            <a:srgbClr val="FFE5D3"/>
          </a:solidFill>
          <a:ln w="12700">
            <a:solidFill>
              <a:srgbClr val="FF6B35"/>
            </a:solidFill>
            <a:prstDash val="solid"/>
          </a:ln>
        </p:spPr>
      </p:sp>
      <p:sp>
        <p:nvSpPr>
          <p:cNvPr id="14" name="Text 12"/>
          <p:cNvSpPr/>
          <p:nvPr/>
        </p:nvSpPr>
        <p:spPr>
          <a:xfrm>
            <a:off x="731520" y="3794760"/>
            <a:ext cx="1645920" cy="457200"/>
          </a:xfrm>
          <a:prstGeom prst="rect">
            <a:avLst/>
          </a:prstGeom>
          <a:noFill/>
          <a:ln/>
        </p:spPr>
        <p:txBody>
          <a:bodyPr wrap="square" rtlCol="0" anchor="ctr"/>
          <a:lstStyle/>
          <a:p>
            <a:pPr marL="0" indent="0" algn="l">
              <a:buNone/>
            </a:pPr>
            <a:r>
              <a:rPr lang="en-US" sz="1300" b="1" dirty="0">
                <a:solidFill>
                  <a:srgbClr val="1F3A93"/>
                </a:solidFill>
                <a:latin typeface="Calibri" pitchFamily="34" charset="0"/>
                <a:ea typeface="Calibri" pitchFamily="34" charset="-122"/>
                <a:cs typeface="Calibri" pitchFamily="34" charset="-120"/>
              </a:rPr>
              <a:t>msgrcv()</a:t>
            </a:r>
            <a:endParaRPr lang="en-US" sz="1300" dirty="0"/>
          </a:p>
        </p:txBody>
      </p:sp>
      <p:sp>
        <p:nvSpPr>
          <p:cNvPr id="15" name="Text 13"/>
          <p:cNvSpPr/>
          <p:nvPr/>
        </p:nvSpPr>
        <p:spPr>
          <a:xfrm>
            <a:off x="2468880" y="3794760"/>
            <a:ext cx="6217920" cy="45720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Retrieves message from queue, can specify message type</a:t>
            </a:r>
            <a:endParaRPr lang="en-US" sz="1100" dirty="0"/>
          </a:p>
        </p:txBody>
      </p:sp>
      <p:sp>
        <p:nvSpPr>
          <p:cNvPr id="16" name="Shape 14"/>
          <p:cNvSpPr/>
          <p:nvPr/>
        </p:nvSpPr>
        <p:spPr>
          <a:xfrm>
            <a:off x="457200" y="4480560"/>
            <a:ext cx="8229600" cy="731520"/>
          </a:xfrm>
          <a:prstGeom prst="rect">
            <a:avLst/>
          </a:prstGeom>
          <a:solidFill>
            <a:srgbClr val="E8F4F8"/>
          </a:solidFill>
          <a:ln w="12700">
            <a:solidFill>
              <a:srgbClr val="00A9A6"/>
            </a:solidFill>
            <a:prstDash val="solid"/>
          </a:ln>
        </p:spPr>
      </p:sp>
      <p:sp>
        <p:nvSpPr>
          <p:cNvPr id="17" name="Text 15"/>
          <p:cNvSpPr/>
          <p:nvPr/>
        </p:nvSpPr>
        <p:spPr>
          <a:xfrm>
            <a:off x="731520" y="4617720"/>
            <a:ext cx="1645920" cy="457200"/>
          </a:xfrm>
          <a:prstGeom prst="rect">
            <a:avLst/>
          </a:prstGeom>
          <a:noFill/>
          <a:ln/>
        </p:spPr>
        <p:txBody>
          <a:bodyPr wrap="square" rtlCol="0" anchor="ctr"/>
          <a:lstStyle/>
          <a:p>
            <a:pPr marL="0" indent="0" algn="l">
              <a:buNone/>
            </a:pPr>
            <a:r>
              <a:rPr lang="en-US" sz="1300" b="1" dirty="0">
                <a:solidFill>
                  <a:srgbClr val="1F3A93"/>
                </a:solidFill>
                <a:latin typeface="Calibri" pitchFamily="34" charset="0"/>
                <a:ea typeface="Calibri" pitchFamily="34" charset="-122"/>
                <a:cs typeface="Calibri" pitchFamily="34" charset="-120"/>
              </a:rPr>
              <a:t>msgctl()</a:t>
            </a:r>
            <a:endParaRPr lang="en-US" sz="1300" dirty="0"/>
          </a:p>
        </p:txBody>
      </p:sp>
      <p:sp>
        <p:nvSpPr>
          <p:cNvPr id="18" name="Text 16"/>
          <p:cNvSpPr/>
          <p:nvPr/>
        </p:nvSpPr>
        <p:spPr>
          <a:xfrm>
            <a:off x="2468880" y="4617720"/>
            <a:ext cx="6217920" cy="457200"/>
          </a:xfrm>
          <a:prstGeom prst="rect">
            <a:avLst/>
          </a:prstGeom>
          <a:noFill/>
          <a:ln/>
        </p:spPr>
        <p:txBody>
          <a:bodyPr wrap="square" rtlCol="0" anchor="ctr"/>
          <a:lstStyle/>
          <a:p>
            <a:pPr marL="0" indent="0" algn="l">
              <a:buNone/>
            </a:pPr>
            <a:r>
              <a:rPr lang="en-US" sz="1100" dirty="0">
                <a:solidFill>
                  <a:srgbClr val="2D3436"/>
                </a:solidFill>
                <a:latin typeface="Calibri" pitchFamily="34" charset="0"/>
                <a:ea typeface="Calibri" pitchFamily="34" charset="-122"/>
                <a:cs typeface="Calibri" pitchFamily="34" charset="-120"/>
              </a:rPr>
              <a:t>Deletes message queue when no longer needed</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1F3A93"/>
                </a:solidFill>
                <a:effectLst/>
                <a:uLnTx/>
                <a:uFillTx/>
                <a:latin typeface="Calibri" pitchFamily="34" charset="0"/>
                <a:ea typeface="Calibri" pitchFamily="34" charset="-122"/>
                <a:cs typeface="Calibri" pitchFamily="34" charset="-120"/>
              </a:rPr>
              <a:t>Functions of Message Queue</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914400"/>
            <a:ext cx="3200400" cy="73152"/>
          </a:xfrm>
          <a:prstGeom prst="rect">
            <a:avLst/>
          </a:prstGeom>
          <a:solidFill>
            <a:srgbClr val="00A9A6"/>
          </a:solidFill>
          <a:ln/>
        </p:spPr>
      </p:sp>
      <p:sp>
        <p:nvSpPr>
          <p:cNvPr id="4" name="Text 2"/>
          <p:cNvSpPr/>
          <p:nvPr/>
        </p:nvSpPr>
        <p:spPr>
          <a:xfrm>
            <a:off x="457200" y="1051560"/>
            <a:ext cx="8229600"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Message queues are powerful IPC tools that enable robust process communication with key capabilities: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600200"/>
            <a:ext cx="2560320" cy="1508760"/>
          </a:xfrm>
          <a:prstGeom prst="roundRect">
            <a:avLst/>
          </a:prstGeom>
          <a:solidFill>
            <a:srgbClr val="6366F1">
              <a:alpha val="85000"/>
            </a:srgbClr>
          </a:solidFill>
          <a:ln w="19050">
            <a:solidFill>
              <a:srgbClr val="6366F1"/>
            </a:solidFill>
            <a:prstDash val="solid"/>
          </a:ln>
        </p:spPr>
      </p:sp>
      <p:sp>
        <p:nvSpPr>
          <p:cNvPr id="6" name="Text 4"/>
          <p:cNvSpPr/>
          <p:nvPr/>
        </p:nvSpPr>
        <p:spPr>
          <a:xfrm>
            <a:off x="594360" y="1737360"/>
            <a:ext cx="2286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1. Message Storage</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ext 5"/>
          <p:cNvSpPr/>
          <p:nvPr/>
        </p:nvSpPr>
        <p:spPr>
          <a:xfrm>
            <a:off x="594360" y="2103120"/>
            <a:ext cx="2286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Stores messages from one process until retrieved by another. Messages remain queued until read by receiving process.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0" y="1600200"/>
            <a:ext cx="2560320" cy="1508760"/>
          </a:xfrm>
          <a:prstGeom prst="roundRect">
            <a:avLst/>
          </a:prstGeom>
          <a:solidFill>
            <a:srgbClr val="EC4899">
              <a:alpha val="85000"/>
            </a:srgbClr>
          </a:solidFill>
          <a:ln w="19050">
            <a:solidFill>
              <a:srgbClr val="EC4899"/>
            </a:solidFill>
            <a:prstDash val="solid"/>
          </a:ln>
        </p:spPr>
      </p:sp>
      <p:sp>
        <p:nvSpPr>
          <p:cNvPr id="9" name="Text 7"/>
          <p:cNvSpPr/>
          <p:nvPr/>
        </p:nvSpPr>
        <p:spPr>
          <a:xfrm>
            <a:off x="3337560" y="1737360"/>
            <a:ext cx="2286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2. Ordered Communication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 8"/>
          <p:cNvSpPr/>
          <p:nvPr/>
        </p:nvSpPr>
        <p:spPr>
          <a:xfrm>
            <a:off x="3337560" y="2103120"/>
            <a:ext cx="2286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Ensures messages are delivered in the exact order they were sent. Critical for scenarios where sequence matters.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943600" y="1600200"/>
            <a:ext cx="2560320" cy="1508760"/>
          </a:xfrm>
          <a:prstGeom prst="roundRect">
            <a:avLst/>
          </a:prstGeom>
          <a:solidFill>
            <a:srgbClr val="10B981">
              <a:alpha val="85000"/>
            </a:srgbClr>
          </a:solidFill>
          <a:ln w="19050">
            <a:solidFill>
              <a:srgbClr val="10B981"/>
            </a:solidFill>
            <a:prstDash val="solid"/>
          </a:ln>
        </p:spPr>
      </p:sp>
      <p:sp>
        <p:nvSpPr>
          <p:cNvPr id="12" name="Text 10"/>
          <p:cNvSpPr/>
          <p:nvPr/>
        </p:nvSpPr>
        <p:spPr>
          <a:xfrm>
            <a:off x="6080760" y="1737360"/>
            <a:ext cx="2286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3. Asynchronous Communication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 11"/>
          <p:cNvSpPr/>
          <p:nvPr/>
        </p:nvSpPr>
        <p:spPr>
          <a:xfrm>
            <a:off x="6080760" y="2103120"/>
            <a:ext cx="2286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Processes don't need to be synchronized. Sender places message and receiver retrieves it later at their convenience.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3200400"/>
            <a:ext cx="2560320" cy="1508760"/>
          </a:xfrm>
          <a:prstGeom prst="roundRect">
            <a:avLst/>
          </a:prstGeom>
          <a:solidFill>
            <a:srgbClr val="F59E0B">
              <a:alpha val="85000"/>
            </a:srgbClr>
          </a:solidFill>
          <a:ln w="19050">
            <a:solidFill>
              <a:srgbClr val="F59E0B"/>
            </a:solidFill>
            <a:prstDash val="solid"/>
          </a:ln>
        </p:spPr>
      </p:sp>
      <p:sp>
        <p:nvSpPr>
          <p:cNvPr id="15" name="Text 13"/>
          <p:cNvSpPr/>
          <p:nvPr/>
        </p:nvSpPr>
        <p:spPr>
          <a:xfrm>
            <a:off x="594360" y="3337560"/>
            <a:ext cx="2286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4. Decoupling of Processes</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 14"/>
          <p:cNvSpPr/>
          <p:nvPr/>
        </p:nvSpPr>
        <p:spPr>
          <a:xfrm>
            <a:off x="594360" y="3703320"/>
            <a:ext cx="2286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Sender and receiver processes are independent and don't need to know about each other. Improves modularity and scalability.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3200400" y="3200400"/>
            <a:ext cx="2560320" cy="1508760"/>
          </a:xfrm>
          <a:prstGeom prst="roundRect">
            <a:avLst/>
          </a:prstGeom>
          <a:solidFill>
            <a:srgbClr val="3B82F6">
              <a:alpha val="85000"/>
            </a:srgbClr>
          </a:solidFill>
          <a:ln w="19050">
            <a:solidFill>
              <a:srgbClr val="3B82F6"/>
            </a:solidFill>
            <a:prstDash val="solid"/>
          </a:ln>
        </p:spPr>
      </p:sp>
      <p:sp>
        <p:nvSpPr>
          <p:cNvPr id="18" name="Text 16"/>
          <p:cNvSpPr/>
          <p:nvPr/>
        </p:nvSpPr>
        <p:spPr>
          <a:xfrm>
            <a:off x="3337560" y="3337560"/>
            <a:ext cx="2286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5. Prioritization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Text 17"/>
          <p:cNvSpPr/>
          <p:nvPr/>
        </p:nvSpPr>
        <p:spPr>
          <a:xfrm>
            <a:off x="3337560" y="3703320"/>
            <a:ext cx="2286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Some implementations allow messages to be prioritized. Certain messages can be processed before others based on priority levels.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943600" y="3200400"/>
            <a:ext cx="2560320" cy="1508760"/>
          </a:xfrm>
          <a:prstGeom prst="roundRect">
            <a:avLst/>
          </a:prstGeom>
          <a:solidFill>
            <a:srgbClr val="8B5CF6">
              <a:alpha val="85000"/>
            </a:srgbClr>
          </a:solidFill>
          <a:ln w="19050">
            <a:solidFill>
              <a:srgbClr val="8B5CF6"/>
            </a:solidFill>
            <a:prstDash val="solid"/>
          </a:ln>
        </p:spPr>
      </p:sp>
      <p:sp>
        <p:nvSpPr>
          <p:cNvPr id="21" name="Text 19"/>
          <p:cNvSpPr/>
          <p:nvPr/>
        </p:nvSpPr>
        <p:spPr>
          <a:xfrm>
            <a:off x="6080760" y="3337560"/>
            <a:ext cx="2286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6. Error Handling</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 20"/>
          <p:cNvSpPr/>
          <p:nvPr/>
        </p:nvSpPr>
        <p:spPr>
          <a:xfrm>
            <a:off x="6080760" y="3703320"/>
            <a:ext cx="2286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D3436"/>
                </a:solidFill>
                <a:effectLst/>
                <a:uLnTx/>
                <a:uFillTx/>
                <a:latin typeface="Calibri" pitchFamily="34" charset="0"/>
                <a:ea typeface="Calibri" pitchFamily="34" charset="-122"/>
                <a:cs typeface="Calibri" pitchFamily="34" charset="-120"/>
              </a:rPr>
              <a:t>Handles errors with retry mechanisms for failed deliveries and logging of undelivered messages for troubleshooting.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57200" y="4572000"/>
            <a:ext cx="8229600" cy="457200"/>
          </a:xfrm>
          <a:prstGeom prst="rect">
            <a:avLst/>
          </a:prstGeom>
          <a:solidFill>
            <a:srgbClr val="1F3A93"/>
          </a:solidFill>
          <a:ln/>
        </p:spPr>
      </p:sp>
      <p:sp>
        <p:nvSpPr>
          <p:cNvPr id="24" name="Text 22"/>
          <p:cNvSpPr/>
          <p:nvPr/>
        </p:nvSpPr>
        <p:spPr>
          <a:xfrm>
            <a:off x="640080" y="4617720"/>
            <a:ext cx="78638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Insight: Message queues enable robust, decoupled, and fault-tolerant inter-process communication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4738</TotalTime>
  <Words>2296</Words>
  <Application>Microsoft Office PowerPoint</Application>
  <PresentationFormat>On-screen Show (16:9)</PresentationFormat>
  <Paragraphs>344</Paragraphs>
  <Slides>33</Slides>
  <Notes>25</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Arial MT</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21</cp:revision>
  <dcterms:created xsi:type="dcterms:W3CDTF">2026-07-17T11:18:26Z</dcterms:created>
  <dcterms:modified xsi:type="dcterms:W3CDTF">2026-08-05T03:26:21Z</dcterms:modified>
</cp:coreProperties>
</file>