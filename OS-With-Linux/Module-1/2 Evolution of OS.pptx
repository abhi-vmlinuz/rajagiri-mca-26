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8" r:id="rId5"/>
    <p:sldId id="259" r:id="rId6"/>
    <p:sldId id="260" r:id="rId7"/>
    <p:sldId id="271" r:id="rId8"/>
    <p:sldId id="261" r:id="rId9"/>
    <p:sldId id="262" r:id="rId10"/>
    <p:sldId id="263" r:id="rId11"/>
    <p:sldId id="272" r:id="rId12"/>
    <p:sldId id="264" r:id="rId13"/>
    <p:sldId id="265" r:id="rId14"/>
    <p:sldId id="266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747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Models &amp; Execution Modes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286000" y="2651760"/>
            <a:ext cx="4572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3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• Batch • Multiprogramming • Time-Sharing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OS Processing Models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2004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38552"/>
            <a:ext cx="74980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273960"/>
            <a:ext cx="347472" cy="347472"/>
          </a:xfrm>
          <a:prstGeom prst="ellipse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957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1940s-1950s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1273960"/>
            <a:ext cx="347472" cy="347472"/>
          </a:xfrm>
          <a:prstGeom prst="ellipse">
            <a:avLst/>
          </a:prstGeom>
          <a:solidFill>
            <a:srgbClr val="D1FAE5"/>
          </a:solidFill>
          <a:ln w="25400">
            <a:solidFill>
              <a:srgbClr val="065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18957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1950s-1960s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0" y="1273960"/>
            <a:ext cx="347472" cy="347472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5003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589520" y="1273960"/>
            <a:ext cx="347472" cy="347472"/>
          </a:xfrm>
          <a:prstGeom prst="ellipse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189575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1970s+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599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User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3246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3246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3657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Jobs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3657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65760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4069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Multiprogramming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7744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Jobs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0" y="4069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1520" y="4434840"/>
            <a:ext cx="76809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Time-Sharing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7744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0" y="4480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480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4400" y="2880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377440" y="2880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Type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0" y="2880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2880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Util.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17920" y="28803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Processing (Late 1940s - Mid 1950s)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Context: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operating systems existed during this period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Programmers interacted directly with hardware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written in machine language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via card readers, output via line printers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lights indicated error conditions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Serial Processing Worked: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Programmers reserved machine time on a sign-up sheet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accessed computer sequentially (one after another)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time block finished, next programmer's turn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appeared after minutes, hours, or even days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Wasted computer time and low user productivity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71212"/>
            <a:ext cx="7886700" cy="480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96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Processing: Problems &amp; Improvements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47472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3840480" cy="1280160"/>
          </a:xfrm>
          <a:prstGeom prst="roundRect">
            <a:avLst>
              <a:gd name="adj" fmla="val 5714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Computer Time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Programmers might book 2 hours but finish in 1.5 hours. No other programmer could use the computer during unused time.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120640" y="109728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2344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Software 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1508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Language translators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Loaders &amp; Linkers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Debuggers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Library routines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I/O routines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System Software Tools: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926080"/>
            <a:ext cx="7498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Translators (Compilers/Interpreters) - Converted programs from high-level languages to executable code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Loaders - Automated the process of loading executable programs into memory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Debuggers - Detected and examined run-time errors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Linkers - Linked precompiled routines with object code for execution</a:t>
            </a:r>
            <a:endParaRPr lang="en-US" sz="1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Made serial processing more efficient, but still had low resource utilization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 (Mid 1950s - 1960s)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20040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Context: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498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of transistors made computers more reliable- expectation that they would continue to work for a long time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Mainframes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generally operated by the professional operators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became expensive and could be afforded only by major corporations and government agencies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operating system developed by General Motors for IBM 701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made between computer operators and programmers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7863840" cy="1371600"/>
          </a:xfrm>
          <a:prstGeom prst="roundRect">
            <a:avLst>
              <a:gd name="adj" fmla="val 5333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with similar requirements are batched together and run one after another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7315200" cy="478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All FORTRAN jobs run together so the compiler is loaded only once</a:t>
            </a: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10D4E98-9F27-4347-8F02-B908A943D8E6}"/>
              </a:ext>
            </a:extLst>
          </p:cNvPr>
          <p:cNvSpPr/>
          <p:nvPr/>
        </p:nvSpPr>
        <p:spPr>
          <a:xfrm>
            <a:off x="822960" y="4186646"/>
            <a:ext cx="7315200" cy="4784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62230" marR="61595" indent="290195" algn="just">
              <a:lnSpc>
                <a:spcPct val="106000"/>
              </a:lnSpc>
              <a:spcBef>
                <a:spcPts val="715"/>
              </a:spcBef>
              <a:spcAft>
                <a:spcPts val="0"/>
              </a:spcAft>
            </a:pPr>
            <a:r>
              <a:rPr lang="en-US" sz="1100" dirty="0">
                <a:effectLst/>
                <a:latin typeface="Arial MT"/>
                <a:ea typeface="Arial MT"/>
                <a:cs typeface="Arial MT"/>
              </a:rPr>
              <a:t>To improve resource utilization and user productivity</a:t>
            </a:r>
            <a:r>
              <a:rPr lang="en-US" sz="11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, the first operating</a:t>
            </a:r>
            <a:r>
              <a:rPr lang="en-US" sz="1100" spc="2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1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system</a:t>
            </a:r>
            <a:r>
              <a:rPr lang="en-US" sz="1100" spc="2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1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was</a:t>
            </a:r>
            <a:r>
              <a:rPr lang="en-US" sz="1100" spc="2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1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developed</a:t>
            </a:r>
            <a:r>
              <a:rPr lang="en-US" sz="1100" spc="2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1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by</a:t>
            </a:r>
            <a:r>
              <a:rPr lang="en-US" sz="1100" spc="2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1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General</a:t>
            </a:r>
            <a:r>
              <a:rPr lang="en-US" sz="1100" spc="2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1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Motors</a:t>
            </a:r>
            <a:r>
              <a:rPr lang="en-US" sz="1100" spc="2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1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for</a:t>
            </a:r>
            <a:r>
              <a:rPr lang="en-US" sz="1100" spc="2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1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IBM</a:t>
            </a:r>
            <a:r>
              <a:rPr lang="en-US" sz="1100" spc="2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1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701</a:t>
            </a:r>
            <a:r>
              <a:rPr lang="en-US" sz="1100" spc="2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100" dirty="0">
                <a:solidFill>
                  <a:srgbClr val="C00000"/>
                </a:solidFill>
                <a:effectLst/>
                <a:latin typeface="Arial MT"/>
                <a:ea typeface="Arial MT"/>
                <a:cs typeface="Arial MT"/>
              </a:rPr>
              <a:t>in the mid-1950s</a:t>
            </a:r>
            <a:r>
              <a:rPr lang="en-US" sz="1100" dirty="0">
                <a:effectLst/>
                <a:latin typeface="Arial MT"/>
                <a:ea typeface="Arial MT"/>
                <a:cs typeface="Arial MT"/>
              </a:rPr>
              <a:t>. This operating system was termed as a </a:t>
            </a:r>
            <a:r>
              <a:rPr lang="en-US" sz="1100" b="1" dirty="0">
                <a:effectLst/>
                <a:latin typeface="Arial" panose="020B0604020202020204" pitchFamily="34" charset="0"/>
                <a:ea typeface="Arial MT"/>
                <a:cs typeface="Arial MT"/>
              </a:rPr>
              <a:t>batch operating</a:t>
            </a:r>
            <a:r>
              <a:rPr lang="en-US" sz="1100" b="1" spc="200" dirty="0">
                <a:effectLst/>
                <a:latin typeface="Arial" panose="020B0604020202020204" pitchFamily="34" charset="0"/>
                <a:ea typeface="Arial MT"/>
                <a:cs typeface="Arial MT"/>
              </a:rPr>
              <a:t> </a:t>
            </a:r>
            <a:r>
              <a:rPr lang="en-US" sz="1100" b="1" dirty="0">
                <a:effectLst/>
                <a:latin typeface="Arial" panose="020B0604020202020204" pitchFamily="34" charset="0"/>
                <a:ea typeface="Arial MT"/>
                <a:cs typeface="Arial MT"/>
              </a:rPr>
              <a:t>system</a:t>
            </a:r>
            <a:r>
              <a:rPr lang="en-US" sz="1100" dirty="0">
                <a:effectLst/>
                <a:latin typeface="Arial MT"/>
                <a:ea typeface="Arial MT"/>
                <a:cs typeface="Arial MT"/>
              </a:rPr>
              <a:t>.</a:t>
            </a:r>
            <a:r>
              <a:rPr lang="en-US" sz="1100" spc="200" dirty="0">
                <a:effectLst/>
                <a:latin typeface="Arial MT"/>
                <a:ea typeface="Arial MT"/>
                <a:cs typeface="Arial MT"/>
              </a:rPr>
              <a:t> </a:t>
            </a:r>
            <a:endParaRPr lang="en-IN" sz="1100" dirty="0">
              <a:effectLst/>
              <a:latin typeface="Arial MT"/>
              <a:ea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E19C28F-DEE3-4EE3-B833-DAE31E271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306" y="0"/>
            <a:ext cx="7551387" cy="503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69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Processing: Memory Layout &amp; Operation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47472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463040" cy="36576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Monitor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(Kernel)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1463040" cy="1645920"/>
          </a:xfrm>
          <a:prstGeom prst="rect">
            <a:avLst/>
          </a:prstGeom>
          <a:solidFill>
            <a:srgbClr val="D1FAE5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Job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Job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146304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20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Memory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10972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Monitor Operation: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46304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from card reader and loads first job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JOB_START identifies job beginning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job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JOB_END identifies job completion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for next job in batch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until all jobs finished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next batch from operator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intervention only at batch boundaries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3931920"/>
            <a:ext cx="5943600" cy="640080"/>
          </a:xfrm>
          <a:prstGeom prst="roundRect">
            <a:avLst>
              <a:gd name="adj" fmla="val 7143"/>
            </a:avLst>
          </a:prstGeom>
          <a:solidFill>
            <a:srgbClr val="D1FAE5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39776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Advantage: Automatic job transitions without operator intervention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Processing: SPOOLing Solution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286000" cy="731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Speed Mismatch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229791" cy="1645920"/>
          </a:xfrm>
          <a:prstGeom prst="roundRect">
            <a:avLst>
              <a:gd name="adj" fmla="val 2778"/>
            </a:avLst>
          </a:prstGeom>
          <a:solidFill>
            <a:srgbClr val="FEF3C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54480"/>
            <a:ext cx="3657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Speed &gt;&gt; I/O Device Speed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much faster than card reader/printer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 idle waiting for I/O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Poor resource utilization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377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94960" y="1097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SPOOLing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1417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Peripheral Operation Online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94960" y="1691640"/>
            <a:ext cx="3108960" cy="2286000"/>
          </a:xfrm>
          <a:prstGeom prst="roundRect">
            <a:avLst>
              <a:gd name="adj" fmla="val 2000"/>
            </a:avLst>
          </a:prstGeom>
          <a:solidFill>
            <a:srgbClr val="D1FAE5"/>
          </a:solidFill>
          <a:ln/>
        </p:spPr>
      </p:sp>
      <p:sp>
        <p:nvSpPr>
          <p:cNvPr id="11" name="Text 9"/>
          <p:cNvSpPr/>
          <p:nvPr/>
        </p:nvSpPr>
        <p:spPr>
          <a:xfrm>
            <a:off x="5502729" y="1828800"/>
            <a:ext cx="3001191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jobs from cards → magnetic tape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reads from faster tape (not cards)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goes to tape → printer later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CPU idle time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Tapes → Disks (even faster)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direct access to jobs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Multiprogramming (1960s - 1970s)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01168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multiple jobs in memory at same time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job does I/O, CPU executes another job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0601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3931920" cy="82296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891540" y="35890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Problem: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2379" y="368341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P1 needs CPU then I/O alternately. CPU idle during P1's I/O even if P2 ready to run.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428999"/>
            <a:ext cx="3657600" cy="1068373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356124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Multiprogramming Solution: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73242" y="370332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jobs in memory. If P1 does I/O, execute P2. Always have work for CPU.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solidFill>
            <a:srgbClr val="DBEAFE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52628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Result: CPU never idle as long as one job ready to execute</a:t>
            </a:r>
            <a:endParaRPr lang="en-US" sz="16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038" y="949591"/>
            <a:ext cx="4534642" cy="23849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F76035-1370-4564-B013-CCB16BE73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91" y="148671"/>
            <a:ext cx="7271495" cy="484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77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Multiprogramming: Memory Layout &amp; Execution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47472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Layout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371600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Kernel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3716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7373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13716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13716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1371600" cy="73152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0896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Memory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1097280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1463040"/>
            <a:ext cx="5577840" cy="19487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of Multiprogramming - Number of jobs competing for resources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degree → Better resource utilization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Scheduling - OS selects which job to load to memory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Scheduling - OS chooses which ready job gets CPU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 - Divide memory into partitions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Execution - Multiple processes execute interleaved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032760" y="3840480"/>
            <a:ext cx="5577840" cy="1162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/>
              <a:t>programmers have to wait for several hours to get their output. </a:t>
            </a:r>
            <a:endParaRPr lang="en-US" sz="1400" dirty="0" smtClean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allow programmers to interact with the system.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2743200" y="377647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</a:t>
            </a:r>
            <a:r>
              <a:rPr lang="en-US" sz="1600" b="1" dirty="0" smtClean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Time-Sharing (Multitasking) Systems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27432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974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Time-Sharing?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634512"/>
            <a:ext cx="7498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of multiprogramming systems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 interact with system simultaneously via terminals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assigned fixed time-slot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give instructions via keyboard/mouse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response time ~1 second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switches rapidly between users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feels they have dedicated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9912" y="38488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 of Time-Sharing: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19223"/>
            <a:ext cx="7863840" cy="822960"/>
          </a:xfrm>
          <a:prstGeom prst="roundRect">
            <a:avLst>
              <a:gd name="adj" fmla="val 5556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256383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Programming Environment with quick feedback (unlike batch processing's long turnaround)</a:t>
            </a:r>
            <a:endParaRPr lang="en-US" sz="1400" dirty="0"/>
          </a:p>
        </p:txBody>
      </p:sp>
      <p:pic>
        <p:nvPicPr>
          <p:cNvPr id="9" name="Image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27436" y="2236144"/>
            <a:ext cx="4069080" cy="16813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of Processing Models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2004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430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10312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566160" y="11430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064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Multiprogramming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Time-Sharing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463040"/>
            <a:ext cx="7863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5087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03120" y="1508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1940s-50s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1508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1950s-60s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20640" y="1508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1960s-70s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15087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1970s+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1828800"/>
            <a:ext cx="7863840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18745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Users/Jobs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0312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66160" y="18745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jobs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2064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jobs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1874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users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2194560"/>
            <a:ext cx="7863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2402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03120" y="22402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2402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2064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22402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2560320"/>
            <a:ext cx="7863840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2606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03120" y="2606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566160" y="26060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20640" y="2606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0" y="26060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29718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103120" y="2971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Hours/Days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566160" y="29718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Minutes/Hours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20640" y="2971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29718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second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1" name="Text 39"/>
          <p:cNvSpPr/>
          <p:nvPr/>
        </p:nvSpPr>
        <p:spPr>
          <a:xfrm>
            <a:off x="777240" y="33375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Goal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103120" y="33375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66160" y="3337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20640" y="3337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CPU use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58000" y="33375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convenience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" y="3749040"/>
            <a:ext cx="7863840" cy="1188720"/>
          </a:xfrm>
          <a:prstGeom prst="roundRect">
            <a:avLst>
              <a:gd name="adj" fmla="val 3846"/>
            </a:avLst>
          </a:prstGeom>
          <a:solidFill>
            <a:srgbClr val="DBEAFE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" y="3886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Pattern: Serial → Batch → Multiprogramming → Time-Sharing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" y="41605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improved resource utilization, user interaction, and system responsiveness. Modern systems use time-sharing with advanced CPU scheduling, memory management, and security.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286000" y="1280160"/>
            <a:ext cx="4572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Processing: Direct hardware access, massive resource waste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Processing: Grouped jobs, automatic transitions, SPOOLing for faster I/O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Multiprogramming: Multiple jobs in memory, concurrent execution, CPU never idle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Time-Sharing: Interactive multiple users, rapid CPU switching, ~1 second response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OS: Time-sharing foundation with advanced scheduling, memory, and security mechanisms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995</Words>
  <Application>Microsoft Office PowerPoint</Application>
  <PresentationFormat>On-screen Show (16:9)</PresentationFormat>
  <Paragraphs>212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 Processing Models</dc:title>
  <dc:subject>PptxGenJS Presentation</dc:subject>
  <dc:creator>Technical Training</dc:creator>
  <cp:lastModifiedBy>Shoby</cp:lastModifiedBy>
  <cp:revision>11</cp:revision>
  <dcterms:created xsi:type="dcterms:W3CDTF">2026-07-08T10:54:04Z</dcterms:created>
  <dcterms:modified xsi:type="dcterms:W3CDTF">2026-07-08T14:52:21Z</dcterms:modified>
</cp:coreProperties>
</file>