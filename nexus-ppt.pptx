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NEXUS OSS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3375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any server into a safe, self-cleaning hacking playground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114800"/>
            <a:ext cx="1463040" cy="41148"/>
          </a:xfrm>
          <a:prstGeom prst="rect">
            <a:avLst/>
          </a:prstGeom>
          <a:solidFill>
            <a:srgbClr val="3FBF9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Elishah  ·  Platform Engineer, ZecurX  ·  MCA, Rajagiri College of Social Sciences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Terminology: What's a “Challenge”?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term worth locking in before anything else — everything in this deck builds on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120640" cy="4160520"/>
          </a:xfrm>
          <a:prstGeom prst="roundRect">
            <a:avLst>
              <a:gd name="adj" fmla="val 2637"/>
            </a:avLst>
          </a:prstGeom>
          <a:solidFill>
            <a:srgbClr val="F4F7F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240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44805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challenge is a small, deliberately vulnerable program or system — packaged so it can be launched as its own private, running copy for one player at a time.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4343400"/>
            <a:ext cx="4480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CTF (Capture-The-Flag) exercises, hidden inside that program is a “flag” — a secret string the player must find by breaking in. Finding it proves they exploited the vulnerability.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56692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So: one challenge = one type of puzzle. One session = one player's private copy of it.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0" y="1965960"/>
            <a:ext cx="5669280" cy="4160520"/>
          </a:xfrm>
          <a:prstGeom prst="roundRect">
            <a:avLst>
              <a:gd name="adj" fmla="val 2637"/>
            </a:avLst>
          </a:prstGeom>
          <a:solidFill>
            <a:srgbClr val="21295C"/>
          </a:solidFill>
          <a:ln/>
        </p:spPr>
      </p:sp>
      <p:sp>
        <p:nvSpPr>
          <p:cNvPr id="10" name="Text 8"/>
          <p:cNvSpPr/>
          <p:nvPr/>
        </p:nvSpPr>
        <p:spPr>
          <a:xfrm>
            <a:off x="6263640" y="2240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269748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6766560" y="267919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766560" y="2990088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“pwn-101” — a small web app with a deliberately broken login page.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3538728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3538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6766560" y="35204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player sees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766560" y="3831336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link to their own private copy of that web app, and a goal: “find the hidden flag.”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4379976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43799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6766560" y="436168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do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766560" y="4672584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the login page, find the flaw, break in — and uncover the flag hidden inside.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5221224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52212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6766560" y="520293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after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766560" y="5513832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copy is destroyed automatically. The next player gets a fresh, untouched one.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CTF (Capture-The-Flag) platforms let hackers practice by attacking planted vulnerabilities. Each player needs their own private, working copy of the challenge.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9718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34440" y="2926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player needs their own copy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3264408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shared demo — a real, live, breakable environment per person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40233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34440" y="3977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costs pile up fast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4315968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Spinning up cloud VMs for hundreds of players gets expensive quickly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5074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34440" y="50292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must not see each other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5367528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player breaking into another's environment defeats the whole exercise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92240" y="1280160"/>
            <a:ext cx="5120640" cy="4892040"/>
          </a:xfrm>
          <a:prstGeom prst="roundRect">
            <a:avLst>
              <a:gd name="adj" fmla="val 2243"/>
            </a:avLst>
          </a:prstGeom>
          <a:solidFill>
            <a:srgbClr val="F4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16002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question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0" y="2057400"/>
            <a:ext cx="4389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do we give hundreds of people their own isolated playground, without renting hundreds of cloud servers — on hardware we already own?”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858000" y="53949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That’s exactly what Nexus OSS answers.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Just Use the Cloud?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servers (AWS, GCP) look easy at first — but the bill never stops, and it grows with every player.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691640" cy="566928"/>
          </a:xfrm>
          <a:prstGeom prst="rect">
            <a:avLst/>
          </a:prstGeom>
          <a:solidFill>
            <a:srgbClr val="21295C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40280" y="1783080"/>
            <a:ext cx="1600200" cy="566928"/>
          </a:xfrm>
          <a:prstGeom prst="rect">
            <a:avLst/>
          </a:prstGeom>
          <a:solidFill>
            <a:srgbClr val="21295C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31720" y="178308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vCPU / RAM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840480" y="1783080"/>
            <a:ext cx="1828800" cy="566928"/>
          </a:xfrm>
          <a:prstGeom prst="rect">
            <a:avLst/>
          </a:prstGeom>
          <a:solidFill>
            <a:srgbClr val="21295C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0" y="178308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0" y="1783080"/>
            <a:ext cx="1005840" cy="566928"/>
          </a:xfrm>
          <a:prstGeom prst="rect">
            <a:avLst/>
          </a:prstGeom>
          <a:solidFill>
            <a:srgbClr val="21295C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1783080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350008"/>
            <a:ext cx="16916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350008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t3.medium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40280" y="2350008"/>
            <a:ext cx="1600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31720" y="2350008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vCPU / 4 GB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40480" y="2350008"/>
            <a:ext cx="18288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0" y="2350008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EBS, billed separately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0" y="235000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2350008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916936"/>
            <a:ext cx="1691640" cy="566928"/>
          </a:xfrm>
          <a:prstGeom prst="rect">
            <a:avLst/>
          </a:prstGeom>
          <a:solidFill>
            <a:srgbClr val="F4F7FA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916936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e2-medium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40280" y="2916936"/>
            <a:ext cx="1600200" cy="566928"/>
          </a:xfrm>
          <a:prstGeom prst="rect">
            <a:avLst/>
          </a:prstGeom>
          <a:solidFill>
            <a:srgbClr val="F4F7FA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31720" y="2916936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vCPU (shared) / 4 GB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840480" y="2916936"/>
            <a:ext cx="1828800" cy="566928"/>
          </a:xfrm>
          <a:prstGeom prst="rect">
            <a:avLst/>
          </a:prstGeom>
          <a:solidFill>
            <a:srgbClr val="F4F7FA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0" y="2916936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disk, billed separately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0" y="2916936"/>
            <a:ext cx="1005840" cy="566928"/>
          </a:xfrm>
          <a:prstGeom prst="rect">
            <a:avLst/>
          </a:prstGeom>
          <a:solidFill>
            <a:srgbClr val="F4F7FA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2916936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483864"/>
            <a:ext cx="1691640" cy="566928"/>
          </a:xfrm>
          <a:prstGeom prst="rect">
            <a:avLst/>
          </a:prstGeom>
          <a:solidFill>
            <a:srgbClr val="E7F7F2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483864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Hetzner bare metal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240280" y="3483864"/>
            <a:ext cx="1600200" cy="566928"/>
          </a:xfrm>
          <a:prstGeom prst="rect">
            <a:avLst/>
          </a:prstGeom>
          <a:solidFill>
            <a:srgbClr val="E7F7F2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31720" y="3483864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CPU / 64 GB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840480" y="3483864"/>
            <a:ext cx="1828800" cy="566928"/>
          </a:xfrm>
          <a:prstGeom prst="rect">
            <a:avLst/>
          </a:prstGeom>
          <a:solidFill>
            <a:srgbClr val="E7F7F2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31920" y="3483864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TB NVMe included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69280" y="3483864"/>
            <a:ext cx="1005840" cy="566928"/>
          </a:xfrm>
          <a:prstGeom prst="rect">
            <a:avLst/>
          </a:prstGeom>
          <a:solidFill>
            <a:srgbClr val="E7F7F2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0" y="3483864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~$59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4279392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roughly double the cost of one small cloud VM, one owned server gives 16x the RAM and includes real storage — and it's a one-time purchase, not rent.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48640" y="539496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pricing, mid-2026 (Hetzner dedicated, AWS/GCP on-demand list price).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086600" y="178308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9" name="Text 37"/>
          <p:cNvSpPr/>
          <p:nvPr/>
        </p:nvSpPr>
        <p:spPr>
          <a:xfrm>
            <a:off x="708660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24" dirty="0"/>
          </a:p>
        </p:txBody>
      </p:sp>
      <p:sp>
        <p:nvSpPr>
          <p:cNvPr id="40" name="Text 38"/>
          <p:cNvSpPr/>
          <p:nvPr/>
        </p:nvSpPr>
        <p:spPr>
          <a:xfrm>
            <a:off x="7635240" y="175564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VMs that fit the budget don't fit the job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635240" y="228600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$25–30/mo instance has 4 GB RAM — nowhere near enough to run dozens of containers at once.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086600" y="315468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3" name="Text 41"/>
          <p:cNvSpPr/>
          <p:nvPr/>
        </p:nvSpPr>
        <p:spPr>
          <a:xfrm>
            <a:off x="7086600" y="3154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24" dirty="0"/>
          </a:p>
        </p:txBody>
      </p:sp>
      <p:sp>
        <p:nvSpPr>
          <p:cNvPr id="44" name="Text 42"/>
          <p:cNvSpPr/>
          <p:nvPr/>
        </p:nvSpPr>
        <p:spPr>
          <a:xfrm>
            <a:off x="7635240" y="312724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the real capacity costs far more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635240" y="365760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get 64 GB of RAM on AWS or GCP, the bill jumps to several hundred dollars a month — recurring forever.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086600" y="4526280"/>
            <a:ext cx="384048" cy="384048"/>
          </a:xfrm>
          <a:prstGeom prst="ellipse">
            <a:avLst/>
          </a:prstGeom>
          <a:solidFill>
            <a:srgbClr val="3FBF9F"/>
          </a:solidFill>
          <a:ln/>
        </p:spPr>
      </p:sp>
      <p:sp>
        <p:nvSpPr>
          <p:cNvPr id="47" name="Text 45"/>
          <p:cNvSpPr/>
          <p:nvPr/>
        </p:nvSpPr>
        <p:spPr>
          <a:xfrm>
            <a:off x="7086600" y="4526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24" dirty="0"/>
          </a:p>
        </p:txBody>
      </p:sp>
      <p:sp>
        <p:nvSpPr>
          <p:cNvPr id="48" name="Text 46"/>
          <p:cNvSpPr/>
          <p:nvPr/>
        </p:nvSpPr>
        <p:spPr>
          <a:xfrm>
            <a:off x="7635240" y="449884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 metal is bought, not rented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635240" y="502920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Hetzner-class server at ~$59/mo (or owned outright) comfortably runs the whole lab — with room to spare.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011680"/>
            <a:ext cx="5029200" cy="5029200"/>
          </a:xfrm>
          <a:prstGeom prst="ellipse">
            <a:avLst/>
          </a:prstGeom>
          <a:solidFill>
            <a:srgbClr val="065A82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Here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you’re organizing a national hacking </a:t>
            </a:r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highlight>
                  <a:srgbClr val="3FBF9F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pPr indent="0" marL="0">
              <a:buNone/>
            </a:pPr>
            <a:r>
              <a:rPr lang="en-US" sz="1500" dirty="0">
                <a:solidFill>
                  <a:srgbClr val="E9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students.   50 challenges.   Every student needs their own isolated environment.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Nexus, organizers have to: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Manually deploy a server for every challenge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843784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Manually configure networking for every student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172968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Manually remove instances once they’re done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50215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Manually monitor resource usage the whole time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96849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slow.  It’s expensive.  Mistakes happen.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92240" y="2148840"/>
            <a:ext cx="5074920" cy="3794760"/>
          </a:xfrm>
          <a:prstGeom prst="roundRect">
            <a:avLst>
              <a:gd name="adj" fmla="val 2410"/>
            </a:avLst>
          </a:prstGeom>
          <a:solidFill>
            <a:srgbClr val="1B2452"/>
          </a:solidFill>
          <a:ln/>
        </p:spPr>
      </p:sp>
      <p:sp>
        <p:nvSpPr>
          <p:cNvPr id="13" name="Shape 11"/>
          <p:cNvSpPr/>
          <p:nvPr/>
        </p:nvSpPr>
        <p:spPr>
          <a:xfrm>
            <a:off x="6720840" y="2423160"/>
            <a:ext cx="45720" cy="1508760"/>
          </a:xfrm>
          <a:prstGeom prst="rect">
            <a:avLst/>
          </a:prstGeom>
          <a:solidFill>
            <a:srgbClr val="3FBF9F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0" y="2423160"/>
            <a:ext cx="4434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Nexus is a platform that automatically creates secure practice environments for cybersecurity </a:t>
            </a:r>
            <a:pPr indent="0" marL="0">
              <a:buNone/>
            </a:pPr>
            <a:r>
              <a:rPr lang="en-US" sz="1500" b="1" i="1" dirty="0">
                <a:solidFill>
                  <a:srgbClr val="21295C"/>
                </a:solidFill>
                <a:highlight>
                  <a:srgbClr val="3FBF9F"/>
                </a:highlight>
                <a:latin typeface="Cambria" pitchFamily="34" charset="0"/>
                <a:ea typeface="Cambria" pitchFamily="34" charset="-122"/>
                <a:cs typeface="Cambria" pitchFamily="34" charset="-120"/>
              </a:rPr>
              <a:t>competitions</a:t>
            </a:r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within seconds, manages them while students are using them, and removes them automatically when they’re no longer needed.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49440" y="416052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understands that.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949440" y="448056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then explain: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949440" y="4846320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9FB3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“This is achieved using containers, an isolation layer, and an automated control loop — running on hardware we already own.”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Nexus Actually Does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577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terms:
</a:t>
            </a:r>
            <a:pPr indent="0" marL="0">
              <a:buNone/>
            </a:pPr>
            <a:r>
              <a:rPr lang="en-US" sz="150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is software that sits on a server and, on request, instantly creates a private, working copy of a challenge, gives one player access to it, and safely destroys it when they’re done — all without a human doing any manual setup.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3931920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 entirely on infrastructure you already own — no cloud subscription required.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92240" y="1371600"/>
            <a:ext cx="5120640" cy="2148840"/>
          </a:xfrm>
          <a:prstGeom prst="roundRect">
            <a:avLst>
              <a:gd name="adj" fmla="val 4255"/>
            </a:avLst>
          </a:prstGeom>
          <a:solidFill>
            <a:srgbClr val="FBEAEA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0" y="15361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Nexus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766560" y="196596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manually set up environments, or the college pays per-hour cloud fees for every session, every player.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92240" y="3703320"/>
            <a:ext cx="5120640" cy="2148840"/>
          </a:xfrm>
          <a:prstGeom prst="roundRect">
            <a:avLst>
              <a:gd name="adj" fmla="val 4255"/>
            </a:avLst>
          </a:prstGeom>
          <a:solidFill>
            <a:srgbClr val="E7F7F2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0" y="386791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Nexus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66560" y="429768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registers a challenge. From then on, every player session is created, isolated, and cleaned up automatically.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Session Happens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moment a player clicks “Start Challenge” to having their own private environment — in seconds.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F3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77340" y="25603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577340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731520" y="33375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requests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“Give me the pwn-101 challenge”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54680" y="356616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10712" y="22860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F36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9412" y="25603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439412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3593592" y="33375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builds the room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93592" y="402336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fresh, isolated copy is created on the server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016752" y="356616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72784" y="22860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F36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01484" y="25603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7301484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6455664" y="33375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key is issued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55664" y="402336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this player can reach this copy — sealed off from everyone else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878824" y="356616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134856" y="22860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F36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163556" y="2560320"/>
            <a:ext cx="548640" cy="548640"/>
          </a:xfrm>
          <a:prstGeom prst="ellipse">
            <a:avLst/>
          </a:prstGeom>
          <a:solidFill>
            <a:srgbClr val="3FBF9F"/>
          </a:solidFill>
          <a:ln/>
        </p:spPr>
      </p:sp>
      <p:sp>
        <p:nvSpPr>
          <p:cNvPr id="24" name="Text 22"/>
          <p:cNvSpPr/>
          <p:nvPr/>
        </p:nvSpPr>
        <p:spPr>
          <a:xfrm>
            <a:off x="10163556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9317736" y="33375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clean-up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317736" y="402336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time is up (or they finish), the copy is wiped automatically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Building Blocks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is made of four small programs, each with one clear job — like departments in the hotel.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029200" cy="1874520"/>
          </a:xfrm>
          <a:prstGeom prst="roundRect">
            <a:avLst>
              <a:gd name="adj" fmla="val 4878"/>
            </a:avLst>
          </a:prstGeom>
          <a:solidFill>
            <a:srgbClr val="F4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860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63040" y="21945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26974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brain. Receives requests, decides what to spin up, and keeps track of who has what.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1965960"/>
            <a:ext cx="5029200" cy="1874520"/>
          </a:xfrm>
          <a:prstGeom prst="roundRect">
            <a:avLst>
              <a:gd name="adj" fmla="val 4878"/>
            </a:avLst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22860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0" y="21945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Node Agent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0" y="26974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guard. Locks each player into their own private lane so no one can reach another’s room.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029200" cy="1874520"/>
          </a:xfrm>
          <a:prstGeom prst="roundRect">
            <a:avLst>
              <a:gd name="adj" fmla="val 4878"/>
            </a:avLst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4805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63040" y="4389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489204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desk. Lets an operator watch everything happening live, in one dashboard.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0" y="4160520"/>
            <a:ext cx="5029200" cy="1874520"/>
          </a:xfrm>
          <a:prstGeom prst="roundRect">
            <a:avLst>
              <a:gd name="adj" fmla="val 4878"/>
            </a:avLst>
          </a:prstGeom>
          <a:solidFill>
            <a:srgbClr val="F4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0" y="44805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0" y="4389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Installer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58000" y="489204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 crew. Prepares a brand-new server for Nexus in one guided run — no manual steps.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Pieces Connect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simplified map of the system — request comes in on the left, a private environment comes out on the right.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3246120"/>
            <a:ext cx="233172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337560"/>
            <a:ext cx="2112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CTF Platform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8368" y="3703320"/>
            <a:ext cx="21122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sends: “start a session”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520440" y="3246120"/>
            <a:ext cx="2331720" cy="960120"/>
          </a:xfrm>
          <a:prstGeom prst="roundRect">
            <a:avLst>
              <a:gd name="adj" fmla="val 8571"/>
            </a:avLst>
          </a:prstGeom>
          <a:solidFill>
            <a:srgbClr val="21295C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30168" y="3337560"/>
            <a:ext cx="2112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Engine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30168" y="3703320"/>
            <a:ext cx="21122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— decides &amp; tracks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92240" y="2194560"/>
            <a:ext cx="2331720" cy="960120"/>
          </a:xfrm>
          <a:prstGeom prst="roundRect">
            <a:avLst>
              <a:gd name="adj" fmla="val 8571"/>
            </a:avLst>
          </a:prstGeom>
          <a:solidFill>
            <a:srgbClr val="065A8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01968" y="2286000"/>
            <a:ext cx="2112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Agent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601968" y="2651760"/>
            <a:ext cx="21122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locks the network per player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92240" y="4297680"/>
            <a:ext cx="2331720" cy="960120"/>
          </a:xfrm>
          <a:prstGeom prst="roundRect">
            <a:avLst>
              <a:gd name="adj" fmla="val 8571"/>
            </a:avLst>
          </a:prstGeom>
          <a:solidFill>
            <a:srgbClr val="065A8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01968" y="4389120"/>
            <a:ext cx="2112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K3s (Kubernetes)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601968" y="4754880"/>
            <a:ext cx="21122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environment itself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464040" y="3246120"/>
            <a:ext cx="2468880" cy="960120"/>
          </a:xfrm>
          <a:prstGeom prst="roundRect">
            <a:avLst>
              <a:gd name="adj" fmla="val 8571"/>
            </a:avLst>
          </a:prstGeom>
          <a:solidFill>
            <a:srgbClr val="3FBF9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73768" y="333756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Player's Private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573768" y="3703320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reachable only by them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520440" y="4709160"/>
            <a:ext cx="2331720" cy="594360"/>
          </a:xfrm>
          <a:prstGeom prst="roundRect">
            <a:avLst>
              <a:gd name="adj" fmla="val 12308"/>
            </a:avLst>
          </a:prstGeom>
          <a:solidFill>
            <a:srgbClr val="E4ECF5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30168" y="4818888"/>
            <a:ext cx="21122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— remembers who has what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880360" y="3726180"/>
            <a:ext cx="640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852160" y="3726180"/>
            <a:ext cx="640080" cy="-105156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852160" y="3726180"/>
            <a:ext cx="640080" cy="105156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823960" y="2674620"/>
            <a:ext cx="640080" cy="105156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823960" y="4777740"/>
            <a:ext cx="640080" cy="-105156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686300" y="4206240"/>
            <a:ext cx="0" cy="502920"/>
          </a:xfrm>
          <a:prstGeom prst="line">
            <a:avLst/>
          </a:prstGeom>
          <a:noFill/>
          <a:ln w="12700">
            <a:solidFill>
              <a:srgbClr val="5B647A"/>
            </a:solidFill>
            <a:prstDash val="dash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Fits, Who Uses It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was built for CTF platforms, but the same need shows up anywhere people need private, disposable technical environments.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F4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402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63040" y="21671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cybersecurity labs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63040" y="26517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student CTF exercises and hands-on courses without a cloud budget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89320" y="196596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263640" y="22402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03720" y="21671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&amp; CTF organizers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903720" y="26517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every team or player their own isolated environment for the event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2519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63040" y="41788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security training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63040" y="46634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 / blue-team drills for employees, run on internal hardware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89320" y="397764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F4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263640" y="42519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03720" y="41788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Bug-bounty &amp; CTF bootcamps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903720" y="46634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ranges for learners, reset automatically after every attempt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Isolation, Not Just Separation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hardest problem: making sure no player can ever see or touch another player’s environment.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212080" cy="4023360"/>
          </a:xfrm>
          <a:prstGeom prst="roundRect">
            <a:avLst>
              <a:gd name="adj" fmla="val 2273"/>
            </a:avLst>
          </a:prstGeom>
          <a:solidFill>
            <a:srgbClr val="1B245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240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analogy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E9EE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of a locked mailbox wall. Every resident has a key that opens only their own box. Even standing right next to someone else’s box, that key simply will not turn.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438912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EB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That’s what Nexus enforces at the network level — automatically, for every single player, every single session.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201168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1B2452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212140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tunnel per player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355080" y="24688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EB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player connects through their own secure, encrypted tunnel into the system.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26480" y="342900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1B2452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35387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visibility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55080" y="38862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EB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player’s tunnel is only ever allowed to reach their own environment — nothing else.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484632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1B2452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49560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automatically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355080" y="53035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EB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rules are set the instant a session starts and removed the instant it ends — no manual work.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Already Real, Not Just a Prototype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7F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459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 ZecurX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powering a real CTF platform in production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89120" y="14630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7FA"/>
          </a:solidFill>
          <a:ln/>
        </p:spPr>
      </p:sp>
      <p:sp>
        <p:nvSpPr>
          <p:cNvPr id="7" name="Text 5"/>
          <p:cNvSpPr/>
          <p:nvPr/>
        </p:nvSpPr>
        <p:spPr>
          <a:xfrm>
            <a:off x="4663440" y="16459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663440" y="214884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publicly under the Apache 2.0 license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0" y="14630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7FA"/>
          </a:solidFill>
          <a:ln/>
        </p:spPr>
      </p:sp>
      <p:sp>
        <p:nvSpPr>
          <p:cNvPr id="10" name="Text 8"/>
          <p:cNvSpPr/>
          <p:nvPr/>
        </p:nvSpPr>
        <p:spPr>
          <a:xfrm>
            <a:off x="8503920" y="16459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anywhere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03920" y="214884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Linux server — laptop, on-prem box, or cloud VM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11064240" cy="2377440"/>
          </a:xfrm>
          <a:prstGeom prst="roundRect">
            <a:avLst>
              <a:gd name="adj" fmla="val 4615"/>
            </a:avLst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931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a college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434340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department running its own cybersecurity labs, hackathons, or CTF events doesn’t need a cloud budget — just one spare server. Nexus turns it into a safe, self-managing practice ground for students.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822960" y="3520440"/>
            <a:ext cx="1463040" cy="41148"/>
          </a:xfrm>
          <a:prstGeom prst="rect">
            <a:avLst/>
          </a:prstGeom>
          <a:solidFill>
            <a:srgbClr val="3FBF9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794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github.com/elish4h  ·  Nexus OSS · Apache 2.0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2026-07-10T03:28:46Z</dcterms:created>
  <dcterms:modified xsi:type="dcterms:W3CDTF">2026-07-10T03:28:46Z</dcterms:modified>
</cp:coreProperties>
</file>